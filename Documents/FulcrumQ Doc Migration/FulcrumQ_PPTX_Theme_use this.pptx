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4"/>
  </p:notesMasterIdLst>
  <p:sldIdLst>
    <p:sldId id="293" r:id="rId2"/>
    <p:sldId id="295" r:id="rId3"/>
    <p:sldId id="334" r:id="rId4"/>
    <p:sldId id="335" r:id="rId5"/>
    <p:sldId id="296" r:id="rId6"/>
    <p:sldId id="291" r:id="rId7"/>
    <p:sldId id="297" r:id="rId8"/>
    <p:sldId id="292" r:id="rId9"/>
    <p:sldId id="298" r:id="rId10"/>
    <p:sldId id="301" r:id="rId11"/>
    <p:sldId id="333" r:id="rId12"/>
    <p:sldId id="332" r:id="rId13"/>
    <p:sldId id="318" r:id="rId14"/>
    <p:sldId id="314" r:id="rId15"/>
    <p:sldId id="315" r:id="rId16"/>
    <p:sldId id="316" r:id="rId17"/>
    <p:sldId id="308" r:id="rId18"/>
    <p:sldId id="305" r:id="rId19"/>
    <p:sldId id="307" r:id="rId20"/>
    <p:sldId id="311" r:id="rId21"/>
    <p:sldId id="310" r:id="rId22"/>
    <p:sldId id="31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BDBC"/>
    <a:srgbClr val="F2F2F2"/>
    <a:srgbClr val="FF2D88"/>
    <a:srgbClr val="FF0000"/>
    <a:srgbClr val="FFB546"/>
    <a:srgbClr val="02C27A"/>
    <a:srgbClr val="281A42"/>
    <a:srgbClr val="B3BCCB"/>
    <a:srgbClr val="ECF7FF"/>
    <a:srgbClr val="E9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92C8F-2D26-764E-BB35-75702765CD70}" v="3" dt="2026-03-26T17:15:00.686"/>
    <p1510:client id="{BBBF77DC-EF84-0844-9446-E2105468F6B6}" v="273" dt="2026-03-27T14:43:58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2"/>
  </p:normalViewPr>
  <p:slideViewPr>
    <p:cSldViewPr snapToGrid="0">
      <p:cViewPr>
        <p:scale>
          <a:sx n="96" d="100"/>
          <a:sy n="96" d="100"/>
        </p:scale>
        <p:origin x="11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5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957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AD9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C8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0DB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1-CD48-8B0A-60C8C5DF8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9CC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161-CD48-8B0A-60C8C5DF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60523328"/>
        <c:axId val="1660525248"/>
      </c:barChart>
      <c:catAx>
        <c:axId val="166052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525248"/>
        <c:crosses val="autoZero"/>
        <c:auto val="1"/>
        <c:lblAlgn val="ctr"/>
        <c:lblOffset val="100"/>
        <c:noMultiLvlLbl val="0"/>
      </c:catAx>
      <c:valAx>
        <c:axId val="166052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523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c6bba0d-cb9a-4f2a-9cc7-3743e78a6b8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C-AC44-B5BD-44AE2302D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C-AC44-B5BD-44AE2302D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2C-AC44-B5BD-44AE230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942384"/>
        <c:axId val="1465054576"/>
      </c:lineChart>
      <c:catAx>
        <c:axId val="146494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5054576"/>
        <c:crosses val="autoZero"/>
        <c:auto val="1"/>
        <c:lblAlgn val="ctr"/>
        <c:lblOffset val="100"/>
        <c:noMultiLvlLbl val="0"/>
      </c:catAx>
      <c:valAx>
        <c:axId val="146505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494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7a7fd9-42e5-4f19-aa44-ca5f1a08e105}"/>
      </c:ext>
    </c:extLst>
  </c:chart>
  <c:spPr>
    <a:noFill/>
    <a:ln>
      <a:noFill/>
    </a:ln>
    <a:effectLst/>
  </c:spPr>
  <c:txPr>
    <a:bodyPr/>
    <a:lstStyle/>
    <a:p>
      <a:pPr>
        <a:defRPr lang="en-US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5C08-7E21-58E4-11F1-D77F274A15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6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49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50" Type="http://schemas.openxmlformats.org/officeDocument/2006/relationships/image" Target="../media/image60.png"/><Relationship Id="rId55" Type="http://schemas.openxmlformats.org/officeDocument/2006/relationships/image" Target="../media/image65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6" Type="http://schemas.openxmlformats.org/officeDocument/2006/relationships/image" Target="../media/image27.png"/><Relationship Id="rId29" Type="http://schemas.openxmlformats.org/officeDocument/2006/relationships/image" Target="../media/image40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microsoft.com/office/2007/relationships/hdphoto" Target="../media/hdphoto3.wdp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3" Type="http://schemas.openxmlformats.org/officeDocument/2006/relationships/image" Target="../media/image63.png"/><Relationship Id="rId58" Type="http://schemas.openxmlformats.org/officeDocument/2006/relationships/image" Target="../media/image68.svg"/><Relationship Id="rId5" Type="http://schemas.openxmlformats.org/officeDocument/2006/relationships/image" Target="../media/image18.png"/><Relationship Id="rId19" Type="http://schemas.openxmlformats.org/officeDocument/2006/relationships/image" Target="../media/image30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microsoft.com/office/2007/relationships/hdphoto" Target="../media/hdphoto2.wdp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43" Type="http://schemas.openxmlformats.org/officeDocument/2006/relationships/image" Target="../media/image53.png"/><Relationship Id="rId48" Type="http://schemas.openxmlformats.org/officeDocument/2006/relationships/image" Target="../media/image58.png"/><Relationship Id="rId56" Type="http://schemas.openxmlformats.org/officeDocument/2006/relationships/image" Target="../media/image66.svg"/><Relationship Id="rId8" Type="http://schemas.openxmlformats.org/officeDocument/2006/relationships/image" Target="../media/image21.png"/><Relationship Id="rId51" Type="http://schemas.openxmlformats.org/officeDocument/2006/relationships/image" Target="../media/image61.png"/><Relationship Id="rId3" Type="http://schemas.openxmlformats.org/officeDocument/2006/relationships/image" Target="../media/image16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59" Type="http://schemas.openxmlformats.org/officeDocument/2006/relationships/image" Target="../media/image69.svg"/><Relationship Id="rId20" Type="http://schemas.openxmlformats.org/officeDocument/2006/relationships/image" Target="../media/image31.png"/><Relationship Id="rId41" Type="http://schemas.openxmlformats.org/officeDocument/2006/relationships/image" Target="../media/image51.png"/><Relationship Id="rId54" Type="http://schemas.openxmlformats.org/officeDocument/2006/relationships/image" Target="../media/image6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49" Type="http://schemas.openxmlformats.org/officeDocument/2006/relationships/image" Target="../media/image59.png"/><Relationship Id="rId57" Type="http://schemas.openxmlformats.org/officeDocument/2006/relationships/image" Target="../media/image67.svg"/><Relationship Id="rId10" Type="http://schemas.microsoft.com/office/2007/relationships/hdphoto" Target="../media/hdphoto1.wdp"/><Relationship Id="rId31" Type="http://schemas.openxmlformats.org/officeDocument/2006/relationships/image" Target="../media/image42.png"/><Relationship Id="rId44" Type="http://schemas.openxmlformats.org/officeDocument/2006/relationships/image" Target="../media/image54.png"/><Relationship Id="rId52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FFB-CB27-4BC3-5F07-B1412FE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</p:spPr>
        <p:txBody>
          <a:bodyPr/>
          <a:lstStyle/>
          <a:p>
            <a:r>
              <a:rPr lang="en-US" err="1"/>
              <a:t>FulcrumQ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8899-821E-B683-4FC1-3D1E8B5D50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</p:spPr>
        <p:txBody>
          <a:bodyPr/>
          <a:lstStyle/>
          <a:p>
            <a:r>
              <a:rPr lang="en-US"/>
              <a:t>PowerPoint Master &amp; Usage 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CA03B4-FBAB-7B3B-240E-18E8F4A02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2999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42-7F7B-0823-9634-0551A346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EE74-95ED-917D-45C5-B758985190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We are so excited to share what we have been working on!</a:t>
            </a:r>
          </a:p>
          <a:p>
            <a:endParaRPr lang="en-US" dirty="0"/>
          </a:p>
          <a:p>
            <a:r>
              <a:rPr lang="en-US" dirty="0"/>
              <a:t>Included in this deck you will find: </a:t>
            </a:r>
          </a:p>
          <a:p>
            <a:pPr lvl="1"/>
            <a:r>
              <a:rPr lang="en-US" dirty="0"/>
              <a:t>The approved master theme</a:t>
            </a:r>
          </a:p>
          <a:p>
            <a:pPr lvl="1"/>
            <a:r>
              <a:rPr lang="en-US" dirty="0"/>
              <a:t>Typography rules</a:t>
            </a:r>
          </a:p>
          <a:p>
            <a:pPr lvl="1"/>
            <a:r>
              <a:rPr lang="en-US" dirty="0"/>
              <a:t>Color palette</a:t>
            </a:r>
          </a:p>
          <a:p>
            <a:pPr lvl="1"/>
            <a:r>
              <a:rPr lang="en-US" dirty="0"/>
              <a:t>Icon library </a:t>
            </a:r>
          </a:p>
          <a:p>
            <a:pPr lvl="1"/>
            <a:r>
              <a:rPr lang="en-US" dirty="0"/>
              <a:t>Usage examples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95-F4EF-7452-FDD4-FF0F833D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B90A-4C36-91D2-94FC-4DA22723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3975-EA9A-8D1E-8E37-76117B40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 dirty="0"/>
              <a:t>Typography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B6B47-C6E6-701E-A218-BB520A779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3602408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9A98-69E1-040D-0B78-2B055DA6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A8F68-0F0F-A39B-0E75-4B5C2D23F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79973-CEAF-9216-0C57-8C336F43B2E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Typography</a:t>
            </a:r>
          </a:p>
        </p:txBody>
      </p:sp>
    </p:spTree>
    <p:extLst>
      <p:ext uri="{BB962C8B-B14F-4D97-AF65-F5344CB8AC3E}">
        <p14:creationId xmlns:p14="http://schemas.microsoft.com/office/powerpoint/2010/main" val="7460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A8C-B8C2-7E91-88E5-B0C4A276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A36F-8501-EA3F-A302-00E49470E1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107234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D2237-53F2-1BF8-C222-023A69C91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26F60-B1B2-7E03-33FD-1A76E544A1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Color Palette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EE9805-F2BF-A0E7-8638-BC7FB2B2A3E5}"/>
              </a:ext>
            </a:extLst>
          </p:cNvPr>
          <p:cNvGrpSpPr/>
          <p:nvPr/>
        </p:nvGrpSpPr>
        <p:grpSpPr>
          <a:xfrm>
            <a:off x="526639" y="1289401"/>
            <a:ext cx="11342551" cy="1161288"/>
            <a:chOff x="526639" y="1289401"/>
            <a:chExt cx="11342551" cy="116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B68164-F2E9-8FBA-DA51-375A54DA6B39}"/>
                </a:ext>
              </a:extLst>
            </p:cNvPr>
            <p:cNvGrpSpPr/>
            <p:nvPr/>
          </p:nvGrpSpPr>
          <p:grpSpPr>
            <a:xfrm>
              <a:off x="526639" y="1289401"/>
              <a:ext cx="9054753" cy="1161288"/>
              <a:chOff x="526640" y="3730752"/>
              <a:chExt cx="9054753" cy="11612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398753-A85B-CCC4-BC62-7D2D79C939F7}"/>
                  </a:ext>
                </a:extLst>
              </p:cNvPr>
              <p:cNvSpPr txBox="1"/>
              <p:nvPr/>
            </p:nvSpPr>
            <p:spPr>
              <a:xfrm>
                <a:off x="526640" y="3730752"/>
                <a:ext cx="821059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 i="0">
                    <a:solidFill>
                      <a:srgbClr val="7A828D"/>
                    </a:solidFill>
                    <a:latin typeface="Segoe UI"/>
                  </a:rPr>
                  <a:t>GUIDING GREY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C7BEBCE-E3F7-CDFD-C61E-C05737D5A65D}"/>
                  </a:ext>
                </a:extLst>
              </p:cNvPr>
              <p:cNvSpPr/>
              <p:nvPr/>
            </p:nvSpPr>
            <p:spPr>
              <a:xfrm>
                <a:off x="526640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1D1D1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24A99B-C6A5-2C7E-7A43-ED82D75FDE97}"/>
                  </a:ext>
                </a:extLst>
              </p:cNvPr>
              <p:cNvSpPr txBox="1"/>
              <p:nvPr/>
            </p:nvSpPr>
            <p:spPr>
              <a:xfrm>
                <a:off x="618080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Guiding Grey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67B37E-0418-A41E-AC2C-F63E392749C2}"/>
                  </a:ext>
                </a:extLst>
              </p:cNvPr>
              <p:cNvSpPr txBox="1"/>
              <p:nvPr/>
            </p:nvSpPr>
            <p:spPr>
              <a:xfrm>
                <a:off x="526640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#1D1D1D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7FD0555-D9A3-90CB-D910-09437459FBF2}"/>
                  </a:ext>
                </a:extLst>
              </p:cNvPr>
              <p:cNvSpPr/>
              <p:nvPr/>
            </p:nvSpPr>
            <p:spPr>
              <a:xfrm>
                <a:off x="2822332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3B3B3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970743-0D13-0226-5738-9643AE16DA47}"/>
                  </a:ext>
                </a:extLst>
              </p:cNvPr>
              <p:cNvSpPr txBox="1"/>
              <p:nvPr/>
            </p:nvSpPr>
            <p:spPr>
              <a:xfrm>
                <a:off x="2913772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28DC61-65E3-5E62-53B8-4F5A53BB27C8}"/>
                  </a:ext>
                </a:extLst>
              </p:cNvPr>
              <p:cNvSpPr txBox="1"/>
              <p:nvPr/>
            </p:nvSpPr>
            <p:spPr>
              <a:xfrm>
                <a:off x="2822332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#3B3B3B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565DD4E-5BFC-5C83-8F4E-B141989DF70B}"/>
                  </a:ext>
                </a:extLst>
              </p:cNvPr>
              <p:cNvSpPr/>
              <p:nvPr/>
            </p:nvSpPr>
            <p:spPr>
              <a:xfrm>
                <a:off x="5118025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453EAB-426A-61F1-7B92-6C89EC98531E}"/>
                  </a:ext>
                </a:extLst>
              </p:cNvPr>
              <p:cNvSpPr txBox="1"/>
              <p:nvPr/>
            </p:nvSpPr>
            <p:spPr>
              <a:xfrm>
                <a:off x="5209465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E3F503-6B84-D25C-E60C-AD2C301866F1}"/>
                  </a:ext>
                </a:extLst>
              </p:cNvPr>
              <p:cNvSpPr txBox="1"/>
              <p:nvPr/>
            </p:nvSpPr>
            <p:spPr>
              <a:xfrm>
                <a:off x="5118025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#585858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1FEF734-21AC-ACDB-3D28-D37EE1C09C2A}"/>
                  </a:ext>
                </a:extLst>
              </p:cNvPr>
              <p:cNvSpPr/>
              <p:nvPr/>
            </p:nvSpPr>
            <p:spPr>
              <a:xfrm>
                <a:off x="7413717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2095DA-EBA1-CAF9-6D1E-84039F2CF236}"/>
                  </a:ext>
                </a:extLst>
              </p:cNvPr>
              <p:cNvSpPr txBox="1"/>
              <p:nvPr/>
            </p:nvSpPr>
            <p:spPr>
              <a:xfrm>
                <a:off x="7505157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Grey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D7BA4B-3291-6FFD-6381-60CDCC89AA43}"/>
                  </a:ext>
                </a:extLst>
              </p:cNvPr>
              <p:cNvSpPr txBox="1"/>
              <p:nvPr/>
            </p:nvSpPr>
            <p:spPr>
              <a:xfrm>
                <a:off x="7413717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#767676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638DCA-6126-5B46-0527-8D25E5ABD0B3}"/>
                </a:ext>
              </a:extLst>
            </p:cNvPr>
            <p:cNvGrpSpPr/>
            <p:nvPr/>
          </p:nvGrpSpPr>
          <p:grpSpPr>
            <a:xfrm>
              <a:off x="9701514" y="1508857"/>
              <a:ext cx="2167676" cy="941832"/>
              <a:chOff x="526639" y="1253839"/>
              <a:chExt cx="2167676" cy="941832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2249584-CA0E-9277-9670-EC5585183829}"/>
                  </a:ext>
                </a:extLst>
              </p:cNvPr>
              <p:cNvSpPr/>
              <p:nvPr/>
            </p:nvSpPr>
            <p:spPr>
              <a:xfrm>
                <a:off x="526639" y="1253839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>
                <a:solidFill>
                  <a:srgbClr val="C8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05D7A-06D2-8CB9-2BB7-16D6D971B82A}"/>
                  </a:ext>
                </a:extLst>
              </p:cNvPr>
              <p:cNvSpPr txBox="1"/>
              <p:nvPr/>
            </p:nvSpPr>
            <p:spPr>
              <a:xfrm>
                <a:off x="618079" y="1738471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White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A2361B-43E1-0528-59D6-06EF254E6A10}"/>
                  </a:ext>
                </a:extLst>
              </p:cNvPr>
              <p:cNvSpPr txBox="1"/>
              <p:nvPr/>
            </p:nvSpPr>
            <p:spPr>
              <a:xfrm>
                <a:off x="526639" y="2012791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#FFFFFF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9186659-41A4-21B2-C148-6E8F5B6FD2F5}"/>
              </a:ext>
            </a:extLst>
          </p:cNvPr>
          <p:cNvGrpSpPr/>
          <p:nvPr/>
        </p:nvGrpSpPr>
        <p:grpSpPr>
          <a:xfrm>
            <a:off x="526639" y="3651163"/>
            <a:ext cx="11350447" cy="1183450"/>
            <a:chOff x="526639" y="3651163"/>
            <a:chExt cx="11350447" cy="11834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51C4F7-6BC0-B751-1166-34382D4CA2F7}"/>
                </a:ext>
              </a:extLst>
            </p:cNvPr>
            <p:cNvGrpSpPr/>
            <p:nvPr/>
          </p:nvGrpSpPr>
          <p:grpSpPr>
            <a:xfrm>
              <a:off x="526639" y="3651163"/>
              <a:ext cx="9054753" cy="1183450"/>
              <a:chOff x="526639" y="4798378"/>
              <a:chExt cx="9054753" cy="118345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2D01-8E5D-62D7-ED1A-AD550638620F}"/>
                  </a:ext>
                </a:extLst>
              </p:cNvPr>
              <p:cNvSpPr txBox="1"/>
              <p:nvPr/>
            </p:nvSpPr>
            <p:spPr>
              <a:xfrm>
                <a:off x="526639" y="4798378"/>
                <a:ext cx="798617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>
                    <a:solidFill>
                      <a:srgbClr val="7A828D"/>
                    </a:solidFill>
                    <a:latin typeface="Segoe UI"/>
                  </a:rPr>
                  <a:t>PIVOT PURPLE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9D24317-297C-8A6D-50BD-DE5432E7ED67}"/>
                  </a:ext>
                </a:extLst>
              </p:cNvPr>
              <p:cNvSpPr/>
              <p:nvPr/>
            </p:nvSpPr>
            <p:spPr>
              <a:xfrm>
                <a:off x="526639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5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8EDA59-2ACB-A6C1-B37C-397B8A89B244}"/>
                  </a:ext>
                </a:extLst>
              </p:cNvPr>
              <p:cNvSpPr txBox="1"/>
              <p:nvPr/>
            </p:nvSpPr>
            <p:spPr>
              <a:xfrm>
                <a:off x="618079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Pivot Purple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DA1AC-1A9A-3460-10B3-86BA2F5DAF7A}"/>
                  </a:ext>
                </a:extLst>
              </p:cNvPr>
              <p:cNvSpPr txBox="1"/>
              <p:nvPr/>
            </p:nvSpPr>
            <p:spPr>
              <a:xfrm>
                <a:off x="526639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#765FFF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620B6B-4637-4D1A-AF68-46D41A8EF7AA}"/>
                  </a:ext>
                </a:extLst>
              </p:cNvPr>
              <p:cNvSpPr/>
              <p:nvPr/>
            </p:nvSpPr>
            <p:spPr>
              <a:xfrm>
                <a:off x="2822331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917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384A0-21A6-9350-A720-0E6563F32506}"/>
                  </a:ext>
                </a:extLst>
              </p:cNvPr>
              <p:cNvSpPr txBox="1"/>
              <p:nvPr/>
            </p:nvSpPr>
            <p:spPr>
              <a:xfrm>
                <a:off x="2913771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FFFFFF"/>
                    </a:solidFill>
                    <a:latin typeface="Segoe UI"/>
                  </a:rPr>
                  <a:t>Tint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89C62F-908C-EF29-4807-BB04B78DA2FB}"/>
                  </a:ext>
                </a:extLst>
              </p:cNvPr>
              <p:cNvSpPr txBox="1"/>
              <p:nvPr/>
            </p:nvSpPr>
            <p:spPr>
              <a:xfrm>
                <a:off x="2822331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#917FFF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08AEA36-2FB8-42DA-407C-D294B3CD5F9C}"/>
                  </a:ext>
                </a:extLst>
              </p:cNvPr>
              <p:cNvSpPr/>
              <p:nvPr/>
            </p:nvSpPr>
            <p:spPr>
              <a:xfrm>
                <a:off x="5118024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AD9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3EA376-72BD-DC87-943C-48E0D98B4D73}"/>
                  </a:ext>
                </a:extLst>
              </p:cNvPr>
              <p:cNvSpPr txBox="1"/>
              <p:nvPr/>
            </p:nvSpPr>
            <p:spPr>
              <a:xfrm>
                <a:off x="5209464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Tint 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D100CD-34A0-DD67-A928-955D85FDC3E6}"/>
                  </a:ext>
                </a:extLst>
              </p:cNvPr>
              <p:cNvSpPr txBox="1"/>
              <p:nvPr/>
            </p:nvSpPr>
            <p:spPr>
              <a:xfrm>
                <a:off x="5118024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#AD9FFF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1ECC6E2-7A92-F0C5-C8D6-934C81B801DE}"/>
                  </a:ext>
                </a:extLst>
              </p:cNvPr>
              <p:cNvSpPr/>
              <p:nvPr/>
            </p:nvSpPr>
            <p:spPr>
              <a:xfrm>
                <a:off x="7413716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C8B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EBB43B-BAEF-71CF-B7B9-1481968B6093}"/>
                  </a:ext>
                </a:extLst>
              </p:cNvPr>
              <p:cNvSpPr txBox="1"/>
              <p:nvPr/>
            </p:nvSpPr>
            <p:spPr>
              <a:xfrm>
                <a:off x="7505156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750" b="1" i="0">
                    <a:solidFill>
                      <a:srgbClr val="1D1D1D"/>
                    </a:solidFill>
                    <a:latin typeface="Segoe UI"/>
                  </a:rPr>
                  <a:t>Tint 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9198B4-B2B9-622A-D304-67C45F98175D}"/>
                  </a:ext>
                </a:extLst>
              </p:cNvPr>
              <p:cNvSpPr txBox="1"/>
              <p:nvPr/>
            </p:nvSpPr>
            <p:spPr>
              <a:xfrm>
                <a:off x="7413716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sz="700" b="0" i="0">
                    <a:solidFill>
                      <a:srgbClr val="585858"/>
                    </a:solidFill>
                    <a:latin typeface="Arial"/>
                  </a:rPr>
                  <a:t>#C8BFFF</a:t>
                </a:r>
              </a:p>
            </p:txBody>
          </p: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5A3DADF-B479-CB26-3F39-3C67A8685B7B}"/>
                </a:ext>
              </a:extLst>
            </p:cNvPr>
            <p:cNvSpPr/>
            <p:nvPr/>
          </p:nvSpPr>
          <p:spPr>
            <a:xfrm>
              <a:off x="9709410" y="3892781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E9E4FF"/>
            </a:solidFill>
            <a:ln w="9525">
              <a:solidFill>
                <a:srgbClr val="C8B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D1A53-F935-2619-7CD9-FB1F031B00A7}"/>
                </a:ext>
              </a:extLst>
            </p:cNvPr>
            <p:cNvSpPr txBox="1"/>
            <p:nvPr/>
          </p:nvSpPr>
          <p:spPr>
            <a:xfrm>
              <a:off x="9800850" y="4377413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1D1D1D"/>
                  </a:solidFill>
                  <a:latin typeface="Segoe UI"/>
                </a:rPr>
                <a:t>Light Lavender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C8EA94-1E34-F318-7BE4-84745519AD43}"/>
                </a:ext>
              </a:extLst>
            </p:cNvPr>
            <p:cNvSpPr txBox="1"/>
            <p:nvPr/>
          </p:nvSpPr>
          <p:spPr>
            <a:xfrm>
              <a:off x="9709410" y="4651733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#E9E4FF</a:t>
              </a:r>
            </a:p>
          </p:txBody>
        </p: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0A37571-E243-D88B-DAEE-C4346E9DF0E7}"/>
              </a:ext>
            </a:extLst>
          </p:cNvPr>
          <p:cNvSpPr/>
          <p:nvPr/>
        </p:nvSpPr>
        <p:spPr>
          <a:xfrm>
            <a:off x="7794702" y="87704"/>
            <a:ext cx="4082384" cy="12016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281A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Usage Split</a:t>
            </a:r>
            <a:br>
              <a:rPr lang="en-US" sz="1400" b="1" dirty="0">
                <a:solidFill>
                  <a:srgbClr val="281A4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050" b="1" dirty="0">
              <a:solidFill>
                <a:srgbClr val="281A4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1A42"/>
                </a:solidFill>
              </a:rPr>
              <a:t>White + Greys (base) </a:t>
            </a:r>
            <a:r>
              <a:rPr lang="en-US" sz="1200" b="1" dirty="0">
                <a:solidFill>
                  <a:srgbClr val="281A42"/>
                </a:solidFill>
                <a:sym typeface="Wingdings" pitchFamily="2" charset="2"/>
              </a:rPr>
              <a:t> 75-80%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1A42"/>
                </a:solidFill>
                <a:sym typeface="Wingdings" pitchFamily="2" charset="2"/>
              </a:rPr>
              <a:t>Pivot Purple  15-20%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1A42"/>
                </a:solidFill>
                <a:sym typeface="Wingdings" pitchFamily="2" charset="2"/>
              </a:rPr>
              <a:t>Secondary Accents  3-5% 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81A42"/>
                </a:solidFill>
                <a:sym typeface="Wingdings" pitchFamily="2" charset="2"/>
              </a:rPr>
              <a:t>Please note RAG color values</a:t>
            </a:r>
            <a:endParaRPr lang="en-US" sz="1200" b="1" dirty="0">
              <a:solidFill>
                <a:srgbClr val="281A42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32CC8-1613-2B78-2AC6-8C07DAB320FE}"/>
              </a:ext>
            </a:extLst>
          </p:cNvPr>
          <p:cNvGrpSpPr/>
          <p:nvPr/>
        </p:nvGrpSpPr>
        <p:grpSpPr>
          <a:xfrm>
            <a:off x="526639" y="4860374"/>
            <a:ext cx="11350447" cy="1171101"/>
            <a:chOff x="526639" y="4860374"/>
            <a:chExt cx="11350447" cy="117110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4B0B8-D4AA-91F7-EC59-ED55CCD96C03}"/>
                </a:ext>
              </a:extLst>
            </p:cNvPr>
            <p:cNvSpPr txBox="1"/>
            <p:nvPr/>
          </p:nvSpPr>
          <p:spPr>
            <a:xfrm>
              <a:off x="526639" y="4860374"/>
              <a:ext cx="11350447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00" b="1" i="0">
                  <a:solidFill>
                    <a:srgbClr val="7A828D"/>
                  </a:solidFill>
                  <a:latin typeface="Segoe UI"/>
                </a:rPr>
                <a:t>ACCENTS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40D83C5C-3EED-F9BA-DEC2-A3EB3CAAD646}"/>
                </a:ext>
              </a:extLst>
            </p:cNvPr>
            <p:cNvSpPr/>
            <p:nvPr/>
          </p:nvSpPr>
          <p:spPr>
            <a:xfrm>
              <a:off x="526639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567ADA-44B3-80D0-CE2A-A78172AF58BD}"/>
                </a:ext>
              </a:extLst>
            </p:cNvPr>
            <p:cNvSpPr txBox="1"/>
            <p:nvPr/>
          </p:nvSpPr>
          <p:spPr>
            <a:xfrm>
              <a:off x="618079" y="5564462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FFFFFF"/>
                  </a:solidFill>
                  <a:latin typeface="Segoe UI"/>
                </a:rPr>
                <a:t>Anchor Green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085BD5-BB1E-7508-62AB-69EC783B5C09}"/>
                </a:ext>
              </a:extLst>
            </p:cNvPr>
            <p:cNvSpPr txBox="1"/>
            <p:nvPr/>
          </p:nvSpPr>
          <p:spPr>
            <a:xfrm>
              <a:off x="526639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#00C27A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5E8E23F-714E-BBD5-DB45-537718BC68AE}"/>
                </a:ext>
              </a:extLst>
            </p:cNvPr>
            <p:cNvSpPr/>
            <p:nvPr/>
          </p:nvSpPr>
          <p:spPr>
            <a:xfrm>
              <a:off x="2822331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9D7E9-E8F7-FDE1-3218-F271AE02B4E6}"/>
                </a:ext>
              </a:extLst>
            </p:cNvPr>
            <p:cNvSpPr txBox="1"/>
            <p:nvPr/>
          </p:nvSpPr>
          <p:spPr>
            <a:xfrm>
              <a:off x="2913771" y="5564462"/>
              <a:ext cx="1047082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Momentum 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Amber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B0C618-FC88-2C4A-1BA2-61D514781546}"/>
                </a:ext>
              </a:extLst>
            </p:cNvPr>
            <p:cNvSpPr txBox="1"/>
            <p:nvPr/>
          </p:nvSpPr>
          <p:spPr>
            <a:xfrm>
              <a:off x="2822331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#FFB547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8E15E26-EDAC-A683-EB99-602C507516EB}"/>
                </a:ext>
              </a:extLst>
            </p:cNvPr>
            <p:cNvSpPr/>
            <p:nvPr/>
          </p:nvSpPr>
          <p:spPr>
            <a:xfrm>
              <a:off x="7413718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60BD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A7AF3E-0510-7BA1-C084-58A4955F6CEC}"/>
                </a:ext>
              </a:extLst>
            </p:cNvPr>
            <p:cNvSpPr txBox="1"/>
            <p:nvPr/>
          </p:nvSpPr>
          <p:spPr>
            <a:xfrm>
              <a:off x="7505158" y="5574275"/>
              <a:ext cx="678391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Talent 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Teal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6AF32C-2084-FE34-86DF-5228B9840CB4}"/>
                </a:ext>
              </a:extLst>
            </p:cNvPr>
            <p:cNvSpPr txBox="1"/>
            <p:nvPr/>
          </p:nvSpPr>
          <p:spPr>
            <a:xfrm>
              <a:off x="7413718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#60BDBC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B7B9B45-B347-FCD2-CBB6-4DF248C04253}"/>
                </a:ext>
              </a:extLst>
            </p:cNvPr>
            <p:cNvSpPr/>
            <p:nvPr/>
          </p:nvSpPr>
          <p:spPr>
            <a:xfrm>
              <a:off x="9709410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7BE438-9D8A-24A5-5FDC-2D39A0AAD0CE}"/>
                </a:ext>
              </a:extLst>
            </p:cNvPr>
            <p:cNvSpPr txBox="1"/>
            <p:nvPr/>
          </p:nvSpPr>
          <p:spPr>
            <a:xfrm>
              <a:off x="9800850" y="5574275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750" b="1" i="0">
                  <a:solidFill>
                    <a:srgbClr val="FFFFFF"/>
                  </a:solidFill>
                  <a:latin typeface="Segoe UI"/>
                </a:rPr>
                <a:t>Signal Magenta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423E6A-C2BE-7519-2B6C-EF6981B6DC38}"/>
                </a:ext>
              </a:extLst>
            </p:cNvPr>
            <p:cNvSpPr txBox="1"/>
            <p:nvPr/>
          </p:nvSpPr>
          <p:spPr>
            <a:xfrm>
              <a:off x="9709410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#FF2E88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133D5A0-372C-FD6C-3DFE-BE7D844FCE90}"/>
                </a:ext>
              </a:extLst>
            </p:cNvPr>
            <p:cNvSpPr/>
            <p:nvPr/>
          </p:nvSpPr>
          <p:spPr>
            <a:xfrm>
              <a:off x="5118024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F69D78F-9DD9-02B4-2867-83FFF42F353F}"/>
                </a:ext>
              </a:extLst>
            </p:cNvPr>
            <p:cNvSpPr txBox="1"/>
            <p:nvPr/>
          </p:nvSpPr>
          <p:spPr>
            <a:xfrm>
              <a:off x="5209464" y="5574275"/>
              <a:ext cx="853119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chemeClr val="bg1"/>
                  </a:solidFill>
                  <a:latin typeface="Segoe UI"/>
                </a:rPr>
                <a:t>Resistance Red</a:t>
              </a:r>
              <a:endParaRPr sz="750" b="1" i="0">
                <a:solidFill>
                  <a:schemeClr val="bg1"/>
                </a:solidFill>
                <a:latin typeface="Segoe UI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D9533A-CDD2-1C12-EA86-C6648DA8C12E}"/>
                </a:ext>
              </a:extLst>
            </p:cNvPr>
            <p:cNvSpPr txBox="1"/>
            <p:nvPr/>
          </p:nvSpPr>
          <p:spPr>
            <a:xfrm>
              <a:off x="5118024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#60BDBC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2AC014-5730-C61D-360A-815AAE749F68}"/>
              </a:ext>
            </a:extLst>
          </p:cNvPr>
          <p:cNvGrpSpPr/>
          <p:nvPr/>
        </p:nvGrpSpPr>
        <p:grpSpPr>
          <a:xfrm>
            <a:off x="526639" y="2476451"/>
            <a:ext cx="11350447" cy="1163174"/>
            <a:chOff x="526639" y="2476451"/>
            <a:chExt cx="11350447" cy="116317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F74662-D6E3-6527-A6D7-1C24251E28BE}"/>
                </a:ext>
              </a:extLst>
            </p:cNvPr>
            <p:cNvGrpSpPr/>
            <p:nvPr/>
          </p:nvGrpSpPr>
          <p:grpSpPr>
            <a:xfrm>
              <a:off x="526639" y="2476451"/>
              <a:ext cx="9054755" cy="1148950"/>
              <a:chOff x="526639" y="3530556"/>
              <a:chExt cx="9054755" cy="114895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81A9A8-51BB-395C-557B-FDAF96ADADA6}"/>
                  </a:ext>
                </a:extLst>
              </p:cNvPr>
              <p:cNvGrpSpPr/>
              <p:nvPr/>
            </p:nvGrpSpPr>
            <p:grpSpPr>
              <a:xfrm>
                <a:off x="526639" y="3737674"/>
                <a:ext cx="9054755" cy="941832"/>
                <a:chOff x="526639" y="3737674"/>
                <a:chExt cx="9054755" cy="941832"/>
              </a:xfrm>
            </p:grpSpPr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52A95E11-5580-D774-B108-AE7D4E66F9BF}"/>
                    </a:ext>
                  </a:extLst>
                </p:cNvPr>
                <p:cNvSpPr/>
                <p:nvPr/>
              </p:nvSpPr>
              <p:spPr>
                <a:xfrm>
                  <a:off x="526639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D37DE33-C1FA-A813-DFC9-04880AC6BA6D}"/>
                    </a:ext>
                  </a:extLst>
                </p:cNvPr>
                <p:cNvSpPr txBox="1"/>
                <p:nvPr/>
              </p:nvSpPr>
              <p:spPr>
                <a:xfrm>
                  <a:off x="618079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FFFFFF"/>
                      </a:solidFill>
                      <a:latin typeface="Segoe UI"/>
                    </a:rPr>
                    <a:t>Vector Dark Purple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3648888-9910-661C-0C5B-815C50C76D4C}"/>
                    </a:ext>
                  </a:extLst>
                </p:cNvPr>
                <p:cNvSpPr txBox="1"/>
                <p:nvPr/>
              </p:nvSpPr>
              <p:spPr>
                <a:xfrm>
                  <a:off x="526639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#281A42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B911F5A5-2FED-8341-AA28-A0E585B45307}"/>
                    </a:ext>
                  </a:extLst>
                </p:cNvPr>
                <p:cNvSpPr/>
                <p:nvPr/>
              </p:nvSpPr>
              <p:spPr>
                <a:xfrm>
                  <a:off x="2822331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7A828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2F6E75-ECEC-0D59-F01C-43095FB5C049}"/>
                    </a:ext>
                  </a:extLst>
                </p:cNvPr>
                <p:cNvSpPr txBox="1"/>
                <p:nvPr/>
              </p:nvSpPr>
              <p:spPr>
                <a:xfrm>
                  <a:off x="2913771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FFFFFF"/>
                      </a:solidFill>
                      <a:latin typeface="Segoe UI"/>
                    </a:rPr>
                    <a:t>Grey Mid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C4CD8-22E1-EEDA-20D7-77F1C36FF746}"/>
                    </a:ext>
                  </a:extLst>
                </p:cNvPr>
                <p:cNvSpPr txBox="1"/>
                <p:nvPr/>
              </p:nvSpPr>
              <p:spPr>
                <a:xfrm>
                  <a:off x="2822331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#7A828D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FD07CFF2-A2F9-1CA6-9366-FBCB19627DBF}"/>
                    </a:ext>
                  </a:extLst>
                </p:cNvPr>
                <p:cNvSpPr/>
                <p:nvPr/>
              </p:nvSpPr>
              <p:spPr>
                <a:xfrm>
                  <a:off x="5118026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B2BB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4E55A5-9D03-C74D-121D-542B09F5B25C}"/>
                    </a:ext>
                  </a:extLst>
                </p:cNvPr>
                <p:cNvSpPr txBox="1"/>
                <p:nvPr/>
              </p:nvSpPr>
              <p:spPr>
                <a:xfrm>
                  <a:off x="5209466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1D1D1D"/>
                      </a:solidFill>
                      <a:latin typeface="Segoe UI"/>
                    </a:rPr>
                    <a:t>Light Grey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54F6040-9CEA-A424-C18A-518F121E995F}"/>
                    </a:ext>
                  </a:extLst>
                </p:cNvPr>
                <p:cNvSpPr txBox="1"/>
                <p:nvPr/>
              </p:nvSpPr>
              <p:spPr>
                <a:xfrm>
                  <a:off x="5118026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#B2BBCA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E4AF1EA-9BB3-92BE-13A2-A090519F395C}"/>
                    </a:ext>
                  </a:extLst>
                </p:cNvPr>
                <p:cNvSpPr/>
                <p:nvPr/>
              </p:nvSpPr>
              <p:spPr>
                <a:xfrm>
                  <a:off x="7413718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D0D7D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7C257-2D98-CA86-FFAE-546756A6E410}"/>
                    </a:ext>
                  </a:extLst>
                </p:cNvPr>
                <p:cNvSpPr txBox="1"/>
                <p:nvPr/>
              </p:nvSpPr>
              <p:spPr>
                <a:xfrm>
                  <a:off x="7505158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sz="750" b="1" i="0">
                      <a:solidFill>
                        <a:srgbClr val="1D1D1D"/>
                      </a:solidFill>
                      <a:latin typeface="Segoe UI"/>
                    </a:rPr>
                    <a:t>Soft Grey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AEE9FA7-79C7-28B6-0B60-A09B22D82ED4}"/>
                    </a:ext>
                  </a:extLst>
                </p:cNvPr>
                <p:cNvSpPr txBox="1"/>
                <p:nvPr/>
              </p:nvSpPr>
              <p:spPr>
                <a:xfrm>
                  <a:off x="7413718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sz="700" b="0" i="0">
                      <a:solidFill>
                        <a:srgbClr val="585858"/>
                      </a:solidFill>
                      <a:latin typeface="Arial"/>
                    </a:rPr>
                    <a:t>#D0D7DF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7CFF3D-BC90-15F1-DC82-658CB75C7E5E}"/>
                  </a:ext>
                </a:extLst>
              </p:cNvPr>
              <p:cNvSpPr txBox="1"/>
              <p:nvPr/>
            </p:nvSpPr>
            <p:spPr>
              <a:xfrm>
                <a:off x="526639" y="3530556"/>
                <a:ext cx="588623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sz="700" b="1" i="0">
                    <a:solidFill>
                      <a:srgbClr val="7A828D"/>
                    </a:solidFill>
                    <a:latin typeface="Segoe UI"/>
                  </a:rPr>
                  <a:t>NEUTRAL</a:t>
                </a:r>
                <a:endParaRPr sz="700" b="1" i="0">
                  <a:solidFill>
                    <a:srgbClr val="7A828D"/>
                  </a:solidFill>
                  <a:latin typeface="Segoe UI"/>
                </a:endParaRPr>
              </a:p>
            </p:txBody>
          </p:sp>
        </p:grp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835405E-D7C9-8DF9-1DB3-2CBACCDCB80C}"/>
                </a:ext>
              </a:extLst>
            </p:cNvPr>
            <p:cNvSpPr/>
            <p:nvPr/>
          </p:nvSpPr>
          <p:spPr>
            <a:xfrm>
              <a:off x="9709410" y="2680618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E5E6F44-B421-5467-B1B6-D8C542603A24}"/>
                </a:ext>
              </a:extLst>
            </p:cNvPr>
            <p:cNvSpPr txBox="1"/>
            <p:nvPr/>
          </p:nvSpPr>
          <p:spPr>
            <a:xfrm>
              <a:off x="9800850" y="3165250"/>
              <a:ext cx="782587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750" b="1" i="0">
                  <a:solidFill>
                    <a:srgbClr val="1D1D1D"/>
                  </a:solidFill>
                  <a:latin typeface="Segoe UI"/>
                </a:rPr>
                <a:t>Lightest</a:t>
              </a:r>
              <a:r>
                <a:rPr sz="750" b="1" i="0">
                  <a:solidFill>
                    <a:srgbClr val="1D1D1D"/>
                  </a:solidFill>
                  <a:latin typeface="Segoe UI"/>
                </a:rPr>
                <a:t> Grey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EB5F45F-705D-9983-F18B-DBF68F980895}"/>
                </a:ext>
              </a:extLst>
            </p:cNvPr>
            <p:cNvSpPr txBox="1"/>
            <p:nvPr/>
          </p:nvSpPr>
          <p:spPr>
            <a:xfrm>
              <a:off x="10506950" y="3439570"/>
              <a:ext cx="572594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700" b="0" i="0">
                  <a:solidFill>
                    <a:srgbClr val="585858"/>
                  </a:solidFill>
                  <a:latin typeface="Arial"/>
                </a:rPr>
                <a:t>#</a:t>
              </a:r>
              <a:r>
                <a:rPr lang="en-US" sz="700">
                  <a:solidFill>
                    <a:srgbClr val="585858"/>
                  </a:solidFill>
                  <a:latin typeface="Arial"/>
                </a:rPr>
                <a:t> F2F2F2</a:t>
              </a:r>
              <a:endParaRPr sz="700" b="0" i="0">
                <a:solidFill>
                  <a:srgbClr val="585858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7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65E9-752F-D9D3-C917-5D8A635E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6FA9-7A2D-68A5-2C3B-EFDF39DF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4267-897A-53C5-F5BF-DD3BC5195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82338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C549-D80C-5298-B387-0CC3223A4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DF1D5-C570-2214-5B07-F2505A1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432000"/>
            <a:ext cx="11338560" cy="546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4" name="Picture 3" descr="tmpp7_3bvl0.png">
            <a:extLst>
              <a:ext uri="{FF2B5EF4-FFF2-40B4-BE49-F238E27FC236}">
                <a16:creationId xmlns:a16="http://schemas.microsoft.com/office/drawing/2014/main" id="{55E81673-C369-5235-B0CA-EA518CE3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44" y="1367226"/>
            <a:ext cx="621792" cy="621792"/>
          </a:xfrm>
          <a:prstGeom prst="rect">
            <a:avLst/>
          </a:prstGeom>
        </p:spPr>
      </p:pic>
      <p:pic>
        <p:nvPicPr>
          <p:cNvPr id="5" name="Picture 4" descr="tmpkoiajgzz.png">
            <a:extLst>
              <a:ext uri="{FF2B5EF4-FFF2-40B4-BE49-F238E27FC236}">
                <a16:creationId xmlns:a16="http://schemas.microsoft.com/office/drawing/2014/main" id="{BFF628A4-ECDC-2680-226F-74572EDA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64" y="1367226"/>
            <a:ext cx="621792" cy="621792"/>
          </a:xfrm>
          <a:prstGeom prst="rect">
            <a:avLst/>
          </a:prstGeom>
        </p:spPr>
      </p:pic>
      <p:pic>
        <p:nvPicPr>
          <p:cNvPr id="6" name="Picture 5" descr="tmprix7w6ep.png">
            <a:extLst>
              <a:ext uri="{FF2B5EF4-FFF2-40B4-BE49-F238E27FC236}">
                <a16:creationId xmlns:a16="http://schemas.microsoft.com/office/drawing/2014/main" id="{EB635C82-4053-7365-FE73-910F1C383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184" y="1367226"/>
            <a:ext cx="621792" cy="621792"/>
          </a:xfrm>
          <a:prstGeom prst="rect">
            <a:avLst/>
          </a:prstGeom>
        </p:spPr>
      </p:pic>
      <p:pic>
        <p:nvPicPr>
          <p:cNvPr id="7" name="Picture 6" descr="tmp_8c2iu_d.png">
            <a:extLst>
              <a:ext uri="{FF2B5EF4-FFF2-40B4-BE49-F238E27FC236}">
                <a16:creationId xmlns:a16="http://schemas.microsoft.com/office/drawing/2014/main" id="{2467ED25-57EA-3EDC-4E06-849C0552E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7704" y="1367226"/>
            <a:ext cx="621792" cy="621792"/>
          </a:xfrm>
          <a:prstGeom prst="rect">
            <a:avLst/>
          </a:prstGeom>
        </p:spPr>
      </p:pic>
      <p:pic>
        <p:nvPicPr>
          <p:cNvPr id="8" name="Picture 7" descr="tmpvw8em0zd.png">
            <a:extLst>
              <a:ext uri="{FF2B5EF4-FFF2-40B4-BE49-F238E27FC236}">
                <a16:creationId xmlns:a16="http://schemas.microsoft.com/office/drawing/2014/main" id="{4B32E330-0DDC-A5A6-E94C-3B44AA371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224" y="1367226"/>
            <a:ext cx="621792" cy="621792"/>
          </a:xfrm>
          <a:prstGeom prst="rect">
            <a:avLst/>
          </a:prstGeom>
        </p:spPr>
      </p:pic>
      <p:pic>
        <p:nvPicPr>
          <p:cNvPr id="9" name="Picture 8" descr="tmp57s3zf7u.png">
            <a:extLst>
              <a:ext uri="{FF2B5EF4-FFF2-40B4-BE49-F238E27FC236}">
                <a16:creationId xmlns:a16="http://schemas.microsoft.com/office/drawing/2014/main" id="{30A984D1-0FA4-234A-C5FB-097BACAB8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744" y="1367226"/>
            <a:ext cx="621792" cy="621792"/>
          </a:xfrm>
          <a:prstGeom prst="rect">
            <a:avLst/>
          </a:prstGeom>
        </p:spPr>
      </p:pic>
      <p:pic>
        <p:nvPicPr>
          <p:cNvPr id="10" name="Picture 9" descr="tmpk8ra5zl2.png">
            <a:extLst>
              <a:ext uri="{FF2B5EF4-FFF2-40B4-BE49-F238E27FC236}">
                <a16:creationId xmlns:a16="http://schemas.microsoft.com/office/drawing/2014/main" id="{9991FA59-B352-EB01-7589-583AE1466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264" y="1367226"/>
            <a:ext cx="621792" cy="621792"/>
          </a:xfrm>
          <a:prstGeom prst="rect">
            <a:avLst/>
          </a:prstGeom>
        </p:spPr>
      </p:pic>
      <p:pic>
        <p:nvPicPr>
          <p:cNvPr id="11" name="Picture 10" descr="tmpwqz6_vne.png">
            <a:extLst>
              <a:ext uri="{FF2B5EF4-FFF2-40B4-BE49-F238E27FC236}">
                <a16:creationId xmlns:a16="http://schemas.microsoft.com/office/drawing/2014/main" id="{EC14EE19-E1F4-8779-740A-4881C5CE0B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3784" y="1367226"/>
            <a:ext cx="621792" cy="621792"/>
          </a:xfrm>
          <a:prstGeom prst="rect">
            <a:avLst/>
          </a:prstGeom>
        </p:spPr>
      </p:pic>
      <p:pic>
        <p:nvPicPr>
          <p:cNvPr id="12" name="Picture 11" descr="tmp394dalkd.png">
            <a:extLst>
              <a:ext uri="{FF2B5EF4-FFF2-40B4-BE49-F238E27FC236}">
                <a16:creationId xmlns:a16="http://schemas.microsoft.com/office/drawing/2014/main" id="{3B9167A2-2645-83B5-9F24-E5A11D2CE1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5304" y="1367226"/>
            <a:ext cx="621792" cy="621792"/>
          </a:xfrm>
          <a:prstGeom prst="rect">
            <a:avLst/>
          </a:prstGeom>
        </p:spPr>
      </p:pic>
      <p:pic>
        <p:nvPicPr>
          <p:cNvPr id="13" name="Picture 12" descr="tmpkrtyr7dd.png">
            <a:extLst>
              <a:ext uri="{FF2B5EF4-FFF2-40B4-BE49-F238E27FC236}">
                <a16:creationId xmlns:a16="http://schemas.microsoft.com/office/drawing/2014/main" id="{C935EA6B-A67C-C114-D6F6-5D08693373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6824" y="1367226"/>
            <a:ext cx="621792" cy="621792"/>
          </a:xfrm>
          <a:prstGeom prst="rect">
            <a:avLst/>
          </a:prstGeom>
        </p:spPr>
      </p:pic>
      <p:pic>
        <p:nvPicPr>
          <p:cNvPr id="14" name="Picture 13" descr="tmpdi8zej__.png">
            <a:extLst>
              <a:ext uri="{FF2B5EF4-FFF2-40B4-BE49-F238E27FC236}">
                <a16:creationId xmlns:a16="http://schemas.microsoft.com/office/drawing/2014/main" id="{83C0D669-9C6C-46F7-68B8-8A82790603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8344" y="1367226"/>
            <a:ext cx="621792" cy="621792"/>
          </a:xfrm>
          <a:prstGeom prst="rect">
            <a:avLst/>
          </a:prstGeom>
        </p:spPr>
      </p:pic>
      <p:pic>
        <p:nvPicPr>
          <p:cNvPr id="15" name="Picture 14" descr="tmpqpkeodq1.png">
            <a:extLst>
              <a:ext uri="{FF2B5EF4-FFF2-40B4-BE49-F238E27FC236}">
                <a16:creationId xmlns:a16="http://schemas.microsoft.com/office/drawing/2014/main" id="{5C451E43-C7E6-6774-5083-AA8FA24A5E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9864" y="1367226"/>
            <a:ext cx="621792" cy="621792"/>
          </a:xfrm>
          <a:prstGeom prst="rect">
            <a:avLst/>
          </a:prstGeom>
        </p:spPr>
      </p:pic>
      <p:pic>
        <p:nvPicPr>
          <p:cNvPr id="16" name="Picture 15" descr="tmpl8ucc2io.png">
            <a:extLst>
              <a:ext uri="{FF2B5EF4-FFF2-40B4-BE49-F238E27FC236}">
                <a16:creationId xmlns:a16="http://schemas.microsoft.com/office/drawing/2014/main" id="{523B3F63-7E94-5731-1F0B-CD978629E76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1384" y="1367226"/>
            <a:ext cx="621792" cy="621792"/>
          </a:xfrm>
          <a:prstGeom prst="rect">
            <a:avLst/>
          </a:prstGeom>
        </p:spPr>
      </p:pic>
      <p:pic>
        <p:nvPicPr>
          <p:cNvPr id="17" name="Picture 16" descr="tmp3ybouyc1.png">
            <a:extLst>
              <a:ext uri="{FF2B5EF4-FFF2-40B4-BE49-F238E27FC236}">
                <a16:creationId xmlns:a16="http://schemas.microsoft.com/office/drawing/2014/main" id="{5977CCB3-8C7A-EB3B-46D9-0FF37B6B0E7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2904" y="1367226"/>
            <a:ext cx="621792" cy="621792"/>
          </a:xfrm>
          <a:prstGeom prst="rect">
            <a:avLst/>
          </a:prstGeom>
        </p:spPr>
      </p:pic>
      <p:pic>
        <p:nvPicPr>
          <p:cNvPr id="18" name="Picture 17" descr="tmpabgqic1b.png">
            <a:extLst>
              <a:ext uri="{FF2B5EF4-FFF2-40B4-BE49-F238E27FC236}">
                <a16:creationId xmlns:a16="http://schemas.microsoft.com/office/drawing/2014/main" id="{70AE205E-E7ED-CDC1-1944-D3A084BF5C2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94424" y="1367226"/>
            <a:ext cx="621792" cy="621792"/>
          </a:xfrm>
          <a:prstGeom prst="rect">
            <a:avLst/>
          </a:prstGeom>
        </p:spPr>
      </p:pic>
      <p:pic>
        <p:nvPicPr>
          <p:cNvPr id="19" name="Picture 18" descr="tmp5mr77x8u.png">
            <a:extLst>
              <a:ext uri="{FF2B5EF4-FFF2-40B4-BE49-F238E27FC236}">
                <a16:creationId xmlns:a16="http://schemas.microsoft.com/office/drawing/2014/main" id="{696D9FBD-09CA-36F9-4A7E-0146BFC19BC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3144" y="2098746"/>
            <a:ext cx="621792" cy="621792"/>
          </a:xfrm>
          <a:prstGeom prst="rect">
            <a:avLst/>
          </a:prstGeom>
        </p:spPr>
      </p:pic>
      <p:pic>
        <p:nvPicPr>
          <p:cNvPr id="20" name="Picture 19" descr="tmpbmkqazsn.png">
            <a:extLst>
              <a:ext uri="{FF2B5EF4-FFF2-40B4-BE49-F238E27FC236}">
                <a16:creationId xmlns:a16="http://schemas.microsoft.com/office/drawing/2014/main" id="{3974A631-AC3D-9DE1-699D-C96E12B507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4664" y="2098746"/>
            <a:ext cx="621792" cy="621792"/>
          </a:xfrm>
          <a:prstGeom prst="rect">
            <a:avLst/>
          </a:prstGeom>
        </p:spPr>
      </p:pic>
      <p:pic>
        <p:nvPicPr>
          <p:cNvPr id="21" name="Picture 20" descr="tmpmxd6d0ca.png">
            <a:extLst>
              <a:ext uri="{FF2B5EF4-FFF2-40B4-BE49-F238E27FC236}">
                <a16:creationId xmlns:a16="http://schemas.microsoft.com/office/drawing/2014/main" id="{FA705BB4-D665-86A8-5D56-2A043EF2C81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16184" y="2098746"/>
            <a:ext cx="621792" cy="621792"/>
          </a:xfrm>
          <a:prstGeom prst="rect">
            <a:avLst/>
          </a:prstGeom>
        </p:spPr>
      </p:pic>
      <p:pic>
        <p:nvPicPr>
          <p:cNvPr id="22" name="Picture 21" descr="tmpt_cu_wfz.png">
            <a:extLst>
              <a:ext uri="{FF2B5EF4-FFF2-40B4-BE49-F238E27FC236}">
                <a16:creationId xmlns:a16="http://schemas.microsoft.com/office/drawing/2014/main" id="{50CB5EDA-3C46-8CC7-7B3A-735B5FB6C55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47704" y="2098746"/>
            <a:ext cx="621792" cy="621792"/>
          </a:xfrm>
          <a:prstGeom prst="rect">
            <a:avLst/>
          </a:prstGeom>
        </p:spPr>
      </p:pic>
      <p:pic>
        <p:nvPicPr>
          <p:cNvPr id="23" name="Picture 22" descr="tmprxfw1x97.png">
            <a:extLst>
              <a:ext uri="{FF2B5EF4-FFF2-40B4-BE49-F238E27FC236}">
                <a16:creationId xmlns:a16="http://schemas.microsoft.com/office/drawing/2014/main" id="{CC3483C6-3EFF-9D12-4A63-41525AAFE8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9224" y="2098746"/>
            <a:ext cx="621792" cy="621792"/>
          </a:xfrm>
          <a:prstGeom prst="rect">
            <a:avLst/>
          </a:prstGeom>
        </p:spPr>
      </p:pic>
      <p:pic>
        <p:nvPicPr>
          <p:cNvPr id="24" name="Picture 23" descr="tmpm3516w4v.png">
            <a:extLst>
              <a:ext uri="{FF2B5EF4-FFF2-40B4-BE49-F238E27FC236}">
                <a16:creationId xmlns:a16="http://schemas.microsoft.com/office/drawing/2014/main" id="{FDF9FE4B-5F6D-E9D2-A931-1286CCE9DFF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10744" y="2098746"/>
            <a:ext cx="621792" cy="621792"/>
          </a:xfrm>
          <a:prstGeom prst="rect">
            <a:avLst/>
          </a:prstGeom>
        </p:spPr>
      </p:pic>
      <p:pic>
        <p:nvPicPr>
          <p:cNvPr id="25" name="Picture 24" descr="tmpqai0t_r0.png">
            <a:extLst>
              <a:ext uri="{FF2B5EF4-FFF2-40B4-BE49-F238E27FC236}">
                <a16:creationId xmlns:a16="http://schemas.microsoft.com/office/drawing/2014/main" id="{4811DD51-76DD-EEAF-B530-49C4E203C9D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2264" y="2098746"/>
            <a:ext cx="621792" cy="621792"/>
          </a:xfrm>
          <a:prstGeom prst="rect">
            <a:avLst/>
          </a:prstGeom>
        </p:spPr>
      </p:pic>
      <p:pic>
        <p:nvPicPr>
          <p:cNvPr id="26" name="Picture 25" descr="tmp0y29ihtg.png">
            <a:extLst>
              <a:ext uri="{FF2B5EF4-FFF2-40B4-BE49-F238E27FC236}">
                <a16:creationId xmlns:a16="http://schemas.microsoft.com/office/drawing/2014/main" id="{CCAFB30E-FD00-6389-0A43-84242BBA531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73784" y="2098746"/>
            <a:ext cx="621792" cy="621792"/>
          </a:xfrm>
          <a:prstGeom prst="rect">
            <a:avLst/>
          </a:prstGeom>
        </p:spPr>
      </p:pic>
      <p:pic>
        <p:nvPicPr>
          <p:cNvPr id="27" name="Picture 26" descr="tmphw_e68df.png">
            <a:extLst>
              <a:ext uri="{FF2B5EF4-FFF2-40B4-BE49-F238E27FC236}">
                <a16:creationId xmlns:a16="http://schemas.microsoft.com/office/drawing/2014/main" id="{8FA5C57F-A14F-D5B8-07CF-8D4D0D5F368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5304" y="2098746"/>
            <a:ext cx="621792" cy="621792"/>
          </a:xfrm>
          <a:prstGeom prst="rect">
            <a:avLst/>
          </a:prstGeom>
        </p:spPr>
      </p:pic>
      <p:pic>
        <p:nvPicPr>
          <p:cNvPr id="28" name="Picture 27" descr="tmpvqdqny1w.png">
            <a:extLst>
              <a:ext uri="{FF2B5EF4-FFF2-40B4-BE49-F238E27FC236}">
                <a16:creationId xmlns:a16="http://schemas.microsoft.com/office/drawing/2014/main" id="{950491AF-25E1-B04D-1EDC-A73D8AA261F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36824" y="2098746"/>
            <a:ext cx="621792" cy="621792"/>
          </a:xfrm>
          <a:prstGeom prst="rect">
            <a:avLst/>
          </a:prstGeom>
        </p:spPr>
      </p:pic>
      <p:pic>
        <p:nvPicPr>
          <p:cNvPr id="29" name="Picture 28" descr="tmpxendbd0j.png">
            <a:extLst>
              <a:ext uri="{FF2B5EF4-FFF2-40B4-BE49-F238E27FC236}">
                <a16:creationId xmlns:a16="http://schemas.microsoft.com/office/drawing/2014/main" id="{35C3D915-823F-6F58-792F-5485A60657E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2520" y="2829223"/>
            <a:ext cx="621792" cy="621792"/>
          </a:xfrm>
          <a:prstGeom prst="rect">
            <a:avLst/>
          </a:prstGeom>
        </p:spPr>
      </p:pic>
      <p:pic>
        <p:nvPicPr>
          <p:cNvPr id="30" name="Picture 29" descr="tmpf1_xqvfu.png">
            <a:extLst>
              <a:ext uri="{FF2B5EF4-FFF2-40B4-BE49-F238E27FC236}">
                <a16:creationId xmlns:a16="http://schemas.microsoft.com/office/drawing/2014/main" id="{277B868A-8B4A-950D-48C8-B21A523B32C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84040" y="2829223"/>
            <a:ext cx="621792" cy="621792"/>
          </a:xfrm>
          <a:prstGeom prst="rect">
            <a:avLst/>
          </a:prstGeom>
        </p:spPr>
      </p:pic>
      <p:pic>
        <p:nvPicPr>
          <p:cNvPr id="31" name="Picture 30" descr="tmp_6s5r51c.png">
            <a:extLst>
              <a:ext uri="{FF2B5EF4-FFF2-40B4-BE49-F238E27FC236}">
                <a16:creationId xmlns:a16="http://schemas.microsoft.com/office/drawing/2014/main" id="{B422AD1E-14B5-C74E-7F73-FA085DADE0F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15560" y="2829223"/>
            <a:ext cx="621792" cy="621792"/>
          </a:xfrm>
          <a:prstGeom prst="rect">
            <a:avLst/>
          </a:prstGeom>
        </p:spPr>
      </p:pic>
      <p:pic>
        <p:nvPicPr>
          <p:cNvPr id="32" name="Picture 31" descr="tmpa7wombnk.png">
            <a:extLst>
              <a:ext uri="{FF2B5EF4-FFF2-40B4-BE49-F238E27FC236}">
                <a16:creationId xmlns:a16="http://schemas.microsoft.com/office/drawing/2014/main" id="{58E818DC-9CE5-DE81-A0B5-F5A2D5E84B9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47080" y="2829223"/>
            <a:ext cx="621792" cy="621792"/>
          </a:xfrm>
          <a:prstGeom prst="rect">
            <a:avLst/>
          </a:prstGeom>
        </p:spPr>
      </p:pic>
      <p:pic>
        <p:nvPicPr>
          <p:cNvPr id="33" name="Picture 32" descr="tmp0iq51ia0.png">
            <a:extLst>
              <a:ext uri="{FF2B5EF4-FFF2-40B4-BE49-F238E27FC236}">
                <a16:creationId xmlns:a16="http://schemas.microsoft.com/office/drawing/2014/main" id="{26F03AC2-A334-1137-7A9B-82F438FF6D0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78600" y="2829223"/>
            <a:ext cx="621792" cy="621792"/>
          </a:xfrm>
          <a:prstGeom prst="rect">
            <a:avLst/>
          </a:prstGeom>
        </p:spPr>
      </p:pic>
      <p:pic>
        <p:nvPicPr>
          <p:cNvPr id="34" name="Picture 33" descr="tmpzjkumbua.png">
            <a:extLst>
              <a:ext uri="{FF2B5EF4-FFF2-40B4-BE49-F238E27FC236}">
                <a16:creationId xmlns:a16="http://schemas.microsoft.com/office/drawing/2014/main" id="{DB72BAA1-CE35-2FBB-3D9F-E61DCB66D40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10120" y="2829223"/>
            <a:ext cx="621792" cy="621792"/>
          </a:xfrm>
          <a:prstGeom prst="rect">
            <a:avLst/>
          </a:prstGeom>
        </p:spPr>
      </p:pic>
      <p:pic>
        <p:nvPicPr>
          <p:cNvPr id="35" name="Picture 34" descr="tmpsidsacm3.png">
            <a:extLst>
              <a:ext uri="{FF2B5EF4-FFF2-40B4-BE49-F238E27FC236}">
                <a16:creationId xmlns:a16="http://schemas.microsoft.com/office/drawing/2014/main" id="{6B288126-AD7C-C455-7B11-2FF502CB5F6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41640" y="2829223"/>
            <a:ext cx="621792" cy="621792"/>
          </a:xfrm>
          <a:prstGeom prst="rect">
            <a:avLst/>
          </a:prstGeom>
        </p:spPr>
      </p:pic>
      <p:pic>
        <p:nvPicPr>
          <p:cNvPr id="36" name="Picture 35" descr="tmp3z4fn9q5.png">
            <a:extLst>
              <a:ext uri="{FF2B5EF4-FFF2-40B4-BE49-F238E27FC236}">
                <a16:creationId xmlns:a16="http://schemas.microsoft.com/office/drawing/2014/main" id="{B1A6B3AA-FFD2-747B-E43D-3F14EC0D969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3160" y="2829223"/>
            <a:ext cx="621792" cy="621792"/>
          </a:xfrm>
          <a:prstGeom prst="rect">
            <a:avLst/>
          </a:prstGeom>
        </p:spPr>
      </p:pic>
      <p:pic>
        <p:nvPicPr>
          <p:cNvPr id="37" name="Picture 36" descr="tmp2p1m07_1.png">
            <a:extLst>
              <a:ext uri="{FF2B5EF4-FFF2-40B4-BE49-F238E27FC236}">
                <a16:creationId xmlns:a16="http://schemas.microsoft.com/office/drawing/2014/main" id="{A33E0444-31AA-B1DD-A74E-6AEE4C473A1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404680" y="2829223"/>
            <a:ext cx="621792" cy="621792"/>
          </a:xfrm>
          <a:prstGeom prst="rect">
            <a:avLst/>
          </a:prstGeom>
        </p:spPr>
      </p:pic>
      <p:pic>
        <p:nvPicPr>
          <p:cNvPr id="38" name="Picture 37" descr="tmpo8utjixd.png">
            <a:extLst>
              <a:ext uri="{FF2B5EF4-FFF2-40B4-BE49-F238E27FC236}">
                <a16:creationId xmlns:a16="http://schemas.microsoft.com/office/drawing/2014/main" id="{737F0630-7FD8-34AF-CD5A-8874F7E09474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36200" y="2829223"/>
            <a:ext cx="621792" cy="621792"/>
          </a:xfrm>
          <a:prstGeom prst="rect">
            <a:avLst/>
          </a:prstGeom>
        </p:spPr>
      </p:pic>
      <p:pic>
        <p:nvPicPr>
          <p:cNvPr id="39" name="Picture 38" descr="tmpim0lvhs3.png">
            <a:extLst>
              <a:ext uri="{FF2B5EF4-FFF2-40B4-BE49-F238E27FC236}">
                <a16:creationId xmlns:a16="http://schemas.microsoft.com/office/drawing/2014/main" id="{CF23A680-0F6C-505A-0616-9F101F0CF89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67720" y="2065428"/>
            <a:ext cx="621792" cy="621792"/>
          </a:xfrm>
          <a:prstGeom prst="rect">
            <a:avLst/>
          </a:prstGeom>
        </p:spPr>
      </p:pic>
      <p:pic>
        <p:nvPicPr>
          <p:cNvPr id="40" name="Picture 39" descr="tmpmg47_cr6.png">
            <a:extLst>
              <a:ext uri="{FF2B5EF4-FFF2-40B4-BE49-F238E27FC236}">
                <a16:creationId xmlns:a16="http://schemas.microsoft.com/office/drawing/2014/main" id="{9CF2C5B7-94DE-E9AA-BAF1-4BBBAEF9232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599240" y="2065428"/>
            <a:ext cx="621792" cy="621792"/>
          </a:xfrm>
          <a:prstGeom prst="rect">
            <a:avLst/>
          </a:prstGeom>
        </p:spPr>
      </p:pic>
      <p:pic>
        <p:nvPicPr>
          <p:cNvPr id="41" name="Picture 40" descr="tmp2yl6f2xl.png">
            <a:extLst>
              <a:ext uri="{FF2B5EF4-FFF2-40B4-BE49-F238E27FC236}">
                <a16:creationId xmlns:a16="http://schemas.microsoft.com/office/drawing/2014/main" id="{119F54A3-5E5E-9F48-A2F3-3D9092D1FAEC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330760" y="2065428"/>
            <a:ext cx="621792" cy="621792"/>
          </a:xfrm>
          <a:prstGeom prst="rect">
            <a:avLst/>
          </a:prstGeom>
        </p:spPr>
      </p:pic>
      <p:pic>
        <p:nvPicPr>
          <p:cNvPr id="42" name="Picture 41" descr="tmpun2qvcot.png">
            <a:extLst>
              <a:ext uri="{FF2B5EF4-FFF2-40B4-BE49-F238E27FC236}">
                <a16:creationId xmlns:a16="http://schemas.microsoft.com/office/drawing/2014/main" id="{50FA139A-B874-C4CE-B2B4-3D53E537B2B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062280" y="2065428"/>
            <a:ext cx="621792" cy="621792"/>
          </a:xfrm>
          <a:prstGeom prst="rect">
            <a:avLst/>
          </a:prstGeom>
        </p:spPr>
      </p:pic>
      <p:pic>
        <p:nvPicPr>
          <p:cNvPr id="43" name="Picture 42" descr="tmp4g0o6ztn.png">
            <a:extLst>
              <a:ext uri="{FF2B5EF4-FFF2-40B4-BE49-F238E27FC236}">
                <a16:creationId xmlns:a16="http://schemas.microsoft.com/office/drawing/2014/main" id="{2ED7CD91-4F94-5371-E82B-14906E2A09A1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93800" y="2065428"/>
            <a:ext cx="621792" cy="621792"/>
          </a:xfrm>
          <a:prstGeom prst="rect">
            <a:avLst/>
          </a:prstGeom>
        </p:spPr>
      </p:pic>
      <p:pic>
        <p:nvPicPr>
          <p:cNvPr id="44" name="Picture 43" descr="tmpp0gs3mc8.png">
            <a:extLst>
              <a:ext uri="{FF2B5EF4-FFF2-40B4-BE49-F238E27FC236}">
                <a16:creationId xmlns:a16="http://schemas.microsoft.com/office/drawing/2014/main" id="{ED227512-D372-2BC7-BB7F-6FFE34FC678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52520" y="3560743"/>
            <a:ext cx="621792" cy="621792"/>
          </a:xfrm>
          <a:prstGeom prst="rect">
            <a:avLst/>
          </a:prstGeom>
        </p:spPr>
      </p:pic>
      <p:pic>
        <p:nvPicPr>
          <p:cNvPr id="45" name="Picture 44" descr="tmpcxkcm0a3.png">
            <a:extLst>
              <a:ext uri="{FF2B5EF4-FFF2-40B4-BE49-F238E27FC236}">
                <a16:creationId xmlns:a16="http://schemas.microsoft.com/office/drawing/2014/main" id="{D484F5D6-5F28-1474-F16A-364BAF4D60C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84040" y="3560743"/>
            <a:ext cx="621792" cy="621792"/>
          </a:xfrm>
          <a:prstGeom prst="rect">
            <a:avLst/>
          </a:prstGeom>
        </p:spPr>
      </p:pic>
      <p:pic>
        <p:nvPicPr>
          <p:cNvPr id="46" name="Picture 45" descr="tmpcidvw98v.png">
            <a:extLst>
              <a:ext uri="{FF2B5EF4-FFF2-40B4-BE49-F238E27FC236}">
                <a16:creationId xmlns:a16="http://schemas.microsoft.com/office/drawing/2014/main" id="{5A664981-34E7-9E61-D581-5741D0CBD5EF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015560" y="3560743"/>
            <a:ext cx="621792" cy="621792"/>
          </a:xfrm>
          <a:prstGeom prst="rect">
            <a:avLst/>
          </a:prstGeom>
        </p:spPr>
      </p:pic>
      <p:pic>
        <p:nvPicPr>
          <p:cNvPr id="47" name="Picture 46" descr="tmpgz746p1v.png">
            <a:extLst>
              <a:ext uri="{FF2B5EF4-FFF2-40B4-BE49-F238E27FC236}">
                <a16:creationId xmlns:a16="http://schemas.microsoft.com/office/drawing/2014/main" id="{48FC1B9B-F95A-CE75-7848-535732B925C9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747080" y="3560743"/>
            <a:ext cx="621792" cy="621792"/>
          </a:xfrm>
          <a:prstGeom prst="rect">
            <a:avLst/>
          </a:prstGeom>
        </p:spPr>
      </p:pic>
      <p:pic>
        <p:nvPicPr>
          <p:cNvPr id="48" name="Picture 47" descr="tmp4vpnqqie.png">
            <a:extLst>
              <a:ext uri="{FF2B5EF4-FFF2-40B4-BE49-F238E27FC236}">
                <a16:creationId xmlns:a16="http://schemas.microsoft.com/office/drawing/2014/main" id="{A7F5BC70-15AA-6EF9-B9DF-71471137E8D2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478600" y="3560743"/>
            <a:ext cx="621792" cy="621792"/>
          </a:xfrm>
          <a:prstGeom prst="rect">
            <a:avLst/>
          </a:prstGeom>
        </p:spPr>
      </p:pic>
      <p:pic>
        <p:nvPicPr>
          <p:cNvPr id="49" name="Picture 48" descr="tmpw284aitv.png">
            <a:extLst>
              <a:ext uri="{FF2B5EF4-FFF2-40B4-BE49-F238E27FC236}">
                <a16:creationId xmlns:a16="http://schemas.microsoft.com/office/drawing/2014/main" id="{3E1D31A7-B8C2-E1F5-75FF-25617516BA1F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210120" y="3560743"/>
            <a:ext cx="621792" cy="621792"/>
          </a:xfrm>
          <a:prstGeom prst="rect">
            <a:avLst/>
          </a:prstGeom>
        </p:spPr>
      </p:pic>
      <p:pic>
        <p:nvPicPr>
          <p:cNvPr id="50" name="Picture 49" descr="tmpcrye5hw4.png">
            <a:extLst>
              <a:ext uri="{FF2B5EF4-FFF2-40B4-BE49-F238E27FC236}">
                <a16:creationId xmlns:a16="http://schemas.microsoft.com/office/drawing/2014/main" id="{092F39EB-1FC4-24E4-C426-EF0C90D68D51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793800" y="2829223"/>
            <a:ext cx="621792" cy="621792"/>
          </a:xfrm>
          <a:prstGeom prst="rect">
            <a:avLst/>
          </a:prstGeom>
        </p:spPr>
      </p:pic>
      <p:pic>
        <p:nvPicPr>
          <p:cNvPr id="51" name="Picture 50" descr="tmpdbfg7b6z.png">
            <a:extLst>
              <a:ext uri="{FF2B5EF4-FFF2-40B4-BE49-F238E27FC236}">
                <a16:creationId xmlns:a16="http://schemas.microsoft.com/office/drawing/2014/main" id="{BC1D7680-93D0-C794-C2CC-1A0A841C37DD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67720" y="2829223"/>
            <a:ext cx="621792" cy="621792"/>
          </a:xfrm>
          <a:prstGeom prst="rect">
            <a:avLst/>
          </a:prstGeom>
        </p:spPr>
      </p:pic>
      <p:pic>
        <p:nvPicPr>
          <p:cNvPr id="52" name="Picture 51" descr="tmp73dzd9s4.png">
            <a:extLst>
              <a:ext uri="{FF2B5EF4-FFF2-40B4-BE49-F238E27FC236}">
                <a16:creationId xmlns:a16="http://schemas.microsoft.com/office/drawing/2014/main" id="{6091809B-480E-9D83-10C1-AFC99DDE9E86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599240" y="2829223"/>
            <a:ext cx="621792" cy="621792"/>
          </a:xfrm>
          <a:prstGeom prst="rect">
            <a:avLst/>
          </a:prstGeom>
        </p:spPr>
      </p:pic>
      <p:pic>
        <p:nvPicPr>
          <p:cNvPr id="53" name="Picture 52" descr="tmplcxars9i.png">
            <a:extLst>
              <a:ext uri="{FF2B5EF4-FFF2-40B4-BE49-F238E27FC236}">
                <a16:creationId xmlns:a16="http://schemas.microsoft.com/office/drawing/2014/main" id="{AD01A6E7-DBE7-1B70-F024-D3C0F16D03A0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330760" y="2829223"/>
            <a:ext cx="621792" cy="621792"/>
          </a:xfrm>
          <a:prstGeom prst="rect">
            <a:avLst/>
          </a:prstGeom>
        </p:spPr>
      </p:pic>
      <p:pic>
        <p:nvPicPr>
          <p:cNvPr id="54" name="Picture 53" descr="tmp4q76540k.png">
            <a:extLst>
              <a:ext uri="{FF2B5EF4-FFF2-40B4-BE49-F238E27FC236}">
                <a16:creationId xmlns:a16="http://schemas.microsoft.com/office/drawing/2014/main" id="{DC517703-2865-1D8A-C907-5DA5AA5EE44D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062280" y="2829223"/>
            <a:ext cx="621792" cy="621792"/>
          </a:xfrm>
          <a:prstGeom prst="rect">
            <a:avLst/>
          </a:prstGeom>
        </p:spPr>
      </p:pic>
      <p:pic>
        <p:nvPicPr>
          <p:cNvPr id="55" name="Picture Placeholder 14">
            <a:extLst>
              <a:ext uri="{FF2B5EF4-FFF2-40B4-BE49-F238E27FC236}">
                <a16:creationId xmlns:a16="http://schemas.microsoft.com/office/drawing/2014/main" id="{A9B829D9-C7AC-484A-3639-238267DBE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5072536" y="3659673"/>
            <a:ext cx="360000" cy="360000"/>
          </a:xfrm>
          <a:prstGeom prst="rect">
            <a:avLst/>
          </a:prstGeom>
        </p:spPr>
      </p:pic>
      <p:pic>
        <p:nvPicPr>
          <p:cNvPr id="56" name="Picture Placeholder 16">
            <a:extLst>
              <a:ext uri="{FF2B5EF4-FFF2-40B4-BE49-F238E27FC236}">
                <a16:creationId xmlns:a16="http://schemas.microsoft.com/office/drawing/2014/main" id="{11D1285A-D6A8-627F-758B-4DAAF53FE2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>
            <a:fillRect/>
          </a:stretch>
        </p:blipFill>
        <p:spPr>
          <a:xfrm>
            <a:off x="5804056" y="3655233"/>
            <a:ext cx="360000" cy="360000"/>
          </a:xfrm>
          <a:prstGeom prst="rect">
            <a:avLst/>
          </a:prstGeom>
        </p:spPr>
      </p:pic>
      <p:pic>
        <p:nvPicPr>
          <p:cNvPr id="57" name="Picture Placeholder 18">
            <a:extLst>
              <a:ext uri="{FF2B5EF4-FFF2-40B4-BE49-F238E27FC236}">
                <a16:creationId xmlns:a16="http://schemas.microsoft.com/office/drawing/2014/main" id="{8DC74D58-B847-898C-8A9B-5D3575E04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>
            <a:fillRect/>
          </a:stretch>
        </p:blipFill>
        <p:spPr>
          <a:xfrm>
            <a:off x="6530312" y="3655233"/>
            <a:ext cx="360000" cy="360000"/>
          </a:xfrm>
          <a:prstGeom prst="rect">
            <a:avLst/>
          </a:prstGeom>
        </p:spPr>
      </p:pic>
      <p:pic>
        <p:nvPicPr>
          <p:cNvPr id="58" name="Picture Placeholder 20">
            <a:extLst>
              <a:ext uri="{FF2B5EF4-FFF2-40B4-BE49-F238E27FC236}">
                <a16:creationId xmlns:a16="http://schemas.microsoft.com/office/drawing/2014/main" id="{7C09F558-3723-0E47-A6CD-2B2C2BA06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 t="220" b="220"/>
          <a:stretch>
            <a:fillRect/>
          </a:stretch>
        </p:blipFill>
        <p:spPr>
          <a:xfrm>
            <a:off x="7267096" y="365523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5C29-7C4D-B46D-36D8-A014A418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9955-9415-4C44-109D-564ACA19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8E778-524F-7264-5884-8A858DAB89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For quick reference</a:t>
            </a:r>
          </a:p>
        </p:txBody>
      </p:sp>
    </p:spTree>
    <p:extLst>
      <p:ext uri="{BB962C8B-B14F-4D97-AF65-F5344CB8AC3E}">
        <p14:creationId xmlns:p14="http://schemas.microsoft.com/office/powerpoint/2010/main" val="210738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A1F0C-989A-6FDD-6861-92D6B713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085B-9E9C-54DB-5242-0A1BA91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B73FA-7CBF-B6E4-55BC-666E81591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377801"/>
              </p:ext>
            </p:extLst>
          </p:nvPr>
        </p:nvGraphicFramePr>
        <p:xfrm>
          <a:off x="1104710" y="1981200"/>
          <a:ext cx="5664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3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9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5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dirty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08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3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4B85-F594-FC25-CEAF-0A99DC2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76A29-966D-D33E-0B76-B2817EB6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chemeClr val="accent1"/>
                </a:solidFill>
              </a:rPr>
              <a:t>Value</a:t>
            </a:r>
            <a:r>
              <a:rPr lang="en-US"/>
              <a:t>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78283-EAAD-F335-AB15-C34BD849A449}"/>
              </a:ext>
            </a:extLst>
          </p:cNvPr>
          <p:cNvGrpSpPr/>
          <p:nvPr/>
        </p:nvGrpSpPr>
        <p:grpSpPr>
          <a:xfrm>
            <a:off x="284729" y="1229817"/>
            <a:ext cx="11525563" cy="4871947"/>
            <a:chOff x="238220" y="887169"/>
            <a:chExt cx="8255364" cy="348960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AF3EE7-422B-A9E7-750C-83371ADD9AAC}"/>
                </a:ext>
              </a:extLst>
            </p:cNvPr>
            <p:cNvCxnSpPr>
              <a:stCxn id="23" idx="3"/>
              <a:endCxn id="9" idx="1"/>
            </p:cNvCxnSpPr>
            <p:nvPr/>
          </p:nvCxnSpPr>
          <p:spPr>
            <a:xfrm>
              <a:off x="864596" y="2764252"/>
              <a:ext cx="53274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073F0C-DCDC-88D3-98E6-F39BD4A7A739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>
              <a:off x="850757" y="1676863"/>
              <a:ext cx="5341256" cy="12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54">
              <a:extLst>
                <a:ext uri="{FF2B5EF4-FFF2-40B4-BE49-F238E27FC236}">
                  <a16:creationId xmlns:a16="http://schemas.microsoft.com/office/drawing/2014/main" id="{47E7D44E-5D8C-E44D-3FED-26C66021E556}"/>
                </a:ext>
              </a:extLst>
            </p:cNvPr>
            <p:cNvSpPr/>
            <p:nvPr/>
          </p:nvSpPr>
          <p:spPr>
            <a:xfrm>
              <a:off x="10104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GTM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improve customer connectivity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10%</a:t>
              </a:r>
            </a:p>
          </p:txBody>
        </p:sp>
        <p:sp>
          <p:nvSpPr>
            <p:cNvPr id="8" name="Rectangle: Rounded Corners 55">
              <a:extLst>
                <a:ext uri="{FF2B5EF4-FFF2-40B4-BE49-F238E27FC236}">
                  <a16:creationId xmlns:a16="http://schemas.microsoft.com/office/drawing/2014/main" id="{2C8714CD-42AC-0EC4-BD19-41E81242B2F8}"/>
                </a:ext>
              </a:extLst>
            </p:cNvPr>
            <p:cNvSpPr/>
            <p:nvPr/>
          </p:nvSpPr>
          <p:spPr>
            <a:xfrm>
              <a:off x="36012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EXPAND CUSTOMER BASE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products, propositions, pipeline  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20%</a:t>
              </a:r>
            </a:p>
          </p:txBody>
        </p:sp>
        <p:sp>
          <p:nvSpPr>
            <p:cNvPr id="9" name="Rectangle: Rounded Corners 56">
              <a:extLst>
                <a:ext uri="{FF2B5EF4-FFF2-40B4-BE49-F238E27FC236}">
                  <a16:creationId xmlns:a16="http://schemas.microsoft.com/office/drawing/2014/main" id="{8311FA70-63E6-CBF9-29DD-4BBDDF17943A}"/>
                </a:ext>
              </a:extLst>
            </p:cNvPr>
            <p:cNvSpPr/>
            <p:nvPr/>
          </p:nvSpPr>
          <p:spPr>
            <a:xfrm>
              <a:off x="61920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SERVICE MODEL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modular services model  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C9C0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10" name="Rectangle: Rounded Corners 57">
              <a:extLst>
                <a:ext uri="{FF2B5EF4-FFF2-40B4-BE49-F238E27FC236}">
                  <a16:creationId xmlns:a16="http://schemas.microsoft.com/office/drawing/2014/main" id="{D3F5ACC8-F5FD-0539-EE74-C886C6AFD76E}"/>
                </a:ext>
              </a:extLst>
            </p:cNvPr>
            <p:cNvSpPr/>
            <p:nvPr/>
          </p:nvSpPr>
          <p:spPr>
            <a:xfrm>
              <a:off x="1542909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HUMAN CAPITAL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talent, culture, operating model</a:t>
              </a:r>
            </a:p>
          </p:txBody>
        </p:sp>
        <p:sp>
          <p:nvSpPr>
            <p:cNvPr id="11" name="Rectangle: Rounded Corners 58">
              <a:extLst>
                <a:ext uri="{FF2B5EF4-FFF2-40B4-BE49-F238E27FC236}">
                  <a16:creationId xmlns:a16="http://schemas.microsoft.com/office/drawing/2014/main" id="{FE8DA422-4219-8F58-3858-D31F92CD5014}"/>
                </a:ext>
              </a:extLst>
            </p:cNvPr>
            <p:cNvSpPr/>
            <p:nvPr/>
          </p:nvSpPr>
          <p:spPr>
            <a:xfrm>
              <a:off x="3777044" y="3933365"/>
              <a:ext cx="1949905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DIGITALIZATION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automation, tech &amp; data, analytics </a:t>
              </a:r>
            </a:p>
          </p:txBody>
        </p:sp>
        <p:sp>
          <p:nvSpPr>
            <p:cNvPr id="12" name="Rectangle: Rounded Corners 59">
              <a:extLst>
                <a:ext uri="{FF2B5EF4-FFF2-40B4-BE49-F238E27FC236}">
                  <a16:creationId xmlns:a16="http://schemas.microsoft.com/office/drawing/2014/main" id="{D58B7F73-24DA-3516-0329-AFBED0B64F88}"/>
                </a:ext>
              </a:extLst>
            </p:cNvPr>
            <p:cNvSpPr/>
            <p:nvPr/>
          </p:nvSpPr>
          <p:spPr>
            <a:xfrm>
              <a:off x="6192011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050" b="1" spc="-10">
                  <a:solidFill>
                    <a:schemeClr val="tx1">
                      <a:lumMod val="60000"/>
                      <a:lumOff val="4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PARTNERSHIPS</a:t>
              </a:r>
            </a:p>
            <a:p>
              <a:pPr algn="ctr">
                <a:spcAft>
                  <a:spcPts val="300"/>
                </a:spcAft>
              </a:pPr>
              <a:r>
                <a:rPr lang="en-US" sz="105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augment capabilities</a:t>
              </a:r>
            </a:p>
          </p:txBody>
        </p:sp>
        <p:sp>
          <p:nvSpPr>
            <p:cNvPr id="13" name="Rectangle: Rounded Corners 60">
              <a:extLst>
                <a:ext uri="{FF2B5EF4-FFF2-40B4-BE49-F238E27FC236}">
                  <a16:creationId xmlns:a16="http://schemas.microsoft.com/office/drawing/2014/main" id="{B5AA401D-483D-84EE-071A-DEA34CD21B01}"/>
                </a:ext>
              </a:extLst>
            </p:cNvPr>
            <p:cNvSpPr/>
            <p:nvPr/>
          </p:nvSpPr>
          <p:spPr>
            <a:xfrm>
              <a:off x="10104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Protect &amp; Scale Current Value</a:t>
              </a:r>
            </a:p>
          </p:txBody>
        </p:sp>
        <p:sp>
          <p:nvSpPr>
            <p:cNvPr id="14" name="Rectangle: Rounded Corners 61">
              <a:extLst>
                <a:ext uri="{FF2B5EF4-FFF2-40B4-BE49-F238E27FC236}">
                  <a16:creationId xmlns:a16="http://schemas.microsoft.com/office/drawing/2014/main" id="{1CBF2BC7-82ED-69ED-234B-E11718E5AB2F}"/>
                </a:ext>
              </a:extLst>
            </p:cNvPr>
            <p:cNvSpPr/>
            <p:nvPr/>
          </p:nvSpPr>
          <p:spPr>
            <a:xfrm>
              <a:off x="36012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New Value</a:t>
              </a:r>
            </a:p>
          </p:txBody>
        </p:sp>
        <p:sp>
          <p:nvSpPr>
            <p:cNvPr id="15" name="Rectangle: Rounded Corners 62">
              <a:extLst>
                <a:ext uri="{FF2B5EF4-FFF2-40B4-BE49-F238E27FC236}">
                  <a16:creationId xmlns:a16="http://schemas.microsoft.com/office/drawing/2014/main" id="{BFC5AF23-E647-297C-F442-375ECE26EA7D}"/>
                </a:ext>
              </a:extLst>
            </p:cNvPr>
            <p:cNvSpPr/>
            <p:nvPr/>
          </p:nvSpPr>
          <p:spPr>
            <a:xfrm>
              <a:off x="6192011" y="888964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Optimize Cost to Serve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714DE4-F130-BDE8-AF7B-F89EC61CBD81}"/>
                </a:ext>
              </a:extLst>
            </p:cNvPr>
            <p:cNvCxnSpPr>
              <a:stCxn id="13" idx="2"/>
              <a:endCxn id="7" idx="0"/>
            </p:cNvCxnSpPr>
            <p:nvPr/>
          </p:nvCxnSpPr>
          <p:spPr>
            <a:xfrm>
              <a:off x="2161198" y="1199224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01BD7-F747-9729-9216-31AD430F16D0}"/>
                </a:ext>
              </a:extLst>
            </p:cNvPr>
            <p:cNvCxnSpPr/>
            <p:nvPr/>
          </p:nvCxnSpPr>
          <p:spPr>
            <a:xfrm>
              <a:off x="4751997" y="1199223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B05F3-06D1-13F7-086D-70EBC852080E}"/>
                </a:ext>
              </a:extLst>
            </p:cNvPr>
            <p:cNvCxnSpPr/>
            <p:nvPr/>
          </p:nvCxnSpPr>
          <p:spPr>
            <a:xfrm>
              <a:off x="7342796" y="1199222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55D71F26-A0AB-FAF3-5087-C486275D6B9E}"/>
                </a:ext>
              </a:extLst>
            </p:cNvPr>
            <p:cNvSpPr/>
            <p:nvPr/>
          </p:nvSpPr>
          <p:spPr>
            <a:xfrm>
              <a:off x="1010413" y="1270002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7 CUSTOMERS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service excellence at the right cost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0" name="Rectangle: Rounded Corners 52">
              <a:extLst>
                <a:ext uri="{FF2B5EF4-FFF2-40B4-BE49-F238E27FC236}">
                  <a16:creationId xmlns:a16="http://schemas.microsoft.com/office/drawing/2014/main" id="{A366B1EE-2323-1589-8332-DE1C7FCFCF3D}"/>
                </a:ext>
              </a:extLst>
            </p:cNvPr>
            <p:cNvSpPr/>
            <p:nvPr/>
          </p:nvSpPr>
          <p:spPr>
            <a:xfrm>
              <a:off x="3601212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PRICING EXCELLENCE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accretive portfolio pricing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1" name="Rectangle: Rounded Corners 53">
              <a:extLst>
                <a:ext uri="{FF2B5EF4-FFF2-40B4-BE49-F238E27FC236}">
                  <a16:creationId xmlns:a16="http://schemas.microsoft.com/office/drawing/2014/main" id="{9E85939B-FCB2-73C1-5C24-69772B870CC6}"/>
                </a:ext>
              </a:extLst>
            </p:cNvPr>
            <p:cNvSpPr/>
            <p:nvPr/>
          </p:nvSpPr>
          <p:spPr>
            <a:xfrm>
              <a:off x="6192013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PRODUCTIVITY</a:t>
              </a:r>
            </a:p>
            <a:p>
              <a:pPr algn="ctr">
                <a:spcAft>
                  <a:spcPts val="300"/>
                </a:spcAft>
              </a:pPr>
              <a:r>
                <a:rPr lang="en-US" sz="12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reduce operating cost base</a:t>
              </a:r>
            </a:p>
            <a:p>
              <a:pPr algn="ctr">
                <a:spcAft>
                  <a:spcPts val="300"/>
                </a:spcAft>
              </a:pPr>
              <a:r>
                <a:rPr lang="en-US" b="1" spc="-10">
                  <a:solidFill>
                    <a:srgbClr val="75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25%</a:t>
              </a:r>
            </a:p>
          </p:txBody>
        </p:sp>
        <p:sp>
          <p:nvSpPr>
            <p:cNvPr id="22" name="Rectangle: Rounded Corners 67">
              <a:extLst>
                <a:ext uri="{FF2B5EF4-FFF2-40B4-BE49-F238E27FC236}">
                  <a16:creationId xmlns:a16="http://schemas.microsoft.com/office/drawing/2014/main" id="{D3411CB8-7ED1-BE3F-F4CA-8550BB83A68E}"/>
                </a:ext>
              </a:extLst>
            </p:cNvPr>
            <p:cNvSpPr/>
            <p:nvPr/>
          </p:nvSpPr>
          <p:spPr>
            <a:xfrm>
              <a:off x="238220" y="1520835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  <p:sp>
          <p:nvSpPr>
            <p:cNvPr id="23" name="Rectangle: Rounded Corners 68">
              <a:extLst>
                <a:ext uri="{FF2B5EF4-FFF2-40B4-BE49-F238E27FC236}">
                  <a16:creationId xmlns:a16="http://schemas.microsoft.com/office/drawing/2014/main" id="{62705517-A8A1-931D-7070-C60A73BB2F46}"/>
                </a:ext>
              </a:extLst>
            </p:cNvPr>
            <p:cNvSpPr/>
            <p:nvPr/>
          </p:nvSpPr>
          <p:spPr>
            <a:xfrm>
              <a:off x="252059" y="2608224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chemeClr val="bg2">
                      <a:lumMod val="50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FA0CC2-6C53-4583-379F-7F156D1372B8}"/>
                </a:ext>
              </a:extLst>
            </p:cNvPr>
            <p:cNvCxnSpPr/>
            <p:nvPr/>
          </p:nvCxnSpPr>
          <p:spPr>
            <a:xfrm>
              <a:off x="1542909" y="3570516"/>
              <a:ext cx="6294805" cy="0"/>
            </a:xfrm>
            <a:prstGeom prst="line">
              <a:avLst/>
            </a:prstGeom>
            <a:ln>
              <a:solidFill>
                <a:schemeClr val="accent3"/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75">
              <a:extLst>
                <a:ext uri="{FF2B5EF4-FFF2-40B4-BE49-F238E27FC236}">
                  <a16:creationId xmlns:a16="http://schemas.microsoft.com/office/drawing/2014/main" id="{23151420-D6CD-FB6A-FF3E-1424E533DA1B}"/>
                </a:ext>
              </a:extLst>
            </p:cNvPr>
            <p:cNvSpPr/>
            <p:nvPr/>
          </p:nvSpPr>
          <p:spPr>
            <a:xfrm>
              <a:off x="4222207" y="3404374"/>
              <a:ext cx="1059578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300"/>
                </a:spcAft>
              </a:pPr>
              <a:r>
                <a:rPr lang="en-US" sz="1600" b="1" spc="-10">
                  <a:solidFill>
                    <a:srgbClr val="765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Enablers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25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8497-18A7-560B-8C8E-B7003A80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69C7F-0ACE-3177-1E4C-D6F4157B2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D3D6-9F5D-D484-2C51-F1EAE612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C2D6AA6-C44A-DA54-EF3D-4CBD79931FBF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A59B58-B945-4B36-BC6B-9C26C933A00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2083E1B-848E-F301-86D1-FF8B1C1B9497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5A764-3B06-454E-8ABA-2F6ED0EB58E9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E307391-8862-6ED9-F238-CCA17B72F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733558"/>
              </p:ext>
            </p:extLst>
          </p:nvPr>
        </p:nvGraphicFramePr>
        <p:xfrm>
          <a:off x="512064" y="1079190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 dirty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18FF-B480-F90B-F938-11118179E4C3}"/>
              </a:ext>
            </a:extLst>
          </p:cNvPr>
          <p:cNvGrpSpPr/>
          <p:nvPr/>
        </p:nvGrpSpPr>
        <p:grpSpPr>
          <a:xfrm>
            <a:off x="512064" y="5874367"/>
            <a:ext cx="5468112" cy="219456"/>
            <a:chOff x="512064" y="6229606"/>
            <a:chExt cx="5468112" cy="2194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E3B5F9-23E0-0F33-CB5C-6D94821B600F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C295E2-BA9A-0836-CFD6-77CAC49CD6F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Named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F26CBE-AE1B-773D-17A7-641825D5AAD7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90F15E-E95B-D1FE-DEDD-0103CCA18928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New Role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F9D5A5-8FFA-BE44-A6AD-E6F56A17070A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CDECEE-A52C-0F78-E38A-9AD66F257DF5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Role Family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41FD5D-59E2-74BA-2FB0-C02F3AE06AD3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7DD785-8551-E6FC-F185-934EDA0602E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Vacant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E62A7-C9B8-02DD-56A5-303FEC8C6F88}"/>
              </a:ext>
            </a:extLst>
          </p:cNvPr>
          <p:cNvSpPr/>
          <p:nvPr/>
        </p:nvSpPr>
        <p:spPr>
          <a:xfrm>
            <a:off x="7878762" y="1023809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8C36C-A713-FB13-65F5-9ABC3D92CA0E}"/>
              </a:ext>
            </a:extLst>
          </p:cNvPr>
          <p:cNvSpPr txBox="1"/>
          <p:nvPr/>
        </p:nvSpPr>
        <p:spPr>
          <a:xfrm>
            <a:off x="8116506" y="1027874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65FFF"/>
                </a:solidFill>
                <a:latin typeface="Segoe UI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15B05-F60C-4C2F-5197-B5694BBB4E30}"/>
              </a:ext>
            </a:extLst>
          </p:cNvPr>
          <p:cNvSpPr txBox="1"/>
          <p:nvPr/>
        </p:nvSpPr>
        <p:spPr>
          <a:xfrm>
            <a:off x="8116506" y="1749909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Arial"/>
              </a:rPr>
              <a:t>critical roles
across 5 functions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220E9-75CB-35D2-E89D-26BD4E2B8D51}"/>
              </a:ext>
            </a:extLst>
          </p:cNvPr>
          <p:cNvSpPr/>
          <p:nvPr/>
        </p:nvSpPr>
        <p:spPr>
          <a:xfrm>
            <a:off x="8116506" y="22416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EA3E1-2411-1364-5AF9-EA08FD0BE159}"/>
              </a:ext>
            </a:extLst>
          </p:cNvPr>
          <p:cNvSpPr txBox="1"/>
          <p:nvPr/>
        </p:nvSpPr>
        <p:spPr>
          <a:xfrm>
            <a:off x="8116506" y="2625705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E38EC-3B87-FE27-1B0C-9BC61294C46E}"/>
              </a:ext>
            </a:extLst>
          </p:cNvPr>
          <p:cNvSpPr txBox="1"/>
          <p:nvPr/>
        </p:nvSpPr>
        <p:spPr>
          <a:xfrm>
            <a:off x="8591994" y="2625705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C7D15-1823-A405-C653-2632B21571FF}"/>
              </a:ext>
            </a:extLst>
          </p:cNvPr>
          <p:cNvSpPr txBox="1"/>
          <p:nvPr/>
        </p:nvSpPr>
        <p:spPr>
          <a:xfrm>
            <a:off x="8116506" y="2936601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9B3DC-93B8-F201-E3DE-2A11F8968BD7}"/>
              </a:ext>
            </a:extLst>
          </p:cNvPr>
          <p:cNvSpPr txBox="1"/>
          <p:nvPr/>
        </p:nvSpPr>
        <p:spPr>
          <a:xfrm>
            <a:off x="8591994" y="2936601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5C49A-E8DF-4039-23BD-8AAB1B9C40F3}"/>
              </a:ext>
            </a:extLst>
          </p:cNvPr>
          <p:cNvSpPr txBox="1"/>
          <p:nvPr/>
        </p:nvSpPr>
        <p:spPr>
          <a:xfrm>
            <a:off x="8116506" y="3247497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3FC0-B573-C4C1-2AAB-7892360AEC7A}"/>
              </a:ext>
            </a:extLst>
          </p:cNvPr>
          <p:cNvSpPr txBox="1"/>
          <p:nvPr/>
        </p:nvSpPr>
        <p:spPr>
          <a:xfrm>
            <a:off x="8591994" y="3247497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3CC7B1-3768-CD42-46E4-12BCF932101F}"/>
              </a:ext>
            </a:extLst>
          </p:cNvPr>
          <p:cNvSpPr/>
          <p:nvPr/>
        </p:nvSpPr>
        <p:spPr>
          <a:xfrm>
            <a:off x="8116506" y="36132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FE744-0168-E7E7-5A5D-345DB535E2A4}"/>
              </a:ext>
            </a:extLst>
          </p:cNvPr>
          <p:cNvSpPr txBox="1"/>
          <p:nvPr/>
        </p:nvSpPr>
        <p:spPr>
          <a:xfrm>
            <a:off x="8116506" y="3997305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44%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56DDF-7218-1EC7-FA1F-22B8A2420DEF}"/>
              </a:ext>
            </a:extLst>
          </p:cNvPr>
          <p:cNvSpPr txBox="1"/>
          <p:nvPr/>
        </p:nvSpPr>
        <p:spPr>
          <a:xfrm>
            <a:off x="8628570" y="4015593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Operations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73E8A-1E38-E4DA-FB59-E41FED0C06F3}"/>
              </a:ext>
            </a:extLst>
          </p:cNvPr>
          <p:cNvSpPr txBox="1"/>
          <p:nvPr/>
        </p:nvSpPr>
        <p:spPr>
          <a:xfrm>
            <a:off x="8116506" y="434477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6A4FC-18E3-3E16-4702-2FD8C1DA0B4D}"/>
              </a:ext>
            </a:extLst>
          </p:cNvPr>
          <p:cNvSpPr txBox="1"/>
          <p:nvPr/>
        </p:nvSpPr>
        <p:spPr>
          <a:xfrm>
            <a:off x="8628570" y="4363065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Data &amp; Product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6AEC8-EC22-434B-F323-7D512C7E4958}"/>
              </a:ext>
            </a:extLst>
          </p:cNvPr>
          <p:cNvSpPr txBox="1"/>
          <p:nvPr/>
        </p:nvSpPr>
        <p:spPr>
          <a:xfrm>
            <a:off x="8116506" y="469224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AC3DB-C63B-628C-0C76-7B7C71B2CBDC}"/>
              </a:ext>
            </a:extLst>
          </p:cNvPr>
          <p:cNvSpPr txBox="1"/>
          <p:nvPr/>
        </p:nvSpPr>
        <p:spPr>
          <a:xfrm>
            <a:off x="8628570" y="4710537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Sales &amp; Bus. Dev.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BC6FE-7B01-32D1-C8EF-71ED61AC9057}"/>
              </a:ext>
            </a:extLst>
          </p:cNvPr>
          <p:cNvSpPr txBox="1"/>
          <p:nvPr/>
        </p:nvSpPr>
        <p:spPr>
          <a:xfrm>
            <a:off x="8116506" y="5039721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12%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FDC3EB-D541-F3BB-DFAC-686F15481532}"/>
              </a:ext>
            </a:extLst>
          </p:cNvPr>
          <p:cNvSpPr txBox="1"/>
          <p:nvPr/>
        </p:nvSpPr>
        <p:spPr>
          <a:xfrm>
            <a:off x="8628570" y="5058009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Finance / HR / Strat.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61481-9E87-22E9-9672-4AE0C567B780}"/>
              </a:ext>
            </a:extLst>
          </p:cNvPr>
          <p:cNvSpPr txBox="1"/>
          <p:nvPr/>
        </p:nvSpPr>
        <p:spPr>
          <a:xfrm>
            <a:off x="8116506" y="23696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L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18BCF-6161-15C5-D1E6-D60E9E41043A}"/>
              </a:ext>
            </a:extLst>
          </p:cNvPr>
          <p:cNvSpPr txBox="1"/>
          <p:nvPr/>
        </p:nvSpPr>
        <p:spPr>
          <a:xfrm>
            <a:off x="8116506" y="37412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F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unction</a:t>
            </a:r>
          </a:p>
        </p:txBody>
      </p:sp>
    </p:spTree>
    <p:extLst>
      <p:ext uri="{BB962C8B-B14F-4D97-AF65-F5344CB8AC3E}">
        <p14:creationId xmlns:p14="http://schemas.microsoft.com/office/powerpoint/2010/main" val="239601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43F-4038-C78C-5DA0-74338CBA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40C7-4D71-2506-0AA4-68DFB88E87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Roles that determine whether the strategy succeeds or fails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6123-56F3-A7AE-B89B-BD8B18722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A59B58-B945-4B36-BC6B-9C26C933A00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35D522A-1993-7133-A3E4-1D7D615132F3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75A764-3B06-454E-8ABA-2F6ED0EB58E9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86D47-C638-D81D-1B8C-7C7B7903D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755548"/>
              </p:ext>
            </p:extLst>
          </p:nvPr>
        </p:nvGraphicFramePr>
        <p:xfrm>
          <a:off x="512064" y="1089877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 dirty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 dirty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BEC1D0A-E750-A73F-F876-2DD5FD6BB0C8}"/>
              </a:ext>
            </a:extLst>
          </p:cNvPr>
          <p:cNvGrpSpPr/>
          <p:nvPr/>
        </p:nvGrpSpPr>
        <p:grpSpPr>
          <a:xfrm>
            <a:off x="512064" y="5885054"/>
            <a:ext cx="5468112" cy="219456"/>
            <a:chOff x="512064" y="6229606"/>
            <a:chExt cx="5468112" cy="21945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19FB8D-7DC5-BED2-E312-EBA82E7796A0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C5FDD8-D6ED-EA0C-D302-34450E42539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Named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73E7C7-9D24-D791-7CB6-A48D01C8771B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48789-F41A-7AE1-C633-345453E4F79D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New Role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785491-925D-6201-EDB6-B9FE43555F7E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D92A9-810F-2EA1-CBC3-27DEF4A25CBB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Role Family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9A1663-2E47-A102-42B4-FA2516328B2E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C95B98-7C47-1D10-AA30-885A4072BEB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0" i="0">
                  <a:solidFill>
                    <a:srgbClr val="7A828D"/>
                  </a:solidFill>
                  <a:latin typeface="Arial"/>
                </a:rPr>
                <a:t>Vacant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BC41-AEC4-2415-6EAE-FAD14856DB6A}"/>
              </a:ext>
            </a:extLst>
          </p:cNvPr>
          <p:cNvSpPr/>
          <p:nvPr/>
        </p:nvSpPr>
        <p:spPr>
          <a:xfrm>
            <a:off x="7878762" y="1034496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5969A8-0B67-179F-FA58-793C4683CD7D}"/>
              </a:ext>
            </a:extLst>
          </p:cNvPr>
          <p:cNvSpPr txBox="1"/>
          <p:nvPr/>
        </p:nvSpPr>
        <p:spPr>
          <a:xfrm>
            <a:off x="8116506" y="1038561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65FFF"/>
                </a:solidFill>
                <a:latin typeface="Segoe UI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21249-9A12-4B2E-B0A6-7339EAAC9DB9}"/>
              </a:ext>
            </a:extLst>
          </p:cNvPr>
          <p:cNvSpPr txBox="1"/>
          <p:nvPr/>
        </p:nvSpPr>
        <p:spPr>
          <a:xfrm>
            <a:off x="8116506" y="1760596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5858"/>
                </a:solidFill>
                <a:latin typeface="Arial"/>
              </a:rPr>
              <a:t>critical roles
across 5 functions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B05D5-874B-DC2F-8C1A-4F8584A815A4}"/>
              </a:ext>
            </a:extLst>
          </p:cNvPr>
          <p:cNvSpPr/>
          <p:nvPr/>
        </p:nvSpPr>
        <p:spPr>
          <a:xfrm>
            <a:off x="8116506" y="22523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894DB-2AEA-6684-A150-DA976DEF3730}"/>
              </a:ext>
            </a:extLst>
          </p:cNvPr>
          <p:cNvSpPr txBox="1"/>
          <p:nvPr/>
        </p:nvSpPr>
        <p:spPr>
          <a:xfrm>
            <a:off x="8116506" y="23803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L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2E74C-E2B0-42D1-2A65-FDA4CE9AAD84}"/>
              </a:ext>
            </a:extLst>
          </p:cNvPr>
          <p:cNvSpPr txBox="1"/>
          <p:nvPr/>
        </p:nvSpPr>
        <p:spPr>
          <a:xfrm>
            <a:off x="8116506" y="2636392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5B90B-5CDE-1B8F-08C8-EB57AECB739C}"/>
              </a:ext>
            </a:extLst>
          </p:cNvPr>
          <p:cNvSpPr txBox="1"/>
          <p:nvPr/>
        </p:nvSpPr>
        <p:spPr>
          <a:xfrm>
            <a:off x="8591994" y="2636392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56%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25270-8865-C3EA-4AB8-5C359DF1E0C1}"/>
              </a:ext>
            </a:extLst>
          </p:cNvPr>
          <p:cNvSpPr txBox="1"/>
          <p:nvPr/>
        </p:nvSpPr>
        <p:spPr>
          <a:xfrm>
            <a:off x="8116506" y="2947288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B6D48-BA98-2042-77FF-7E8EC03D52B4}"/>
              </a:ext>
            </a:extLst>
          </p:cNvPr>
          <p:cNvSpPr txBox="1"/>
          <p:nvPr/>
        </p:nvSpPr>
        <p:spPr>
          <a:xfrm>
            <a:off x="8591994" y="2947288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F1AF0-B0DE-45E2-08E4-220257AAD81B}"/>
              </a:ext>
            </a:extLst>
          </p:cNvPr>
          <p:cNvSpPr txBox="1"/>
          <p:nvPr/>
        </p:nvSpPr>
        <p:spPr>
          <a:xfrm>
            <a:off x="8116506" y="3258184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N-4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2ADCD-05C9-B8BC-71FB-A7B5BCE01997}"/>
              </a:ext>
            </a:extLst>
          </p:cNvPr>
          <p:cNvSpPr txBox="1"/>
          <p:nvPr/>
        </p:nvSpPr>
        <p:spPr>
          <a:xfrm>
            <a:off x="8591994" y="3258184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C03AE-0DE0-EFFD-2EBE-7AE802F33563}"/>
              </a:ext>
            </a:extLst>
          </p:cNvPr>
          <p:cNvSpPr/>
          <p:nvPr/>
        </p:nvSpPr>
        <p:spPr>
          <a:xfrm>
            <a:off x="8116506" y="36239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9048-01B2-DE01-2AE5-F6C0EC4D206B}"/>
              </a:ext>
            </a:extLst>
          </p:cNvPr>
          <p:cNvSpPr txBox="1"/>
          <p:nvPr/>
        </p:nvSpPr>
        <p:spPr>
          <a:xfrm>
            <a:off x="8116506" y="37519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7FFF"/>
                </a:solidFill>
                <a:latin typeface="Segoe UI"/>
              </a:rPr>
              <a:t>By </a:t>
            </a:r>
            <a:r>
              <a:rPr lang="en-US" sz="1200" b="1" i="0">
                <a:solidFill>
                  <a:srgbClr val="917FFF"/>
                </a:solidFill>
                <a:latin typeface="Segoe UI"/>
              </a:rPr>
              <a:t>F</a:t>
            </a:r>
            <a:r>
              <a:rPr sz="1200" b="1" i="0">
                <a:solidFill>
                  <a:srgbClr val="917FFF"/>
                </a:solidFill>
                <a:latin typeface="Segoe UI"/>
              </a:rPr>
              <a:t>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BB225-1B58-CF05-5CAC-B46D8CC58F19}"/>
              </a:ext>
            </a:extLst>
          </p:cNvPr>
          <p:cNvSpPr txBox="1"/>
          <p:nvPr/>
        </p:nvSpPr>
        <p:spPr>
          <a:xfrm>
            <a:off x="8116506" y="4007992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44%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411F-23AC-B802-E337-5055181AAF66}"/>
              </a:ext>
            </a:extLst>
          </p:cNvPr>
          <p:cNvSpPr txBox="1"/>
          <p:nvPr/>
        </p:nvSpPr>
        <p:spPr>
          <a:xfrm>
            <a:off x="8628570" y="4026280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A3473-D963-331C-C4AA-E2AC2DC805FC}"/>
              </a:ext>
            </a:extLst>
          </p:cNvPr>
          <p:cNvSpPr txBox="1"/>
          <p:nvPr/>
        </p:nvSpPr>
        <p:spPr>
          <a:xfrm>
            <a:off x="8116506" y="4355464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9F988-7EEC-AEEE-9E60-BAD34A94DA6F}"/>
              </a:ext>
            </a:extLst>
          </p:cNvPr>
          <p:cNvSpPr txBox="1"/>
          <p:nvPr/>
        </p:nvSpPr>
        <p:spPr>
          <a:xfrm>
            <a:off x="8628570" y="4373752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Data &amp; Product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E8B3E-5045-ACF1-2358-93C532BA4228}"/>
              </a:ext>
            </a:extLst>
          </p:cNvPr>
          <p:cNvSpPr txBox="1"/>
          <p:nvPr/>
        </p:nvSpPr>
        <p:spPr>
          <a:xfrm>
            <a:off x="8116506" y="4702936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19%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75C0B-81EB-9EF7-79E7-29B534084251}"/>
              </a:ext>
            </a:extLst>
          </p:cNvPr>
          <p:cNvSpPr txBox="1"/>
          <p:nvPr/>
        </p:nvSpPr>
        <p:spPr>
          <a:xfrm>
            <a:off x="8628570" y="4721224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Sales &amp; Bus.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8CF41B-4999-5418-B62C-18295CCA1C76}"/>
              </a:ext>
            </a:extLst>
          </p:cNvPr>
          <p:cNvSpPr txBox="1"/>
          <p:nvPr/>
        </p:nvSpPr>
        <p:spPr>
          <a:xfrm>
            <a:off x="8116506" y="5050408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D"/>
                </a:solidFill>
                <a:latin typeface="Segoe UI"/>
              </a:rPr>
              <a:t>12%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11097-BE3B-6A91-B869-30BBA5D887B8}"/>
              </a:ext>
            </a:extLst>
          </p:cNvPr>
          <p:cNvSpPr txBox="1"/>
          <p:nvPr/>
        </p:nvSpPr>
        <p:spPr>
          <a:xfrm>
            <a:off x="8628570" y="5068696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28D"/>
                </a:solidFill>
                <a:latin typeface="Arial"/>
              </a:rPr>
              <a:t>Finance / HR / Strat.</a:t>
            </a:r>
          </a:p>
        </p:txBody>
      </p:sp>
    </p:spTree>
    <p:extLst>
      <p:ext uri="{BB962C8B-B14F-4D97-AF65-F5344CB8AC3E}">
        <p14:creationId xmlns:p14="http://schemas.microsoft.com/office/powerpoint/2010/main" val="303867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EA402-921B-DA31-5698-1B411B1E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07E56B2-1050-4901-A86F-E277449611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41EB8-D144-ED17-6CFC-D230A04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Our Clients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C54-E70A-B9DB-95D0-DF421E625725}"/>
              </a:ext>
            </a:extLst>
          </p:cNvPr>
          <p:cNvSpPr txBox="1">
            <a:spLocks noChangeAspect="1"/>
          </p:cNvSpPr>
          <p:nvPr/>
        </p:nvSpPr>
        <p:spPr>
          <a:xfrm>
            <a:off x="457200" y="1273386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765FFF"/>
                </a:solidFill>
                <a:latin typeface="Segoe UI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2004E-2A0E-9107-ADFE-94B0E5997174}"/>
              </a:ext>
            </a:extLst>
          </p:cNvPr>
          <p:cNvSpPr txBox="1"/>
          <p:nvPr/>
        </p:nvSpPr>
        <p:spPr>
          <a:xfrm>
            <a:off x="1234440" y="2324146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 err="1">
                <a:solidFill>
                  <a:srgbClr val="FFFFFF"/>
                </a:solidFill>
                <a:latin typeface="Arial"/>
              </a:rPr>
              <a:t>FulcrumQ</a:t>
            </a:r>
            <a:r>
              <a:rPr sz="2400" b="0" i="1">
                <a:solidFill>
                  <a:srgbClr val="FFFFFF"/>
                </a:solidFill>
                <a:latin typeface="Arial"/>
              </a:rPr>
              <a:t> didn't just deliver a deck </a:t>
            </a:r>
            <a:r>
              <a:rPr lang="en-US" sz="2400" b="0" i="1">
                <a:solidFill>
                  <a:srgbClr val="FFFFFF"/>
                </a:solidFill>
                <a:latin typeface="Arial"/>
              </a:rPr>
              <a:t>—</a:t>
            </a:r>
            <a:r>
              <a:rPr sz="2400" b="0" i="1">
                <a:solidFill>
                  <a:srgbClr val="FFFFFF"/>
                </a:solidFill>
                <a:latin typeface="Arial"/>
              </a:rPr>
              <a:t> they rewired how our leadership team thinks about growth. The clarity they brought to a problem we'd been stuck on for two years was remarkable.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9E73-F9BF-2745-DD36-1F0F622DEE56}"/>
              </a:ext>
            </a:extLst>
          </p:cNvPr>
          <p:cNvSpPr/>
          <p:nvPr/>
        </p:nvSpPr>
        <p:spPr>
          <a:xfrm>
            <a:off x="548640" y="4160520"/>
            <a:ext cx="1097280" cy="1905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DC97A-A441-5C41-05F2-D9F16A9D722F}"/>
              </a:ext>
            </a:extLst>
          </p:cNvPr>
          <p:cNvSpPr txBox="1"/>
          <p:nvPr/>
        </p:nvSpPr>
        <p:spPr>
          <a:xfrm>
            <a:off x="548640" y="431596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Sarah Chen, Chief Operating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E464-E583-0D14-E8E8-76744F3B412E}"/>
              </a:ext>
            </a:extLst>
          </p:cNvPr>
          <p:cNvSpPr txBox="1"/>
          <p:nvPr/>
        </p:nvSpPr>
        <p:spPr>
          <a:xfrm>
            <a:off x="548640" y="462686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Consumer Goods Co. · Fortune 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3F92-FA6F-D5EC-9B0F-44DAC05D74F2}"/>
              </a:ext>
            </a:extLst>
          </p:cNvPr>
          <p:cNvSpPr txBox="1">
            <a:spLocks noChangeAspect="1"/>
          </p:cNvSpPr>
          <p:nvPr/>
        </p:nvSpPr>
        <p:spPr>
          <a:xfrm>
            <a:off x="10029914" y="3467946"/>
            <a:ext cx="1097280" cy="11777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12000" b="1" i="0">
                <a:solidFill>
                  <a:srgbClr val="765FFF"/>
                </a:solidFill>
                <a:latin typeface="Segoe UI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86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B7A59-7A08-C562-422A-5F05D0E7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8B45-BED0-0098-F32D-B0B4B68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&amp; Next Steps</a:t>
            </a:r>
            <a:br>
              <a:rPr lang="en-US"/>
            </a:b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8CFFA-BAAC-7E66-00C0-2233CC89F265}"/>
              </a:ext>
            </a:extLst>
          </p:cNvPr>
          <p:cNvGrpSpPr/>
          <p:nvPr/>
        </p:nvGrpSpPr>
        <p:grpSpPr>
          <a:xfrm>
            <a:off x="512064" y="1276771"/>
            <a:ext cx="4858865" cy="3841137"/>
            <a:chOff x="512064" y="1005840"/>
            <a:chExt cx="4858865" cy="38411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F4BD87-BA36-64DD-93A8-1E54179699DF}"/>
                </a:ext>
              </a:extLst>
            </p:cNvPr>
            <p:cNvSpPr txBox="1"/>
            <p:nvPr/>
          </p:nvSpPr>
          <p:spPr>
            <a:xfrm>
              <a:off x="512064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917FFF"/>
                  </a:solidFill>
                  <a:latin typeface="Segoe UI"/>
                </a:rPr>
                <a:t>OUR RECOMMENDATIONS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C7F490-BBD0-AFCB-F71B-0118DB9ED70F}"/>
                </a:ext>
              </a:extLst>
            </p:cNvPr>
            <p:cNvSpPr txBox="1"/>
            <p:nvPr/>
          </p:nvSpPr>
          <p:spPr>
            <a:xfrm>
              <a:off x="613662" y="1750187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 dirty="0">
                  <a:solidFill>
                    <a:schemeClr val="accent2"/>
                  </a:solidFill>
                  <a:latin typeface="Segoe UI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14E2A-31E7-86EB-7FDC-9A53895D45D5}"/>
                </a:ext>
              </a:extLst>
            </p:cNvPr>
            <p:cNvSpPr txBox="1"/>
            <p:nvPr/>
          </p:nvSpPr>
          <p:spPr>
            <a:xfrm>
              <a:off x="1060704" y="1719409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Restructure the commercial org around customer segments, not product 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405378-7206-00DA-214E-7F253A3E02D2}"/>
                </a:ext>
              </a:extLst>
            </p:cNvPr>
            <p:cNvSpPr/>
            <p:nvPr/>
          </p:nvSpPr>
          <p:spPr>
            <a:xfrm>
              <a:off x="512064" y="261518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9EB3D-88A1-AD1D-B949-9F1EBE5877D8}"/>
                </a:ext>
              </a:extLst>
            </p:cNvPr>
            <p:cNvSpPr txBox="1"/>
            <p:nvPr/>
          </p:nvSpPr>
          <p:spPr>
            <a:xfrm>
              <a:off x="613662" y="3094693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chemeClr val="accent2"/>
                  </a:solidFill>
                  <a:latin typeface="Segoe UI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29025-3615-082E-3580-C1084D56C06E}"/>
                </a:ext>
              </a:extLst>
            </p:cNvPr>
            <p:cNvSpPr txBox="1"/>
            <p:nvPr/>
          </p:nvSpPr>
          <p:spPr>
            <a:xfrm>
              <a:off x="1060704" y="3063915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Establish a cross-functional Growth Council with a monthly operating cadence.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D5AE8F-2B6C-3A7C-5648-66DFFC5E5A7F}"/>
                </a:ext>
              </a:extLst>
            </p:cNvPr>
            <p:cNvSpPr/>
            <p:nvPr/>
          </p:nvSpPr>
          <p:spPr>
            <a:xfrm>
              <a:off x="512064" y="407822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F0776E-0AF8-3286-CB0D-D9EBE2690682}"/>
                </a:ext>
              </a:extLst>
            </p:cNvPr>
            <p:cNvSpPr txBox="1"/>
            <p:nvPr/>
          </p:nvSpPr>
          <p:spPr>
            <a:xfrm>
              <a:off x="613662" y="4354535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>
                  <a:solidFill>
                    <a:schemeClr val="accent2"/>
                  </a:solidFill>
                  <a:latin typeface="Segoe UI"/>
                </a:rPr>
                <a:t>03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F6FB9-F923-5125-A290-AFD65DB36E2A}"/>
                </a:ext>
              </a:extLst>
            </p:cNvPr>
            <p:cNvSpPr txBox="1"/>
            <p:nvPr/>
          </p:nvSpPr>
          <p:spPr>
            <a:xfrm>
              <a:off x="1060704" y="4323757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Invest in a unified data layer connecting sales, ops, and finance.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A387E-A481-AC1D-FA12-5BDE25022A66}"/>
              </a:ext>
            </a:extLst>
          </p:cNvPr>
          <p:cNvSpPr/>
          <p:nvPr/>
        </p:nvSpPr>
        <p:spPr>
          <a:xfrm>
            <a:off x="5645249" y="1276771"/>
            <a:ext cx="19050" cy="53949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73A6C7-9CBA-398E-5E94-2020DCE5AA9E}"/>
              </a:ext>
            </a:extLst>
          </p:cNvPr>
          <p:cNvGrpSpPr/>
          <p:nvPr/>
        </p:nvGrpSpPr>
        <p:grpSpPr>
          <a:xfrm>
            <a:off x="5882993" y="1276771"/>
            <a:ext cx="5796637" cy="4879777"/>
            <a:chOff x="5882993" y="1005840"/>
            <a:chExt cx="5796637" cy="48797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73A147-D68F-AD2B-C707-651F13423678}"/>
                </a:ext>
              </a:extLst>
            </p:cNvPr>
            <p:cNvSpPr txBox="1"/>
            <p:nvPr/>
          </p:nvSpPr>
          <p:spPr>
            <a:xfrm>
              <a:off x="5882993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917FFF"/>
                  </a:solidFill>
                  <a:latin typeface="Segoe UI"/>
                </a:rPr>
                <a:t>NEXT STEPS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49297-94BB-31C9-08A0-54212C10894B}"/>
                </a:ext>
              </a:extLst>
            </p:cNvPr>
            <p:cNvSpPr txBox="1"/>
            <p:nvPr/>
          </p:nvSpPr>
          <p:spPr>
            <a:xfrm>
              <a:off x="5882993" y="1389888"/>
              <a:ext cx="34779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Action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DE36C5-8CAB-CAE2-BE12-1493A4B13EBA}"/>
                </a:ext>
              </a:extLst>
            </p:cNvPr>
            <p:cNvSpPr txBox="1"/>
            <p:nvPr/>
          </p:nvSpPr>
          <p:spPr>
            <a:xfrm>
              <a:off x="9360975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Owner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C25646-E0B2-C18F-188A-436281C5CF54}"/>
                </a:ext>
              </a:extLst>
            </p:cNvPr>
            <p:cNvSpPr txBox="1"/>
            <p:nvPr/>
          </p:nvSpPr>
          <p:spPr>
            <a:xfrm>
              <a:off x="10520303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281A42"/>
                  </a:solidFill>
                  <a:latin typeface="Segoe UI"/>
                </a:rPr>
                <a:t>By When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8316A-5978-67DD-5894-D32B8C388381}"/>
                </a:ext>
              </a:extLst>
            </p:cNvPr>
            <p:cNvSpPr/>
            <p:nvPr/>
          </p:nvSpPr>
          <p:spPr>
            <a:xfrm>
              <a:off x="5882993" y="1700784"/>
              <a:ext cx="5796637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0B947-7AF6-C607-C773-B5B292328AEC}"/>
                </a:ext>
              </a:extLst>
            </p:cNvPr>
            <p:cNvSpPr txBox="1"/>
            <p:nvPr/>
          </p:nvSpPr>
          <p:spPr>
            <a:xfrm>
              <a:off x="5882993" y="1792224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Kick off commercial org redesign workstream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A74850-417D-5507-AAF6-702FEE5036DC}"/>
                </a:ext>
              </a:extLst>
            </p:cNvPr>
            <p:cNvSpPr txBox="1"/>
            <p:nvPr/>
          </p:nvSpPr>
          <p:spPr>
            <a:xfrm>
              <a:off x="9360975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COO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AB59EB-3C80-8FC6-B612-5A57BEAF1528}"/>
                </a:ext>
              </a:extLst>
            </p:cNvPr>
            <p:cNvSpPr txBox="1"/>
            <p:nvPr/>
          </p:nvSpPr>
          <p:spPr>
            <a:xfrm>
              <a:off x="10520303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err="1">
                  <a:solidFill>
                    <a:srgbClr val="7A828D"/>
                  </a:solidFill>
                  <a:latin typeface="Arial"/>
                </a:rPr>
                <a:t>Wk</a:t>
              </a:r>
              <a:r>
                <a:rPr sz="1400" b="0" i="0">
                  <a:solidFill>
                    <a:srgbClr val="7A828D"/>
                  </a:solidFill>
                  <a:latin typeface="Arial"/>
                </a:rPr>
                <a:t> 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5F79AA-5262-146C-1851-8D6368521D79}"/>
                </a:ext>
              </a:extLst>
            </p:cNvPr>
            <p:cNvSpPr/>
            <p:nvPr/>
          </p:nvSpPr>
          <p:spPr>
            <a:xfrm>
              <a:off x="5882993" y="2834639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4A02C0-FFC8-6688-4592-58A455A25A4A}"/>
                </a:ext>
              </a:extLst>
            </p:cNvPr>
            <p:cNvSpPr txBox="1"/>
            <p:nvPr/>
          </p:nvSpPr>
          <p:spPr>
            <a:xfrm>
              <a:off x="5882993" y="3054096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Stand up Growth Council charter + membership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F8B32-1830-6943-0A73-3227CE629F7D}"/>
                </a:ext>
              </a:extLst>
            </p:cNvPr>
            <p:cNvSpPr txBox="1"/>
            <p:nvPr/>
          </p:nvSpPr>
          <p:spPr>
            <a:xfrm>
              <a:off x="9360975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CEO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49D54F-8E26-A1D8-0550-050E4B00162E}"/>
                </a:ext>
              </a:extLst>
            </p:cNvPr>
            <p:cNvSpPr txBox="1"/>
            <p:nvPr/>
          </p:nvSpPr>
          <p:spPr>
            <a:xfrm>
              <a:off x="10520303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824899-5EE1-2CAA-3BAF-E9EE54BAE066}"/>
                </a:ext>
              </a:extLst>
            </p:cNvPr>
            <p:cNvSpPr/>
            <p:nvPr/>
          </p:nvSpPr>
          <p:spPr>
            <a:xfrm>
              <a:off x="5882993" y="4096511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9B4B9-BD1B-1D97-E884-92004F3EFB92}"/>
                </a:ext>
              </a:extLst>
            </p:cNvPr>
            <p:cNvSpPr txBox="1"/>
            <p:nvPr/>
          </p:nvSpPr>
          <p:spPr>
            <a:xfrm>
              <a:off x="5882993" y="4315968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Scope data layer requirements and vendor list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C25DA-3CF0-B39C-CEBF-0950DE480C87}"/>
                </a:ext>
              </a:extLst>
            </p:cNvPr>
            <p:cNvSpPr txBox="1"/>
            <p:nvPr/>
          </p:nvSpPr>
          <p:spPr>
            <a:xfrm>
              <a:off x="9360975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CTO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14E5BC-9D51-DDC2-56E3-54FC9177C25B}"/>
                </a:ext>
              </a:extLst>
            </p:cNvPr>
            <p:cNvSpPr txBox="1"/>
            <p:nvPr/>
          </p:nvSpPr>
          <p:spPr>
            <a:xfrm>
              <a:off x="10520303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7BD9CC-2E76-B879-CC37-34A4B0121993}"/>
                </a:ext>
              </a:extLst>
            </p:cNvPr>
            <p:cNvSpPr/>
            <p:nvPr/>
          </p:nvSpPr>
          <p:spPr>
            <a:xfrm>
              <a:off x="5882993" y="5358383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F9AED-F872-711A-F474-D34E52909A89}"/>
                </a:ext>
              </a:extLst>
            </p:cNvPr>
            <p:cNvSpPr txBox="1"/>
            <p:nvPr/>
          </p:nvSpPr>
          <p:spPr>
            <a:xfrm>
              <a:off x="5882993" y="5577840"/>
              <a:ext cx="33865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1D1D1D"/>
                  </a:solidFill>
                  <a:latin typeface="Arial"/>
                </a:rPr>
                <a:t>Present final business case to 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C15E8B-3E69-6613-2BCA-4C13034353FA}"/>
                </a:ext>
              </a:extLst>
            </p:cNvPr>
            <p:cNvSpPr txBox="1"/>
            <p:nvPr/>
          </p:nvSpPr>
          <p:spPr>
            <a:xfrm>
              <a:off x="9360975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765FFF"/>
                  </a:solidFill>
                  <a:latin typeface="Segoe UI"/>
                </a:rPr>
                <a:t>MD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16BC74-9F74-45FB-8664-E3900A0A9150}"/>
                </a:ext>
              </a:extLst>
            </p:cNvPr>
            <p:cNvSpPr txBox="1"/>
            <p:nvPr/>
          </p:nvSpPr>
          <p:spPr>
            <a:xfrm>
              <a:off x="10520303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Wk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457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7CA1-A22D-D859-037B-FD8CF7E86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6AF1-DEE7-0188-37C4-D23239E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the numbers</a:t>
            </a:r>
            <a:br>
              <a:rPr lang="en-US"/>
            </a:br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3D66E3-43C9-90E9-2D25-541FF965736F}"/>
              </a:ext>
            </a:extLst>
          </p:cNvPr>
          <p:cNvGrpSpPr/>
          <p:nvPr/>
        </p:nvGrpSpPr>
        <p:grpSpPr>
          <a:xfrm>
            <a:off x="512064" y="1989820"/>
            <a:ext cx="11167566" cy="2662916"/>
            <a:chOff x="512064" y="1371600"/>
            <a:chExt cx="11167566" cy="26629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5A3A7-B1DC-4C47-8B6B-D38BD494FDB2}"/>
                </a:ext>
              </a:extLst>
            </p:cNvPr>
            <p:cNvSpPr/>
            <p:nvPr/>
          </p:nvSpPr>
          <p:spPr>
            <a:xfrm>
              <a:off x="512064" y="1371600"/>
              <a:ext cx="2577007" cy="31750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A13C77-B62C-DF9E-8183-AC97A6311DA9}"/>
                </a:ext>
              </a:extLst>
            </p:cNvPr>
            <p:cNvSpPr txBox="1"/>
            <p:nvPr/>
          </p:nvSpPr>
          <p:spPr>
            <a:xfrm>
              <a:off x="512064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 dirty="0">
                  <a:solidFill>
                    <a:srgbClr val="765FFF"/>
                  </a:solidFill>
                  <a:latin typeface="Segoe UI"/>
                </a:rPr>
                <a:t>$2.4B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ECF29-CFA0-23FE-1D43-439FBB486CA8}"/>
                </a:ext>
              </a:extLst>
            </p:cNvPr>
            <p:cNvSpPr txBox="1"/>
            <p:nvPr/>
          </p:nvSpPr>
          <p:spPr>
            <a:xfrm>
              <a:off x="512064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Value unlocked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7001B-2777-3FFF-AF37-B230C78F6816}"/>
                </a:ext>
              </a:extLst>
            </p:cNvPr>
            <p:cNvSpPr/>
            <p:nvPr/>
          </p:nvSpPr>
          <p:spPr>
            <a:xfrm>
              <a:off x="512064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3181A4-D8A6-B947-6CB1-A1126858381A}"/>
                </a:ext>
              </a:extLst>
            </p:cNvPr>
            <p:cNvSpPr txBox="1"/>
            <p:nvPr/>
          </p:nvSpPr>
          <p:spPr>
            <a:xfrm>
              <a:off x="512064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Across 40+ operating model
transformations in 3 years.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03D57-C995-A4F8-5513-07B879FB46AA}"/>
                </a:ext>
              </a:extLst>
            </p:cNvPr>
            <p:cNvSpPr/>
            <p:nvPr/>
          </p:nvSpPr>
          <p:spPr>
            <a:xfrm>
              <a:off x="3345103" y="1371600"/>
              <a:ext cx="2577007" cy="31750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84C0B-73F4-9114-3832-FD4A41F3AC10}"/>
                </a:ext>
              </a:extLst>
            </p:cNvPr>
            <p:cNvSpPr txBox="1"/>
            <p:nvPr/>
          </p:nvSpPr>
          <p:spPr>
            <a:xfrm>
              <a:off x="334510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00C27A"/>
                  </a:solidFill>
                  <a:latin typeface="Segoe UI"/>
                </a:rPr>
                <a:t>94%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5DDB8-1B0D-E506-010D-1A4B87E00AF2}"/>
                </a:ext>
              </a:extLst>
            </p:cNvPr>
            <p:cNvSpPr txBox="1"/>
            <p:nvPr/>
          </p:nvSpPr>
          <p:spPr>
            <a:xfrm>
              <a:off x="334510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Client return rate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2F99C0-15F8-6AA7-E8BE-0F0C012A8D89}"/>
                </a:ext>
              </a:extLst>
            </p:cNvPr>
            <p:cNvSpPr/>
            <p:nvPr/>
          </p:nvSpPr>
          <p:spPr>
            <a:xfrm>
              <a:off x="334510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954795-87AD-64DF-3F01-64EA2A81DA57}"/>
                </a:ext>
              </a:extLst>
            </p:cNvPr>
            <p:cNvSpPr txBox="1"/>
            <p:nvPr/>
          </p:nvSpPr>
          <p:spPr>
            <a:xfrm>
              <a:off x="334510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Of clients engage FulcrumQ
again within 18 months.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88B253-F51B-1D81-5611-40A009F02C60}"/>
                </a:ext>
              </a:extLst>
            </p:cNvPr>
            <p:cNvSpPr/>
            <p:nvPr/>
          </p:nvSpPr>
          <p:spPr>
            <a:xfrm>
              <a:off x="6178143" y="1371600"/>
              <a:ext cx="2577007" cy="31750"/>
            </a:xfrm>
            <a:prstGeom prst="rect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A6FFA-524A-2CA9-0710-87B80F275CBD}"/>
                </a:ext>
              </a:extLst>
            </p:cNvPr>
            <p:cNvSpPr txBox="1"/>
            <p:nvPr/>
          </p:nvSpPr>
          <p:spPr>
            <a:xfrm>
              <a:off x="617814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FFB547"/>
                  </a:solidFill>
                  <a:latin typeface="Segoe UI"/>
                </a:rPr>
                <a:t>12 wks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3E205-6BD6-0BF1-0178-A4DD091678E3}"/>
                </a:ext>
              </a:extLst>
            </p:cNvPr>
            <p:cNvSpPr txBox="1"/>
            <p:nvPr/>
          </p:nvSpPr>
          <p:spPr>
            <a:xfrm>
              <a:off x="617814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Time to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899F3B-D903-6F23-D77E-1F462FC94849}"/>
                </a:ext>
              </a:extLst>
            </p:cNvPr>
            <p:cNvSpPr/>
            <p:nvPr/>
          </p:nvSpPr>
          <p:spPr>
            <a:xfrm>
              <a:off x="617814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4D1A8F-A87E-0EDA-DCE1-275FE7E66F09}"/>
                </a:ext>
              </a:extLst>
            </p:cNvPr>
            <p:cNvSpPr txBox="1"/>
            <p:nvPr/>
          </p:nvSpPr>
          <p:spPr>
            <a:xfrm>
              <a:off x="617814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7A828D"/>
                  </a:solidFill>
                  <a:latin typeface="Arial"/>
                </a:rPr>
                <a:t>From kickoff to board-ready
recommendation, consistently.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1153EA-1C9B-FFA0-A87D-CA60FA9F046D}"/>
                </a:ext>
              </a:extLst>
            </p:cNvPr>
            <p:cNvSpPr/>
            <p:nvPr/>
          </p:nvSpPr>
          <p:spPr>
            <a:xfrm>
              <a:off x="9011183" y="1371600"/>
              <a:ext cx="2577007" cy="317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3E658D-4A00-E09B-E68C-709F119133B8}"/>
                </a:ext>
              </a:extLst>
            </p:cNvPr>
            <p:cNvSpPr txBox="1"/>
            <p:nvPr/>
          </p:nvSpPr>
          <p:spPr>
            <a:xfrm>
              <a:off x="901118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5600" b="1" i="0">
                  <a:solidFill>
                    <a:srgbClr val="FF2E88"/>
                  </a:solidFill>
                  <a:latin typeface="Segoe UI"/>
                </a:rPr>
                <a:t>6.2×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00351-9450-B821-0F49-776FDC9361DF}"/>
                </a:ext>
              </a:extLst>
            </p:cNvPr>
            <p:cNvSpPr txBox="1"/>
            <p:nvPr/>
          </p:nvSpPr>
          <p:spPr>
            <a:xfrm>
              <a:off x="901118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1D1D1D"/>
                  </a:solidFill>
                  <a:latin typeface="Segoe UI"/>
                </a:rPr>
                <a:t>Average ROI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B98F20-D5EF-3EF1-CB96-8D253A8F23F3}"/>
                </a:ext>
              </a:extLst>
            </p:cNvPr>
            <p:cNvSpPr/>
            <p:nvPr/>
          </p:nvSpPr>
          <p:spPr>
            <a:xfrm>
              <a:off x="901118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BA7EE-7BCD-34A9-FFD5-338D507F231B}"/>
                </a:ext>
              </a:extLst>
            </p:cNvPr>
            <p:cNvSpPr txBox="1"/>
            <p:nvPr/>
          </p:nvSpPr>
          <p:spPr>
            <a:xfrm>
              <a:off x="901118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7A828D"/>
                  </a:solidFill>
                  <a:latin typeface="Arial"/>
                </a:rPr>
                <a:t>Measured 12 months post-
engagement across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8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6D5DA-B944-7341-E532-9AD83319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1F2D1-0444-71AC-18DD-4E3573D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Breakdown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277B133C-9EA9-12FA-DF52-E3DED172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1" y="5797241"/>
            <a:ext cx="2571737" cy="507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F6F1025-A0B7-970A-88EA-8E8E9ECA6EDA}"/>
              </a:ext>
            </a:extLst>
          </p:cNvPr>
          <p:cNvSpPr/>
          <p:nvPr/>
        </p:nvSpPr>
        <p:spPr>
          <a:xfrm>
            <a:off x="432000" y="5016293"/>
            <a:ext cx="2622537" cy="736504"/>
          </a:xfrm>
          <a:prstGeom prst="rect">
            <a:avLst/>
          </a:prstGeom>
          <a:noFill/>
        </p:spPr>
        <p:txBody>
          <a:bodyPr wrap="square" lIns="0" tIns="0" rIns="0" bIns="9144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33D808-6FBE-3FBA-7E79-D579800636E4}"/>
              </a:ext>
            </a:extLst>
          </p:cNvPr>
          <p:cNvSpPr/>
          <p:nvPr/>
        </p:nvSpPr>
        <p:spPr>
          <a:xfrm>
            <a:off x="422729" y="4605218"/>
            <a:ext cx="330199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(01)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B406090-5150-AFAC-6FF5-F8AEAE69A780}"/>
              </a:ext>
            </a:extLst>
          </p:cNvPr>
          <p:cNvSpPr/>
          <p:nvPr/>
        </p:nvSpPr>
        <p:spPr>
          <a:xfrm>
            <a:off x="774899" y="4571851"/>
            <a:ext cx="22902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01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D478851F-80B2-6919-D5C8-555CB74C5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470" y="4838516"/>
            <a:ext cx="2571737" cy="5079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7343D69-A3D8-A021-50C7-78A8EAE65E6C}"/>
              </a:ext>
            </a:extLst>
          </p:cNvPr>
          <p:cNvSpPr/>
          <p:nvPr/>
        </p:nvSpPr>
        <p:spPr>
          <a:xfrm>
            <a:off x="3243470" y="3873442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BF3AD3-6665-D2EB-5759-6E0CC8110E25}"/>
              </a:ext>
            </a:extLst>
          </p:cNvPr>
          <p:cNvSpPr/>
          <p:nvPr/>
        </p:nvSpPr>
        <p:spPr>
          <a:xfrm>
            <a:off x="3234198" y="3462366"/>
            <a:ext cx="34924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(02)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55FA8D-E003-A003-1B75-F27CE20DCFB0}"/>
              </a:ext>
            </a:extLst>
          </p:cNvPr>
          <p:cNvSpPr/>
          <p:nvPr/>
        </p:nvSpPr>
        <p:spPr>
          <a:xfrm>
            <a:off x="3605418" y="3429000"/>
            <a:ext cx="22521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02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0AD31844-6767-E5C5-297A-13E7FBE3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898" y="3613125"/>
            <a:ext cx="2571737" cy="5079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5B5A8E-C7FB-0033-A19A-3082E70C23F2}"/>
              </a:ext>
            </a:extLst>
          </p:cNvPr>
          <p:cNvSpPr/>
          <p:nvPr/>
        </p:nvSpPr>
        <p:spPr>
          <a:xfrm>
            <a:off x="6078898" y="2648051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0B9A7EA-C803-99C6-BF31-7CA3F14C88C1}"/>
              </a:ext>
            </a:extLst>
          </p:cNvPr>
          <p:cNvSpPr/>
          <p:nvPr/>
        </p:nvSpPr>
        <p:spPr>
          <a:xfrm>
            <a:off x="6069627" y="2236976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(03)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44582-6500-48DA-5AE5-DD1EE42331B8}"/>
              </a:ext>
            </a:extLst>
          </p:cNvPr>
          <p:cNvSpPr/>
          <p:nvPr/>
        </p:nvSpPr>
        <p:spPr>
          <a:xfrm>
            <a:off x="6447196" y="2203609"/>
            <a:ext cx="22648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03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3D6E9E48-24DA-3B52-D17D-C6E68B998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1603" y="2432179"/>
            <a:ext cx="2571737" cy="5079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F85A681-E388-2FA6-D038-07FFFCDA3746}"/>
              </a:ext>
            </a:extLst>
          </p:cNvPr>
          <p:cNvSpPr/>
          <p:nvPr/>
        </p:nvSpPr>
        <p:spPr>
          <a:xfrm>
            <a:off x="9091604" y="1467105"/>
            <a:ext cx="2654286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IN" sz="1400" b="0" i="0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0" i="0" err="1">
                <a:solidFill>
                  <a:schemeClr val="bg2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C190AD4-CC49-70F3-5782-7ADEEC16BE5E}"/>
              </a:ext>
            </a:extLst>
          </p:cNvPr>
          <p:cNvSpPr/>
          <p:nvPr/>
        </p:nvSpPr>
        <p:spPr>
          <a:xfrm>
            <a:off x="9082332" y="1056030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US" sz="1200" kern="0" spc="-24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(04)</a:t>
            </a:r>
            <a:endParaRPr lang="en-US" sz="1200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67E587C-97A8-592A-EAF3-57B7443BBAC6}"/>
              </a:ext>
            </a:extLst>
          </p:cNvPr>
          <p:cNvSpPr/>
          <p:nvPr/>
        </p:nvSpPr>
        <p:spPr>
          <a:xfrm>
            <a:off x="9459901" y="1022663"/>
            <a:ext cx="23029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04</a:t>
            </a:r>
            <a:endParaRPr lang="en-US" sz="1600" b="1">
              <a:solidFill>
                <a:srgbClr val="1D1D1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8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45DC-9100-D824-B055-A6D562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2EBFC-3FDB-0987-F419-50126A2B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7907-7143-2E80-58ED-139FA05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57285-7587-1551-E3C4-80FCF06C08DD}"/>
              </a:ext>
            </a:extLst>
          </p:cNvPr>
          <p:cNvGrpSpPr/>
          <p:nvPr/>
        </p:nvGrpSpPr>
        <p:grpSpPr>
          <a:xfrm>
            <a:off x="432000" y="2267712"/>
            <a:ext cx="3238126" cy="2974129"/>
            <a:chOff x="432000" y="2077768"/>
            <a:chExt cx="3238126" cy="2974129"/>
          </a:xfrm>
        </p:grpSpPr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F8991534-CE61-45CE-0414-314A1E4FE99B}"/>
                </a:ext>
              </a:extLst>
            </p:cNvPr>
            <p:cNvSpPr/>
            <p:nvPr/>
          </p:nvSpPr>
          <p:spPr>
            <a:xfrm>
              <a:off x="432001" y="2829342"/>
              <a:ext cx="3238125" cy="2222555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omnis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6CF10047-2497-583D-127A-D439147980B1}"/>
                </a:ext>
              </a:extLst>
            </p:cNvPr>
            <p:cNvSpPr/>
            <p:nvPr/>
          </p:nvSpPr>
          <p:spPr>
            <a:xfrm>
              <a:off x="432000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2C9AE1-0B92-FAE5-482E-FF22B38C4CDD}"/>
              </a:ext>
            </a:extLst>
          </p:cNvPr>
          <p:cNvGrpSpPr/>
          <p:nvPr/>
        </p:nvGrpSpPr>
        <p:grpSpPr>
          <a:xfrm>
            <a:off x="4476938" y="2267712"/>
            <a:ext cx="3238126" cy="2974129"/>
            <a:chOff x="4476938" y="2077768"/>
            <a:chExt cx="3238126" cy="297412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B3EEBD76-1778-F63E-C5F9-7E1FC6E4A3D5}"/>
                </a:ext>
              </a:extLst>
            </p:cNvPr>
            <p:cNvSpPr/>
            <p:nvPr/>
          </p:nvSpPr>
          <p:spPr>
            <a:xfrm>
              <a:off x="4476939" y="2829343"/>
              <a:ext cx="3238125" cy="2222554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omnis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97184D44-7331-9CC0-401F-BB70837CFAB6}"/>
                </a:ext>
              </a:extLst>
            </p:cNvPr>
            <p:cNvSpPr/>
            <p:nvPr/>
          </p:nvSpPr>
          <p:spPr>
            <a:xfrm>
              <a:off x="4476938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E85C55-97A7-CBA8-D194-82336DF7DE4A}"/>
              </a:ext>
            </a:extLst>
          </p:cNvPr>
          <p:cNvGrpSpPr/>
          <p:nvPr/>
        </p:nvGrpSpPr>
        <p:grpSpPr>
          <a:xfrm>
            <a:off x="8521876" y="2267714"/>
            <a:ext cx="3238126" cy="2974127"/>
            <a:chOff x="8521876" y="2077768"/>
            <a:chExt cx="3238126" cy="2974127"/>
          </a:xfrm>
        </p:grpSpPr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04EBDFA2-3384-0FA2-ACA3-D13344ACA780}"/>
                </a:ext>
              </a:extLst>
            </p:cNvPr>
            <p:cNvSpPr/>
            <p:nvPr/>
          </p:nvSpPr>
          <p:spPr>
            <a:xfrm>
              <a:off x="8521877" y="2829342"/>
              <a:ext cx="3238125" cy="2222553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vero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iusto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odio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dignissimos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ducimus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qui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blanditiis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praesentium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deleniti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85750" indent="-285750">
                <a:buSzPct val="70000"/>
                <a:buBlip>
                  <a:blip r:embed="rId2"/>
                </a:buBlip>
              </a:pPr>
              <a:endParaRPr lang="en-IN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SzPct val="70000"/>
                <a:buBlip>
                  <a:blip r:embed="rId2"/>
                </a:buBlip>
              </a:pP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Sed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ut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perspiciatis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unde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omnis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iste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natus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error sit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voluptatem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accusantium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doloremquentium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rem </a:t>
              </a:r>
              <a:r>
                <a:rPr lang="en-IN" sz="14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aperiam</a:t>
              </a:r>
              <a:r>
                <a:rPr lang="en-IN" sz="1400" b="0" i="0">
                  <a:solidFill>
                    <a:schemeClr val="bg2">
                      <a:lumMod val="2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4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7FEF822D-2258-1A09-3824-D9D68E5174A7}"/>
                </a:ext>
              </a:extLst>
            </p:cNvPr>
            <p:cNvSpPr/>
            <p:nvPr/>
          </p:nvSpPr>
          <p:spPr>
            <a:xfrm>
              <a:off x="8521876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Baesentium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2000" b="1" i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Uptatum</a:t>
              </a:r>
              <a:r>
                <a:rPr lang="en-IN" sz="2000" b="1" i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Delen</a:t>
              </a:r>
              <a:endParaRPr lang="en-US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7E444712-643D-A678-F08E-FED74FD56CEF}"/>
              </a:ext>
            </a:extLst>
          </p:cNvPr>
          <p:cNvSpPr/>
          <p:nvPr/>
        </p:nvSpPr>
        <p:spPr>
          <a:xfrm>
            <a:off x="420000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01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B2C0521-7BF6-838D-9BCF-E5D68214AD66}"/>
              </a:ext>
            </a:extLst>
          </p:cNvPr>
          <p:cNvSpPr/>
          <p:nvPr/>
        </p:nvSpPr>
        <p:spPr>
          <a:xfrm>
            <a:off x="4464938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02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0BD82A-1BC1-375C-1EE9-EB3B0128AC74}"/>
              </a:ext>
            </a:extLst>
          </p:cNvPr>
          <p:cNvSpPr/>
          <p:nvPr/>
        </p:nvSpPr>
        <p:spPr>
          <a:xfrm>
            <a:off x="8509877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r>
              <a:rPr lang="en-IN" i="0" spc="-150">
                <a:solidFill>
                  <a:srgbClr val="765FFF"/>
                </a:solidFill>
                <a:effectLst/>
                <a:latin typeface="Aileron Bold" panose="00000A00000000000000" pitchFamily="2" charset="77"/>
              </a:rPr>
              <a:t>03</a:t>
            </a:r>
            <a:endParaRPr lang="en-US" spc="-150">
              <a:solidFill>
                <a:srgbClr val="765FFF"/>
              </a:solidFill>
              <a:latin typeface="Aileron Bold" panose="00000A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7319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71D6-9656-3B76-9983-14AD8296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A116B-9EA8-4CDF-2AB5-7CECA48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2A552-BC0A-F292-A453-A569BFA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D38F4D6F-77CF-ED85-EC20-994B0B475885}"/>
              </a:ext>
            </a:extLst>
          </p:cNvPr>
          <p:cNvSpPr txBox="1">
            <a:spLocks/>
          </p:cNvSpPr>
          <p:nvPr/>
        </p:nvSpPr>
        <p:spPr>
          <a:xfrm>
            <a:off x="1109823" y="193083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</a:t>
            </a:r>
            <a:r>
              <a:rPr lang="en-IN" sz="1600" err="1">
                <a:solidFill>
                  <a:sysClr val="windowText" lastClr="000000"/>
                </a:solidFill>
              </a:rPr>
              <a:t>ut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perspiciatis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unde</a:t>
            </a:r>
            <a:r>
              <a:rPr lang="en-IN" sz="1600">
                <a:solidFill>
                  <a:sysClr val="windowText" lastClr="000000"/>
                </a:solidFill>
              </a:rPr>
              <a:t> omnis </a:t>
            </a:r>
            <a:r>
              <a:rPr lang="en-IN" sz="1600" err="1">
                <a:solidFill>
                  <a:sysClr val="windowText" lastClr="000000"/>
                </a:solidFill>
              </a:rPr>
              <a:t>iste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natus</a:t>
            </a:r>
            <a:r>
              <a:rPr lang="en-IN" sz="1600">
                <a:solidFill>
                  <a:sysClr val="windowText" lastClr="000000"/>
                </a:solidFill>
              </a:rPr>
              <a:t> error sit </a:t>
            </a:r>
            <a:r>
              <a:rPr lang="en-IN" sz="1600" err="1">
                <a:solidFill>
                  <a:sysClr val="windowText" lastClr="000000"/>
                </a:solidFill>
              </a:rPr>
              <a:t>voluptatem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usantium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remque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similique</a:t>
            </a:r>
            <a:r>
              <a:rPr lang="en-IN" sz="1600">
                <a:solidFill>
                  <a:sysClr val="windowText" lastClr="000000"/>
                </a:solidFill>
              </a:rPr>
              <a:t> sunt in culpa qui </a:t>
            </a:r>
            <a:r>
              <a:rPr lang="en-IN" sz="1600" err="1">
                <a:solidFill>
                  <a:sysClr val="windowText" lastClr="000000"/>
                </a:solidFill>
              </a:rPr>
              <a:t>officia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deserunt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mollitia</a:t>
            </a:r>
            <a:r>
              <a:rPr lang="en-IN" sz="1600">
                <a:solidFill>
                  <a:sysClr val="windowText" lastClr="000000"/>
                </a:solidFill>
              </a:rPr>
              <a:t> animi, id est </a:t>
            </a:r>
            <a:r>
              <a:rPr lang="en-IN" sz="1600" err="1">
                <a:solidFill>
                  <a:sysClr val="windowText" lastClr="000000"/>
                </a:solidFill>
              </a:rPr>
              <a:t>laborum</a:t>
            </a:r>
            <a:r>
              <a:rPr lang="en-IN" sz="1600">
                <a:solidFill>
                  <a:sysClr val="windowText" lastClr="000000"/>
                </a:solidFill>
              </a:rPr>
              <a:t> et </a:t>
            </a:r>
            <a:r>
              <a:rPr lang="en-IN" sz="1600" err="1">
                <a:solidFill>
                  <a:sysClr val="windowText" lastClr="000000"/>
                </a:solidFill>
              </a:rPr>
              <a:t>dolorum</a:t>
            </a:r>
            <a:r>
              <a:rPr lang="en-IN" sz="1600">
                <a:solidFill>
                  <a:sysClr val="windowText" lastClr="000000"/>
                </a:solidFill>
              </a:rPr>
              <a:t>. 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CF77C2FA-74B6-1691-CBFE-2FDF67ABB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911" y="2020835"/>
            <a:ext cx="360000" cy="3600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211AF28D-7457-17CD-B3E8-648ACBA212AE}"/>
              </a:ext>
            </a:extLst>
          </p:cNvPr>
          <p:cNvSpPr txBox="1">
            <a:spLocks/>
          </p:cNvSpPr>
          <p:nvPr/>
        </p:nvSpPr>
        <p:spPr>
          <a:xfrm>
            <a:off x="1109823" y="2749612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003F909E-00AA-CDE1-F685-C02535629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911" y="2839612"/>
            <a:ext cx="360000" cy="360000"/>
          </a:xfrm>
          <a:prstGeom prst="rect">
            <a:avLst/>
          </a:prstGeom>
        </p:spPr>
      </p:pic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BA98DF6-B59F-67C7-0852-CA76919652B4}"/>
              </a:ext>
            </a:extLst>
          </p:cNvPr>
          <p:cNvSpPr txBox="1">
            <a:spLocks/>
          </p:cNvSpPr>
          <p:nvPr/>
        </p:nvSpPr>
        <p:spPr>
          <a:xfrm>
            <a:off x="1109823" y="3568389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50" name="Picture Placeholder 18">
            <a:extLst>
              <a:ext uri="{FF2B5EF4-FFF2-40B4-BE49-F238E27FC236}">
                <a16:creationId xmlns:a16="http://schemas.microsoft.com/office/drawing/2014/main" id="{F17B48A4-607D-2FB3-3756-0A5257E53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47911" y="3658389"/>
            <a:ext cx="360000" cy="360000"/>
          </a:xfrm>
          <a:prstGeom prst="rect">
            <a:avLst/>
          </a:prstGeom>
        </p:spPr>
      </p:pic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35E5AD76-28D8-4C79-C24E-14F758F55901}"/>
              </a:ext>
            </a:extLst>
          </p:cNvPr>
          <p:cNvSpPr txBox="1">
            <a:spLocks/>
          </p:cNvSpPr>
          <p:nvPr/>
        </p:nvSpPr>
        <p:spPr>
          <a:xfrm>
            <a:off x="1109823" y="438716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020"/>
              </a:lnSpc>
              <a:buNone/>
            </a:pPr>
            <a:r>
              <a:rPr lang="en-IN" sz="1600">
                <a:solidFill>
                  <a:sysClr val="windowText" lastClr="000000"/>
                </a:solidFill>
              </a:rPr>
              <a:t>Sed </a:t>
            </a:r>
            <a:r>
              <a:rPr lang="en-IN" sz="1600" err="1">
                <a:solidFill>
                  <a:sysClr val="windowText" lastClr="000000"/>
                </a:solidFill>
              </a:rPr>
              <a:t>ut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perspiciatis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unde</a:t>
            </a:r>
            <a:r>
              <a:rPr lang="en-IN" sz="1600">
                <a:solidFill>
                  <a:sysClr val="windowText" lastClr="000000"/>
                </a:solidFill>
              </a:rPr>
              <a:t> omnis </a:t>
            </a:r>
            <a:r>
              <a:rPr lang="en-IN" sz="1600" err="1">
                <a:solidFill>
                  <a:sysClr val="windowText" lastClr="000000"/>
                </a:solidFill>
              </a:rPr>
              <a:t>iste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natus</a:t>
            </a:r>
            <a:r>
              <a:rPr lang="en-IN" sz="1600">
                <a:solidFill>
                  <a:sysClr val="windowText" lastClr="000000"/>
                </a:solidFill>
              </a:rPr>
              <a:t> error sit </a:t>
            </a:r>
            <a:r>
              <a:rPr lang="en-IN" sz="1600" err="1">
                <a:solidFill>
                  <a:sysClr val="windowText" lastClr="000000"/>
                </a:solidFill>
              </a:rPr>
              <a:t>voluptatem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usantium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remque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similique</a:t>
            </a:r>
            <a:r>
              <a:rPr lang="en-IN" sz="1600">
                <a:solidFill>
                  <a:sysClr val="windowText" lastClr="000000"/>
                </a:solidFill>
              </a:rPr>
              <a:t> sunt in culpa qui </a:t>
            </a:r>
            <a:r>
              <a:rPr lang="en-IN" sz="1600" err="1">
                <a:solidFill>
                  <a:sysClr val="windowText" lastClr="000000"/>
                </a:solidFill>
              </a:rPr>
              <a:t>officia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deserunt</a:t>
            </a:r>
            <a:r>
              <a:rPr lang="en-IN" sz="1600">
                <a:solidFill>
                  <a:sysClr val="windowText" lastClr="000000"/>
                </a:solidFill>
              </a:rPr>
              <a:t> </a:t>
            </a:r>
            <a:r>
              <a:rPr lang="en-IN" sz="1600" err="1">
                <a:solidFill>
                  <a:sysClr val="windowText" lastClr="000000"/>
                </a:solidFill>
              </a:rPr>
              <a:t>mollitia</a:t>
            </a:r>
            <a:r>
              <a:rPr lang="en-IN" sz="1600">
                <a:solidFill>
                  <a:sysClr val="windowText" lastClr="000000"/>
                </a:solidFill>
              </a:rPr>
              <a:t> animi, id est </a:t>
            </a:r>
            <a:r>
              <a:rPr lang="en-IN" sz="1600" err="1">
                <a:solidFill>
                  <a:sysClr val="windowText" lastClr="000000"/>
                </a:solidFill>
              </a:rPr>
              <a:t>laborum</a:t>
            </a:r>
            <a:r>
              <a:rPr lang="en-IN" sz="1600">
                <a:solidFill>
                  <a:sysClr val="windowText" lastClr="000000"/>
                </a:solidFill>
              </a:rPr>
              <a:t> et </a:t>
            </a:r>
            <a:r>
              <a:rPr lang="en-IN" sz="1600" err="1">
                <a:solidFill>
                  <a:sysClr val="windowText" lastClr="000000"/>
                </a:solidFill>
              </a:rPr>
              <a:t>dolorum</a:t>
            </a:r>
            <a:r>
              <a:rPr lang="en-IN" sz="1600">
                <a:solidFill>
                  <a:sysClr val="windowText" lastClr="000000"/>
                </a:solidFill>
              </a:rPr>
              <a:t>. </a:t>
            </a:r>
          </a:p>
        </p:txBody>
      </p:sp>
      <p:pic>
        <p:nvPicPr>
          <p:cNvPr id="52" name="Picture Placeholder 20">
            <a:extLst>
              <a:ext uri="{FF2B5EF4-FFF2-40B4-BE49-F238E27FC236}">
                <a16:creationId xmlns:a16="http://schemas.microsoft.com/office/drawing/2014/main" id="{1DDAD8FF-A977-CF08-0E7D-A19692133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>
          <a:xfrm>
            <a:off x="547911" y="447716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0D7DC-1E51-F72C-54C8-8EE7AE9D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875A764-3B06-454E-8ABA-2F6ED0EB58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B76F8-6059-5F76-C379-4213F98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Delivered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05126C-8C78-DC0D-D4D3-306B977BFA9B}"/>
              </a:ext>
            </a:extLst>
          </p:cNvPr>
          <p:cNvGraphicFramePr/>
          <p:nvPr/>
        </p:nvGraphicFramePr>
        <p:xfrm>
          <a:off x="5738286" y="2590840"/>
          <a:ext cx="4625078" cy="322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DC6AEAA-2167-FD64-0EB8-C719549A829D}"/>
              </a:ext>
            </a:extLst>
          </p:cNvPr>
          <p:cNvSpPr/>
          <p:nvPr/>
        </p:nvSpPr>
        <p:spPr>
          <a:xfrm>
            <a:off x="5872708" y="2184562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32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35%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E40AAA-095D-EB91-0897-635C3A9B257F}"/>
              </a:ext>
            </a:extLst>
          </p:cNvPr>
          <p:cNvSpPr/>
          <p:nvPr/>
        </p:nvSpPr>
        <p:spPr>
          <a:xfrm>
            <a:off x="6862231" y="2902019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14435CB-59D4-A502-75F9-19B5063B7C90}"/>
              </a:ext>
            </a:extLst>
          </p:cNvPr>
          <p:cNvSpPr/>
          <p:nvPr/>
        </p:nvSpPr>
        <p:spPr>
          <a:xfrm>
            <a:off x="7730049" y="3378207"/>
            <a:ext cx="493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20%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0E34A47-EFEC-7AFC-9ECD-F9E0A4A818C8}"/>
              </a:ext>
            </a:extLst>
          </p:cNvPr>
          <p:cNvSpPr/>
          <p:nvPr/>
        </p:nvSpPr>
        <p:spPr>
          <a:xfrm>
            <a:off x="8604238" y="3708364"/>
            <a:ext cx="4550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18A645-60AD-037E-63B1-777F0EAF6756}"/>
              </a:ext>
            </a:extLst>
          </p:cNvPr>
          <p:cNvSpPr/>
          <p:nvPr/>
        </p:nvSpPr>
        <p:spPr>
          <a:xfrm>
            <a:off x="9493234" y="4491429"/>
            <a:ext cx="366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600" b="1" kern="0" spc="-16">
                <a:solidFill>
                  <a:srgbClr val="1D1D1D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5%</a:t>
            </a:r>
            <a:endParaRPr lang="en-US" sz="1600" b="1">
              <a:solidFill>
                <a:srgbClr val="1D1D1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E7B4BCB-177C-B2AC-1F61-05783DA6A7DD}"/>
              </a:ext>
            </a:extLst>
          </p:cNvPr>
          <p:cNvSpPr/>
          <p:nvPr/>
        </p:nvSpPr>
        <p:spPr>
          <a:xfrm>
            <a:off x="5872709" y="2476624"/>
            <a:ext cx="47413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01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612612-C4B5-7AB2-25C1-0B7F7F275B35}"/>
              </a:ext>
            </a:extLst>
          </p:cNvPr>
          <p:cNvSpPr/>
          <p:nvPr/>
        </p:nvSpPr>
        <p:spPr>
          <a:xfrm>
            <a:off x="6862231" y="3194081"/>
            <a:ext cx="67733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02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C11822-B5D5-3683-B543-0A4FE7B38908}"/>
              </a:ext>
            </a:extLst>
          </p:cNvPr>
          <p:cNvSpPr/>
          <p:nvPr/>
        </p:nvSpPr>
        <p:spPr>
          <a:xfrm>
            <a:off x="7730048" y="3670269"/>
            <a:ext cx="55668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03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EA0EF2-BF13-BE44-E5A1-6794776A8212}"/>
              </a:ext>
            </a:extLst>
          </p:cNvPr>
          <p:cNvSpPr/>
          <p:nvPr/>
        </p:nvSpPr>
        <p:spPr>
          <a:xfrm>
            <a:off x="8604238" y="4000426"/>
            <a:ext cx="62018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04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7E876FB-3367-F4DE-FEE2-EFA4658D546F}"/>
              </a:ext>
            </a:extLst>
          </p:cNvPr>
          <p:cNvSpPr/>
          <p:nvPr/>
        </p:nvSpPr>
        <p:spPr>
          <a:xfrm>
            <a:off x="9493234" y="4783490"/>
            <a:ext cx="513453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05</a:t>
            </a:r>
            <a:endParaRPr lang="en-US" sz="10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F012A5-8F5B-F7DD-0DE1-E514A02AA1A7}"/>
              </a:ext>
            </a:extLst>
          </p:cNvPr>
          <p:cNvSpPr/>
          <p:nvPr/>
        </p:nvSpPr>
        <p:spPr>
          <a:xfrm>
            <a:off x="870004" y="2587195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Across industries like fintech, healthcare, logistics, and education.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016D913-12B6-B1EB-5F04-04F714525C11}"/>
              </a:ext>
            </a:extLst>
          </p:cNvPr>
          <p:cNvSpPr/>
          <p:nvPr/>
        </p:nvSpPr>
        <p:spPr>
          <a:xfrm>
            <a:off x="870004" y="1977674"/>
            <a:ext cx="12509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120+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F3FF609-36E3-B0D3-5761-AF40EF9D939F}"/>
              </a:ext>
            </a:extLst>
          </p:cNvPr>
          <p:cNvSpPr/>
          <p:nvPr/>
        </p:nvSpPr>
        <p:spPr>
          <a:xfrm>
            <a:off x="2491377" y="2037007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Projects Delivered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20E4983-76E3-B7CA-68AD-372058CAF268}"/>
              </a:ext>
            </a:extLst>
          </p:cNvPr>
          <p:cNvSpPr/>
          <p:nvPr/>
        </p:nvSpPr>
        <p:spPr>
          <a:xfrm>
            <a:off x="870004" y="4082426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Through the platforms and systems we’ve built.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5F466A6-BC7D-4248-8C74-4729D2EB1CA4}"/>
              </a:ext>
            </a:extLst>
          </p:cNvPr>
          <p:cNvSpPr/>
          <p:nvPr/>
        </p:nvSpPr>
        <p:spPr>
          <a:xfrm>
            <a:off x="862530" y="3472905"/>
            <a:ext cx="10858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1M+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BCA1482-19D4-A64C-F44C-4CA88DE8131B}"/>
              </a:ext>
            </a:extLst>
          </p:cNvPr>
          <p:cNvSpPr/>
          <p:nvPr/>
        </p:nvSpPr>
        <p:spPr>
          <a:xfrm>
            <a:off x="2491377" y="3532238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End Users Impacted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556054E-BC89-FB5C-4B9C-4305EF613AD4}"/>
              </a:ext>
            </a:extLst>
          </p:cNvPr>
          <p:cNvSpPr/>
          <p:nvPr/>
        </p:nvSpPr>
        <p:spPr>
          <a:xfrm>
            <a:off x="870004" y="5577657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400"/>
              </a:lnSpc>
            </a:pPr>
            <a:r>
              <a:rPr lang="en-US" sz="1400" kern="0" spc="-2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Demonstrating long-term trust and satisfaction.</a:t>
            </a:r>
            <a:endParaRPr lang="en-US" sz="140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781CC01-5191-7847-91D9-2A0060B39567}"/>
              </a:ext>
            </a:extLst>
          </p:cNvPr>
          <p:cNvSpPr/>
          <p:nvPr/>
        </p:nvSpPr>
        <p:spPr>
          <a:xfrm>
            <a:off x="870004" y="4968136"/>
            <a:ext cx="110489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b="1">
                <a:solidFill>
                  <a:srgbClr val="765FFF"/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85%</a:t>
            </a:r>
            <a:endParaRPr lang="en-US" sz="3200" b="1">
              <a:solidFill>
                <a:srgbClr val="765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9626CB3-36CD-37F2-ECB4-054D820FDC79}"/>
              </a:ext>
            </a:extLst>
          </p:cNvPr>
          <p:cNvSpPr/>
          <p:nvPr/>
        </p:nvSpPr>
        <p:spPr>
          <a:xfrm>
            <a:off x="2126492" y="5027469"/>
            <a:ext cx="1486712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Client</a:t>
            </a:r>
          </a:p>
          <a:p>
            <a:pPr algn="r"/>
            <a:r>
              <a:rPr lang="en-US" sz="1400" b="1" kern="0" spc="-16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Retention Rate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3B722-A25E-4171-34D1-47870F7E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/>
          <a:lstStyle/>
          <a:p>
            <a:fld id="{1875A764-3B06-454E-8ABA-2F6ED0EB58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B82A6-D7C0-9125-2AF2-8371114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</p:spPr>
        <p:txBody>
          <a:bodyPr/>
          <a:lstStyle/>
          <a:p>
            <a:r>
              <a:rPr lang="en-US"/>
              <a:t>Data/Chart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5720F3-2DCF-EC23-252C-3BFB83F3ACC1}"/>
              </a:ext>
            </a:extLst>
          </p:cNvPr>
          <p:cNvSpPr/>
          <p:nvPr/>
        </p:nvSpPr>
        <p:spPr>
          <a:xfrm>
            <a:off x="432000" y="2313339"/>
            <a:ext cx="4196367" cy="2231321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eos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accusamus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iusto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odio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dignissimos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ducimus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qui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blanditiis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praesentium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voluptatum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deleniti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atque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corrupti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quos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dolores</a:t>
            </a:r>
            <a:b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molestias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excepturi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sint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occaecati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cupiditate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non provident, </a:t>
            </a:r>
            <a:r>
              <a:rPr lang="en-IN" sz="1600" b="0" i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similique</a:t>
            </a:r>
            <a:r>
              <a:rPr lang="en-IN" sz="16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sunt in culpa.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B0A4-1964-B833-CE0C-518A16CEF03A}"/>
              </a:ext>
            </a:extLst>
          </p:cNvPr>
          <p:cNvGraphicFramePr/>
          <p:nvPr/>
        </p:nvGraphicFramePr>
        <p:xfrm>
          <a:off x="5914372" y="1684751"/>
          <a:ext cx="5734284" cy="3488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1276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6ECF-95DC-0F86-B27D-91D5569CF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</p:spPr>
        <p:txBody>
          <a:bodyPr/>
          <a:lstStyle/>
          <a:p>
            <a:r>
              <a:rPr lang="en-US"/>
              <a:t>For adhering to our new brand guidelines!</a:t>
            </a:r>
          </a:p>
        </p:txBody>
      </p:sp>
    </p:spTree>
    <p:extLst>
      <p:ext uri="{BB962C8B-B14F-4D97-AF65-F5344CB8AC3E}">
        <p14:creationId xmlns:p14="http://schemas.microsoft.com/office/powerpoint/2010/main" val="2802824242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1317</Words>
  <Application>Microsoft Macintosh PowerPoint</Application>
  <PresentationFormat>Widescreen</PresentationFormat>
  <Paragraphs>417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Aileron Bold</vt:lpstr>
      <vt:lpstr>Aptos</vt:lpstr>
      <vt:lpstr>Arial</vt:lpstr>
      <vt:lpstr>Segoe UI</vt:lpstr>
      <vt:lpstr>Wingdings</vt:lpstr>
      <vt:lpstr>FQ_Theme</vt:lpstr>
      <vt:lpstr>FulcrumQ</vt:lpstr>
      <vt:lpstr>Welcome!</vt:lpstr>
      <vt:lpstr>Typography Rules</vt:lpstr>
      <vt:lpstr>Typography</vt:lpstr>
      <vt:lpstr>Color Palette</vt:lpstr>
      <vt:lpstr>Color Palette</vt:lpstr>
      <vt:lpstr>Icon Library</vt:lpstr>
      <vt:lpstr>Icon Library</vt:lpstr>
      <vt:lpstr>Usage Examples</vt:lpstr>
      <vt:lpstr>Agenda</vt:lpstr>
      <vt:lpstr>The Value Agenda</vt:lpstr>
      <vt:lpstr>Critical Roles</vt:lpstr>
      <vt:lpstr>Critical Roles</vt:lpstr>
      <vt:lpstr>What Our Clients Say</vt:lpstr>
      <vt:lpstr>Recommendations &amp; Next Steps </vt:lpstr>
      <vt:lpstr>By the numbers </vt:lpstr>
      <vt:lpstr>Meeting Breakdown</vt:lpstr>
      <vt:lpstr>Key Insights</vt:lpstr>
      <vt:lpstr>Key Insights</vt:lpstr>
      <vt:lpstr>What We’ve Delivered</vt:lpstr>
      <vt:lpstr>Data/Chart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2</cp:revision>
  <dcterms:created xsi:type="dcterms:W3CDTF">2026-03-11T20:57:20Z</dcterms:created>
  <dcterms:modified xsi:type="dcterms:W3CDTF">2026-03-27T14:49:03Z</dcterms:modified>
</cp:coreProperties>
</file>