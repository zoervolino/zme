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48" r:id="rId4"/>
  </p:sldMasterIdLst>
  <p:notesMasterIdLst>
    <p:notesMasterId r:id="rId6"/>
  </p:notesMasterIdLst>
  <p:sldIdLst>
    <p:sldId id="2145707192" r:id="rId5"/>
  </p:sldIdLst>
  <p:sldSz cx="12192000" cy="6858000"/>
  <p:notesSz cx="12192000" cy="6858000"/>
  <p:embeddedFontLst>
    <p:embeddedFont>
      <p:font typeface="Segoe UI" panose="020B0502040204020203" pitchFamily="34" charset="0"/>
      <p:regular r:id="rId7"/>
      <p:bold r:id="rId8"/>
      <p:italic r:id="rId9"/>
      <p:boldItalic r:id="rId10"/>
    </p:embeddedFont>
  </p:embeddedFontLst>
  <p:custDataLst>
    <p:tags r:id="rId11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1A42"/>
    <a:srgbClr val="4C4C4C"/>
    <a:srgbClr val="BA0B2F"/>
    <a:srgbClr val="008000"/>
    <a:srgbClr val="F878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34"/>
    <p:restoredTop sz="96963"/>
  </p:normalViewPr>
  <p:slideViewPr>
    <p:cSldViewPr snapToGrid="0">
      <p:cViewPr varScale="1">
        <p:scale>
          <a:sx n="111" d="100"/>
          <a:sy n="111" d="100"/>
        </p:scale>
        <p:origin x="1216" y="50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61C4D-C149-4750-9DE9-4D79F619CCA5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54985-E8E0-419E-9F72-6254153D3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01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54985-E8E0-419E-9F72-6254153D3EE8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450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pport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BCB939-40D0-7C6B-E581-24B9E400A9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000" y="1432560"/>
            <a:ext cx="11340000" cy="4734559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5pPr>
          </a:lstStyle>
          <a:p>
            <a:pPr lvl="0"/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F71117-4146-780D-BB34-90F43C814938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7A855D8E-7C99-F04C-568A-F3D00C3F9D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47C47C13-ABA9-A848-6895-50FBF0B207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0F3394-203F-9BB3-143F-1A80C14393A6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2DE5FF-8504-B0D1-F092-65F46BD0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6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pporting Tex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EA2C12-706D-CA8B-562A-F839F787AC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000" y="1896035"/>
            <a:ext cx="11340000" cy="4271084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31B712-A7C7-7F29-930C-FE7EB84DFE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1319422"/>
            <a:ext cx="11340000" cy="425592"/>
          </a:xfrm>
          <a:prstGeom prst="rect">
            <a:avLst/>
          </a:prstGeom>
        </p:spPr>
        <p:txBody>
          <a:bodyPr/>
          <a:lstStyle>
            <a:lvl1pPr>
              <a:buNone/>
              <a:defRPr sz="3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2D3D95-65CE-9FBD-239E-01AA9A4D95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8C3ACC-5762-07AE-11FB-8D1E7248EB64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8" name="Picture 7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A98BFA3-2F20-10B7-C5AC-DE794E1817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9" name="Picture 8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6F1A5EFE-B2A0-264F-CAF8-7444E7A9E3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21CA53-B20E-B756-2CC4-0117F5D26C91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2621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Normal F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BA038C-8E37-C45A-8BB9-959FC12A5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C77C29D-3988-5EC2-AB41-30A695E787DE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22D03D40-7915-C9C1-B0FF-7A948ADB3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wo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ft Content 2"/>
          <p:cNvSpPr>
            <a:spLocks noGrp="1"/>
          </p:cNvSpPr>
          <p:nvPr>
            <p:ph idx="1"/>
          </p:nvPr>
        </p:nvSpPr>
        <p:spPr>
          <a:xfrm>
            <a:off x="449884" y="1757563"/>
            <a:ext cx="5532116" cy="4300338"/>
          </a:xfrm>
        </p:spPr>
        <p:txBody>
          <a:bodyPr wrap="square" anchor="t">
            <a:normAutofit/>
          </a:bodyPr>
          <a:lstStyle>
            <a:lvl1pPr algn="l">
              <a:buNone/>
              <a:defRPr lang="en-US" sz="1200" b="0" dirty="0">
                <a:solidFill>
                  <a:srgbClr val="1D1D1D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Right Content 3"/>
          <p:cNvSpPr>
            <a:spLocks noGrp="1"/>
          </p:cNvSpPr>
          <p:nvPr>
            <p:ph idx="2"/>
          </p:nvPr>
        </p:nvSpPr>
        <p:spPr>
          <a:xfrm>
            <a:off x="6210116" y="1757563"/>
            <a:ext cx="5532232" cy="4300338"/>
          </a:xfrm>
        </p:spPr>
        <p:txBody>
          <a:bodyPr wrap="square" anchor="t">
            <a:normAutofit/>
          </a:bodyPr>
          <a:lstStyle>
            <a:lvl1pPr algn="l">
              <a:defRPr lang="en-US" sz="1200" b="0" dirty="0">
                <a:solidFill>
                  <a:srgbClr val="1D1D1D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2E978E-0C78-1190-5275-F8171088B46C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3F1F1AA-4F36-C7F5-7E5E-B40C6A7D75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0F087F54-05E0-A67F-BAF3-C1DE9C4D92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35BFBAC-9F48-0030-D806-6BA015C0DC89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C3499149-967A-2257-B0F3-306164A29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AA7D766-6CF5-681E-F33D-6F907563B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158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11190A-B74E-E487-1DC2-72F58BE460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F0BC8C-3485-21E7-02FF-9026F617B760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5" name="Picture 4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3F37C0F-12F3-DE90-249D-5396F51F25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0" name="Picture 9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7A149E02-E49A-2448-0216-4F611C54AF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FA2E98-F16C-84DA-2B87-5E500F22D69A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2201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Image &amp;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6A421C-37B1-BF93-AA9B-A9990BA665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D99FB-E696-F0E7-9EBF-6826B08B94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FB038F-6A1A-9FB9-2C1B-26E79800F9D1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C022F3AB-4CCD-BBD3-CCAD-E05ADC0492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0166C6D1-783F-1170-9F73-0646E2BF5F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65DBAA-BED8-3142-B761-AB5A83D4EA85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54F2A19E-5FFA-D35A-51DA-A59745E6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399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Minim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2000" y="6091333"/>
            <a:ext cx="2163449" cy="438912"/>
          </a:xfrm>
          <a:prstGeom prst="rect">
            <a:avLst/>
          </a:prstGeom>
        </p:spPr>
      </p:pic>
      <p:pic>
        <p:nvPicPr>
          <p:cNvPr id="11" name="Picture 10" descr="A black screen with a purple border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3962" y="6209865"/>
            <a:ext cx="2516038" cy="36485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2DE936-EA9D-39D1-AE1D-26C6AD6A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3027020D-9A8D-38EE-18AF-E77D712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1319422"/>
            <a:ext cx="11340000" cy="425592"/>
          </a:xfrm>
          <a:prstGeom prst="rect">
            <a:avLst/>
          </a:prstGeom>
        </p:spPr>
        <p:txBody>
          <a:bodyPr/>
          <a:lstStyle>
            <a:lvl1pPr>
              <a:buNone/>
              <a:defRPr sz="3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059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Minimal 2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32000" y="6008469"/>
            <a:ext cx="2377440" cy="649574"/>
          </a:xfrm>
          <a:prstGeom prst="rect">
            <a:avLst/>
          </a:prstGeom>
        </p:spPr>
      </p:pic>
      <p:pic>
        <p:nvPicPr>
          <p:cNvPr id="11" name="Picture 10" descr="A black screen with a purple border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26028" y="6191590"/>
            <a:ext cx="2516038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968175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9913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6153714-7E88-0A1E-77F8-5CFA5432AF8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936" y="5944623"/>
            <a:ext cx="1847486" cy="3634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1F94B0-322D-E03B-8CB1-001791935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060800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0682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2CDED-1082-96BE-134C-FC563EBD4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654" r:id="rId3"/>
    <p:sldLayoutId id="2147483704" r:id="rId4"/>
    <p:sldLayoutId id="2147483681" r:id="rId5"/>
    <p:sldLayoutId id="2147483661" r:id="rId6"/>
    <p:sldLayoutId id="2147483702" r:id="rId7"/>
    <p:sldLayoutId id="2147483701" r:id="rId8"/>
    <p:sldLayoutId id="2147483703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" name="Object 208" hidden="1">
            <a:extLst>
              <a:ext uri="{FF2B5EF4-FFF2-40B4-BE49-F238E27FC236}">
                <a16:creationId xmlns:a16="http://schemas.microsoft.com/office/drawing/2014/main" id="{7E6AE96C-2DBC-FAD9-F01F-26432C50CE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09" name="Object 208" hidden="1">
                        <a:extLst>
                          <a:ext uri="{FF2B5EF4-FFF2-40B4-BE49-F238E27FC236}">
                            <a16:creationId xmlns:a16="http://schemas.microsoft.com/office/drawing/2014/main" id="{7E6AE96C-2DBC-FAD9-F01F-26432C50CE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>
                        <a:duotone>
                          <a:srgbClr val="765FFF"/>
                          <a:srgbClr val="FFFFFF"/>
                        </a:duotone>
                      </a:blip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E7C1BF-4AA1-BEBE-DD6D-DFC38DA4911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 dirty="0">
                <a:latin typeface="Segoe UI" pitchFamily="34" charset="0"/>
              </a:rPr>
              <a:t>Organizational </a:t>
            </a:r>
            <a:r>
              <a:rPr lang="en-US" b="1" spc="-25" dirty="0">
                <a:solidFill>
                  <a:srgbClr val="765FFF"/>
                </a:solidFill>
                <a:latin typeface="Segoe UI" pitchFamily="34" charset="0"/>
              </a:rPr>
              <a:t>efficiency</a:t>
            </a:r>
            <a:r>
              <a:rPr lang="en-US" b="1" spc="-25" dirty="0">
                <a:latin typeface="Segoe UI" pitchFamily="34" charset="0"/>
              </a:rPr>
              <a:t>: process &amp; design</a:t>
            </a:r>
            <a:endParaRPr lang="en-US" b="1" spc="-25" dirty="0">
              <a:solidFill>
                <a:srgbClr val="765FFF"/>
              </a:solidFill>
              <a:latin typeface="Segoe UI" pitchFamily="34" charset="0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8F940657-F549-EF20-61C3-ED7F8EDE0A70}"/>
              </a:ext>
            </a:extLst>
          </p:cNvPr>
          <p:cNvSpPr/>
          <p:nvPr/>
        </p:nvSpPr>
        <p:spPr>
          <a:xfrm>
            <a:off x="316556" y="1107806"/>
            <a:ext cx="11548760" cy="1002623"/>
          </a:xfrm>
          <a:prstGeom prst="rect">
            <a:avLst/>
          </a:prstGeom>
          <a:solidFill>
            <a:srgbClr val="271A4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 spc="-10" dirty="0">
                <a:solidFill>
                  <a:schemeClr val="bg1"/>
                </a:solidFill>
                <a:ea typeface="Helvetica Neue" panose="02000503000000020004" pitchFamily="2" charset="0"/>
                <a:cs typeface="Helvetica Neue" panose="02000503000000020004" pitchFamily="2" charset="0"/>
              </a:rPr>
              <a:t>SAMPLE CPG COMPANY CASE: </a:t>
            </a:r>
            <a:r>
              <a:rPr lang="en-US" sz="1200" spc="-10" dirty="0">
                <a:solidFill>
                  <a:schemeClr val="bg1"/>
                </a:solidFill>
                <a:ea typeface="Helvetica Neue" panose="02000503000000020004" pitchFamily="2" charset="0"/>
                <a:cs typeface="Helvetica Neue" panose="02000503000000020004" pitchFamily="2" charset="0"/>
              </a:rPr>
              <a:t>Together with the CEO, and other key leaders selected for roles in the future organization, </a:t>
            </a:r>
            <a:r>
              <a:rPr lang="en-US" sz="1200" spc="-10" dirty="0" err="1">
                <a:solidFill>
                  <a:schemeClr val="bg1"/>
                </a:solidFill>
                <a:ea typeface="Helvetica Neue" panose="02000503000000020004" pitchFamily="2" charset="0"/>
                <a:cs typeface="Helvetica Neue" panose="02000503000000020004" pitchFamily="2" charset="0"/>
              </a:rPr>
              <a:t>CEO.Works</a:t>
            </a:r>
            <a:r>
              <a:rPr lang="en-US" sz="1200" spc="-10" dirty="0">
                <a:solidFill>
                  <a:schemeClr val="bg1"/>
                </a:solidFill>
                <a:ea typeface="Helvetica Neue" panose="02000503000000020004" pitchFamily="2" charset="0"/>
                <a:cs typeface="Helvetica Neue" panose="02000503000000020004" pitchFamily="2" charset="0"/>
              </a:rPr>
              <a:t> guided the creation of a new operating model to drive the value ambition.  By challenging status quo, ensuring strong adherence to the co-created design principles (aligned to Value creation), and surfacing inconsistencies in the future design, </a:t>
            </a:r>
            <a:r>
              <a:rPr lang="en-US" sz="1200" spc="-10" dirty="0" err="1">
                <a:solidFill>
                  <a:schemeClr val="bg1"/>
                </a:solidFill>
                <a:ea typeface="Helvetica Neue" panose="02000503000000020004" pitchFamily="2" charset="0"/>
                <a:cs typeface="Helvetica Neue" panose="02000503000000020004" pitchFamily="2" charset="0"/>
              </a:rPr>
              <a:t>CEO.Works</a:t>
            </a:r>
            <a:r>
              <a:rPr lang="en-US" sz="1200" spc="-10" dirty="0">
                <a:solidFill>
                  <a:schemeClr val="bg1"/>
                </a:solidFill>
                <a:ea typeface="Helvetica Neue" panose="02000503000000020004" pitchFamily="2" charset="0"/>
                <a:cs typeface="Helvetica Neue" panose="02000503000000020004" pitchFamily="2" charset="0"/>
              </a:rPr>
              <a:t> helped the client create a future state plan that had high internal confidence and was board-ready.  </a:t>
            </a:r>
          </a:p>
          <a:p>
            <a:pPr algn="ctr"/>
            <a:endParaRPr lang="en-US" sz="1200" dirty="0"/>
          </a:p>
        </p:txBody>
      </p:sp>
      <p:sp>
        <p:nvSpPr>
          <p:cNvPr id="221" name="object 4">
            <a:extLst>
              <a:ext uri="{FF2B5EF4-FFF2-40B4-BE49-F238E27FC236}">
                <a16:creationId xmlns:a16="http://schemas.microsoft.com/office/drawing/2014/main" id="{9B4270AD-B4C1-5D84-5518-5AAE19C488CA}"/>
              </a:ext>
            </a:extLst>
          </p:cNvPr>
          <p:cNvSpPr/>
          <p:nvPr/>
        </p:nvSpPr>
        <p:spPr>
          <a:xfrm>
            <a:off x="5917722" y="2368782"/>
            <a:ext cx="5621136" cy="3421445"/>
          </a:xfrm>
          <a:custGeom>
            <a:avLst/>
            <a:gdLst/>
            <a:ahLst/>
            <a:cxnLst/>
            <a:rect l="l" t="t" r="r" b="b"/>
            <a:pathLst>
              <a:path w="7141209" h="4464050">
                <a:moveTo>
                  <a:pt x="7140778" y="0"/>
                </a:moveTo>
                <a:lnTo>
                  <a:pt x="0" y="0"/>
                </a:lnTo>
                <a:lnTo>
                  <a:pt x="0" y="4463999"/>
                </a:lnTo>
                <a:lnTo>
                  <a:pt x="7140778" y="4463999"/>
                </a:lnTo>
                <a:lnTo>
                  <a:pt x="7140778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B546B-8A06-0427-6C67-201ED063D68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185016" y="2616009"/>
            <a:ext cx="5123619" cy="29538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1D1D1D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B2BBCA"/>
            </a:contourClr>
          </a:sp3d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B534E1F-558A-13D9-165F-C969B322A6AE}"/>
              </a:ext>
            </a:extLst>
          </p:cNvPr>
          <p:cNvGrpSpPr/>
          <p:nvPr/>
        </p:nvGrpSpPr>
        <p:grpSpPr>
          <a:xfrm>
            <a:off x="349105" y="2161953"/>
            <a:ext cx="2263806" cy="590186"/>
            <a:chOff x="207938" y="1221596"/>
            <a:chExt cx="2263806" cy="590186"/>
          </a:xfrm>
        </p:grpSpPr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03A8ECB-FB09-C559-7E9C-7D0DAD58062B}"/>
                </a:ext>
              </a:extLst>
            </p:cNvPr>
            <p:cNvSpPr txBox="1"/>
            <p:nvPr/>
          </p:nvSpPr>
          <p:spPr>
            <a:xfrm>
              <a:off x="624784" y="1244960"/>
              <a:ext cx="1846960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41275">
                <a:lnSpc>
                  <a:spcPct val="100000"/>
                </a:lnSpc>
                <a:spcAft>
                  <a:spcPts val="1200"/>
                </a:spcAft>
              </a:pPr>
              <a:r>
                <a:rPr lang="en-US" sz="1200" b="1" spc="-1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CEO.Works</a:t>
              </a:r>
              <a:r>
                <a:rPr lang="en-US" sz="1200" b="1" spc="-1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Set Foundational Alignment with CEO </a:t>
              </a:r>
              <a:endParaRPr sz="1200" spc="-1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5A7B686-C8CB-650D-89CA-1798BAAEEC66}"/>
                </a:ext>
              </a:extLst>
            </p:cNvPr>
            <p:cNvSpPr/>
            <p:nvPr/>
          </p:nvSpPr>
          <p:spPr>
            <a:xfrm>
              <a:off x="207938" y="1221596"/>
              <a:ext cx="346428" cy="334066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281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D594BB3-919D-4A6A-CA83-C988CCC73D2C}"/>
              </a:ext>
            </a:extLst>
          </p:cNvPr>
          <p:cNvGrpSpPr/>
          <p:nvPr/>
        </p:nvGrpSpPr>
        <p:grpSpPr>
          <a:xfrm>
            <a:off x="2811658" y="2161953"/>
            <a:ext cx="2263806" cy="595669"/>
            <a:chOff x="2702664" y="6075371"/>
            <a:chExt cx="2263806" cy="595669"/>
          </a:xfrm>
        </p:grpSpPr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79B32CBA-DCEB-9D7D-96FF-ED717E59461E}"/>
                </a:ext>
              </a:extLst>
            </p:cNvPr>
            <p:cNvSpPr txBox="1"/>
            <p:nvPr/>
          </p:nvSpPr>
          <p:spPr>
            <a:xfrm>
              <a:off x="3119510" y="6104218"/>
              <a:ext cx="1846960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41275">
                <a:lnSpc>
                  <a:spcPct val="100000"/>
                </a:lnSpc>
                <a:spcAft>
                  <a:spcPts val="1200"/>
                </a:spcAft>
              </a:pPr>
              <a:r>
                <a:rPr lang="en-US" sz="1200" b="1" spc="-1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Executives and </a:t>
              </a:r>
              <a:r>
                <a:rPr lang="en-US" sz="1200" b="1" spc="-1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CEO.Works</a:t>
              </a:r>
              <a:r>
                <a:rPr lang="en-US" sz="1200" b="1" spc="-1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Co-Created Savings Plan</a:t>
              </a:r>
              <a:endParaRPr sz="1200" spc="-1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DAD55E5-3EE0-4E96-C968-59D52ED8C6D0}"/>
                </a:ext>
              </a:extLst>
            </p:cNvPr>
            <p:cNvSpPr/>
            <p:nvPr/>
          </p:nvSpPr>
          <p:spPr>
            <a:xfrm>
              <a:off x="2702664" y="6075371"/>
              <a:ext cx="346428" cy="334066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281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2</a:t>
              </a:r>
            </a:p>
          </p:txBody>
        </p:sp>
      </p:grpSp>
      <p:sp>
        <p:nvSpPr>
          <p:cNvPr id="11" name="Rounded Rectangle 88">
            <a:extLst>
              <a:ext uri="{FF2B5EF4-FFF2-40B4-BE49-F238E27FC236}">
                <a16:creationId xmlns:a16="http://schemas.microsoft.com/office/drawing/2014/main" id="{D690E11A-E331-FACA-4D60-8A9562380F9F}"/>
              </a:ext>
            </a:extLst>
          </p:cNvPr>
          <p:cNvSpPr/>
          <p:nvPr/>
        </p:nvSpPr>
        <p:spPr>
          <a:xfrm>
            <a:off x="399400" y="2794368"/>
            <a:ext cx="1846960" cy="287483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lIns="25400" tIns="25400" rIns="25400" bIns="25400" anchor="ctr"/>
          <a:lstStyle/>
          <a:p>
            <a:pPr eaLnBrk="0" fontAlgn="base">
              <a:spcBef>
                <a:spcPct val="0"/>
              </a:spcBef>
              <a:spcAft>
                <a:spcPct val="0"/>
              </a:spcAft>
            </a:pPr>
            <a:endParaRPr lang="en-US" sz="1100" spc="-10">
              <a:solidFill>
                <a:srgbClr val="FFFFFF"/>
              </a:solidFill>
              <a:latin typeface="Arial" pitchFamily="34" charset="0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2DD28362-3347-C3CB-B4DE-817738F88259}"/>
              </a:ext>
            </a:extLst>
          </p:cNvPr>
          <p:cNvSpPr>
            <a:spLocks/>
          </p:cNvSpPr>
          <p:nvPr/>
        </p:nvSpPr>
        <p:spPr bwMode="auto">
          <a:xfrm>
            <a:off x="512247" y="3882566"/>
            <a:ext cx="1631411" cy="469747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25400" tIns="25400" rIns="25400" bIns="25400" anchor="ctr"/>
          <a:lstStyle/>
          <a:p>
            <a:pPr algn="ctr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900" spc="-10" dirty="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1-on-1 meetings with divisional and functional leaders </a:t>
            </a:r>
            <a:endParaRPr lang="x-none" altLang="x-none" sz="900" spc="-10" dirty="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Helvetica Light" charset="0"/>
            </a:endParaRPr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2E7D51D5-B7E1-A3E8-ECE7-ACA0C009B876}"/>
              </a:ext>
            </a:extLst>
          </p:cNvPr>
          <p:cNvSpPr>
            <a:spLocks/>
          </p:cNvSpPr>
          <p:nvPr/>
        </p:nvSpPr>
        <p:spPr bwMode="auto">
          <a:xfrm>
            <a:off x="520514" y="4883224"/>
            <a:ext cx="1631411" cy="732370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25400" tIns="25400" rIns="25400" bIns="25400" anchor="ctr"/>
          <a:lstStyle/>
          <a:p>
            <a:pPr algn="ctr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900" b="1" spc="-10" dirty="0">
                <a:solidFill>
                  <a:srgbClr val="FFFFFF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  <a:sym typeface="Helvetica Light" charset="0"/>
              </a:rPr>
              <a:t>ALIGNMENT:</a:t>
            </a:r>
          </a:p>
          <a:p>
            <a:pPr algn="ctr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900" spc="-10" dirty="0">
                <a:solidFill>
                  <a:srgbClr val="FFFFFF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  <a:sym typeface="Helvetica Light" charset="0"/>
              </a:rPr>
              <a:t>Value Agenda</a:t>
            </a:r>
          </a:p>
          <a:p>
            <a:pPr algn="ctr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900" spc="-10" dirty="0">
                <a:solidFill>
                  <a:srgbClr val="FFFFFF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  <a:sym typeface="Helvetica Light" charset="0"/>
              </a:rPr>
              <a:t>Design Principles</a:t>
            </a:r>
            <a:endParaRPr lang="x-none" altLang="x-none" sz="900" spc="-10" dirty="0">
              <a:solidFill>
                <a:srgbClr val="FFFFFF"/>
              </a:solidFill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  <a:sym typeface="Helvetica Light" charset="0"/>
            </a:endParaRP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FC705CCF-00C9-7851-8825-00085A54C3C1}"/>
              </a:ext>
            </a:extLst>
          </p:cNvPr>
          <p:cNvSpPr>
            <a:spLocks/>
          </p:cNvSpPr>
          <p:nvPr/>
        </p:nvSpPr>
        <p:spPr bwMode="auto">
          <a:xfrm>
            <a:off x="512246" y="2875999"/>
            <a:ext cx="1631411" cy="465925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25400" tIns="25400" rIns="25400" bIns="25400" anchor="ctr"/>
          <a:lstStyle/>
          <a:p>
            <a:pPr algn="ctr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900" spc="-10" dirty="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Discovery </a:t>
            </a:r>
            <a:endParaRPr lang="x-none" altLang="x-none" sz="900" spc="-10" dirty="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Helvetica Light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BFD9E52-F110-3CB0-9F72-D42869E8F8D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849246" y="2910093"/>
            <a:ext cx="2640378" cy="168619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1D1D1D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B2BBCA"/>
            </a:contourClr>
          </a:sp3d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2C86682F-082C-26AD-9632-602F02621CB1}"/>
              </a:ext>
            </a:extLst>
          </p:cNvPr>
          <p:cNvSpPr/>
          <p:nvPr/>
        </p:nvSpPr>
        <p:spPr>
          <a:xfrm>
            <a:off x="5744508" y="2184141"/>
            <a:ext cx="346428" cy="334066"/>
          </a:xfrm>
          <a:prstGeom prst="ellipse">
            <a:avLst/>
          </a:prstGeom>
          <a:solidFill>
            <a:srgbClr val="281A42"/>
          </a:solidFill>
          <a:ln>
            <a:solidFill>
              <a:srgbClr val="281A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3</a:t>
            </a:r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66F26495-16AA-F209-1A98-B00058BCA2FB}"/>
              </a:ext>
            </a:extLst>
          </p:cNvPr>
          <p:cNvSpPr/>
          <p:nvPr/>
        </p:nvSpPr>
        <p:spPr>
          <a:xfrm>
            <a:off x="606284" y="5951620"/>
            <a:ext cx="10979432" cy="377670"/>
          </a:xfrm>
          <a:custGeom>
            <a:avLst/>
            <a:gdLst/>
            <a:ahLst/>
            <a:cxnLst/>
            <a:rect l="l" t="t" r="r" b="b"/>
            <a:pathLst>
              <a:path w="7141209" h="4464050">
                <a:moveTo>
                  <a:pt x="7140778" y="0"/>
                </a:moveTo>
                <a:lnTo>
                  <a:pt x="0" y="0"/>
                </a:lnTo>
                <a:lnTo>
                  <a:pt x="0" y="4463999"/>
                </a:lnTo>
                <a:lnTo>
                  <a:pt x="7140778" y="4463999"/>
                </a:lnTo>
                <a:lnTo>
                  <a:pt x="7140778" y="0"/>
                </a:lnTo>
                <a:close/>
              </a:path>
            </a:pathLst>
          </a:custGeom>
          <a:solidFill>
            <a:srgbClr val="271A42"/>
          </a:solidFill>
          <a:ln>
            <a:solidFill>
              <a:schemeClr val="bg2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ED103993-B0A0-515E-C632-A8FB3A049E02}"/>
              </a:ext>
            </a:extLst>
          </p:cNvPr>
          <p:cNvSpPr txBox="1"/>
          <p:nvPr/>
        </p:nvSpPr>
        <p:spPr>
          <a:xfrm>
            <a:off x="638982" y="6014909"/>
            <a:ext cx="10979432" cy="25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/>
            <a:r>
              <a:rPr lang="en-US" sz="1400" spc="-10" dirty="0">
                <a:solidFill>
                  <a:schemeClr val="bg1"/>
                </a:solidFill>
                <a:latin typeface="Arial" pitchFamily="34" charset="0"/>
                <a:ea typeface="Roboto" panose="02000000000000000000" pitchFamily="2" charset="0"/>
                <a:cs typeface="Roboto" panose="02000000000000000000" pitchFamily="2" charset="0"/>
              </a:rPr>
              <a:t>Underpinned by </a:t>
            </a:r>
            <a:r>
              <a:rPr lang="en-US" sz="1400" b="1" spc="-10" dirty="0">
                <a:solidFill>
                  <a:srgbClr val="765FFF"/>
                </a:solidFill>
                <a:latin typeface="Segoe UI" pitchFamily="34" charset="0"/>
                <a:ea typeface="Roboto" panose="02000000000000000000" pitchFamily="2" charset="0"/>
                <a:cs typeface="Roboto" panose="02000000000000000000" pitchFamily="2" charset="0"/>
              </a:rPr>
              <a:t>79 Critical Roles </a:t>
            </a:r>
            <a:r>
              <a:rPr lang="en-US" sz="1400" spc="-10" dirty="0">
                <a:solidFill>
                  <a:schemeClr val="bg1"/>
                </a:solidFill>
                <a:latin typeface="Arial" pitchFamily="34" charset="0"/>
                <a:ea typeface="Roboto" panose="02000000000000000000" pitchFamily="2" charset="0"/>
                <a:cs typeface="Roboto" panose="02000000000000000000" pitchFamily="2" charset="0"/>
              </a:rPr>
              <a:t>Identified &amp; Prioritized for Value protection &amp; generation</a:t>
            </a:r>
          </a:p>
        </p:txBody>
      </p:sp>
      <p:graphicFrame>
        <p:nvGraphicFramePr>
          <p:cNvPr id="26" name="Table 12">
            <a:extLst>
              <a:ext uri="{FF2B5EF4-FFF2-40B4-BE49-F238E27FC236}">
                <a16:creationId xmlns:a16="http://schemas.microsoft.com/office/drawing/2014/main" id="{BFC1F009-1287-2897-FE7B-E873B75A2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937681"/>
              </p:ext>
            </p:extLst>
          </p:nvPr>
        </p:nvGraphicFramePr>
        <p:xfrm>
          <a:off x="2700167" y="4785587"/>
          <a:ext cx="2851004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335">
                  <a:extLst>
                    <a:ext uri="{9D8B030D-6E8A-4147-A177-3AD203B41FA5}">
                      <a16:colId xmlns:a16="http://schemas.microsoft.com/office/drawing/2014/main" val="2937467617"/>
                    </a:ext>
                  </a:extLst>
                </a:gridCol>
                <a:gridCol w="880401">
                  <a:extLst>
                    <a:ext uri="{9D8B030D-6E8A-4147-A177-3AD203B41FA5}">
                      <a16:colId xmlns:a16="http://schemas.microsoft.com/office/drawing/2014/main" val="2878937378"/>
                    </a:ext>
                  </a:extLst>
                </a:gridCol>
                <a:gridCol w="1020268">
                  <a:extLst>
                    <a:ext uri="{9D8B030D-6E8A-4147-A177-3AD203B41FA5}">
                      <a16:colId xmlns:a16="http://schemas.microsoft.com/office/drawing/2014/main" val="3665562736"/>
                    </a:ext>
                  </a:extLst>
                </a:gridCol>
              </a:tblGrid>
              <a:tr h="264218">
                <a:tc>
                  <a:txBody>
                    <a:bodyPr/>
                    <a:lstStyle/>
                    <a:p>
                      <a:pPr algn="l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Current (#)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chemeClr val="tx1"/>
                          </a:solidFill>
                        </a:rPr>
                        <a:t>Future (#)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Reduction (%)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079664"/>
                  </a:ext>
                </a:extLst>
              </a:tr>
              <a:tr h="345236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9250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7775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16%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69548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B179495-390D-8D3D-5CE5-3E4444CD2416}"/>
              </a:ext>
            </a:extLst>
          </p:cNvPr>
          <p:cNvSpPr txBox="1"/>
          <p:nvPr/>
        </p:nvSpPr>
        <p:spPr>
          <a:xfrm>
            <a:off x="2700167" y="5515553"/>
            <a:ext cx="2857015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600" b="1" dirty="0"/>
              <a:t>$236M in Potential Savings</a:t>
            </a:r>
          </a:p>
        </p:txBody>
      </p:sp>
    </p:spTree>
    <p:extLst>
      <p:ext uri="{BB962C8B-B14F-4D97-AF65-F5344CB8AC3E}">
        <p14:creationId xmlns:p14="http://schemas.microsoft.com/office/powerpoint/2010/main" val="32328360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 Theme">
      <a:dk1>
        <a:srgbClr val="1D1D1D"/>
      </a:dk1>
      <a:lt1>
        <a:srgbClr val="FFFFFF"/>
      </a:lt1>
      <a:dk2>
        <a:srgbClr val="3B3B3B"/>
      </a:dk2>
      <a:lt2>
        <a:srgbClr val="D0D7DF"/>
      </a:lt2>
      <a:accent1>
        <a:srgbClr val="765FFF"/>
      </a:accent1>
      <a:accent2>
        <a:srgbClr val="917FFF"/>
      </a:accent2>
      <a:accent3>
        <a:srgbClr val="A6F5C0"/>
      </a:accent3>
      <a:accent4>
        <a:srgbClr val="DFF478"/>
      </a:accent4>
      <a:accent5>
        <a:srgbClr val="60BDBC"/>
      </a:accent5>
      <a:accent6>
        <a:srgbClr val="B0DEA1"/>
      </a:accent6>
      <a:hlink>
        <a:srgbClr val="765FFF"/>
      </a:hlink>
      <a:folHlink>
        <a:srgbClr val="917FFF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e039f4-51b5-4e2b-8eb0-5be9506eefcc">
      <Value>92</Value>
    </TaxCatchAll>
    <c89218323f0f405ca190bc6681295dd9 xmlns="02a6b923-811c-4f57-8cf3-8e04f73c5f51">
      <Terms xmlns="http://schemas.microsoft.com/office/infopath/2007/PartnerControls">
        <TermInfo xmlns="http://schemas.microsoft.com/office/infopath/2007/PartnerControls">
          <TermName xmlns="http://schemas.microsoft.com/office/infopath/2007/PartnerControls">Safe to Share</TermName>
          <TermId xmlns="http://schemas.microsoft.com/office/infopath/2007/PartnerControls">4a306f7e-8181-4f1b-81ea-83f49b41c2cf</TermId>
        </TermInfo>
      </Terms>
    </c89218323f0f405ca190bc6681295dd9>
    <Action xmlns="02a6b923-811c-4f57-8cf3-8e04f73c5f51" xsi:nil="true"/>
    <Client xmlns="02a6b923-811c-4f57-8cf3-8e04f73c5f51" xsi:nil="true"/>
    <b9cb722f48604da2a4ed9855a06673f6 xmlns="02a6b923-811c-4f57-8cf3-8e04f73c5f51">
      <Terms xmlns="http://schemas.microsoft.com/office/infopath/2007/PartnerControls"/>
    </b9cb722f48604da2a4ed9855a06673f6>
    <Industry xmlns="02a6b923-811c-4f57-8cf3-8e04f73c5f5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06885110A43B41904F5A1B7606ED26" ma:contentTypeVersion="14" ma:contentTypeDescription="Create a new document." ma:contentTypeScope="" ma:versionID="054f336e8e7104333c5183aae504c221">
  <xsd:schema xmlns:xsd="http://www.w3.org/2001/XMLSchema" xmlns:xs="http://www.w3.org/2001/XMLSchema" xmlns:p="http://schemas.microsoft.com/office/2006/metadata/properties" xmlns:ns2="02a6b923-811c-4f57-8cf3-8e04f73c5f51" xmlns:ns3="64e039f4-51b5-4e2b-8eb0-5be9506eefcc" targetNamespace="http://schemas.microsoft.com/office/2006/metadata/properties" ma:root="true" ma:fieldsID="b4949caba3522dc1334578937f1765d1" ns2:_="" ns3:_="">
    <xsd:import namespace="02a6b923-811c-4f57-8cf3-8e04f73c5f51"/>
    <xsd:import namespace="64e039f4-51b5-4e2b-8eb0-5be9506eef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c89218323f0f405ca190bc6681295dd9" minOccurs="0"/>
                <xsd:element ref="ns3:TaxCatchAll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Action" minOccurs="0"/>
                <xsd:element ref="ns2:Client" minOccurs="0"/>
                <xsd:element ref="ns2:b9cb722f48604da2a4ed9855a06673f6" minOccurs="0"/>
                <xsd:element ref="ns2:Indust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6b923-811c-4f57-8cf3-8e04f73c5f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c89218323f0f405ca190bc6681295dd9" ma:index="12" nillable="true" ma:taxonomy="true" ma:internalName="c89218323f0f405ca190bc6681295dd9" ma:taxonomyFieldName="Tags" ma:displayName="Tags" ma:default="" ma:fieldId="{c8921832-3f0f-405c-a190-bc6681295dd9}" ma:sspId="ce777b1b-314e-4559-8ee3-bc85f5a6b9bc" ma:termSetId="8bd020a8-cf4e-4aeb-95f5-a7346536cc6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ction" ma:index="17" nillable="true" ma:displayName="Product Lines" ma:format="Dropdown" ma:internalName="Actio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Talent to Value"/>
                    <xsd:enumeration value="Assessments"/>
                    <xsd:enumeration value="Talent as a Service"/>
                    <xsd:enumeration value="Capability"/>
                    <xsd:enumeration value="Digital / SaaS"/>
                    <xsd:enumeration value="Test999"/>
                  </xsd:restriction>
                </xsd:simpleType>
              </xsd:element>
            </xsd:sequence>
          </xsd:extension>
        </xsd:complexContent>
      </xsd:complexType>
    </xsd:element>
    <xsd:element name="Client" ma:index="18" nillable="true" ma:displayName="Client" ma:format="Dropdown" ma:internalName="Client">
      <xsd:simpleType>
        <xsd:restriction base="dms:Text">
          <xsd:maxLength value="255"/>
        </xsd:restriction>
      </xsd:simpleType>
    </xsd:element>
    <xsd:element name="b9cb722f48604da2a4ed9855a06673f6" ma:index="20" nillable="true" ma:taxonomy="true" ma:internalName="b9cb722f48604da2a4ed9855a06673f6" ma:taxonomyFieldName="Tag_x0020_2" ma:displayName="Tag 2" ma:default="" ma:fieldId="{b9cb722f-4860-4da2-a4ed-9855a06673f6}" ma:taxonomyMulti="true" ma:sspId="ce777b1b-314e-4559-8ee3-bc85f5a6b9bc" ma:termSetId="88ca64d9-6aee-45e8-bacb-3a7ce8712e73" ma:anchorId="916e8b57-5cee-41aa-99ea-899a090aac89" ma:open="false" ma:isKeyword="false">
      <xsd:complexType>
        <xsd:sequence>
          <xsd:element ref="pc:Terms" minOccurs="0" maxOccurs="1"/>
        </xsd:sequence>
      </xsd:complexType>
    </xsd:element>
    <xsd:element name="Industry" ma:index="21" nillable="true" ma:displayName="Industry" ma:format="Dropdown" ma:internalName="Industry">
      <xsd:simpleType>
        <xsd:restriction base="dms:Choice">
          <xsd:enumeration value="Energy"/>
          <xsd:enumeration value="Industricals"/>
          <xsd:enumeration value="CPG"/>
          <xsd:enumeration value="Financial Services"/>
          <xsd:enumeration value="Health Care"/>
          <xsd:enumeration value="Pharma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e039f4-51b5-4e2b-8eb0-5be9506eefcc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b7dcb756-3dce-4c71-8438-c93d66de9381}" ma:internalName="TaxCatchAll" ma:showField="CatchAllData" ma:web="64e039f4-51b5-4e2b-8eb0-5be9506eef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CE5378-904A-43F8-AD5C-BD818EB87329}">
  <ds:schemaRefs>
    <ds:schemaRef ds:uri="http://purl.org/dc/elements/1.1/"/>
    <ds:schemaRef ds:uri="http://purl.org/dc/dcmitype/"/>
    <ds:schemaRef ds:uri="http://www.w3.org/XML/1998/namespace"/>
    <ds:schemaRef ds:uri="18f74f48-1418-4e28-b83e-919d446c4d52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2f5fc2af-da31-4fdd-bfe9-7f4a7c4af24a"/>
    <ds:schemaRef ds:uri="http://schemas.microsoft.com/office/2006/documentManagement/types"/>
    <ds:schemaRef ds:uri="http://purl.org/dc/terms/"/>
    <ds:schemaRef ds:uri="64e039f4-51b5-4e2b-8eb0-5be9506eefcc"/>
    <ds:schemaRef ds:uri="02a6b923-811c-4f57-8cf3-8e04f73c5f51"/>
  </ds:schemaRefs>
</ds:datastoreItem>
</file>

<file path=customXml/itemProps2.xml><?xml version="1.0" encoding="utf-8"?>
<ds:datastoreItem xmlns:ds="http://schemas.openxmlformats.org/officeDocument/2006/customXml" ds:itemID="{95F6F8D7-41F3-4844-92DA-D2689CCC83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a6b923-811c-4f57-8cf3-8e04f73c5f51"/>
    <ds:schemaRef ds:uri="64e039f4-51b5-4e2b-8eb0-5be9506eef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542ACF-65CC-4C7D-875C-E1973B8D72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3025</TotalTime>
  <Words>154</Words>
  <Application>Microsoft Macintosh PowerPoint</Application>
  <PresentationFormat>Widescreen</PresentationFormat>
  <Paragraphs>21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Segoe UI</vt:lpstr>
      <vt:lpstr>Arial</vt:lpstr>
      <vt:lpstr>Helvetica Neue</vt:lpstr>
      <vt:lpstr>Aptos</vt:lpstr>
      <vt:lpstr>Helvetica Neue Condensed</vt:lpstr>
      <vt:lpstr>Office Theme</vt:lpstr>
      <vt:lpstr>think-cell Slide</vt:lpstr>
      <vt:lpstr>Organizational efficiency: process &amp;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CEO.works</dc:creator>
  <cp:lastModifiedBy>Zoe Ervolino</cp:lastModifiedBy>
  <cp:revision>27</cp:revision>
  <dcterms:created xsi:type="dcterms:W3CDTF">2022-06-17T16:06:13Z</dcterms:created>
  <dcterms:modified xsi:type="dcterms:W3CDTF">2026-03-23T18:21:12Z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2022-06-05T00:00:00Z</vt:filetime>
  </property>
  <property fmtid="{D5CDD505-2E9C-101B-9397-08002B2CF9AE}" pid="3" name="Creator">
    <vt:lpwstr>Acrobat PDFMaker 22 for PowerPoint</vt:lpwstr>
  </property>
  <property fmtid="{D5CDD505-2E9C-101B-9397-08002B2CF9AE}" pid="4" name="LastSaved">
    <vt:filetime>2022-06-17T00:00:00Z</vt:filetime>
  </property>
  <property fmtid="{D5CDD505-2E9C-101B-9397-08002B2CF9AE}" pid="5" name="ContentTypeId">
    <vt:lpwstr>0x0101003306885110A43B41904F5A1B7606ED26</vt:lpwstr>
  </property>
  <property fmtid="{D5CDD505-2E9C-101B-9397-08002B2CF9AE}" pid="6" name="MediaServiceImageTags">
    <vt:lpwstr/>
  </property>
  <property fmtid="{D5CDD505-2E9C-101B-9397-08002B2CF9AE}" pid="7" name="Tags">
    <vt:lpwstr>92;#Safe to Share|4a306f7e-8181-4f1b-81ea-83f49b41c2cf</vt:lpwstr>
  </property>
  <property fmtid="{D5CDD505-2E9C-101B-9397-08002B2CF9AE}" pid="8" name="Tag_x0020_2">
    <vt:lpwstr/>
  </property>
  <property fmtid="{D5CDD505-2E9C-101B-9397-08002B2CF9AE}" pid="9" name="Tag 2">
    <vt:lpwstr/>
  </property>
</Properties>
</file>