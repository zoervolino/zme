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7FFFFFC3_991CBE27.xml" ContentType="application/vnd.ms-powerpoint.comments+xml"/>
  <Override PartName="/ppt/notesSlides/notesSlide4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7FFFFFD5_FD0AB062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7FFFFA3B_7472ED3C.xml" ContentType="application/vnd.ms-powerpoint.comments+xml"/>
  <Override PartName="/ppt/comments/modernComment_7FFFFA3A_AC36BCE2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7FFFFA3C_A7420DA4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7FFFFFC6_C9B6F65C.xml" ContentType="application/vnd.ms-powerpoint.comments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3"/>
  </p:notesMasterIdLst>
  <p:sldIdLst>
    <p:sldId id="312" r:id="rId5"/>
    <p:sldId id="2147483632" r:id="rId6"/>
    <p:sldId id="2147482499" r:id="rId7"/>
    <p:sldId id="2147482663" r:id="rId8"/>
    <p:sldId id="2147482671" r:id="rId9"/>
    <p:sldId id="2147483608" r:id="rId10"/>
    <p:sldId id="2147483610" r:id="rId11"/>
    <p:sldId id="2147483587" r:id="rId12"/>
    <p:sldId id="2147483638" r:id="rId13"/>
    <p:sldId id="2147483639" r:id="rId14"/>
    <p:sldId id="2147483621" r:id="rId15"/>
    <p:sldId id="2147483615" r:id="rId16"/>
    <p:sldId id="2147483623" r:id="rId17"/>
    <p:sldId id="2147482674" r:id="rId18"/>
    <p:sldId id="2147482628" r:id="rId19"/>
    <p:sldId id="2147483616" r:id="rId20"/>
    <p:sldId id="2147483635" r:id="rId21"/>
    <p:sldId id="322" r:id="rId22"/>
    <p:sldId id="2147483624" r:id="rId23"/>
    <p:sldId id="325" r:id="rId24"/>
    <p:sldId id="2145707448" r:id="rId25"/>
    <p:sldId id="2145707022" r:id="rId26"/>
    <p:sldId id="2147483591" r:id="rId27"/>
    <p:sldId id="2147482676" r:id="rId28"/>
    <p:sldId id="2147483592" r:id="rId29"/>
    <p:sldId id="2147482677" r:id="rId30"/>
    <p:sldId id="364" r:id="rId31"/>
    <p:sldId id="2145707290" r:id="rId32"/>
    <p:sldId id="2145707075" r:id="rId33"/>
    <p:sldId id="2147483625" r:id="rId34"/>
    <p:sldId id="2147483593" r:id="rId35"/>
    <p:sldId id="2147482501" r:id="rId36"/>
    <p:sldId id="2147482503" r:id="rId37"/>
    <p:sldId id="2147482678" r:id="rId38"/>
    <p:sldId id="2147483585" r:id="rId39"/>
    <p:sldId id="2147483594" r:id="rId40"/>
    <p:sldId id="2147483595" r:id="rId41"/>
    <p:sldId id="2147483596" r:id="rId42"/>
    <p:sldId id="2147482680" r:id="rId43"/>
    <p:sldId id="2147483605" r:id="rId44"/>
    <p:sldId id="2147482681" r:id="rId45"/>
    <p:sldId id="2147483606" r:id="rId46"/>
    <p:sldId id="2145707073" r:id="rId47"/>
    <p:sldId id="2147483586" r:id="rId48"/>
    <p:sldId id="2147483607" r:id="rId49"/>
    <p:sldId id="2147483636" r:id="rId50"/>
    <p:sldId id="2147483627" r:id="rId51"/>
    <p:sldId id="2147483597" r:id="rId52"/>
    <p:sldId id="2145707219" r:id="rId53"/>
    <p:sldId id="2147483598" r:id="rId54"/>
    <p:sldId id="2147483599" r:id="rId55"/>
    <p:sldId id="2147483600" r:id="rId56"/>
    <p:sldId id="2147483601" r:id="rId57"/>
    <p:sldId id="2147483602" r:id="rId58"/>
    <p:sldId id="2145707210" r:id="rId59"/>
    <p:sldId id="2147482670" r:id="rId60"/>
    <p:sldId id="318" r:id="rId61"/>
    <p:sldId id="2147482109" r:id="rId62"/>
    <p:sldId id="2147482171" r:id="rId63"/>
    <p:sldId id="2147482170" r:id="rId64"/>
    <p:sldId id="2147483603" r:id="rId65"/>
    <p:sldId id="2145707203" r:id="rId66"/>
    <p:sldId id="2147482172" r:id="rId67"/>
    <p:sldId id="2147482675" r:id="rId68"/>
    <p:sldId id="2147482507" r:id="rId69"/>
    <p:sldId id="2147483628" r:id="rId70"/>
    <p:sldId id="2147483633" r:id="rId71"/>
    <p:sldId id="2147483634" r:id="rId72"/>
    <p:sldId id="2147483630" r:id="rId73"/>
    <p:sldId id="2147483631" r:id="rId74"/>
    <p:sldId id="2147483626" r:id="rId75"/>
    <p:sldId id="2145707297" r:id="rId76"/>
    <p:sldId id="2147483637" r:id="rId77"/>
    <p:sldId id="2147483588" r:id="rId78"/>
    <p:sldId id="2147483617" r:id="rId79"/>
    <p:sldId id="2147483589" r:id="rId80"/>
    <p:sldId id="2147483590" r:id="rId81"/>
    <p:sldId id="2147483604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243E05-1E47-4B24-CEC5-07CE1EB55D0E}" name="Dhaval Bhagat" initials="DB" userId="S::dhaval@ceoworks.com::487f3ff1-ee6a-4cda-9ede-0b39cd77126d" providerId="AD"/>
  <p188:author id="{78A03B09-F465-7A3C-9FB7-65502FD24C99}" name="Ming Yang" initials="MY" userId="S::ming@ceoworks.com::49d28a4d-faa4-44df-a76a-3b93b695eb67" providerId="AD"/>
  <p188:author id="{B61AED0F-E9CB-62E8-6E8F-91AE199B2055}" name="Mitul Brahmbhatt" initials="MB" userId="S::Mitul@ceoworks.com::a68ce095-0de8-43ca-9310-e70c30e51a70" providerId="AD"/>
  <p188:author id="{1E764186-C4A9-AA95-850F-033D3D923819}" name="Bill Allen" initials="BA" userId="S::bill.allen@ceoworks.com::0827a39b-db5e-4063-82b7-a0e2e8ab8ed4" providerId="AD"/>
  <p188:author id="{9E3946C5-6EF1-1124-16E8-74CA762980E0}" name="Tim Burns" initials="TB" userId="S::tim@ceoworks.com::79fe5273-370b-40db-94f0-6fb0b344a7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0A2F"/>
    <a:srgbClr val="FF0000"/>
    <a:srgbClr val="8DC63F"/>
    <a:srgbClr val="FFAA11"/>
    <a:srgbClr val="BA0B2F"/>
    <a:srgbClr val="FDE7C7"/>
    <a:srgbClr val="D9D9D9"/>
    <a:srgbClr val="FBEEC8"/>
    <a:srgbClr val="E84A2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E7E77-3057-9641-A153-8CD21B3D6DBC}" v="130" dt="2026-03-04T04:10:08.310"/>
    <p1510:client id="{314E9129-8593-DE46-A276-3CF0046A6221}" v="6" dt="2026-03-04T12:41:31.691"/>
    <p1510:client id="{404722B0-AE45-E046-89F0-4EDC0E9449F4}" v="3" dt="2026-03-04T21:23:21.307"/>
    <p1510:client id="{41E4203B-C5E5-B854-8831-DD69FCD62391}" v="2" dt="2026-03-03T21:33:13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4"/>
  </p:normalViewPr>
  <p:slideViewPr>
    <p:cSldViewPr snapToGrid="0">
      <p:cViewPr varScale="1">
        <p:scale>
          <a:sx n="104" d="100"/>
          <a:sy n="104" d="100"/>
        </p:scale>
        <p:origin x="82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presProps" Target="presProps.xml"/><Relationship Id="rId89" Type="http://schemas.microsoft.com/office/2018/10/relationships/authors" Target="author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88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Sheet1!$A$2:$A$12</cx:f>
        <cx:lvl ptCount="11">
          <cx:pt idx="0">2020</cx:pt>
          <cx:pt idx="1">1</cx:pt>
          <cx:pt idx="2">2</cx:pt>
          <cx:pt idx="3">3</cx:pt>
          <cx:pt idx="4">4</cx:pt>
          <cx:pt idx="5">5</cx:pt>
          <cx:pt idx="6">6</cx:pt>
          <cx:pt idx="7">7</cx:pt>
          <cx:pt idx="8">8</cx:pt>
          <cx:pt idx="9">9</cx:pt>
          <cx:pt idx="10">2025</cx:pt>
        </cx:lvl>
      </cx:strDim>
      <cx:numDim type="val">
        <cx:f>Sheet1!$B$2:$B$12</cx:f>
        <cx:lvl ptCount="11" formatCode="General">
          <cx:pt idx="0">1000</cx:pt>
          <cx:pt idx="1">625</cx:pt>
          <cx:pt idx="2">375</cx:pt>
          <cx:pt idx="3">300</cx:pt>
          <cx:pt idx="4">300</cx:pt>
          <cx:pt idx="5">250</cx:pt>
          <cx:pt idx="6">700</cx:pt>
          <cx:pt idx="7">550</cx:pt>
          <cx:pt idx="8">160</cx:pt>
          <cx:pt idx="9">650</cx:pt>
          <cx:pt idx="10">4910</cx:pt>
        </cx:lvl>
      </cx:numDim>
    </cx:data>
  </cx:chartData>
  <cx:chart>
    <cx:plotArea>
      <cx:plotAreaRegion>
        <cx:series layoutId="waterfall" uniqueId="{8D61C360-64F9-4FE7-8092-44FA7438F84F}">
          <cx:tx>
            <cx:txData>
              <cx:f>Sheet1!$B$1</cx:f>
              <cx:v>Series1</cx:v>
            </cx:txData>
          </cx:tx>
          <cx:spPr>
            <a:solidFill>
              <a:srgbClr val="281A42"/>
            </a:solidFill>
          </cx:spPr>
          <cx:dataPt idx="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Pt idx="1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rgbClr val="281A42"/>
                    </a:solidFill>
                  </a:defRPr>
                </a:pPr>
                <a:endParaRPr lang="en-US" sz="1197" b="0" i="0" u="none" strike="noStrike" baseline="0">
                  <a:solidFill>
                    <a:srgbClr val="281A42"/>
                  </a:solidFill>
                  <a:latin typeface="Calibri"/>
                </a:endParaRPr>
              </a:p>
            </cx:txPr>
            <cx:visibility seriesName="0" categoryName="0" value="1"/>
            <cx:dataLabelHidden idx="0"/>
            <cx:dataLabelHidden idx="10"/>
          </cx:dataLabels>
          <cx:dataId val="0"/>
          <cx:layoutPr>
            <cx:subtotals>
              <cx:idx val="0"/>
              <cx:idx val="10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/>
            </a:pPr>
            <a:endParaRPr lang="en-US" sz="1197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cx:txPr>
      </cx:axis>
      <cx:axis id="1" hidden="1">
        <cx:valScaling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Sheet1!$A$2:$A$12</cx:f>
        <cx:lvl ptCount="11">
          <cx:pt idx="0">2025</cx:pt>
          <cx:pt idx="1">1</cx:pt>
          <cx:pt idx="2">2</cx:pt>
          <cx:pt idx="3">3</cx:pt>
          <cx:pt idx="4">4</cx:pt>
          <cx:pt idx="5">5</cx:pt>
          <cx:pt idx="6">6</cx:pt>
          <cx:pt idx="7">7</cx:pt>
          <cx:pt idx="8">8</cx:pt>
          <cx:pt idx="9">9</cx:pt>
          <cx:pt idx="10">2030</cx:pt>
        </cx:lvl>
      </cx:strDim>
      <cx:numDim type="val">
        <cx:f>Sheet1!$B$2:$B$12</cx:f>
        <cx:lvl ptCount="11" formatCode="General">
          <cx:pt idx="0">1000</cx:pt>
          <cx:pt idx="1">625</cx:pt>
          <cx:pt idx="2">375</cx:pt>
          <cx:pt idx="3">300</cx:pt>
          <cx:pt idx="4">300</cx:pt>
          <cx:pt idx="5">250</cx:pt>
          <cx:pt idx="6">700</cx:pt>
          <cx:pt idx="7">550</cx:pt>
          <cx:pt idx="8">160</cx:pt>
          <cx:pt idx="9">650</cx:pt>
          <cx:pt idx="10">4910</cx:pt>
        </cx:lvl>
      </cx:numDim>
    </cx:data>
  </cx:chartData>
  <cx:chart>
    <cx:plotArea>
      <cx:plotAreaRegion>
        <cx:series layoutId="waterfall" uniqueId="{8D61C360-64F9-4FE7-8092-44FA7438F84F}">
          <cx:tx>
            <cx:txData>
              <cx:f>Sheet1!$B$1</cx:f>
              <cx:v>Series1</cx:v>
            </cx:txData>
          </cx:tx>
          <cx:spPr>
            <a:solidFill>
              <a:srgbClr val="281A42"/>
            </a:solidFill>
          </cx:spPr>
          <cx:dataPt idx="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Pt idx="1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rgbClr val="281A42"/>
                    </a:solidFill>
                  </a:defRPr>
                </a:pPr>
                <a:endParaRPr lang="en-US" sz="1197" b="0" i="0" u="none" strike="noStrike" baseline="0">
                  <a:solidFill>
                    <a:srgbClr val="281A42"/>
                  </a:solidFill>
                  <a:latin typeface="Calibri"/>
                </a:endParaRPr>
              </a:p>
            </cx:txPr>
            <cx:visibility seriesName="0" categoryName="0" value="1"/>
            <cx:dataLabelHidden idx="0"/>
            <cx:dataLabelHidden idx="10"/>
          </cx:dataLabels>
          <cx:dataId val="0"/>
          <cx:layoutPr>
            <cx:subtotals>
              <cx:idx val="0"/>
              <cx:idx val="10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/>
            </a:pPr>
            <a:endParaRPr lang="en-US" sz="1197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cx:txPr>
      </cx:axis>
      <cx:axis id="1" hidden="1">
        <cx:valScaling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0D7DF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0D7DF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omments/modernComment_7FFFFA3A_AC36BC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6E731D-EA06-744C-A17B-310F00B0A053}" authorId="{BB243E05-1E47-4B24-CEC5-07CE1EB55D0E}" status="resolved" created="2025-06-20T14:21:37.791" startDate="2025-06-20T14:21:37.791" dueDate="2025-06-20T14:21:37.791" assignedTo="{78A03B09-F465-7A3C-9FB7-65502FD24C99}" complete="100000" title="@Ming Yang remove the sliders just like the previous slide">
    <pc:sldMkLst xmlns:pc="http://schemas.microsoft.com/office/powerpoint/2013/main/command">
      <pc:docMk/>
      <pc:sldMk cId="2889268450" sldId="2147482170"/>
    </pc:sldMkLst>
    <p188:txBody>
      <a:bodyPr/>
      <a:lstStyle/>
      <a:p>
        <a:r>
          <a:rPr lang="en-US"/>
          <a:t>[@Ming Yang] remove the sliders just like the previous slide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6-20T14:21:37.791" id="{F2C0F672-FDF6-B242-A7BA-28B153F14975}">
              <p228:atrbtn authorId="{BB243E05-1E47-4B24-CEC5-07CE1EB55D0E}"/>
              <p228:anchr>
                <p228:comment id="{8A6E731D-EA06-744C-A17B-310F00B0A053}"/>
              </p228:anchr>
              <p228:add/>
            </p228:event>
            <p228:event time="2025-06-20T14:21:37.791" id="{A72E984E-E7D9-7840-9029-AC76AF574598}">
              <p228:atrbtn authorId="{BB243E05-1E47-4B24-CEC5-07CE1EB55D0E}"/>
              <p228:anchr>
                <p228:comment id="{8A6E731D-EA06-744C-A17B-310F00B0A053}"/>
              </p228:anchr>
              <p228:asgn authorId="{78A03B09-F465-7A3C-9FB7-65502FD24C99}"/>
            </p228:event>
            <p228:event time="2025-06-20T14:21:37.791" id="{0033BE9E-8C53-B645-9DC4-B227CC45D2F8}">
              <p228:atrbtn authorId="{BB243E05-1E47-4B24-CEC5-07CE1EB55D0E}"/>
              <p228:anchr>
                <p228:comment id="{8A6E731D-EA06-744C-A17B-310F00B0A053}"/>
              </p228:anchr>
              <p228:title val="@Ming Yang remove the sliders just like the previous slide"/>
            </p228:event>
            <p228:event time="2025-06-20T14:21:37.791" id="{FC09E2F9-8D90-6141-90DC-6BE34869B2F1}">
              <p228:atrbtn authorId="{BB243E05-1E47-4B24-CEC5-07CE1EB55D0E}"/>
              <p228:anchr>
                <p228:comment id="{8A6E731D-EA06-744C-A17B-310F00B0A053}"/>
              </p228:anchr>
              <p228:date stDt="2025-06-20T14:21:37.791" endDt="2025-06-20T14:21:37.791"/>
            </p228:event>
            <p228:event time="2025-06-20T14:23:55.971" id="{696DD584-67EE-5344-B43B-7BFC93E470AC}">
              <p228:atrbtn authorId="{78A03B09-F465-7A3C-9FB7-65502FD24C99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7FFFFA3B_7472ED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EE2154-23F2-3F48-AACF-E82EC4786B43}" authorId="{78A03B09-F465-7A3C-9FB7-65502FD24C99}" status="resolved" created="2025-06-19T22:54:32.81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53688892" sldId="2147482171"/>
      <ac:spMk id="2" creationId="{0EF3DDC3-6BE0-D023-7B6F-18F73E9AE1D9}"/>
      <ac:txMk cp="0">
        <ac:context len="13" hash="1545951977"/>
      </ac:txMk>
    </ac:txMkLst>
    <p188:pos x="4663608" y="605605"/>
    <p188:replyLst>
      <p188:reply id="{47602A33-6AE9-424F-868B-8A847B7A7690}" authorId="{BB243E05-1E47-4B24-CEC5-07CE1EB55D0E}" created="2025-06-23T01:00:49.210">
        <p188:txBody>
          <a:bodyPr/>
          <a:lstStyle/>
          <a:p>
            <a:r>
              <a:rPr lang="en-US"/>
              <a:t>The rest of them should not have the sliders</a:t>
            </a:r>
          </a:p>
        </p188:txBody>
      </p188:reply>
    </p188:replyLst>
    <p188:txBody>
      <a:bodyPr/>
      <a:lstStyle/>
      <a:p>
        <a:r>
          <a:rPr lang="en-US"/>
          <a:t>Have we confirmed on the changes for this page</a:t>
        </a:r>
      </a:p>
    </p188:txBody>
  </p188:cm>
</p188:cmLst>
</file>

<file path=ppt/comments/modernComment_7FFFFA3C_A7420D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ED706D-8D71-674D-A8AF-57BE4F41C965}" authorId="{BB243E05-1E47-4B24-CEC5-07CE1EB55D0E}" status="resolved" created="2025-06-20T14:21:58.521" startDate="2025-06-20T14:21:58.522" dueDate="2025-06-20T14:21:58.522" assignedTo="{78A03B09-F465-7A3C-9FB7-65502FD24C99}" complete="100000" title="@Ming Yang same with sliders here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06123940" sldId="2147482172"/>
      <ac:spMk id="81" creationId="{6A171743-5F03-ACAD-1737-AD6150B59571}"/>
    </ac:deMkLst>
    <p188:txBody>
      <a:bodyPr/>
      <a:lstStyle/>
      <a:p>
        <a:r>
          <a:rPr lang="en-US"/>
          <a:t>[@Ming Yang] same with sliders here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6-20T14:21:58.521" id="{4A237F90-3E5F-7C45-A152-761BA1D63A19}">
              <p228:atrbtn authorId="{BB243E05-1E47-4B24-CEC5-07CE1EB55D0E}"/>
              <p228:anchr>
                <p228:comment id="{7CED706D-8D71-674D-A8AF-57BE4F41C965}"/>
              </p228:anchr>
              <p228:add/>
            </p228:event>
            <p228:event time="2025-06-20T14:21:58.521" id="{B2B3DE1F-F209-B348-8AF0-79C4BAA92776}">
              <p228:atrbtn authorId="{BB243E05-1E47-4B24-CEC5-07CE1EB55D0E}"/>
              <p228:anchr>
                <p228:comment id="{7CED706D-8D71-674D-A8AF-57BE4F41C965}"/>
              </p228:anchr>
              <p228:asgn authorId="{78A03B09-F465-7A3C-9FB7-65502FD24C99}"/>
            </p228:event>
            <p228:event time="2025-06-20T14:21:58.521" id="{268E17CB-C47A-CE47-A51D-AE1D489B5E03}">
              <p228:atrbtn authorId="{BB243E05-1E47-4B24-CEC5-07CE1EB55D0E}"/>
              <p228:anchr>
                <p228:comment id="{7CED706D-8D71-674D-A8AF-57BE4F41C965}"/>
              </p228:anchr>
              <p228:title val="@Ming Yang same with sliders here"/>
            </p228:event>
            <p228:event time="2025-06-20T14:21:58.521" id="{E38D994E-E32F-2C43-A0E7-0029482D7F75}">
              <p228:atrbtn authorId="{BB243E05-1E47-4B24-CEC5-07CE1EB55D0E}"/>
              <p228:anchr>
                <p228:comment id="{7CED706D-8D71-674D-A8AF-57BE4F41C965}"/>
              </p228:anchr>
              <p228:date stDt="2025-06-20T14:21:58.522" endDt="2025-06-20T14:21:58.522"/>
            </p228:event>
            <p228:event time="2025-06-20T14:24:34.500" id="{AD924858-9E9B-9040-AD83-C8ED2FD501B1}">
              <p228:atrbtn authorId="{78A03B09-F465-7A3C-9FB7-65502FD24C99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7FFFFFC3_991CBE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3AA025-1426-0C4C-90B5-9FB7685C571D}" authorId="{78A03B09-F465-7A3C-9FB7-65502FD24C99}" status="resolved" created="2026-02-24T21:09:18.864" complete="100000">
    <pc:sldMkLst xmlns:pc="http://schemas.microsoft.com/office/powerpoint/2013/main/command">
      <pc:docMk/>
      <pc:sldMk cId="2568797735" sldId="2147483587"/>
    </pc:sldMkLst>
    <p188:txBody>
      <a:bodyPr/>
      <a:lstStyle/>
      <a:p>
        <a:r>
          <a:rPr lang="en-US"/>
          <a:t>new version from T-Mobile</a:t>
        </a:r>
      </a:p>
    </p188:txBody>
  </p188:cm>
</p188:cmLst>
</file>

<file path=ppt/comments/modernComment_7FFFFFC6_C9B6F6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E4DFC2-5541-D645-9060-8872539C4DC0}" authorId="{78A03B09-F465-7A3C-9FB7-65502FD24C99}" status="resolved" created="2026-02-26T20:04:50.174" complete="100000">
    <pc:sldMkLst xmlns:pc="http://schemas.microsoft.com/office/powerpoint/2013/main/command">
      <pc:docMk/>
      <pc:sldMk cId="3384211036" sldId="2147483590"/>
    </pc:sldMkLst>
    <p188:txBody>
      <a:bodyPr/>
      <a:lstStyle/>
      <a:p>
        <a:r>
          <a:rPr lang="en-US"/>
          <a:t>Update for number review</a:t>
        </a:r>
      </a:p>
    </p188:txBody>
  </p188:cm>
</p188:cmLst>
</file>

<file path=ppt/comments/modernComment_7FFFFFD5_FD0AB0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90816C-49D0-044E-A0F7-06284F46B667}" authorId="{78A03B09-F465-7A3C-9FB7-65502FD24C99}" status="resolved" created="2026-02-24T21:23:13.877" complete="100000">
    <pc:sldMkLst xmlns:pc="http://schemas.microsoft.com/office/powerpoint/2013/main/command">
      <pc:docMk/>
      <pc:sldMk cId="4245336162" sldId="2147483605"/>
    </pc:sldMkLst>
    <p188:txBody>
      <a:bodyPr/>
      <a:lstStyle/>
      <a:p>
        <a:r>
          <a:rPr lang="en-US"/>
          <a:t>Numbers too precise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90860-26FB-4541-A9C9-E8E186A5F76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29120-BBE4-49D5-B6AD-B5558897E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81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BD9D6-3009-F845-509A-EFE65A5F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40B4B-97D4-07F4-7F72-23EF2DF6A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9B1EC-A945-3271-C726-D5CD11669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DC01F-9733-4A6B-04AC-7E1CC8A6A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655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Name, Role, Company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Expectations for the Program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Exposure / Experience with Talent to Value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FUN Fact!</a:t>
            </a:r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80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11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so many possible hot spots – the </a:t>
            </a:r>
            <a:r>
              <a:rPr lang="en-US" err="1"/>
              <a:t>rubics</a:t>
            </a:r>
            <a:r>
              <a:rPr lang="en-US"/>
              <a:t> cube of value- really about the judgement piece- fewest steps to value- </a:t>
            </a:r>
            <a:r>
              <a:rPr lang="en-US" err="1"/>
              <a:t>Moodys</a:t>
            </a:r>
            <a:r>
              <a:rPr lang="en-US"/>
              <a:t> analytics- back of a napkin-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4985-E8E0-419E-9F72-6254153D3E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4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FA9C-144E-208B-AFEA-75671F1D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23E24-B35F-8C71-000F-A8E43E5AB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A1146-55A8-8218-8274-DA8C370FB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02122-CD79-ABFB-5F76-227BAB49F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69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03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78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7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11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F84CD-8C2B-4894-9286-56FBA06645E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31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After 28 create breakout  … Jobs to be done + use the interview guide that has been sent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0279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98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586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852C-8BF2-CCB7-44EE-CB2CC5DC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CCFC3-03A3-9395-B86F-750BA4348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FA495-4E6F-FE69-8C76-3EADE110B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E657E-FAA8-1628-A6B3-9815E6317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414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7C90-FF2D-22A3-AEF6-6CA0D718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57A28-6554-3C0F-31F5-3140B8708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2557C-D723-4A3F-01B1-7B51F0689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727B8-7AC6-C374-698B-53382D23E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9048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DDA00-7EA7-A843-CDE6-55F475AC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80620-30D2-5E61-49AB-49E097007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538D0-1A53-01C9-E503-658E1A22C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52816-2D57-328A-4325-9C66A70C6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211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52D4-A773-F2ED-EC19-1C5535B14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2F72B-84AC-5691-2BFD-89789D22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1B6E5-5197-9F42-A3C9-7196B3394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5244C-57E1-3F68-1493-3BD4955E1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760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8058-E1FF-FDF0-008A-B4FEEFB6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3BCB1-0DA1-6D80-18D2-1F5DAB669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BB045-6B65-D511-4F70-FEF940C3C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F7D95-14D2-1C6F-9DE6-08DCB29D1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571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777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43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60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1A7B4B7-2101-FCE7-D719-3D909068D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26690B-C7DF-D391-1831-1C87D9DCD5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DDEF805-4139-818A-775A-9FE45C246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9F1471E-FB91-8DDF-5F1A-69B538D594D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E08C-7819-8536-BD90-D963237DC2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97606E-5522-2270-7E8E-8B301BF4754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microsoft.com/office/2018/10/relationships/comments" Target="../comments/modernComment_7FFFFFC3_991CB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emf"/><Relationship Id="rId4" Type="http://schemas.openxmlformats.org/officeDocument/2006/relationships/image" Target="../media/image37.emf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72.png"/><Relationship Id="rId7" Type="http://schemas.openxmlformats.org/officeDocument/2006/relationships/image" Target="../media/image6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image" Target="../media/image62.png"/><Relationship Id="rId4" Type="http://schemas.openxmlformats.org/officeDocument/2006/relationships/image" Target="../media/image73.png"/><Relationship Id="rId9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75.png"/><Relationship Id="rId7" Type="http://schemas.openxmlformats.org/officeDocument/2006/relationships/image" Target="../media/image6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8.png"/><Relationship Id="rId11" Type="http://schemas.openxmlformats.org/officeDocument/2006/relationships/image" Target="../media/image69.png"/><Relationship Id="rId5" Type="http://schemas.openxmlformats.org/officeDocument/2006/relationships/image" Target="../media/image77.png"/><Relationship Id="rId10" Type="http://schemas.openxmlformats.org/officeDocument/2006/relationships/image" Target="../media/image64.png"/><Relationship Id="rId4" Type="http://schemas.openxmlformats.org/officeDocument/2006/relationships/image" Target="../media/image76.png"/><Relationship Id="rId9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14/relationships/chartEx" Target="../charts/chartEx1.xml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Relationship Id="rId9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8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8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8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67.png"/><Relationship Id="rId7" Type="http://schemas.microsoft.com/office/2014/relationships/chartEx" Target="../charts/chartEx2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69.png"/><Relationship Id="rId3" Type="http://schemas.openxmlformats.org/officeDocument/2006/relationships/image" Target="../media/image86.png"/><Relationship Id="rId7" Type="http://schemas.openxmlformats.org/officeDocument/2006/relationships/image" Target="../media/image91.png"/><Relationship Id="rId12" Type="http://schemas.openxmlformats.org/officeDocument/2006/relationships/image" Target="../media/image64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0.png"/><Relationship Id="rId11" Type="http://schemas.openxmlformats.org/officeDocument/2006/relationships/image" Target="../media/image68.png"/><Relationship Id="rId5" Type="http://schemas.openxmlformats.org/officeDocument/2006/relationships/image" Target="../media/image89.png"/><Relationship Id="rId10" Type="http://schemas.openxmlformats.org/officeDocument/2006/relationships/image" Target="../media/image67.png"/><Relationship Id="rId4" Type="http://schemas.openxmlformats.org/officeDocument/2006/relationships/image" Target="../media/image87.png"/><Relationship Id="rId9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9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67.png"/><Relationship Id="rId7" Type="http://schemas.openxmlformats.org/officeDocument/2006/relationships/image" Target="../media/image9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microsoft.com/office/2018/10/relationships/comments" Target="../comments/modernComment_7FFFFFD5_FD0AB06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9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98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2.png"/><Relationship Id="rId5" Type="http://schemas.openxmlformats.org/officeDocument/2006/relationships/image" Target="../media/image65.png"/><Relationship Id="rId4" Type="http://schemas.openxmlformats.org/officeDocument/2006/relationships/image" Target="../media/image10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10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0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62.png"/><Relationship Id="rId4" Type="http://schemas.openxmlformats.org/officeDocument/2006/relationships/image" Target="../media/image106.jpeg"/><Relationship Id="rId9" Type="http://schemas.openxmlformats.org/officeDocument/2006/relationships/image" Target="../media/image6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67.png"/><Relationship Id="rId7" Type="http://schemas.openxmlformats.org/officeDocument/2006/relationships/image" Target="../media/image10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Relationship Id="rId9" Type="http://schemas.openxmlformats.org/officeDocument/2006/relationships/image" Target="../media/image10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12.png"/><Relationship Id="rId7" Type="http://schemas.openxmlformats.org/officeDocument/2006/relationships/image" Target="../media/image68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62.png"/><Relationship Id="rId4" Type="http://schemas.openxmlformats.org/officeDocument/2006/relationships/image" Target="../media/image78.png"/><Relationship Id="rId9" Type="http://schemas.openxmlformats.org/officeDocument/2006/relationships/image" Target="../media/image6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67.png"/><Relationship Id="rId7" Type="http://schemas.openxmlformats.org/officeDocument/2006/relationships/image" Target="../media/image7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18.png"/><Relationship Id="rId7" Type="http://schemas.openxmlformats.org/officeDocument/2006/relationships/image" Target="../media/image64.png"/><Relationship Id="rId2" Type="http://schemas.microsoft.com/office/2018/10/relationships/comments" Target="../comments/modernComment_7FFFFA3B_7472ED3C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microsoft.com/office/2018/10/relationships/comments" Target="../comments/modernComment_7FFFFA3A_AC36BC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20.jpeg"/><Relationship Id="rId7" Type="http://schemas.openxmlformats.org/officeDocument/2006/relationships/image" Target="../media/image6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microsoft.com/office/2018/10/relationships/comments" Target="../comments/modernComment_7FFFFA3C_A7420DA4.xml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62.png"/><Relationship Id="rId4" Type="http://schemas.openxmlformats.org/officeDocument/2006/relationships/image" Target="../media/image118.png"/><Relationship Id="rId9" Type="http://schemas.openxmlformats.org/officeDocument/2006/relationships/image" Target="../media/image6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C6_C9B6F65C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E46C21-BFFA-2F4C-8A9C-286223639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</p:spPr>
        <p:txBody>
          <a:bodyPr lIns="91440" tIns="45720" rIns="91440" bIns="45720" anchor="t"/>
          <a:lstStyle/>
          <a:p>
            <a:r>
              <a:rPr lang="en-US"/>
              <a:t>Talent to Value Academy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4AE83-10B3-C84F-83AA-1A3BC0EEF1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</p:spPr>
        <p:txBody>
          <a:bodyPr lIns="91440" tIns="45720" rIns="91440" bIns="45720" anchor="t"/>
          <a:lstStyle/>
          <a:p>
            <a:r>
              <a:rPr lang="en-US" dirty="0"/>
              <a:t>Day 1 – New York City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8E2AFD6-86A2-9F0E-7961-A69E98DC4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9611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5848-D853-6FAA-F00E-9B7A8BC2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42E293-CF83-55DE-4983-5068966108FB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Talent to Value Journey Learning Objectives</a:t>
            </a:r>
            <a:endParaRPr lang="en-US" b="1" spc="-25">
              <a:solidFill>
                <a:srgbClr val="281A42"/>
              </a:solidFill>
              <a:latin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05CAF4-9D2F-B3D8-09BF-74BF0747E091}"/>
              </a:ext>
            </a:extLst>
          </p:cNvPr>
          <p:cNvSpPr txBox="1"/>
          <p:nvPr/>
        </p:nvSpPr>
        <p:spPr>
          <a:xfrm>
            <a:off x="954660" y="1178446"/>
            <a:ext cx="10847636" cy="400110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Lato"/>
                <a:cs typeface="Lato"/>
              </a:rPr>
              <a:t>At the End of This Program, Participants Will: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BE79F-DDED-93F1-6D60-1233EB9C148A}"/>
              </a:ext>
            </a:extLst>
          </p:cNvPr>
          <p:cNvSpPr/>
          <p:nvPr/>
        </p:nvSpPr>
        <p:spPr>
          <a:xfrm>
            <a:off x="1032931" y="1876150"/>
            <a:ext cx="660400" cy="709283"/>
          </a:xfrm>
          <a:prstGeom prst="rect">
            <a:avLst/>
          </a:prstGeom>
          <a:ln>
            <a:solidFill>
              <a:srgbClr val="281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3C9D3A-186B-E369-4A61-43FDF84C8B63}"/>
              </a:ext>
            </a:extLst>
          </p:cNvPr>
          <p:cNvSpPr/>
          <p:nvPr/>
        </p:nvSpPr>
        <p:spPr>
          <a:xfrm>
            <a:off x="1693333" y="1876150"/>
            <a:ext cx="9465735" cy="709283"/>
          </a:xfrm>
          <a:prstGeom prst="rect">
            <a:avLst/>
          </a:prstGeom>
          <a:noFill/>
          <a:ln>
            <a:solidFill>
              <a:srgbClr val="281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BCB3D-2B21-743C-FAF2-FA0F50C83BEB}"/>
              </a:ext>
            </a:extLst>
          </p:cNvPr>
          <p:cNvSpPr txBox="1"/>
          <p:nvPr/>
        </p:nvSpPr>
        <p:spPr>
          <a:xfrm>
            <a:off x="1828799" y="2046125"/>
            <a:ext cx="87499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Lato"/>
                <a:cs typeface="Lato"/>
              </a:rPr>
              <a:t>Know how to identify the big bets that drive disproportionate value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E82F48-2644-9F81-5A65-31134F1FA0FE}"/>
              </a:ext>
            </a:extLst>
          </p:cNvPr>
          <p:cNvSpPr/>
          <p:nvPr/>
        </p:nvSpPr>
        <p:spPr>
          <a:xfrm>
            <a:off x="1032931" y="2707483"/>
            <a:ext cx="660400" cy="709283"/>
          </a:xfrm>
          <a:prstGeom prst="rect">
            <a:avLst/>
          </a:prstGeom>
          <a:ln>
            <a:solidFill>
              <a:srgbClr val="281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935FF9-4992-1086-EA7D-E92F1DCB4E0F}"/>
              </a:ext>
            </a:extLst>
          </p:cNvPr>
          <p:cNvSpPr/>
          <p:nvPr/>
        </p:nvSpPr>
        <p:spPr>
          <a:xfrm>
            <a:off x="1693333" y="2707483"/>
            <a:ext cx="9465735" cy="709283"/>
          </a:xfrm>
          <a:prstGeom prst="rect">
            <a:avLst/>
          </a:prstGeom>
          <a:noFill/>
          <a:ln>
            <a:solidFill>
              <a:srgbClr val="281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9E6E6-DF52-4F5E-EDD2-4A2792047360}"/>
              </a:ext>
            </a:extLst>
          </p:cNvPr>
          <p:cNvSpPr txBox="1"/>
          <p:nvPr/>
        </p:nvSpPr>
        <p:spPr>
          <a:xfrm>
            <a:off x="1828799" y="2877458"/>
            <a:ext cx="946573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Be able to allocate stunningly good talent against the work that matters most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0DF02D-3F93-18B9-AFA8-860B78AB854C}"/>
              </a:ext>
            </a:extLst>
          </p:cNvPr>
          <p:cNvSpPr/>
          <p:nvPr/>
        </p:nvSpPr>
        <p:spPr>
          <a:xfrm>
            <a:off x="1032931" y="3580732"/>
            <a:ext cx="660400" cy="709283"/>
          </a:xfrm>
          <a:prstGeom prst="rect">
            <a:avLst/>
          </a:prstGeom>
          <a:ln>
            <a:solidFill>
              <a:srgbClr val="281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9912AC-7F14-C02C-9A71-0791731EEF2F}"/>
              </a:ext>
            </a:extLst>
          </p:cNvPr>
          <p:cNvSpPr/>
          <p:nvPr/>
        </p:nvSpPr>
        <p:spPr>
          <a:xfrm>
            <a:off x="1693332" y="3580732"/>
            <a:ext cx="9465735" cy="709283"/>
          </a:xfrm>
          <a:prstGeom prst="rect">
            <a:avLst/>
          </a:prstGeom>
          <a:noFill/>
          <a:ln>
            <a:solidFill>
              <a:srgbClr val="281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C54ED-14FE-59F5-491F-C91CFC38CC82}"/>
              </a:ext>
            </a:extLst>
          </p:cNvPr>
          <p:cNvSpPr txBox="1"/>
          <p:nvPr/>
        </p:nvSpPr>
        <p:spPr>
          <a:xfrm>
            <a:off x="1828798" y="3750707"/>
            <a:ext cx="946573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Understand how to mitigate risks and mobilize value to have a business impact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5293BA-0071-213B-C48B-C4641C19CB68}"/>
              </a:ext>
            </a:extLst>
          </p:cNvPr>
          <p:cNvSpPr/>
          <p:nvPr/>
        </p:nvSpPr>
        <p:spPr>
          <a:xfrm>
            <a:off x="1032931" y="4453980"/>
            <a:ext cx="660400" cy="709283"/>
          </a:xfrm>
          <a:prstGeom prst="rect">
            <a:avLst/>
          </a:prstGeom>
          <a:ln>
            <a:solidFill>
              <a:srgbClr val="281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D72BA-C4B1-E5A6-1D2A-99110E978BCB}"/>
              </a:ext>
            </a:extLst>
          </p:cNvPr>
          <p:cNvSpPr/>
          <p:nvPr/>
        </p:nvSpPr>
        <p:spPr>
          <a:xfrm>
            <a:off x="1693331" y="4453980"/>
            <a:ext cx="9465735" cy="709283"/>
          </a:xfrm>
          <a:prstGeom prst="rect">
            <a:avLst/>
          </a:prstGeom>
          <a:noFill/>
          <a:ln>
            <a:solidFill>
              <a:srgbClr val="281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26F3C0-2DBA-EFF8-AA53-160D1D436935}"/>
              </a:ext>
            </a:extLst>
          </p:cNvPr>
          <p:cNvSpPr txBox="1"/>
          <p:nvPr/>
        </p:nvSpPr>
        <p:spPr>
          <a:xfrm>
            <a:off x="1828797" y="4485456"/>
            <a:ext cx="94657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Review options for implementing a Talent to Value project and consider the best approach for their organization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E02495-E0A1-EDC5-620C-32D31C34C9D8}"/>
              </a:ext>
            </a:extLst>
          </p:cNvPr>
          <p:cNvSpPr/>
          <p:nvPr/>
        </p:nvSpPr>
        <p:spPr>
          <a:xfrm>
            <a:off x="1032931" y="5315980"/>
            <a:ext cx="660400" cy="709283"/>
          </a:xfrm>
          <a:prstGeom prst="rect">
            <a:avLst/>
          </a:prstGeom>
          <a:ln>
            <a:solidFill>
              <a:srgbClr val="281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9BEB8B-A171-9669-ED3C-6D3C1282F9F2}"/>
              </a:ext>
            </a:extLst>
          </p:cNvPr>
          <p:cNvSpPr/>
          <p:nvPr/>
        </p:nvSpPr>
        <p:spPr>
          <a:xfrm>
            <a:off x="1693330" y="5315980"/>
            <a:ext cx="9465735" cy="709283"/>
          </a:xfrm>
          <a:prstGeom prst="rect">
            <a:avLst/>
          </a:prstGeom>
          <a:noFill/>
          <a:ln>
            <a:solidFill>
              <a:srgbClr val="281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6EF2A1-C2AC-05EE-E236-F3571F096329}"/>
              </a:ext>
            </a:extLst>
          </p:cNvPr>
          <p:cNvSpPr txBox="1"/>
          <p:nvPr/>
        </p:nvSpPr>
        <p:spPr>
          <a:xfrm>
            <a:off x="1828796" y="5347456"/>
            <a:ext cx="94657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Develop a high-level messaging and communications plan for speaking to critical stakeholders</a:t>
            </a:r>
          </a:p>
        </p:txBody>
      </p:sp>
      <p:pic>
        <p:nvPicPr>
          <p:cNvPr id="27" name="Graphic 26" descr="Cycle with people with solid fill">
            <a:extLst>
              <a:ext uri="{FF2B5EF4-FFF2-40B4-BE49-F238E27FC236}">
                <a16:creationId xmlns:a16="http://schemas.microsoft.com/office/drawing/2014/main" id="{1836417F-5EBC-345C-EF88-28892197BF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32931" y="2734381"/>
            <a:ext cx="660400" cy="660400"/>
          </a:xfrm>
          <a:prstGeom prst="rect">
            <a:avLst/>
          </a:prstGeom>
        </p:spPr>
      </p:pic>
      <p:pic>
        <p:nvPicPr>
          <p:cNvPr id="29" name="Graphic 28" descr="Radioactive with solid fill">
            <a:extLst>
              <a:ext uri="{FF2B5EF4-FFF2-40B4-BE49-F238E27FC236}">
                <a16:creationId xmlns:a16="http://schemas.microsoft.com/office/drawing/2014/main" id="{9761BC7A-F82F-2975-EAC8-DD9DFE3E5FA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26066" y="3678565"/>
            <a:ext cx="474130" cy="474130"/>
          </a:xfrm>
          <a:prstGeom prst="rect">
            <a:avLst/>
          </a:prstGeom>
        </p:spPr>
      </p:pic>
      <p:pic>
        <p:nvPicPr>
          <p:cNvPr id="31" name="Graphic 30" descr="Swipe Gesture with solid fill">
            <a:extLst>
              <a:ext uri="{FF2B5EF4-FFF2-40B4-BE49-F238E27FC236}">
                <a16:creationId xmlns:a16="http://schemas.microsoft.com/office/drawing/2014/main" id="{62CAD4B9-555D-58F3-63DE-C8B8885DFDC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95" y="5374285"/>
            <a:ext cx="592672" cy="592672"/>
          </a:xfrm>
          <a:prstGeom prst="rect">
            <a:avLst/>
          </a:prstGeom>
        </p:spPr>
      </p:pic>
      <p:pic>
        <p:nvPicPr>
          <p:cNvPr id="33" name="Graphic 32" descr="Online meeting with solid fill">
            <a:extLst>
              <a:ext uri="{FF2B5EF4-FFF2-40B4-BE49-F238E27FC236}">
                <a16:creationId xmlns:a16="http://schemas.microsoft.com/office/drawing/2014/main" id="{6A03F901-DA56-5487-83F0-967F4A5AE79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6430" y="4563879"/>
            <a:ext cx="533402" cy="533402"/>
          </a:xfrm>
          <a:prstGeom prst="rect">
            <a:avLst/>
          </a:prstGeom>
        </p:spPr>
      </p:pic>
      <p:pic>
        <p:nvPicPr>
          <p:cNvPr id="25" name="Graphic 24" descr="Diamond with solid fill">
            <a:extLst>
              <a:ext uri="{FF2B5EF4-FFF2-40B4-BE49-F238E27FC236}">
                <a16:creationId xmlns:a16="http://schemas.microsoft.com/office/drawing/2014/main" id="{2F38C4AB-B452-0536-ACBD-8B50C2FD8BB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95" y="1922609"/>
            <a:ext cx="592672" cy="592672"/>
          </a:xfrm>
          <a:prstGeom prst="rect">
            <a:avLst/>
          </a:prstGeom>
        </p:spPr>
      </p:pic>
      <p:sp>
        <p:nvSpPr>
          <p:cNvPr id="3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B81BD0C0-D1B1-4537-8903-D3C951E71856}" type="slidenum">
              <a:r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2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A26F49-1AB6-CB60-45A5-9AA42F3D9B2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Agenda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40FA1B5-6CCA-4922-2069-865FD7CCE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468883"/>
              </p:ext>
            </p:extLst>
          </p:nvPr>
        </p:nvGraphicFramePr>
        <p:xfrm>
          <a:off x="6417733" y="1548213"/>
          <a:ext cx="5284912" cy="4667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08228776"/>
                    </a:ext>
                  </a:extLst>
                </a:gridCol>
                <a:gridCol w="4268912">
                  <a:extLst>
                    <a:ext uri="{9D8B030D-6E8A-4147-A177-3AD203B41FA5}">
                      <a16:colId xmlns:a16="http://schemas.microsoft.com/office/drawing/2014/main" val="567762281"/>
                    </a:ext>
                  </a:extLst>
                </a:gridCol>
              </a:tblGrid>
              <a:tr h="509723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TIME</a:t>
                      </a:r>
                    </a:p>
                  </a:txBody>
                  <a:tcPr marL="147523" marR="147523" marT="60960" marB="60960" anchor="ctr"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TOPIC</a:t>
                      </a:r>
                    </a:p>
                  </a:txBody>
                  <a:tcPr marL="147523" marR="147523" marT="60960" marB="60960" anchor="ctr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202105"/>
                  </a:ext>
                </a:extLst>
              </a:tr>
              <a:tr h="1612026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AM</a:t>
                      </a:r>
                    </a:p>
                  </a:txBody>
                  <a:tcPr marL="147523" marR="147523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Reflections - Day 1</a:t>
                      </a:r>
                    </a:p>
                    <a:p>
                      <a:pPr marL="285750" indent="-285750">
                        <a:buClr>
                          <a:srgbClr val="1D1D1D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Value Creation (/MOBILIZE)</a:t>
                      </a:r>
                    </a:p>
                    <a:p>
                      <a:pPr marL="285750" lvl="0" indent="-285750">
                        <a:buClr>
                          <a:srgbClr val="1D1D1D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Project Implementation</a:t>
                      </a:r>
                      <a:endParaRPr lang="en-US" sz="1600" b="1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42512"/>
                  </a:ext>
                </a:extLst>
              </a:tr>
              <a:tr h="3830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LUNCH</a:t>
                      </a:r>
                    </a:p>
                  </a:txBody>
                  <a:tcPr marL="147523" marR="147523" marT="60960" marB="6096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094339"/>
                  </a:ext>
                </a:extLst>
              </a:tr>
              <a:tr h="2162432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PM</a:t>
                      </a:r>
                    </a:p>
                  </a:txBody>
                  <a:tcPr marL="147523" marR="147523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Applications and Hands-On Work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Taking it Back - Communications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Certification Next Steps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Close / Feedback</a:t>
                      </a:r>
                      <a:endParaRPr lang="en-US" sz="1600" b="1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84813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8D3B8A2-4322-F8F0-020F-109DDA8CB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222799"/>
              </p:ext>
            </p:extLst>
          </p:nvPr>
        </p:nvGraphicFramePr>
        <p:xfrm>
          <a:off x="726539" y="1548213"/>
          <a:ext cx="5206281" cy="4663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728">
                  <a:extLst>
                    <a:ext uri="{9D8B030D-6E8A-4147-A177-3AD203B41FA5}">
                      <a16:colId xmlns:a16="http://schemas.microsoft.com/office/drawing/2014/main" val="1908228776"/>
                    </a:ext>
                  </a:extLst>
                </a:gridCol>
                <a:gridCol w="4222553">
                  <a:extLst>
                    <a:ext uri="{9D8B030D-6E8A-4147-A177-3AD203B41FA5}">
                      <a16:colId xmlns:a16="http://schemas.microsoft.com/office/drawing/2014/main" val="1181262806"/>
                    </a:ext>
                  </a:extLst>
                </a:gridCol>
              </a:tblGrid>
              <a:tr h="500755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TIME</a:t>
                      </a:r>
                    </a:p>
                  </a:txBody>
                  <a:tcPr marL="147523" marR="147523" marT="60960" marB="60960" anchor="ctr"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TOPIC</a:t>
                      </a:r>
                    </a:p>
                  </a:txBody>
                  <a:tcPr marL="147523" marR="147523" marT="60960" marB="60960" anchor="ctr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202105"/>
                  </a:ext>
                </a:extLst>
              </a:tr>
              <a:tr h="1608637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AM</a:t>
                      </a:r>
                    </a:p>
                  </a:txBody>
                  <a:tcPr marL="147523" marR="147523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Welcome/Introductions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Overview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Where to Allocate Stunningly Great Talent</a:t>
                      </a:r>
                      <a:b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</a:b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(/VALUE, /WORK)</a:t>
                      </a:r>
                      <a:endParaRPr lang="en-US" sz="1600" b="1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42512"/>
                  </a:ext>
                </a:extLst>
              </a:tr>
              <a:tr h="39464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LUNCH</a:t>
                      </a:r>
                    </a:p>
                  </a:txBody>
                  <a:tcPr marL="147523" marR="147523" marT="60960" marB="6096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094339"/>
                  </a:ext>
                </a:extLst>
              </a:tr>
              <a:tr h="1447021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PM</a:t>
                      </a:r>
                    </a:p>
                  </a:txBody>
                  <a:tcPr marL="147523" marR="147523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Stunningly Great Talent (</a:t>
                      </a:r>
                      <a:r>
                        <a:rPr lang="en-US" sz="1600" kern="12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/LIST)</a:t>
                      </a:r>
                      <a:endParaRPr lang="en-US" sz="1600" b="0" i="0" u="none" strike="noStrike" noProof="0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Beyond Talent (/CLICK)</a:t>
                      </a:r>
                      <a:endParaRPr lang="en-US" sz="1600" b="1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848135"/>
                  </a:ext>
                </a:extLst>
              </a:tr>
              <a:tr h="712548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147523" marR="147523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DINNER &amp; NETWORKING</a:t>
                      </a:r>
                    </a:p>
                  </a:txBody>
                  <a:tcPr marL="147523" marR="147523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53514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7564E75-F627-7CEC-8C19-509C32EF0B67}"/>
              </a:ext>
            </a:extLst>
          </p:cNvPr>
          <p:cNvSpPr txBox="1"/>
          <p:nvPr/>
        </p:nvSpPr>
        <p:spPr>
          <a:xfrm>
            <a:off x="6687847" y="985048"/>
            <a:ext cx="817724" cy="42056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133" b="1" spc="-25">
                <a:latin typeface="Segoe UI" pitchFamily="34" charset="0"/>
              </a:rPr>
              <a:t>Day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60782E-A9F1-09BA-AF94-4550E6172375}"/>
              </a:ext>
            </a:extLst>
          </p:cNvPr>
          <p:cNvSpPr txBox="1"/>
          <p:nvPr/>
        </p:nvSpPr>
        <p:spPr>
          <a:xfrm>
            <a:off x="726539" y="985048"/>
            <a:ext cx="817724" cy="42056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133" b="1" spc="-25">
                <a:latin typeface="Segoe UI" pitchFamily="34" charset="0"/>
              </a:rPr>
              <a:t>Day 1</a:t>
            </a:r>
          </a:p>
        </p:txBody>
      </p:sp>
      <p:sp>
        <p:nvSpPr>
          <p:cNvPr id="1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71AC43AF-F8DF-448A-ADCB-B8E1F1441539}" type="slidenum">
              <a:r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3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C756B6-C99E-9194-0502-23DAD2B68751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Introductions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7BAC0-C235-BC26-0677-50943F27444E}"/>
              </a:ext>
            </a:extLst>
          </p:cNvPr>
          <p:cNvSpPr txBox="1"/>
          <p:nvPr/>
        </p:nvSpPr>
        <p:spPr>
          <a:xfrm>
            <a:off x="4006517" y="2112718"/>
            <a:ext cx="38432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>
                <a:solidFill>
                  <a:srgbClr val="281A42"/>
                </a:solidFill>
              </a:rPr>
              <a:t>Name, Role, Company</a:t>
            </a:r>
          </a:p>
        </p:txBody>
      </p:sp>
      <p:pic>
        <p:nvPicPr>
          <p:cNvPr id="12" name="Graphic 11" descr="Programmer male with solid fill">
            <a:extLst>
              <a:ext uri="{FF2B5EF4-FFF2-40B4-BE49-F238E27FC236}">
                <a16:creationId xmlns:a16="http://schemas.microsoft.com/office/drawing/2014/main" id="{56833D30-1774-2DE2-C1A4-41B417765E7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45986" y="899522"/>
            <a:ext cx="932492" cy="9324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DEF2B9-44FB-0D2D-0BFA-D4F056BB2370}"/>
              </a:ext>
            </a:extLst>
          </p:cNvPr>
          <p:cNvSpPr txBox="1"/>
          <p:nvPr/>
        </p:nvSpPr>
        <p:spPr>
          <a:xfrm>
            <a:off x="6247944" y="3512901"/>
            <a:ext cx="38432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>
                <a:solidFill>
                  <a:srgbClr val="281A42"/>
                </a:solidFill>
              </a:rPr>
              <a:t>Program Expectation</a:t>
            </a:r>
          </a:p>
        </p:txBody>
      </p:sp>
      <p:pic>
        <p:nvPicPr>
          <p:cNvPr id="18" name="Graphic 17" descr="3d Glasses with solid fill">
            <a:extLst>
              <a:ext uri="{FF2B5EF4-FFF2-40B4-BE49-F238E27FC236}">
                <a16:creationId xmlns:a16="http://schemas.microsoft.com/office/drawing/2014/main" id="{6883BCE8-AFFF-CE04-D58E-F70BF9D8647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798660" y="3024461"/>
            <a:ext cx="1376989" cy="137698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45B2CF8-3CE9-5169-B128-B1CD7ABFD0CD}"/>
              </a:ext>
            </a:extLst>
          </p:cNvPr>
          <p:cNvSpPr txBox="1"/>
          <p:nvPr/>
        </p:nvSpPr>
        <p:spPr>
          <a:xfrm>
            <a:off x="1602761" y="3458196"/>
            <a:ext cx="384322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>
                <a:solidFill>
                  <a:srgbClr val="281A42"/>
                </a:solidFill>
              </a:rPr>
              <a:t>Exposure/Experience </a:t>
            </a:r>
          </a:p>
          <a:p>
            <a:pPr algn="ctr"/>
            <a:r>
              <a:rPr lang="en-US" sz="2000" b="1">
                <a:solidFill>
                  <a:srgbClr val="281A42"/>
                </a:solidFill>
              </a:rPr>
              <a:t>with Talent to Value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BE0594-8791-C48E-CD26-87DB189DD8A6}"/>
              </a:ext>
            </a:extLst>
          </p:cNvPr>
          <p:cNvSpPr txBox="1"/>
          <p:nvPr/>
        </p:nvSpPr>
        <p:spPr>
          <a:xfrm>
            <a:off x="3990619" y="5686223"/>
            <a:ext cx="38432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>
                <a:solidFill>
                  <a:srgbClr val="281A42"/>
                </a:solidFill>
              </a:rPr>
              <a:t>Fun Fact</a:t>
            </a:r>
          </a:p>
        </p:txBody>
      </p:sp>
      <p:pic>
        <p:nvPicPr>
          <p:cNvPr id="27" name="Graphic 26" descr="Aspiration with solid fill">
            <a:extLst>
              <a:ext uri="{FF2B5EF4-FFF2-40B4-BE49-F238E27FC236}">
                <a16:creationId xmlns:a16="http://schemas.microsoft.com/office/drawing/2014/main" id="{5D5F1A8C-4209-4447-0A04-C97FC0D6313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88610" y="3136064"/>
            <a:ext cx="1277573" cy="1277573"/>
          </a:xfrm>
          <a:prstGeom prst="rect">
            <a:avLst/>
          </a:prstGeom>
        </p:spPr>
      </p:pic>
      <p:pic>
        <p:nvPicPr>
          <p:cNvPr id="29" name="Graphic 28" descr="Champagne glasses with solid fill">
            <a:extLst>
              <a:ext uri="{FF2B5EF4-FFF2-40B4-BE49-F238E27FC236}">
                <a16:creationId xmlns:a16="http://schemas.microsoft.com/office/drawing/2014/main" id="{C71B0E61-D510-2AB6-289C-EA0C65B8728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362342" y="4363048"/>
            <a:ext cx="1131574" cy="1131574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85B816-4461-F8F7-5838-DD2D88AFBC8E}"/>
              </a:ext>
            </a:extLst>
          </p:cNvPr>
          <p:cNvCxnSpPr>
            <a:cxnSpLocks/>
          </p:cNvCxnSpPr>
          <p:nvPr/>
        </p:nvCxnSpPr>
        <p:spPr>
          <a:xfrm>
            <a:off x="3224537" y="1502701"/>
            <a:ext cx="5407184" cy="4420508"/>
          </a:xfrm>
          <a:prstGeom prst="line">
            <a:avLst/>
          </a:prstGeom>
          <a:ln w="57150">
            <a:gradFill flip="none" rotWithShape="1">
              <a:gsLst>
                <a:gs pos="0">
                  <a:srgbClr val="F2F2F2"/>
                </a:gs>
                <a:gs pos="44000">
                  <a:srgbClr val="765FFF"/>
                </a:gs>
                <a:gs pos="65000">
                  <a:srgbClr val="765FFF"/>
                </a:gs>
                <a:gs pos="100000">
                  <a:srgbClr val="F2F2F2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F9A63A6-C7D2-4252-F94A-F21A58E5E3FD}"/>
              </a:ext>
            </a:extLst>
          </p:cNvPr>
          <p:cNvCxnSpPr>
            <a:cxnSpLocks/>
          </p:cNvCxnSpPr>
          <p:nvPr/>
        </p:nvCxnSpPr>
        <p:spPr>
          <a:xfrm flipV="1">
            <a:off x="3230048" y="1502701"/>
            <a:ext cx="5401673" cy="4420508"/>
          </a:xfrm>
          <a:prstGeom prst="line">
            <a:avLst/>
          </a:prstGeom>
          <a:ln w="57150">
            <a:gradFill flip="none" rotWithShape="1">
              <a:gsLst>
                <a:gs pos="0">
                  <a:srgbClr val="F2F2F2"/>
                </a:gs>
                <a:gs pos="44000">
                  <a:srgbClr val="765FFF"/>
                </a:gs>
                <a:gs pos="65000">
                  <a:srgbClr val="765FFF"/>
                </a:gs>
                <a:gs pos="100000">
                  <a:srgbClr val="F2F2F2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E0AF050C-9C35-459A-B8E1-69A91E712ADF}" type="slidenum">
              <a:r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1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A135E9-B955-FC75-3D6F-2BBBDEA0A8D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CEO Success</a:t>
            </a:r>
          </a:p>
        </p:txBody>
      </p:sp>
      <p:sp>
        <p:nvSpPr>
          <p:cNvPr id="41" name="object 52">
            <a:extLst>
              <a:ext uri="{FF2B5EF4-FFF2-40B4-BE49-F238E27FC236}">
                <a16:creationId xmlns:a16="http://schemas.microsoft.com/office/drawing/2014/main" id="{85B0C524-9BEF-15B0-53C9-2933807B82DE}"/>
              </a:ext>
            </a:extLst>
          </p:cNvPr>
          <p:cNvSpPr/>
          <p:nvPr/>
        </p:nvSpPr>
        <p:spPr>
          <a:xfrm>
            <a:off x="3548337" y="2910638"/>
            <a:ext cx="1978682" cy="1681247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object 57">
            <a:extLst>
              <a:ext uri="{FF2B5EF4-FFF2-40B4-BE49-F238E27FC236}">
                <a16:creationId xmlns:a16="http://schemas.microsoft.com/office/drawing/2014/main" id="{1514BE4A-BE22-D708-0136-0568672EA5C5}"/>
              </a:ext>
            </a:extLst>
          </p:cNvPr>
          <p:cNvSpPr txBox="1"/>
          <p:nvPr/>
        </p:nvSpPr>
        <p:spPr>
          <a:xfrm>
            <a:off x="3653115" y="2998729"/>
            <a:ext cx="1821671" cy="12688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44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56%</a:t>
            </a:r>
            <a:endParaRPr lang="en-US" sz="4400" spc="-10">
              <a:solidFill>
                <a:srgbClr val="281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defTabSz="1219170">
              <a:spcBef>
                <a:spcPts val="13"/>
              </a:spcBef>
              <a:defRPr/>
            </a:pPr>
            <a:endParaRPr lang="en-US" sz="1867" spc="-10">
              <a:solidFill>
                <a:srgbClr val="281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defTabSz="1219170">
              <a:spcBef>
                <a:spcPts val="13"/>
              </a:spcBef>
              <a:defRPr/>
            </a:pPr>
            <a:endParaRPr lang="en-US" sz="1867" spc="-10">
              <a:solidFill>
                <a:srgbClr val="281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" name="object 52">
            <a:extLst>
              <a:ext uri="{FF2B5EF4-FFF2-40B4-BE49-F238E27FC236}">
                <a16:creationId xmlns:a16="http://schemas.microsoft.com/office/drawing/2014/main" id="{EFF883DF-363A-1813-C538-959BCBDA2C50}"/>
              </a:ext>
            </a:extLst>
          </p:cNvPr>
          <p:cNvSpPr/>
          <p:nvPr/>
        </p:nvSpPr>
        <p:spPr>
          <a:xfrm>
            <a:off x="1520607" y="2910638"/>
            <a:ext cx="1956224" cy="1681247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object 57">
            <a:extLst>
              <a:ext uri="{FF2B5EF4-FFF2-40B4-BE49-F238E27FC236}">
                <a16:creationId xmlns:a16="http://schemas.microsoft.com/office/drawing/2014/main" id="{09DFAC1E-B138-DDFC-F0A8-94C45EA967E0}"/>
              </a:ext>
            </a:extLst>
          </p:cNvPr>
          <p:cNvSpPr txBox="1"/>
          <p:nvPr/>
        </p:nvSpPr>
        <p:spPr>
          <a:xfrm>
            <a:off x="1606907" y="2998729"/>
            <a:ext cx="1821671" cy="113791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80"/>
              </a:spcBef>
              <a:defRPr/>
            </a:pPr>
            <a:r>
              <a:rPr lang="en-US" sz="44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2.2</a:t>
            </a:r>
            <a:endParaRPr lang="en-US" sz="4400" spc="-10">
              <a:solidFill>
                <a:srgbClr val="281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 defTabSz="1219170">
              <a:spcBef>
                <a:spcPts val="113"/>
              </a:spcBef>
              <a:defRPr/>
            </a:pPr>
            <a:r>
              <a:rPr lang="en-US" sz="16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Years</a:t>
            </a:r>
          </a:p>
          <a:p>
            <a:pPr marL="206582" marR="206582" algn="ctr" defTabSz="1219170">
              <a:defRPr/>
            </a:pPr>
            <a:endParaRPr lang="en-US" sz="1200" spc="-10">
              <a:solidFill>
                <a:srgbClr val="281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19E29A-C4FB-A37E-3BBF-D508A1D2E83A}"/>
              </a:ext>
            </a:extLst>
          </p:cNvPr>
          <p:cNvSpPr txBox="1"/>
          <p:nvPr/>
        </p:nvSpPr>
        <p:spPr>
          <a:xfrm>
            <a:off x="1696101" y="4002147"/>
            <a:ext cx="1661212" cy="5334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marL="431789" marR="435176" algn="ctr" defTabSz="1219170">
              <a:defRPr/>
            </a:pPr>
            <a:r>
              <a:rPr lang="en-US" sz="14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Average time </a:t>
            </a:r>
          </a:p>
          <a:p>
            <a:pPr marL="431789" marR="435176" algn="ctr" defTabSz="1219170">
              <a:defRPr/>
            </a:pPr>
            <a:r>
              <a:rPr lang="en-US" sz="14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replacement</a:t>
            </a:r>
            <a:endParaRPr lang="en-US" sz="1400" spc="-10" baseline="24691">
              <a:solidFill>
                <a:srgbClr val="281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DCEE87-6B06-8253-CAFB-38D78F015A36}"/>
              </a:ext>
            </a:extLst>
          </p:cNvPr>
          <p:cNvSpPr txBox="1"/>
          <p:nvPr/>
        </p:nvSpPr>
        <p:spPr>
          <a:xfrm>
            <a:off x="3729053" y="4030430"/>
            <a:ext cx="1661212" cy="32829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>
            <a:defPPr>
              <a:defRPr lang="en-US"/>
            </a:defPPr>
            <a:lvl1pPr marL="323850" marR="32639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-10" normalizeH="0" baseline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cs typeface="Arial"/>
              </a:defRPr>
            </a:lvl1pPr>
          </a:lstStyle>
          <a:p>
            <a:pPr marL="431789" marR="435176" defTabSz="1219170">
              <a:defRPr/>
            </a:pPr>
            <a:r>
              <a:rPr lang="en-US" sz="1400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Failure Rate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1D7B75-B7DC-278D-F9C5-7B6C1E429332}"/>
              </a:ext>
            </a:extLst>
          </p:cNvPr>
          <p:cNvGrpSpPr/>
          <p:nvPr/>
        </p:nvGrpSpPr>
        <p:grpSpPr>
          <a:xfrm>
            <a:off x="3548337" y="2123337"/>
            <a:ext cx="2022647" cy="712894"/>
            <a:chOff x="3149148" y="1280104"/>
            <a:chExt cx="1516985" cy="534671"/>
          </a:xfrm>
        </p:grpSpPr>
        <p:grpSp>
          <p:nvGrpSpPr>
            <p:cNvPr id="48" name="object 30">
              <a:extLst>
                <a:ext uri="{FF2B5EF4-FFF2-40B4-BE49-F238E27FC236}">
                  <a16:creationId xmlns:a16="http://schemas.microsoft.com/office/drawing/2014/main" id="{35DA637F-F47B-26A5-26FB-2FA2FC80EBFC}"/>
                </a:ext>
              </a:extLst>
            </p:cNvPr>
            <p:cNvGrpSpPr/>
            <p:nvPr/>
          </p:nvGrpSpPr>
          <p:grpSpPr>
            <a:xfrm>
              <a:off x="3149148" y="1280104"/>
              <a:ext cx="1516985" cy="534671"/>
              <a:chOff x="6412992" y="1263396"/>
              <a:chExt cx="3692651" cy="830579"/>
            </a:xfrm>
            <a:solidFill>
              <a:srgbClr val="F2F2F2"/>
            </a:solidFill>
          </p:grpSpPr>
          <p:pic>
            <p:nvPicPr>
              <p:cNvPr id="50" name="object 31">
                <a:extLst>
                  <a:ext uri="{FF2B5EF4-FFF2-40B4-BE49-F238E27FC236}">
                    <a16:creationId xmlns:a16="http://schemas.microsoft.com/office/drawing/2014/main" id="{DAB415DE-F840-35D0-CE4F-2866F30BA781}"/>
                  </a:ext>
                </a:extLst>
              </p:cNvPr>
              <p:cNvPicPr/>
              <p:nvPr/>
            </p:nvPicPr>
            <p:blipFill>
              <a:blip r:embed="rId3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12992" y="1263396"/>
                <a:ext cx="3692651" cy="830579"/>
              </a:xfrm>
              <a:prstGeom prst="rect">
                <a:avLst/>
              </a:prstGeom>
              <a:solidFill>
                <a:srgbClr val="F2F2F2"/>
              </a:solidFill>
            </p:spPr>
          </p:pic>
          <p:pic>
            <p:nvPicPr>
              <p:cNvPr id="51" name="object 32">
                <a:extLst>
                  <a:ext uri="{FF2B5EF4-FFF2-40B4-BE49-F238E27FC236}">
                    <a16:creationId xmlns:a16="http://schemas.microsoft.com/office/drawing/2014/main" id="{74BA4AC4-A74A-43B9-90A0-A7317102FBDC}"/>
                  </a:ext>
                </a:extLst>
              </p:cNvPr>
              <p:cNvPicPr/>
              <p:nvPr/>
            </p:nvPicPr>
            <p:blipFill>
              <a:blip r:embed="rId4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057644" y="1464564"/>
                <a:ext cx="2403347" cy="480059"/>
              </a:xfrm>
              <a:prstGeom prst="rect">
                <a:avLst/>
              </a:prstGeom>
              <a:grpFill/>
            </p:spPr>
          </p:pic>
          <p:sp>
            <p:nvSpPr>
              <p:cNvPr id="52" name="object 33">
                <a:extLst>
                  <a:ext uri="{FF2B5EF4-FFF2-40B4-BE49-F238E27FC236}">
                    <a16:creationId xmlns:a16="http://schemas.microsoft.com/office/drawing/2014/main" id="{016A61EE-44A5-673E-B50E-D78C0BB8A076}"/>
                  </a:ext>
                </a:extLst>
              </p:cNvPr>
              <p:cNvSpPr/>
              <p:nvPr/>
            </p:nvSpPr>
            <p:spPr>
              <a:xfrm>
                <a:off x="6438902" y="1289302"/>
                <a:ext cx="3586479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586479" h="723900">
                    <a:moveTo>
                      <a:pt x="3585972" y="0"/>
                    </a:moveTo>
                    <a:lnTo>
                      <a:pt x="0" y="0"/>
                    </a:lnTo>
                    <a:lnTo>
                      <a:pt x="0" y="723900"/>
                    </a:lnTo>
                    <a:lnTo>
                      <a:pt x="3585972" y="723900"/>
                    </a:lnTo>
                    <a:lnTo>
                      <a:pt x="3585972" y="622414"/>
                    </a:lnTo>
                    <a:lnTo>
                      <a:pt x="2961741" y="622414"/>
                    </a:lnTo>
                    <a:lnTo>
                      <a:pt x="3109887" y="357492"/>
                    </a:lnTo>
                    <a:lnTo>
                      <a:pt x="2961741" y="92557"/>
                    </a:lnTo>
                    <a:lnTo>
                      <a:pt x="3585972" y="92557"/>
                    </a:lnTo>
                    <a:lnTo>
                      <a:pt x="3585972" y="0"/>
                    </a:lnTo>
                    <a:close/>
                  </a:path>
                  <a:path w="3586479" h="723900">
                    <a:moveTo>
                      <a:pt x="3585972" y="92557"/>
                    </a:moveTo>
                    <a:lnTo>
                      <a:pt x="2961741" y="92557"/>
                    </a:lnTo>
                    <a:lnTo>
                      <a:pt x="3413137" y="357492"/>
                    </a:lnTo>
                    <a:lnTo>
                      <a:pt x="2961741" y="622414"/>
                    </a:lnTo>
                    <a:lnTo>
                      <a:pt x="3585972" y="622414"/>
                    </a:lnTo>
                    <a:lnTo>
                      <a:pt x="3585972" y="92557"/>
                    </a:lnTo>
                    <a:close/>
                  </a:path>
                </a:pathLst>
              </a:custGeom>
              <a:grpFill/>
            </p:spPr>
            <p:txBody>
              <a:bodyPr wrap="square" lIns="0" tIns="0" rIns="0" bIns="0" rtlCol="0"/>
              <a:lstStyle/>
              <a:p>
                <a:pPr defTabSz="1219170">
                  <a:defRPr b="1" spc="-25">
                    <a:latin typeface="Segoe UI" pitchFamily="34" charset="0"/>
                  </a:defRPr>
                </a:pPr>
                <a:endParaRPr sz="13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49" name="object 34">
              <a:extLst>
                <a:ext uri="{FF2B5EF4-FFF2-40B4-BE49-F238E27FC236}">
                  <a16:creationId xmlns:a16="http://schemas.microsoft.com/office/drawing/2014/main" id="{098BE7E3-1905-7427-9D8B-93984869AF1D}"/>
                </a:ext>
              </a:extLst>
            </p:cNvPr>
            <p:cNvSpPr txBox="1"/>
            <p:nvPr/>
          </p:nvSpPr>
          <p:spPr>
            <a:xfrm>
              <a:off x="3250928" y="1369379"/>
              <a:ext cx="1172859" cy="336631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6933" defTabSz="1219170">
                <a:spcBef>
                  <a:spcPts val="140"/>
                </a:spcBef>
                <a:defRPr b="1" spc="-25">
                  <a:latin typeface="Segoe UI" pitchFamily="34" charset="0"/>
                </a:defRPr>
              </a:pPr>
              <a:r>
                <a:rPr sz="14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100 Investments Forward</a:t>
              </a:r>
              <a:endParaRPr sz="14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260BFA-5F28-98C5-A0CB-865F7C8D2B1D}"/>
              </a:ext>
            </a:extLst>
          </p:cNvPr>
          <p:cNvGrpSpPr/>
          <p:nvPr/>
        </p:nvGrpSpPr>
        <p:grpSpPr>
          <a:xfrm>
            <a:off x="1506418" y="2123339"/>
            <a:ext cx="2022647" cy="712895"/>
            <a:chOff x="892508" y="1282197"/>
            <a:chExt cx="1516985" cy="534671"/>
          </a:xfrm>
        </p:grpSpPr>
        <p:grpSp>
          <p:nvGrpSpPr>
            <p:cNvPr id="54" name="object 35">
              <a:extLst>
                <a:ext uri="{FF2B5EF4-FFF2-40B4-BE49-F238E27FC236}">
                  <a16:creationId xmlns:a16="http://schemas.microsoft.com/office/drawing/2014/main" id="{1ACAFF21-5338-607E-926E-B95DFC25380E}"/>
                </a:ext>
              </a:extLst>
            </p:cNvPr>
            <p:cNvGrpSpPr/>
            <p:nvPr/>
          </p:nvGrpSpPr>
          <p:grpSpPr>
            <a:xfrm>
              <a:off x="892508" y="1282197"/>
              <a:ext cx="1516985" cy="534671"/>
              <a:chOff x="2141220" y="1263396"/>
              <a:chExt cx="3692651" cy="830579"/>
            </a:xfrm>
            <a:solidFill>
              <a:srgbClr val="F2F2F2"/>
            </a:solidFill>
          </p:grpSpPr>
          <p:pic>
            <p:nvPicPr>
              <p:cNvPr id="56" name="object 36">
                <a:extLst>
                  <a:ext uri="{FF2B5EF4-FFF2-40B4-BE49-F238E27FC236}">
                    <a16:creationId xmlns:a16="http://schemas.microsoft.com/office/drawing/2014/main" id="{533F555E-C1BB-2091-6083-DBBA9F1C8EC7}"/>
                  </a:ext>
                </a:extLst>
              </p:cNvPr>
              <p:cNvPicPr/>
              <p:nvPr/>
            </p:nvPicPr>
            <p:blipFill>
              <a:blip r:embed="rId5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141220" y="1263396"/>
                <a:ext cx="3692651" cy="830579"/>
              </a:xfrm>
              <a:prstGeom prst="rect">
                <a:avLst/>
              </a:prstGeom>
              <a:solidFill>
                <a:srgbClr val="F2F2F2"/>
              </a:solidFill>
            </p:spPr>
          </p:pic>
          <p:pic>
            <p:nvPicPr>
              <p:cNvPr id="57" name="object 37">
                <a:extLst>
                  <a:ext uri="{FF2B5EF4-FFF2-40B4-BE49-F238E27FC236}">
                    <a16:creationId xmlns:a16="http://schemas.microsoft.com/office/drawing/2014/main" id="{730887C2-25EF-7D32-3813-7F01D7E08E59}"/>
                  </a:ext>
                </a:extLst>
              </p:cNvPr>
              <p:cNvPicPr/>
              <p:nvPr/>
            </p:nvPicPr>
            <p:blipFill>
              <a:blip r:embed="rId6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750820" y="1464564"/>
                <a:ext cx="2470403" cy="480059"/>
              </a:xfrm>
              <a:prstGeom prst="rect">
                <a:avLst/>
              </a:prstGeom>
              <a:grpFill/>
            </p:spPr>
          </p:pic>
          <p:sp>
            <p:nvSpPr>
              <p:cNvPr id="58" name="object 38">
                <a:extLst>
                  <a:ext uri="{FF2B5EF4-FFF2-40B4-BE49-F238E27FC236}">
                    <a16:creationId xmlns:a16="http://schemas.microsoft.com/office/drawing/2014/main" id="{1D50E4C3-AD78-6236-D78F-FD63A86823AC}"/>
                  </a:ext>
                </a:extLst>
              </p:cNvPr>
              <p:cNvSpPr/>
              <p:nvPr/>
            </p:nvSpPr>
            <p:spPr>
              <a:xfrm>
                <a:off x="2167125" y="1289302"/>
                <a:ext cx="3586479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586479" h="723900">
                    <a:moveTo>
                      <a:pt x="3585972" y="0"/>
                    </a:moveTo>
                    <a:lnTo>
                      <a:pt x="0" y="0"/>
                    </a:lnTo>
                    <a:lnTo>
                      <a:pt x="0" y="723900"/>
                    </a:lnTo>
                    <a:lnTo>
                      <a:pt x="3585972" y="723900"/>
                    </a:lnTo>
                    <a:lnTo>
                      <a:pt x="3585972" y="622414"/>
                    </a:lnTo>
                    <a:lnTo>
                      <a:pt x="624230" y="622414"/>
                    </a:lnTo>
                    <a:lnTo>
                      <a:pt x="172834" y="357492"/>
                    </a:lnTo>
                    <a:lnTo>
                      <a:pt x="624230" y="92557"/>
                    </a:lnTo>
                    <a:lnTo>
                      <a:pt x="3585972" y="92557"/>
                    </a:lnTo>
                    <a:lnTo>
                      <a:pt x="3585972" y="0"/>
                    </a:lnTo>
                    <a:close/>
                  </a:path>
                  <a:path w="3586479" h="723900">
                    <a:moveTo>
                      <a:pt x="3585972" y="92557"/>
                    </a:moveTo>
                    <a:lnTo>
                      <a:pt x="624230" y="92557"/>
                    </a:lnTo>
                    <a:lnTo>
                      <a:pt x="476084" y="357492"/>
                    </a:lnTo>
                    <a:lnTo>
                      <a:pt x="624230" y="622414"/>
                    </a:lnTo>
                    <a:lnTo>
                      <a:pt x="3585972" y="622414"/>
                    </a:lnTo>
                    <a:lnTo>
                      <a:pt x="3585972" y="92557"/>
                    </a:lnTo>
                    <a:close/>
                  </a:path>
                </a:pathLst>
              </a:custGeom>
              <a:grpFill/>
            </p:spPr>
            <p:txBody>
              <a:bodyPr wrap="square" lIns="0" tIns="0" rIns="0" bIns="0" rtlCol="0"/>
              <a:lstStyle/>
              <a:p>
                <a:pPr defTabSz="1219170">
                  <a:defRPr b="1" spc="-25">
                    <a:latin typeface="Segoe UI" pitchFamily="34" charset="0"/>
                  </a:defRPr>
                </a:pPr>
                <a:endParaRPr sz="13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55" name="object 39">
              <a:extLst>
                <a:ext uri="{FF2B5EF4-FFF2-40B4-BE49-F238E27FC236}">
                  <a16:creationId xmlns:a16="http://schemas.microsoft.com/office/drawing/2014/main" id="{48997573-7D4E-BC30-E6FC-8E0F15DBE687}"/>
                </a:ext>
              </a:extLst>
            </p:cNvPr>
            <p:cNvSpPr txBox="1"/>
            <p:nvPr/>
          </p:nvSpPr>
          <p:spPr>
            <a:xfrm>
              <a:off x="1290526" y="1364321"/>
              <a:ext cx="1014870" cy="336631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6933" algn="r" defTabSz="1219170">
                <a:spcBef>
                  <a:spcPts val="140"/>
                </a:spcBef>
                <a:defRPr b="1" spc="-25">
                  <a:latin typeface="Segoe UI" pitchFamily="34" charset="0"/>
                </a:defRPr>
              </a:pPr>
              <a:r>
                <a:rPr sz="14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80 Investments Backward</a:t>
              </a:r>
              <a:endParaRPr sz="14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59" name="object 39">
            <a:extLst>
              <a:ext uri="{FF2B5EF4-FFF2-40B4-BE49-F238E27FC236}">
                <a16:creationId xmlns:a16="http://schemas.microsoft.com/office/drawing/2014/main" id="{402765BC-B185-C924-08AC-E4C67DFA8DF5}"/>
              </a:ext>
            </a:extLst>
          </p:cNvPr>
          <p:cNvSpPr txBox="1"/>
          <p:nvPr/>
        </p:nvSpPr>
        <p:spPr>
          <a:xfrm>
            <a:off x="2298885" y="1880525"/>
            <a:ext cx="2460359" cy="202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algn="ctr" defTabSz="1219170">
              <a:spcBef>
                <a:spcPts val="140"/>
              </a:spcBef>
              <a:defRPr/>
            </a:pPr>
            <a:r>
              <a:rPr lang="en-US" sz="1200" b="1" spc="-10">
                <a:solidFill>
                  <a:srgbClr val="3B3B3B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WE LOOKED AT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5EF182-EE56-A0DD-464C-15E3AC896747}"/>
              </a:ext>
            </a:extLst>
          </p:cNvPr>
          <p:cNvSpPr txBox="1"/>
          <p:nvPr/>
        </p:nvSpPr>
        <p:spPr>
          <a:xfrm>
            <a:off x="903599" y="6198949"/>
            <a:ext cx="3190240" cy="41110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defTabSz="609585">
              <a:defRPr/>
            </a:pPr>
            <a:r>
              <a:rPr lang="en-US" sz="900" i="1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*Equilar CEO Tenure Study</a:t>
            </a:r>
          </a:p>
          <a:p>
            <a:pPr defTabSz="609585">
              <a:defRPr/>
            </a:pPr>
            <a:r>
              <a:rPr lang="en-US" sz="900" i="1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** Russell Reynolds Global CEO Turnover Index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B8FBE8-F5BD-8E45-5842-639A7FF2E5BA}"/>
              </a:ext>
            </a:extLst>
          </p:cNvPr>
          <p:cNvSpPr txBox="1"/>
          <p:nvPr/>
        </p:nvSpPr>
        <p:spPr>
          <a:xfrm>
            <a:off x="2119289" y="1341379"/>
            <a:ext cx="2942275" cy="58690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 b="1" spc="-25">
                <a:latin typeface="Segoe UI" pitchFamily="34" charset="0"/>
              </a:defRPr>
            </a:pPr>
            <a:r>
              <a:rPr lang="en-US" sz="2400" b="1" spc="-25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 Private Equity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8FE132-2AB5-B402-D345-DBCFF37D56DB}"/>
              </a:ext>
            </a:extLst>
          </p:cNvPr>
          <p:cNvSpPr txBox="1"/>
          <p:nvPr/>
        </p:nvSpPr>
        <p:spPr>
          <a:xfrm>
            <a:off x="7404741" y="1341379"/>
            <a:ext cx="2942275" cy="58690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 b="1" spc="-25">
                <a:latin typeface="Segoe UI" pitchFamily="34" charset="0"/>
              </a:defRPr>
            </a:pPr>
            <a:r>
              <a:rPr lang="en-US" sz="2400" b="1" spc="-25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 S&amp;P500 Companies</a:t>
            </a:r>
          </a:p>
        </p:txBody>
      </p:sp>
      <p:sp>
        <p:nvSpPr>
          <p:cNvPr id="63" name="object 52">
            <a:extLst>
              <a:ext uri="{FF2B5EF4-FFF2-40B4-BE49-F238E27FC236}">
                <a16:creationId xmlns:a16="http://schemas.microsoft.com/office/drawing/2014/main" id="{793BA93F-7CF3-D2E6-7427-4255950072C4}"/>
              </a:ext>
            </a:extLst>
          </p:cNvPr>
          <p:cNvSpPr/>
          <p:nvPr/>
        </p:nvSpPr>
        <p:spPr>
          <a:xfrm>
            <a:off x="8985126" y="2282346"/>
            <a:ext cx="1821671" cy="2293309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" name="object 57">
            <a:extLst>
              <a:ext uri="{FF2B5EF4-FFF2-40B4-BE49-F238E27FC236}">
                <a16:creationId xmlns:a16="http://schemas.microsoft.com/office/drawing/2014/main" id="{126CEA10-FBAE-AA8F-BE11-8ECC383EC7EA}"/>
              </a:ext>
            </a:extLst>
          </p:cNvPr>
          <p:cNvSpPr txBox="1"/>
          <p:nvPr/>
        </p:nvSpPr>
        <p:spPr>
          <a:xfrm>
            <a:off x="8964054" y="2711419"/>
            <a:ext cx="1821671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48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2x</a:t>
            </a:r>
            <a:endParaRPr lang="en-US" sz="2133" spc="-10">
              <a:solidFill>
                <a:srgbClr val="281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" name="object 52">
            <a:extLst>
              <a:ext uri="{FF2B5EF4-FFF2-40B4-BE49-F238E27FC236}">
                <a16:creationId xmlns:a16="http://schemas.microsoft.com/office/drawing/2014/main" id="{8B432405-D424-E4FA-E37F-DDCED98F83B3}"/>
              </a:ext>
            </a:extLst>
          </p:cNvPr>
          <p:cNvSpPr/>
          <p:nvPr/>
        </p:nvSpPr>
        <p:spPr>
          <a:xfrm>
            <a:off x="6966099" y="2282346"/>
            <a:ext cx="1821671" cy="2293309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25008C-504A-4182-5540-F49DB1AAC581}"/>
              </a:ext>
            </a:extLst>
          </p:cNvPr>
          <p:cNvSpPr txBox="1"/>
          <p:nvPr/>
        </p:nvSpPr>
        <p:spPr>
          <a:xfrm>
            <a:off x="7048462" y="3893547"/>
            <a:ext cx="1661212" cy="5334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marL="431789" marR="435176" algn="ctr" defTabSz="1219170">
              <a:defRPr/>
            </a:pPr>
            <a:r>
              <a:rPr lang="en-US" sz="16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20% decline in </a:t>
            </a:r>
          </a:p>
          <a:p>
            <a:pPr marL="431789" marR="435176" algn="ctr" defTabSz="1219170">
              <a:defRPr/>
            </a:pPr>
            <a:r>
              <a:rPr lang="en-US" sz="16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tenures*</a:t>
            </a:r>
            <a:endParaRPr lang="en-US" sz="1600" spc="-10" baseline="24691">
              <a:solidFill>
                <a:srgbClr val="281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03CBB0-4939-6351-C46E-BE5B0A0104D0}"/>
              </a:ext>
            </a:extLst>
          </p:cNvPr>
          <p:cNvSpPr txBox="1"/>
          <p:nvPr/>
        </p:nvSpPr>
        <p:spPr>
          <a:xfrm>
            <a:off x="9079282" y="3773059"/>
            <a:ext cx="1661212" cy="32829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>
            <a:defPPr>
              <a:defRPr lang="en-US"/>
            </a:defPPr>
            <a:lvl1pPr marL="323850" marR="32639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-10" normalizeH="0" baseline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cs typeface="Arial"/>
              </a:defRPr>
            </a:lvl1pPr>
          </a:lstStyle>
          <a:p>
            <a:pPr marL="431789" marR="435176" defTabSz="1219170">
              <a:defRPr/>
            </a:pPr>
            <a:r>
              <a:rPr lang="en-US" sz="1400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CEO’s exited </a:t>
            </a:r>
          </a:p>
          <a:p>
            <a:pPr marL="431789" marR="435176" defTabSz="1219170">
              <a:defRPr/>
            </a:pPr>
            <a:r>
              <a:rPr lang="en-US" sz="1400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 the first 2 years</a:t>
            </a:r>
          </a:p>
          <a:p>
            <a:pPr marL="431789" marR="435176" defTabSz="1219170">
              <a:defRPr/>
            </a:pPr>
            <a:r>
              <a:rPr lang="en-US" sz="1400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2019 - 2024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04EE3DD-3599-9364-09FA-B646F73D1204}"/>
              </a:ext>
            </a:extLst>
          </p:cNvPr>
          <p:cNvCxnSpPr/>
          <p:nvPr/>
        </p:nvCxnSpPr>
        <p:spPr>
          <a:xfrm flipV="1">
            <a:off x="7223849" y="2355383"/>
            <a:ext cx="0" cy="1171368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75D9DFC-CC9F-DDCF-F020-8D5507869EDF}"/>
              </a:ext>
            </a:extLst>
          </p:cNvPr>
          <p:cNvCxnSpPr>
            <a:cxnSpLocks/>
          </p:cNvCxnSpPr>
          <p:nvPr/>
        </p:nvCxnSpPr>
        <p:spPr>
          <a:xfrm>
            <a:off x="7223850" y="3526751"/>
            <a:ext cx="1374589" cy="0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FA894B57-21B5-5382-41EB-03E59D11C2F6}"/>
              </a:ext>
            </a:extLst>
          </p:cNvPr>
          <p:cNvSpPr/>
          <p:nvPr/>
        </p:nvSpPr>
        <p:spPr>
          <a:xfrm>
            <a:off x="7371611" y="2616252"/>
            <a:ext cx="367551" cy="910499"/>
          </a:xfrm>
          <a:prstGeom prst="rect">
            <a:avLst/>
          </a:prstGeom>
          <a:solidFill>
            <a:srgbClr val="1D1D1D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>
                <a:solidFill>
                  <a:srgbClr val="FFFFFF"/>
                </a:solidFill>
              </a:defRPr>
            </a:pPr>
            <a:r>
              <a:rPr lang="en-US" sz="8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6 Yrs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C1B17FF-0313-D40E-CB26-950FFB9A11A1}"/>
              </a:ext>
            </a:extLst>
          </p:cNvPr>
          <p:cNvSpPr/>
          <p:nvPr/>
        </p:nvSpPr>
        <p:spPr>
          <a:xfrm>
            <a:off x="7985025" y="2806323"/>
            <a:ext cx="367551" cy="718800"/>
          </a:xfrm>
          <a:prstGeom prst="rect">
            <a:avLst/>
          </a:prstGeom>
          <a:solidFill>
            <a:srgbClr val="1D1D1D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>
                <a:solidFill>
                  <a:srgbClr val="FFFFFF"/>
                </a:solidFill>
              </a:defRPr>
            </a:pPr>
            <a:r>
              <a:rPr lang="en-US" sz="8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4.8 Yrs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924E0C-AA4C-EFB1-9D20-70E91A3D130F}"/>
              </a:ext>
            </a:extLst>
          </p:cNvPr>
          <p:cNvSpPr txBox="1"/>
          <p:nvPr/>
        </p:nvSpPr>
        <p:spPr>
          <a:xfrm>
            <a:off x="7404742" y="3567882"/>
            <a:ext cx="301287" cy="15371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667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2013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24CD18-3B80-8841-5588-CA5EAB2A38E4}"/>
              </a:ext>
            </a:extLst>
          </p:cNvPr>
          <p:cNvSpPr txBox="1"/>
          <p:nvPr/>
        </p:nvSpPr>
        <p:spPr>
          <a:xfrm>
            <a:off x="8018757" y="3567882"/>
            <a:ext cx="301287" cy="15371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667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2023</a:t>
            </a:r>
          </a:p>
        </p:txBody>
      </p:sp>
      <p:sp>
        <p:nvSpPr>
          <p:cNvPr id="74" name="object 59">
            <a:extLst>
              <a:ext uri="{FF2B5EF4-FFF2-40B4-BE49-F238E27FC236}">
                <a16:creationId xmlns:a16="http://schemas.microsoft.com/office/drawing/2014/main" id="{738A3E8E-1D48-9155-2EF7-7AEE066DDBB1}"/>
              </a:ext>
            </a:extLst>
          </p:cNvPr>
          <p:cNvSpPr/>
          <p:nvPr/>
        </p:nvSpPr>
        <p:spPr>
          <a:xfrm>
            <a:off x="1506419" y="4882012"/>
            <a:ext cx="9334952" cy="668320"/>
          </a:xfrm>
          <a:custGeom>
            <a:avLst/>
            <a:gdLst/>
            <a:ahLst/>
            <a:cxnLst/>
            <a:rect l="l" t="t" r="r" b="b"/>
            <a:pathLst>
              <a:path w="1803400" h="2390140">
                <a:moveTo>
                  <a:pt x="1802892" y="0"/>
                </a:moveTo>
                <a:lnTo>
                  <a:pt x="0" y="0"/>
                </a:lnTo>
                <a:lnTo>
                  <a:pt x="0" y="2389632"/>
                </a:lnTo>
                <a:lnTo>
                  <a:pt x="1802892" y="2389632"/>
                </a:lnTo>
                <a:lnTo>
                  <a:pt x="1802892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pPr defTabSz="1219170">
              <a:defRPr>
                <a:solidFill>
                  <a:srgbClr val="FFFFFF"/>
                </a:solidFill>
              </a:defRPr>
            </a:pPr>
            <a:endParaRPr sz="1467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5" name="object 60">
            <a:extLst>
              <a:ext uri="{FF2B5EF4-FFF2-40B4-BE49-F238E27FC236}">
                <a16:creationId xmlns:a16="http://schemas.microsoft.com/office/drawing/2014/main" id="{1F56EBE4-1C7C-9D13-C991-98D911EBF669}"/>
              </a:ext>
            </a:extLst>
          </p:cNvPr>
          <p:cNvSpPr txBox="1"/>
          <p:nvPr/>
        </p:nvSpPr>
        <p:spPr>
          <a:xfrm>
            <a:off x="1768341" y="4955050"/>
            <a:ext cx="1155136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>
                <a:solidFill>
                  <a:srgbClr val="FFFFFF"/>
                </a:solidFill>
              </a:defRPr>
            </a:pPr>
            <a:r>
              <a:rPr lang="en-US" sz="32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80%</a:t>
            </a:r>
          </a:p>
        </p:txBody>
      </p:sp>
      <p:sp>
        <p:nvSpPr>
          <p:cNvPr id="76" name="object 61">
            <a:extLst>
              <a:ext uri="{FF2B5EF4-FFF2-40B4-BE49-F238E27FC236}">
                <a16:creationId xmlns:a16="http://schemas.microsoft.com/office/drawing/2014/main" id="{CE135004-6241-242B-1677-9F53A66F013C}"/>
              </a:ext>
            </a:extLst>
          </p:cNvPr>
          <p:cNvSpPr txBox="1"/>
          <p:nvPr/>
        </p:nvSpPr>
        <p:spPr>
          <a:xfrm>
            <a:off x="2952185" y="5117817"/>
            <a:ext cx="6977491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defRPr>
                <a:solidFill>
                  <a:srgbClr val="FFFFFF"/>
                </a:solidFill>
              </a:defRPr>
            </a:pPr>
            <a:r>
              <a:rPr lang="en-US" sz="1333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Transformations on the new curve within first 12-18 Months</a:t>
            </a:r>
            <a:endParaRPr lang="en-US" sz="1333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9C97BCE-2B85-39BE-74D4-525F4E5ED01E}"/>
              </a:ext>
            </a:extLst>
          </p:cNvPr>
          <p:cNvCxnSpPr>
            <a:cxnSpLocks/>
          </p:cNvCxnSpPr>
          <p:nvPr/>
        </p:nvCxnSpPr>
        <p:spPr>
          <a:xfrm>
            <a:off x="6251333" y="1248677"/>
            <a:ext cx="0" cy="3286951"/>
          </a:xfrm>
          <a:prstGeom prst="line">
            <a:avLst/>
          </a:prstGeom>
          <a:ln w="9525"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396BCE37-B5B3-4BCC-A93D-F561B7EF99A2}" type="slidenum">
              <a:r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7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0FD6B7-B535-1C32-8A75-CEE9B87F785A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CEO Dilemma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9AC8D-AD69-6647-1438-AEE9E49D31CB}"/>
              </a:ext>
            </a:extLst>
          </p:cNvPr>
          <p:cNvSpPr txBox="1"/>
          <p:nvPr/>
        </p:nvSpPr>
        <p:spPr>
          <a:xfrm>
            <a:off x="1103415" y="5296335"/>
            <a:ext cx="3625706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i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“My Organization is not Talented Enough“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D5A9FD-9DBA-E8ED-5A39-A1A62EDCF289}"/>
              </a:ext>
            </a:extLst>
          </p:cNvPr>
          <p:cNvSpPr txBox="1"/>
          <p:nvPr/>
        </p:nvSpPr>
        <p:spPr>
          <a:xfrm>
            <a:off x="7755864" y="1850593"/>
            <a:ext cx="370192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the Top Team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042EEB-5969-125D-3F9E-31780E29AC4F}"/>
              </a:ext>
            </a:extLst>
          </p:cNvPr>
          <p:cNvSpPr txBox="1"/>
          <p:nvPr/>
        </p:nvSpPr>
        <p:spPr>
          <a:xfrm>
            <a:off x="7755864" y="3298295"/>
            <a:ext cx="370192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Learn New Things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2FF12-007F-17D8-5052-58EFCC7B3735}"/>
              </a:ext>
            </a:extLst>
          </p:cNvPr>
          <p:cNvSpPr txBox="1"/>
          <p:nvPr/>
        </p:nvSpPr>
        <p:spPr>
          <a:xfrm>
            <a:off x="7755864" y="4745998"/>
            <a:ext cx="370192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the Culture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AD701BD-5E1E-DBAB-8662-8FE5047DBA4B}"/>
              </a:ext>
            </a:extLst>
          </p:cNvPr>
          <p:cNvSpPr/>
          <p:nvPr/>
        </p:nvSpPr>
        <p:spPr>
          <a:xfrm rot="5400000">
            <a:off x="4507897" y="3338218"/>
            <a:ext cx="2221698" cy="456878"/>
          </a:xfrm>
          <a:prstGeom prst="triangle">
            <a:avLst/>
          </a:prstGeom>
          <a:solidFill>
            <a:srgbClr val="7A82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894B15-CD4B-82A9-7238-908A2D25168E}"/>
              </a:ext>
            </a:extLst>
          </p:cNvPr>
          <p:cNvGrpSpPr/>
          <p:nvPr/>
        </p:nvGrpSpPr>
        <p:grpSpPr>
          <a:xfrm>
            <a:off x="734216" y="1319286"/>
            <a:ext cx="4364104" cy="3918357"/>
            <a:chOff x="1681315" y="2094271"/>
            <a:chExt cx="2290917" cy="205692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5C38067-8634-3704-0D1B-D6796223B4D9}"/>
                </a:ext>
              </a:extLst>
            </p:cNvPr>
            <p:cNvGrpSpPr/>
            <p:nvPr/>
          </p:nvGrpSpPr>
          <p:grpSpPr>
            <a:xfrm>
              <a:off x="1681315" y="2094271"/>
              <a:ext cx="2290917" cy="2056924"/>
              <a:chOff x="1681315" y="2094271"/>
              <a:chExt cx="2290917" cy="2056924"/>
            </a:xfrm>
          </p:grpSpPr>
          <p:pic>
            <p:nvPicPr>
              <p:cNvPr id="13" name="Picture 12" descr="A picture containing shape&#10;&#10;Description automatically generated">
                <a:extLst>
                  <a:ext uri="{FF2B5EF4-FFF2-40B4-BE49-F238E27FC236}">
                    <a16:creationId xmlns:a16="http://schemas.microsoft.com/office/drawing/2014/main" id="{0271B024-A322-2B7F-4422-E08ECA8C92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rgbClr val="765FFF"/>
                  <a:srgbClr val="FFFFFF"/>
                </a:duotone>
              </a:blip>
              <a:srcRect l="9916" t="14569" r="11005" b="14430"/>
              <a:stretch/>
            </p:blipFill>
            <p:spPr>
              <a:xfrm>
                <a:off x="1681315" y="2094271"/>
                <a:ext cx="2290917" cy="2056924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D2BAC4B-1051-471B-56B4-3DADA6CBA8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053995" y="3077612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76A5E7C-2CF8-D37E-0EF1-306B900338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586132" y="2850977"/>
                <a:ext cx="457200" cy="457200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CD8F98-7097-A97C-7B51-0F16736E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043332" y="2622377"/>
              <a:ext cx="457200" cy="457200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6DB6F5-D6B2-1DE1-2ACE-7DFCAFE1C0DD}"/>
              </a:ext>
            </a:extLst>
          </p:cNvPr>
          <p:cNvSpPr/>
          <p:nvPr/>
        </p:nvSpPr>
        <p:spPr>
          <a:xfrm>
            <a:off x="6361390" y="1497513"/>
            <a:ext cx="1188720" cy="1188720"/>
          </a:xfrm>
          <a:prstGeom prst="ellipse">
            <a:avLst/>
          </a:prstGeom>
          <a:solidFill>
            <a:srgbClr val="F2F2F2"/>
          </a:solidFill>
          <a:ln w="38100"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088EAA-85A9-F6B1-6EDB-FED2B4AD7446}"/>
              </a:ext>
            </a:extLst>
          </p:cNvPr>
          <p:cNvSpPr/>
          <p:nvPr/>
        </p:nvSpPr>
        <p:spPr>
          <a:xfrm>
            <a:off x="6361390" y="2934768"/>
            <a:ext cx="1188720" cy="1188720"/>
          </a:xfrm>
          <a:prstGeom prst="ellipse">
            <a:avLst/>
          </a:prstGeom>
          <a:solidFill>
            <a:srgbClr val="F2F2F2"/>
          </a:solidFill>
          <a:ln w="38100"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424B5E1-2CD4-0DF2-985F-76820B5FA181}"/>
              </a:ext>
            </a:extLst>
          </p:cNvPr>
          <p:cNvSpPr/>
          <p:nvPr/>
        </p:nvSpPr>
        <p:spPr>
          <a:xfrm>
            <a:off x="6361390" y="4382470"/>
            <a:ext cx="1188720" cy="1188720"/>
          </a:xfrm>
          <a:prstGeom prst="ellipse">
            <a:avLst/>
          </a:prstGeom>
          <a:solidFill>
            <a:srgbClr val="F2F2F2"/>
          </a:solidFill>
          <a:ln w="38100"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6016AD-4B8A-B35B-05BE-0A9617F3037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460090" y="1614905"/>
            <a:ext cx="991320" cy="9913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CC3676D-0D16-825E-3EF0-F3DDA07A206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433765" y="3026792"/>
            <a:ext cx="1043970" cy="104397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ED19ED4-A9D0-0FCC-F0E9-CD2AC49197E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563575" y="4568489"/>
            <a:ext cx="784350" cy="784350"/>
          </a:xfrm>
          <a:prstGeom prst="rect">
            <a:avLst/>
          </a:prstGeom>
        </p:spPr>
      </p:pic>
      <p:sp>
        <p:nvSpPr>
          <p:cNvPr id="2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FC16ABE1-16E9-4769-A25E-A8DC99538B0A}" type="slidenum">
              <a:r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1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5B31C6-D0E1-3A3B-CB92-320FC0E70E2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1A786-F974-65C6-72C5-4B841B6E278D}"/>
              </a:ext>
            </a:extLst>
          </p:cNvPr>
          <p:cNvSpPr txBox="1"/>
          <p:nvPr/>
        </p:nvSpPr>
        <p:spPr>
          <a:xfrm>
            <a:off x="1719293" y="5076446"/>
            <a:ext cx="125867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Fast Start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79CA4-C73E-BEA4-80A6-B8D81ECB9012}"/>
              </a:ext>
            </a:extLst>
          </p:cNvPr>
          <p:cNvSpPr txBox="1"/>
          <p:nvPr/>
        </p:nvSpPr>
        <p:spPr>
          <a:xfrm>
            <a:off x="5445774" y="5076446"/>
            <a:ext cx="1209627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Precision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0F2AA-A9D2-403E-4954-EB62EB4BE83B}"/>
              </a:ext>
            </a:extLst>
          </p:cNvPr>
          <p:cNvSpPr txBox="1"/>
          <p:nvPr/>
        </p:nvSpPr>
        <p:spPr>
          <a:xfrm>
            <a:off x="7417855" y="3336668"/>
            <a:ext cx="3949094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sz="24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Talent in Roles </a:t>
            </a:r>
          </a:p>
          <a:p>
            <a:pPr algn="ctr"/>
            <a:r>
              <a:rPr lang="en-US" sz="24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Beyond </a:t>
            </a:r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in Roles</a:t>
            </a:r>
          </a:p>
        </p:txBody>
      </p:sp>
      <p:pic>
        <p:nvPicPr>
          <p:cNvPr id="1026" name="Picture 2" descr="Block Starts For Track: The Technique For Maximum Speed">
            <a:extLst>
              <a:ext uri="{FF2B5EF4-FFF2-40B4-BE49-F238E27FC236}">
                <a16:creationId xmlns:a16="http://schemas.microsoft.com/office/drawing/2014/main" id="{AA8636E4-F739-22C2-4729-00B10C28B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4320" y="2446151"/>
            <a:ext cx="2395958" cy="239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ccuracy vs. Precision in Measurement Explained | Eley Metrology">
            <a:extLst>
              <a:ext uri="{FF2B5EF4-FFF2-40B4-BE49-F238E27FC236}">
                <a16:creationId xmlns:a16="http://schemas.microsoft.com/office/drawing/2014/main" id="{5D6EFC59-5479-1C91-00B7-56F6078241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r="29063"/>
          <a:stretch/>
        </p:blipFill>
        <p:spPr bwMode="auto">
          <a:xfrm>
            <a:off x="4555487" y="2443972"/>
            <a:ext cx="2553992" cy="240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34AABA82-6332-431D-8801-B17DF3BD158C}" type="slidenum">
              <a:r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8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0CEFFB-4736-7A4C-AB9B-D5B9D3C6FC2A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of Talent to Value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53B7194-D59C-1FF9-3F8B-0F1C7F3D396F}"/>
              </a:ext>
            </a:extLst>
          </p:cNvPr>
          <p:cNvGrpSpPr/>
          <p:nvPr/>
        </p:nvGrpSpPr>
        <p:grpSpPr>
          <a:xfrm>
            <a:off x="2" y="2057591"/>
            <a:ext cx="12005903" cy="640099"/>
            <a:chOff x="0" y="2057590"/>
            <a:chExt cx="12005903" cy="64009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9709559-F208-DCB6-4349-4BA0435B051F}"/>
                </a:ext>
              </a:extLst>
            </p:cNvPr>
            <p:cNvSpPr/>
            <p:nvPr/>
          </p:nvSpPr>
          <p:spPr>
            <a:xfrm>
              <a:off x="0" y="2278866"/>
              <a:ext cx="11678927" cy="266146"/>
            </a:xfrm>
            <a:prstGeom prst="rect">
              <a:avLst/>
            </a:prstGeom>
            <a:solidFill>
              <a:srgbClr val="281A4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940A03E-6665-1C80-DE23-BDF4F39AE7F4}"/>
                </a:ext>
              </a:extLst>
            </p:cNvPr>
            <p:cNvGrpSpPr/>
            <p:nvPr/>
          </p:nvGrpSpPr>
          <p:grpSpPr>
            <a:xfrm>
              <a:off x="11365804" y="2057590"/>
              <a:ext cx="640099" cy="640099"/>
              <a:chOff x="7605503" y="4703426"/>
              <a:chExt cx="640099" cy="640099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B7691E0-E86B-8A72-722D-4C1BF61287E7}"/>
                  </a:ext>
                </a:extLst>
              </p:cNvPr>
              <p:cNvSpPr/>
              <p:nvPr/>
            </p:nvSpPr>
            <p:spPr>
              <a:xfrm>
                <a:off x="7605503" y="4703426"/>
                <a:ext cx="640099" cy="640099"/>
              </a:xfrm>
              <a:prstGeom prst="ellipse">
                <a:avLst/>
              </a:prstGeom>
              <a:solidFill>
                <a:srgbClr val="F2F2F2"/>
              </a:solidFill>
              <a:ln w="9525">
                <a:solidFill>
                  <a:srgbClr val="F2F2F2"/>
                </a:solidFill>
              </a:ln>
              <a:effectLst>
                <a:outerShdw blurRad="102152" sx="81000" sy="81000" algn="ctr" rotWithShape="0">
                  <a:prstClr val="black">
                    <a:alpha val="19067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0AC116DF-1BE9-0AEB-2866-1A6E131CC27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>
                <a:off x="7785268" y="4811610"/>
                <a:ext cx="332531" cy="432000"/>
              </a:xfrm>
              <a:custGeom>
                <a:avLst/>
                <a:gdLst>
                  <a:gd name="connsiteX0" fmla="*/ 227908 w 455815"/>
                  <a:gd name="connsiteY0" fmla="*/ 0 h 342813"/>
                  <a:gd name="connsiteX1" fmla="*/ 455815 w 455815"/>
                  <a:gd name="connsiteY1" fmla="*/ 342813 h 342813"/>
                  <a:gd name="connsiteX2" fmla="*/ 455814 w 455815"/>
                  <a:gd name="connsiteY2" fmla="*/ 342813 h 342813"/>
                  <a:gd name="connsiteX3" fmla="*/ 227907 w 455815"/>
                  <a:gd name="connsiteY3" fmla="*/ 277744 h 342813"/>
                  <a:gd name="connsiteX4" fmla="*/ 0 w 455815"/>
                  <a:gd name="connsiteY4" fmla="*/ 342813 h 342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815" h="342813">
                    <a:moveTo>
                      <a:pt x="227908" y="0"/>
                    </a:moveTo>
                    <a:lnTo>
                      <a:pt x="455815" y="342813"/>
                    </a:lnTo>
                    <a:lnTo>
                      <a:pt x="455814" y="342813"/>
                    </a:lnTo>
                    <a:lnTo>
                      <a:pt x="227907" y="277744"/>
                    </a:lnTo>
                    <a:lnTo>
                      <a:pt x="0" y="342813"/>
                    </a:lnTo>
                    <a:close/>
                  </a:path>
                </a:pathLst>
              </a:custGeom>
              <a:solidFill>
                <a:srgbClr val="281A42"/>
              </a:solidFill>
              <a:ln w="9525">
                <a:solidFill>
                  <a:srgbClr val="281A4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</a:defRPr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4992046-775A-D5DB-ECD3-F97C24A56FBF}"/>
              </a:ext>
            </a:extLst>
          </p:cNvPr>
          <p:cNvGrpSpPr/>
          <p:nvPr/>
        </p:nvGrpSpPr>
        <p:grpSpPr>
          <a:xfrm>
            <a:off x="3553037" y="1184807"/>
            <a:ext cx="2438401" cy="4878631"/>
            <a:chOff x="3553036" y="1184807"/>
            <a:chExt cx="2438401" cy="487863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CFE2474-48EE-ACBF-43DA-9B7AA71EF2B2}"/>
                </a:ext>
              </a:extLst>
            </p:cNvPr>
            <p:cNvSpPr/>
            <p:nvPr/>
          </p:nvSpPr>
          <p:spPr>
            <a:xfrm>
              <a:off x="3553037" y="2546177"/>
              <a:ext cx="2438400" cy="3517260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48C9B5B-B7F5-B6A8-547B-B18D912E15EE}"/>
                </a:ext>
              </a:extLst>
            </p:cNvPr>
            <p:cNvGrpSpPr/>
            <p:nvPr/>
          </p:nvGrpSpPr>
          <p:grpSpPr>
            <a:xfrm>
              <a:off x="3995151" y="1184807"/>
              <a:ext cx="1578428" cy="1576800"/>
              <a:chOff x="6130841" y="2545929"/>
              <a:chExt cx="1578428" cy="15768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4CDCBC0-D2DA-BD14-5762-7A5E9051E933}"/>
                  </a:ext>
                </a:extLst>
              </p:cNvPr>
              <p:cNvSpPr/>
              <p:nvPr/>
            </p:nvSpPr>
            <p:spPr>
              <a:xfrm>
                <a:off x="6130841" y="2545929"/>
                <a:ext cx="1578428" cy="1576800"/>
              </a:xfrm>
              <a:prstGeom prst="ellipse">
                <a:avLst/>
              </a:prstGeom>
              <a:solidFill>
                <a:srgbClr val="F2F2F2"/>
              </a:solidFill>
              <a:ln w="9525">
                <a:noFill/>
              </a:ln>
              <a:effectLst>
                <a:outerShdw blurRad="71896" dist="38099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52" name="Picture 2" descr="See the source image">
                <a:extLst>
                  <a:ext uri="{FF2B5EF4-FFF2-40B4-BE49-F238E27FC236}">
                    <a16:creationId xmlns:a16="http://schemas.microsoft.com/office/drawing/2014/main" id="{D50AE23C-FEBC-DF68-6BEC-516A43FB66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email">
                <a:duotone>
                  <a:srgbClr val="765FFF"/>
                  <a:srgbClr val="FFFFFF"/>
                </a:duotone>
              </a:blip>
              <a:srcRect/>
              <a:stretch>
                <a:fillRect/>
              </a:stretch>
            </p:blipFill>
            <p:spPr bwMode="auto">
              <a:xfrm>
                <a:off x="6508027" y="2879211"/>
                <a:ext cx="824055" cy="9118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E4871F6-D648-105C-32E5-593D31D5A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872237" y="2956647"/>
              <a:ext cx="1800000" cy="2356576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18000"/>
                </a:prstClr>
              </a:outerShdw>
            </a:effec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B8E69D1-B206-6EB5-6AC1-86B226778133}"/>
                </a:ext>
              </a:extLst>
            </p:cNvPr>
            <p:cNvSpPr txBox="1"/>
            <p:nvPr/>
          </p:nvSpPr>
          <p:spPr>
            <a:xfrm>
              <a:off x="3553036" y="5334409"/>
              <a:ext cx="2371090" cy="6975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NON- HIERARCHICAL CRITICAL ROLES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71707F3-C118-610F-D518-C575B2D58A79}"/>
              </a:ext>
            </a:extLst>
          </p:cNvPr>
          <p:cNvGrpSpPr/>
          <p:nvPr/>
        </p:nvGrpSpPr>
        <p:grpSpPr>
          <a:xfrm>
            <a:off x="8838715" y="1184807"/>
            <a:ext cx="2438400" cy="4878631"/>
            <a:chOff x="8838715" y="1184807"/>
            <a:chExt cx="2438400" cy="487863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BC1063B-A350-DEF9-4513-A1E7C5601658}"/>
                </a:ext>
              </a:extLst>
            </p:cNvPr>
            <p:cNvSpPr/>
            <p:nvPr/>
          </p:nvSpPr>
          <p:spPr>
            <a:xfrm>
              <a:off x="8838715" y="2546177"/>
              <a:ext cx="2438400" cy="3517260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867355C-85AF-111A-A1D1-F118D2CCF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018412" y="4758070"/>
              <a:ext cx="2101477" cy="422093"/>
            </a:xfrm>
            <a:prstGeom prst="rect">
              <a:avLst/>
            </a:prstGeom>
          </p:spPr>
        </p:pic>
        <p:pic>
          <p:nvPicPr>
            <p:cNvPr id="56" name="Picture 55" descr="A close up of a sign&#10;&#10;Description automatically generated">
              <a:extLst>
                <a:ext uri="{FF2B5EF4-FFF2-40B4-BE49-F238E27FC236}">
                  <a16:creationId xmlns:a16="http://schemas.microsoft.com/office/drawing/2014/main" id="{938CD613-71B7-2588-C9B3-635000A384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rgbClr val="765FFF"/>
                <a:srgbClr val="FFFFFF"/>
              </a:duotone>
            </a:blip>
            <a:srcRect l="13110" r="9653" b="1689"/>
            <a:stretch/>
          </p:blipFill>
          <p:spPr>
            <a:xfrm>
              <a:off x="9026951" y="2794166"/>
              <a:ext cx="2072781" cy="1980000"/>
            </a:xfrm>
            <a:prstGeom prst="rect">
              <a:avLst/>
            </a:prstGeom>
            <a:effectLst/>
          </p:spPr>
        </p:pic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F304D39-407C-D36B-8BB9-88F451689CC1}"/>
                </a:ext>
              </a:extLst>
            </p:cNvPr>
            <p:cNvSpPr/>
            <p:nvPr/>
          </p:nvSpPr>
          <p:spPr>
            <a:xfrm>
              <a:off x="9273029" y="1184807"/>
              <a:ext cx="1578428" cy="1576800"/>
            </a:xfrm>
            <a:prstGeom prst="ellipse">
              <a:avLst/>
            </a:prstGeom>
            <a:solidFill>
              <a:srgbClr val="F2F2F2"/>
            </a:solidFill>
            <a:ln w="9525">
              <a:noFill/>
            </a:ln>
            <a:effectLst>
              <a:outerShdw blurRad="71896" dist="38099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b="1" spc="-25">
                  <a:latin typeface="Segoe UI" pitchFamily="34" charset="0"/>
                </a:defRPr>
              </a:pPr>
              <a:endParaRPr kumimoji="0" lang="en-US" sz="1351" b="1" i="0" u="none" strike="noStrike" kern="1200" cap="none" spc="-25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BD68290-8BDC-2C7A-C608-051FC7DF5D88}"/>
                </a:ext>
              </a:extLst>
            </p:cNvPr>
            <p:cNvSpPr txBox="1"/>
            <p:nvPr/>
          </p:nvSpPr>
          <p:spPr>
            <a:xfrm>
              <a:off x="8869264" y="5334964"/>
              <a:ext cx="2371090" cy="6975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TO VALUE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4DBAF03-FCBE-528D-1C70-69C420670F8E}"/>
              </a:ext>
            </a:extLst>
          </p:cNvPr>
          <p:cNvGrpSpPr/>
          <p:nvPr/>
        </p:nvGrpSpPr>
        <p:grpSpPr>
          <a:xfrm>
            <a:off x="905511" y="1189374"/>
            <a:ext cx="2438400" cy="4864231"/>
            <a:chOff x="905510" y="1199206"/>
            <a:chExt cx="2438400" cy="486423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FBF23D7-2A44-16E3-2202-18422AF417D7}"/>
                </a:ext>
              </a:extLst>
            </p:cNvPr>
            <p:cNvSpPr/>
            <p:nvPr/>
          </p:nvSpPr>
          <p:spPr>
            <a:xfrm>
              <a:off x="905510" y="2546177"/>
              <a:ext cx="2438400" cy="3517259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E91037B0-F9AE-A090-3FD8-72A4D7400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55766" y="2895472"/>
              <a:ext cx="2376000" cy="2376000"/>
            </a:xfrm>
            <a:prstGeom prst="rect">
              <a:avLst/>
            </a:prstGeom>
            <a:effectLst/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9D68516-2B75-DE25-2419-AFCAF403786E}"/>
                </a:ext>
              </a:extLst>
            </p:cNvPr>
            <p:cNvSpPr txBox="1"/>
            <p:nvPr/>
          </p:nvSpPr>
          <p:spPr>
            <a:xfrm>
              <a:off x="934930" y="5340087"/>
              <a:ext cx="2371090" cy="6975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200 ROLES</a:t>
              </a:r>
              <a:b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1000 TALENT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4BD0647-5FD4-2282-90A2-931B8A89AA0A}"/>
                </a:ext>
              </a:extLst>
            </p:cNvPr>
            <p:cNvGrpSpPr/>
            <p:nvPr/>
          </p:nvGrpSpPr>
          <p:grpSpPr>
            <a:xfrm>
              <a:off x="1348101" y="1199206"/>
              <a:ext cx="1578428" cy="1576800"/>
              <a:chOff x="1348101" y="1199206"/>
              <a:chExt cx="1578428" cy="157680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C85E68A-3FAD-8D68-29D7-C585B34B118B}"/>
                  </a:ext>
                </a:extLst>
              </p:cNvPr>
              <p:cNvSpPr/>
              <p:nvPr/>
            </p:nvSpPr>
            <p:spPr>
              <a:xfrm>
                <a:off x="1348101" y="1199206"/>
                <a:ext cx="1578428" cy="1576800"/>
              </a:xfrm>
              <a:prstGeom prst="ellipse">
                <a:avLst/>
              </a:prstGeom>
              <a:solidFill>
                <a:srgbClr val="F2F2F2"/>
              </a:solidFill>
              <a:ln w="9525">
                <a:noFill/>
              </a:ln>
              <a:effectLst>
                <a:outerShdw blurRad="71896" dist="38099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1" spc="-25">
                    <a:latin typeface="Segoe UI" pitchFamily="34" charset="0"/>
                  </a:defRPr>
                </a:pPr>
                <a:endParaRPr kumimoji="0" lang="en-US" sz="1351" b="1" i="0" u="none" strike="noStrike" kern="1200" cap="none" spc="-25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65" name="Picture 2">
                <a:extLst>
                  <a:ext uri="{FF2B5EF4-FFF2-40B4-BE49-F238E27FC236}">
                    <a16:creationId xmlns:a16="http://schemas.microsoft.com/office/drawing/2014/main" id="{01327155-ACD3-CA4E-0F11-7ECCE07EC3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duotone>
                  <a:srgbClr val="765FFF"/>
                  <a:srgbClr val="FFFFFF"/>
                </a:duotone>
              </a:blip>
              <a:srcRect l="12634" t="9276" r="12323" b="16555"/>
              <a:stretch/>
            </p:blipFill>
            <p:spPr bwMode="auto">
              <a:xfrm>
                <a:off x="1611876" y="1393585"/>
                <a:ext cx="1019819" cy="1088584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A7E52ED-93DD-AA12-E267-B3A62858CE2F}"/>
              </a:ext>
            </a:extLst>
          </p:cNvPr>
          <p:cNvGrpSpPr/>
          <p:nvPr/>
        </p:nvGrpSpPr>
        <p:grpSpPr>
          <a:xfrm>
            <a:off x="6199593" y="1184807"/>
            <a:ext cx="2438400" cy="4878631"/>
            <a:chOff x="6199593" y="1184807"/>
            <a:chExt cx="2438400" cy="487863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AB110A3-8635-47E3-00E6-5242438E4CEA}"/>
                </a:ext>
              </a:extLst>
            </p:cNvPr>
            <p:cNvSpPr/>
            <p:nvPr/>
          </p:nvSpPr>
          <p:spPr>
            <a:xfrm>
              <a:off x="6199593" y="2546177"/>
              <a:ext cx="2438400" cy="3517260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15CBA48-5E9A-E9C0-83B6-4471E7510E9A}"/>
                </a:ext>
              </a:extLst>
            </p:cNvPr>
            <p:cNvGrpSpPr/>
            <p:nvPr/>
          </p:nvGrpSpPr>
          <p:grpSpPr>
            <a:xfrm>
              <a:off x="6585942" y="3061806"/>
              <a:ext cx="1674212" cy="2066318"/>
              <a:chOff x="6096000" y="3300740"/>
              <a:chExt cx="1884761" cy="2326178"/>
            </a:xfrm>
          </p:grpSpPr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3C87D14F-3991-C509-807B-244FF435F5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096000" y="3300740"/>
                <a:ext cx="1427561" cy="1868978"/>
              </a:xfrm>
              <a:prstGeom prst="rect">
                <a:avLst/>
              </a:prstGeom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868DA570-B45B-0BE6-0F6D-EA159F7DC6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248400" y="34531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4872D09A-BA52-3756-C2DB-E1B56D45E7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00800" y="36055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FAEB831D-7C90-81A9-4A65-D9E12B1323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553200" y="37579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9BE1847-C355-EC75-22D6-84D093D85A99}"/>
                </a:ext>
              </a:extLst>
            </p:cNvPr>
            <p:cNvSpPr txBox="1"/>
            <p:nvPr/>
          </p:nvSpPr>
          <p:spPr>
            <a:xfrm>
              <a:off x="6245010" y="5334964"/>
              <a:ext cx="2371090" cy="6975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100+ TRANSFORMATIONS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07E6E74-11EE-0DD8-9FD6-8DC0193DD06B}"/>
                </a:ext>
              </a:extLst>
            </p:cNvPr>
            <p:cNvSpPr/>
            <p:nvPr/>
          </p:nvSpPr>
          <p:spPr>
            <a:xfrm>
              <a:off x="6641707" y="1184807"/>
              <a:ext cx="1578428" cy="1576800"/>
            </a:xfrm>
            <a:prstGeom prst="ellipse">
              <a:avLst/>
            </a:prstGeom>
            <a:solidFill>
              <a:srgbClr val="F2F2F2"/>
            </a:solidFill>
            <a:ln w="9525">
              <a:noFill/>
            </a:ln>
            <a:effectLst>
              <a:outerShdw blurRad="71896" dist="38099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kumimoji="0" lang="en-US" sz="1300" b="1" i="0" u="none" strike="noStrike" kern="1200" cap="none" spc="-25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McKinsey </a:t>
              </a:r>
              <a:br>
                <a:rPr kumimoji="0" lang="en-US" sz="1300" b="1" i="0" u="none" strike="noStrike" kern="1200" cap="none" spc="-25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300" b="1" i="0" u="none" strike="noStrike" kern="1200" cap="none" spc="-25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  <a:br>
                <a:rPr kumimoji="0" lang="en-US" sz="1300" b="1" i="0" u="none" strike="noStrike" kern="1200" cap="none" spc="-25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300" b="1" i="0" u="none" strike="noStrike" kern="1200" cap="none" spc="-25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private Equity</a:t>
              </a:r>
            </a:p>
          </p:txBody>
        </p:sp>
      </p:grpSp>
      <p:pic>
        <p:nvPicPr>
          <p:cNvPr id="75" name="Picture 7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F382FF4F-B738-183D-5A3F-8849AF2D41A3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616564" y="1617073"/>
            <a:ext cx="801077" cy="736032"/>
          </a:xfrm>
          <a:prstGeom prst="rect">
            <a:avLst/>
          </a:prstGeom>
        </p:spPr>
      </p:pic>
      <p:sp>
        <p:nvSpPr>
          <p:cNvPr id="7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2086D799-8EB4-4284-BCD8-3D6A63AF8678}" type="slidenum">
              <a:r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9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84A0-B414-8CBA-FBF8-298DC374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BE0706-D551-36CD-0A44-F5B620F5DDF0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We See Ourselves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13DD9B-A6CF-2A95-998C-23023352DB54}"/>
              </a:ext>
            </a:extLst>
          </p:cNvPr>
          <p:cNvSpPr/>
          <p:nvPr/>
        </p:nvSpPr>
        <p:spPr>
          <a:xfrm>
            <a:off x="12457653" y="1787099"/>
            <a:ext cx="3163347" cy="3283801"/>
          </a:xfrm>
          <a:prstGeom prst="rect">
            <a:avLst/>
          </a:prstGeom>
          <a:solidFill>
            <a:srgbClr val="7A82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Macro Structure</a:t>
            </a:r>
          </a:p>
          <a:p>
            <a:pPr algn="ctr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Check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Origin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highlight>
                  <a:srgbClr val="765FFF"/>
                </a:highlight>
              </a:rPr>
              <a:t>Keynote Slides: Why T2V?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What is T2V: 5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1: Break the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2: Beyond the Talent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3: To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CHRO Lens: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Bringing T2V to Life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B6B1BF-58E5-5415-F869-4B5A336C2F3E}"/>
              </a:ext>
            </a:extLst>
          </p:cNvPr>
          <p:cNvGrpSpPr/>
          <p:nvPr/>
        </p:nvGrpSpPr>
        <p:grpSpPr>
          <a:xfrm>
            <a:off x="878285" y="1787099"/>
            <a:ext cx="10435430" cy="2103120"/>
            <a:chOff x="991603" y="2220243"/>
            <a:chExt cx="10435430" cy="210312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07A8AD9-10DD-02A3-C9C8-947E9EC1B1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1249440" y="2242295"/>
              <a:ext cx="1512455" cy="467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E01AD9A2-E21E-28A6-5530-21E41E108E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91603" y="3033894"/>
              <a:ext cx="2028129" cy="226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CG Logo, symbol, meaning, history, PNG, brand">
              <a:extLst>
                <a:ext uri="{FF2B5EF4-FFF2-40B4-BE49-F238E27FC236}">
                  <a16:creationId xmlns:a16="http://schemas.microsoft.com/office/drawing/2014/main" id="{ECF7E475-4193-C266-FC3A-FBFCFF138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srgbClr val="765FFF"/>
                <a:srgbClr val="FFFFFF"/>
              </a:duotone>
            </a:blip>
            <a:srcRect t="30213" b="27023"/>
            <a:stretch>
              <a:fillRect/>
            </a:stretch>
          </p:blipFill>
          <p:spPr bwMode="auto">
            <a:xfrm>
              <a:off x="1119350" y="3707133"/>
              <a:ext cx="1772635" cy="426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0A5F70F-F64E-9CE7-1140-1A0F01AEA02E}"/>
                </a:ext>
              </a:extLst>
            </p:cNvPr>
            <p:cNvSpPr/>
            <p:nvPr/>
          </p:nvSpPr>
          <p:spPr>
            <a:xfrm>
              <a:off x="3226170" y="2220243"/>
              <a:ext cx="2103120" cy="210312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Specializes in strategy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A8BD6D-DE73-E15D-FAF8-1584660591EA}"/>
                </a:ext>
              </a:extLst>
            </p:cNvPr>
            <p:cNvSpPr/>
            <p:nvPr/>
          </p:nvSpPr>
          <p:spPr>
            <a:xfrm>
              <a:off x="7010770" y="2220243"/>
              <a:ext cx="2103120" cy="210312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Specializes in talent/HR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A9BC75B-755A-A7BB-157C-7E388F1EC7F5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5475204" y="3271803"/>
              <a:ext cx="1389653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2" name="Picture 8" descr="Korn Ferry (KFY)">
              <a:extLst>
                <a:ext uri="{FF2B5EF4-FFF2-40B4-BE49-F238E27FC236}">
                  <a16:creationId xmlns:a16="http://schemas.microsoft.com/office/drawing/2014/main" id="{052835C3-71ED-0830-F705-AE1A847622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538545" y="2242295"/>
              <a:ext cx="1256825" cy="361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rofile | Create Your Account | Heidrick for Leaders | Heidrick &amp; Struggles">
              <a:extLst>
                <a:ext uri="{FF2B5EF4-FFF2-40B4-BE49-F238E27FC236}">
                  <a16:creationId xmlns:a16="http://schemas.microsoft.com/office/drawing/2014/main" id="{AE13C233-DF93-9B65-361F-174D7A73EB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259803" y="2899269"/>
              <a:ext cx="2167230" cy="361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ghSMART Logo &amp; Guidelines | ghSMART">
              <a:extLst>
                <a:ext uri="{FF2B5EF4-FFF2-40B4-BE49-F238E27FC236}">
                  <a16:creationId xmlns:a16="http://schemas.microsoft.com/office/drawing/2014/main" id="{8E1F8AEF-0F7F-C095-2AE4-774AA3C864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199622" y="3444302"/>
              <a:ext cx="1934669" cy="689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0DE84C30-D79B-D514-69BF-B30C7A957E61}"/>
              </a:ext>
            </a:extLst>
          </p:cNvPr>
          <p:cNvSpPr/>
          <p:nvPr/>
        </p:nvSpPr>
        <p:spPr>
          <a:xfrm>
            <a:off x="0" y="4630488"/>
            <a:ext cx="12192000" cy="14532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29649-891A-42E0-5EC0-E4A07CCDEFBF}"/>
              </a:ext>
            </a:extLst>
          </p:cNvPr>
          <p:cNvSpPr txBox="1"/>
          <p:nvPr/>
        </p:nvSpPr>
        <p:spPr>
          <a:xfrm>
            <a:off x="2978977" y="5026616"/>
            <a:ext cx="6234044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world has mastered the bookends of transformation, but leaves the shift up to you</a:t>
            </a:r>
          </a:p>
        </p:txBody>
      </p:sp>
      <p:sp>
        <p:nvSpPr>
          <p:cNvPr id="103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EFD9F191-D430-47C9-9C76-615C37E90E00}" type="slidenum">
              <a:r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50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8E874-7C4A-F17E-8A17-332E1921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7014AD-7D91-9B2E-7163-86106CB24D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03697" y="3429001"/>
            <a:ext cx="10549561" cy="313629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4027DC-F8F0-021C-1B3A-0E4D08A059DE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The “gearshifts” of Talent to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FFEBC-3D2F-D229-EBB6-D2F30085BC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/>
        </p:blipFill>
        <p:spPr>
          <a:xfrm>
            <a:off x="996233" y="3368573"/>
            <a:ext cx="2376000" cy="1564883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73F868-3FAD-CC41-868C-C1630D676E54}"/>
              </a:ext>
            </a:extLst>
          </p:cNvPr>
          <p:cNvSpPr txBox="1"/>
          <p:nvPr/>
        </p:nvSpPr>
        <p:spPr>
          <a:xfrm>
            <a:off x="806896" y="4988948"/>
            <a:ext cx="2767231" cy="64633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Break the Hierarchy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</a:rPr>
              <a:t>“talented where it matters”</a:t>
            </a: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41218-CAD6-F207-4E24-2435D5F46EC8}"/>
              </a:ext>
            </a:extLst>
          </p:cNvPr>
          <p:cNvSpPr txBox="1"/>
          <p:nvPr/>
        </p:nvSpPr>
        <p:spPr>
          <a:xfrm>
            <a:off x="4528986" y="4202179"/>
            <a:ext cx="2788007" cy="92333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Beyond the Talent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“70% of the execution risk”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7793D-B260-A12B-3F4C-28407427C52E}"/>
              </a:ext>
            </a:extLst>
          </p:cNvPr>
          <p:cNvSpPr txBox="1"/>
          <p:nvPr/>
        </p:nvSpPr>
        <p:spPr>
          <a:xfrm>
            <a:off x="8304157" y="3238959"/>
            <a:ext cx="3069045" cy="64633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 to VALUE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“From diagnostics to delivery” </a:t>
            </a:r>
          </a:p>
        </p:txBody>
      </p:sp>
      <p:pic>
        <p:nvPicPr>
          <p:cNvPr id="12" name="Picture 11">
            <a:hlinkClick r:id="" action="ppaction://noaction"/>
            <a:extLst>
              <a:ext uri="{FF2B5EF4-FFF2-40B4-BE49-F238E27FC236}">
                <a16:creationId xmlns:a16="http://schemas.microsoft.com/office/drawing/2014/main" id="{9DE013C5-7DC5-2BD9-291A-0A3BCB7311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755582" y="2743135"/>
            <a:ext cx="2240349" cy="1419154"/>
          </a:xfrm>
          <a:prstGeom prst="rect">
            <a:avLst/>
          </a:prstGeom>
        </p:spPr>
      </p:pic>
      <p:pic>
        <p:nvPicPr>
          <p:cNvPr id="14" name="Picture 13" descr="A picture containing shape&#10;&#10;Description automatically generated">
            <a:extLst>
              <a:ext uri="{FF2B5EF4-FFF2-40B4-BE49-F238E27FC236}">
                <a16:creationId xmlns:a16="http://schemas.microsoft.com/office/drawing/2014/main" id="{027D24A2-CB30-75F7-14EA-C9BD31026D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rgbClr val="765FFF"/>
              <a:srgbClr val="FFFFFF"/>
            </a:duotone>
          </a:blip>
          <a:srcRect l="9916" t="14569" r="11005" b="14430"/>
          <a:stretch/>
        </p:blipFill>
        <p:spPr>
          <a:xfrm>
            <a:off x="8857730" y="1599363"/>
            <a:ext cx="1893320" cy="16999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523E300-DBBE-908E-2245-EBFC0F99870C}"/>
              </a:ext>
            </a:extLst>
          </p:cNvPr>
          <p:cNvSpPr/>
          <p:nvPr/>
        </p:nvSpPr>
        <p:spPr>
          <a:xfrm>
            <a:off x="12457653" y="1787099"/>
            <a:ext cx="3163347" cy="3283801"/>
          </a:xfrm>
          <a:prstGeom prst="rect">
            <a:avLst/>
          </a:prstGeom>
          <a:solidFill>
            <a:srgbClr val="7A82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Macro Structure</a:t>
            </a:r>
          </a:p>
          <a:p>
            <a:pPr algn="ctr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Check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Origin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highlight>
                  <a:srgbClr val="765FFF"/>
                </a:highlight>
              </a:rPr>
              <a:t>Keynote Slides: Why T2V?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What is T2V: 5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1: Break the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2: Beyond the Talent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3: To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CHRO Lens: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Bringing T2V to Life</a:t>
            </a:r>
          </a:p>
        </p:txBody>
      </p:sp>
      <p:sp>
        <p:nvSpPr>
          <p:cNvPr id="1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9380785B-FB30-4ADF-85F6-DE9FA988B2BA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94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2227-ABA3-A605-227D-923C264F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D5C212-58C0-76DE-A791-6F92E34B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</p:spPr>
        <p:txBody>
          <a:bodyPr/>
          <a:lstStyle/>
          <a:p>
            <a:r>
              <a:rPr lang="en-US" dirty="0"/>
              <a:t>One Methodology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B4DAC-98A5-69A5-335E-0F376CF0E9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</p:spPr>
        <p:txBody>
          <a:bodyPr/>
          <a:lstStyle/>
          <a:p>
            <a:r>
              <a:rPr lang="en-US" dirty="0"/>
              <a:t>Sized to purpose</a:t>
            </a:r>
          </a:p>
        </p:txBody>
      </p:sp>
      <p:sp>
        <p:nvSpPr>
          <p:cNvPr id="15" name="SlideNumber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8962966A-6917-4FB7-8863-D609E8D77695}" type="slidenum">
              <a:rPr lang="en-US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BE499-2284-B8FE-06E7-E6732E5BCE5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86686" y="4339037"/>
            <a:ext cx="1886803" cy="2209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82941A-FFC2-1E22-CB83-C63EB98277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586256" y="39435"/>
            <a:ext cx="4054654" cy="65952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ABF421-BBDB-4DCD-2433-9F44FAFAFEF5}"/>
              </a:ext>
            </a:extLst>
          </p:cNvPr>
          <p:cNvSpPr txBox="1"/>
          <p:nvPr/>
        </p:nvSpPr>
        <p:spPr>
          <a:xfrm>
            <a:off x="398361" y="4789456"/>
            <a:ext cx="1893467" cy="159268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$49M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57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Employees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10X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CA008-F2F7-4B8B-4913-84A6F40B65A0}"/>
              </a:ext>
            </a:extLst>
          </p:cNvPr>
          <p:cNvSpPr txBox="1"/>
          <p:nvPr/>
        </p:nvSpPr>
        <p:spPr>
          <a:xfrm>
            <a:off x="9227229" y="2847541"/>
            <a:ext cx="2794355" cy="159268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$160B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150,000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Employees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2X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0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4DCB1-BAF4-FAEC-DEC5-E8C60213FE9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Our Mission</a:t>
            </a:r>
          </a:p>
        </p:txBody>
      </p:sp>
      <p:pic>
        <p:nvPicPr>
          <p:cNvPr id="8194" name="Picture 2" descr="On this day in history, Jan. 9, 2007, Steve Jobs introduces Apple iPhone at  Macworld in San Francisco">
            <a:extLst>
              <a:ext uri="{FF2B5EF4-FFF2-40B4-BE49-F238E27FC236}">
                <a16:creationId xmlns:a16="http://schemas.microsoft.com/office/drawing/2014/main" id="{B94B5BAD-E2D9-9FAF-82CF-4E65254A9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0" y="-1"/>
            <a:ext cx="12185795" cy="810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DD7742-AA36-6772-84F2-E406D6CFEB4A}"/>
              </a:ext>
            </a:extLst>
          </p:cNvPr>
          <p:cNvSpPr txBox="1"/>
          <p:nvPr/>
        </p:nvSpPr>
        <p:spPr>
          <a:xfrm>
            <a:off x="8044405" y="3429000"/>
            <a:ext cx="1636987" cy="175432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3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ONE</a:t>
            </a:r>
          </a:p>
          <a:p>
            <a:r>
              <a:rPr lang="en-US" sz="3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MORE</a:t>
            </a:r>
          </a:p>
          <a:p>
            <a:r>
              <a:rPr lang="en-US" sz="3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THING</a:t>
            </a:r>
          </a:p>
        </p:txBody>
      </p:sp>
      <p:sp>
        <p:nvSpPr>
          <p:cNvPr id="819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FC603477-FCDD-44C2-957E-D229B6A27DB4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7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88EAA0-96A5-E337-A096-9E305D701B1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Helps Answer….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310335-F29C-079E-1F62-C3A52254F940}"/>
              </a:ext>
            </a:extLst>
          </p:cNvPr>
          <p:cNvGrpSpPr/>
          <p:nvPr/>
        </p:nvGrpSpPr>
        <p:grpSpPr>
          <a:xfrm>
            <a:off x="1341912" y="1739648"/>
            <a:ext cx="9508175" cy="523220"/>
            <a:chOff x="1820506" y="1429406"/>
            <a:chExt cx="9508175" cy="5232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F558A3-5C9B-C49A-A7C4-1DEF91991518}"/>
                </a:ext>
              </a:extLst>
            </p:cNvPr>
            <p:cNvSpPr txBox="1"/>
            <p:nvPr/>
          </p:nvSpPr>
          <p:spPr>
            <a:xfrm>
              <a:off x="2385579" y="1521740"/>
              <a:ext cx="8943102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US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Do you have the right leadership team?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711D2E-13F0-4D06-3D99-031D12BC9D90}"/>
                </a:ext>
              </a:extLst>
            </p:cNvPr>
            <p:cNvSpPr txBox="1"/>
            <p:nvPr/>
          </p:nvSpPr>
          <p:spPr>
            <a:xfrm>
              <a:off x="1820506" y="1429406"/>
              <a:ext cx="582852" cy="523220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IN" sz="28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01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41412F-FFFE-43E1-9A78-3A23555242A8}"/>
              </a:ext>
            </a:extLst>
          </p:cNvPr>
          <p:cNvCxnSpPr/>
          <p:nvPr/>
        </p:nvCxnSpPr>
        <p:spPr>
          <a:xfrm>
            <a:off x="1344003" y="2443903"/>
            <a:ext cx="9189226" cy="0"/>
          </a:xfrm>
          <a:prstGeom prst="line">
            <a:avLst/>
          </a:prstGeom>
          <a:ln>
            <a:solidFill>
              <a:srgbClr val="1D1D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B12932-14AB-CC9F-25B8-1726696D4635}"/>
              </a:ext>
            </a:extLst>
          </p:cNvPr>
          <p:cNvGrpSpPr/>
          <p:nvPr/>
        </p:nvGrpSpPr>
        <p:grpSpPr>
          <a:xfrm>
            <a:off x="1341912" y="2563382"/>
            <a:ext cx="10066707" cy="523220"/>
            <a:chOff x="1820506" y="2214604"/>
            <a:chExt cx="10066707" cy="5232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2B5CEA-51A7-0954-7C3D-45B97907756C}"/>
                </a:ext>
              </a:extLst>
            </p:cNvPr>
            <p:cNvSpPr txBox="1"/>
            <p:nvPr/>
          </p:nvSpPr>
          <p:spPr>
            <a:xfrm>
              <a:off x="2385579" y="2306936"/>
              <a:ext cx="9501634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US" spc="-10" dirty="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Do you know the 20-30 critical roles across the organization that deliver 80% of value?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C93464-15BE-ECD2-DF79-8E5BA4C1A1D3}"/>
                </a:ext>
              </a:extLst>
            </p:cNvPr>
            <p:cNvSpPr txBox="1"/>
            <p:nvPr/>
          </p:nvSpPr>
          <p:spPr>
            <a:xfrm>
              <a:off x="1820506" y="2214604"/>
              <a:ext cx="582852" cy="523220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IN" sz="28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02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C9E2B6-4653-4579-30E2-A56C4045E8B7}"/>
              </a:ext>
            </a:extLst>
          </p:cNvPr>
          <p:cNvCxnSpPr/>
          <p:nvPr/>
        </p:nvCxnSpPr>
        <p:spPr>
          <a:xfrm>
            <a:off x="1344003" y="3267636"/>
            <a:ext cx="9189224" cy="0"/>
          </a:xfrm>
          <a:prstGeom prst="line">
            <a:avLst/>
          </a:prstGeom>
          <a:ln>
            <a:solidFill>
              <a:srgbClr val="1D1D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B0EBC10-5540-E16F-4635-AA961758C5E8}"/>
              </a:ext>
            </a:extLst>
          </p:cNvPr>
          <p:cNvGrpSpPr/>
          <p:nvPr/>
        </p:nvGrpSpPr>
        <p:grpSpPr>
          <a:xfrm>
            <a:off x="1341912" y="3387115"/>
            <a:ext cx="8489574" cy="523220"/>
            <a:chOff x="1820506" y="3104168"/>
            <a:chExt cx="8489574" cy="52322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E86585-04AE-6692-E9C9-1E30DE990F30}"/>
                </a:ext>
              </a:extLst>
            </p:cNvPr>
            <p:cNvSpPr txBox="1"/>
            <p:nvPr/>
          </p:nvSpPr>
          <p:spPr>
            <a:xfrm>
              <a:off x="2385574" y="3196501"/>
              <a:ext cx="7924506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US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Do you have a minimally invasive plan to win?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FA7F27F-9724-7CCF-CA15-F7E5AC38290A}"/>
                </a:ext>
              </a:extLst>
            </p:cNvPr>
            <p:cNvSpPr txBox="1"/>
            <p:nvPr/>
          </p:nvSpPr>
          <p:spPr>
            <a:xfrm>
              <a:off x="1820506" y="3104168"/>
              <a:ext cx="582852" cy="523220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IN" sz="28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03</a:t>
              </a: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A967D1-E0FA-08E9-2657-D3DF29893A42}"/>
              </a:ext>
            </a:extLst>
          </p:cNvPr>
          <p:cNvCxnSpPr/>
          <p:nvPr/>
        </p:nvCxnSpPr>
        <p:spPr>
          <a:xfrm>
            <a:off x="1344003" y="4091370"/>
            <a:ext cx="9189227" cy="0"/>
          </a:xfrm>
          <a:prstGeom prst="line">
            <a:avLst/>
          </a:prstGeom>
          <a:ln>
            <a:solidFill>
              <a:srgbClr val="1D1D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AE9C63-F761-63FE-D1EC-F2A84DC8B0A3}"/>
              </a:ext>
            </a:extLst>
          </p:cNvPr>
          <p:cNvGrpSpPr/>
          <p:nvPr/>
        </p:nvGrpSpPr>
        <p:grpSpPr>
          <a:xfrm>
            <a:off x="1341912" y="4210849"/>
            <a:ext cx="8489571" cy="523220"/>
            <a:chOff x="1820506" y="3917641"/>
            <a:chExt cx="8489571" cy="52322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B240F60-5BC7-FC43-E7D5-D7DC1B400DB1}"/>
                </a:ext>
              </a:extLst>
            </p:cNvPr>
            <p:cNvSpPr txBox="1"/>
            <p:nvPr/>
          </p:nvSpPr>
          <p:spPr>
            <a:xfrm>
              <a:off x="2385574" y="4009974"/>
              <a:ext cx="7924503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US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Is the organization designed for success?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81E309B-4FF1-A69B-697C-408BE64DCEFB}"/>
                </a:ext>
              </a:extLst>
            </p:cNvPr>
            <p:cNvSpPr txBox="1"/>
            <p:nvPr/>
          </p:nvSpPr>
          <p:spPr>
            <a:xfrm>
              <a:off x="1820506" y="3917641"/>
              <a:ext cx="582852" cy="523220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IN" sz="28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04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E221B90-71B8-F07A-81E6-02BD8B1931C6}"/>
              </a:ext>
            </a:extLst>
          </p:cNvPr>
          <p:cNvCxnSpPr/>
          <p:nvPr/>
        </p:nvCxnSpPr>
        <p:spPr>
          <a:xfrm>
            <a:off x="1344003" y="4915104"/>
            <a:ext cx="9189227" cy="0"/>
          </a:xfrm>
          <a:prstGeom prst="line">
            <a:avLst/>
          </a:prstGeom>
          <a:ln>
            <a:solidFill>
              <a:srgbClr val="1D1D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79F34E9-A144-A242-2641-C3D21EBE2C6C}"/>
              </a:ext>
            </a:extLst>
          </p:cNvPr>
          <p:cNvGrpSpPr/>
          <p:nvPr/>
        </p:nvGrpSpPr>
        <p:grpSpPr>
          <a:xfrm>
            <a:off x="1341912" y="5034583"/>
            <a:ext cx="8489574" cy="523220"/>
            <a:chOff x="1820506" y="4707962"/>
            <a:chExt cx="8489574" cy="52322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E3DEB3D-7441-97CC-F9B7-400B3A2BB4AB}"/>
                </a:ext>
              </a:extLst>
            </p:cNvPr>
            <p:cNvSpPr txBox="1"/>
            <p:nvPr/>
          </p:nvSpPr>
          <p:spPr>
            <a:xfrm>
              <a:off x="2385574" y="4800294"/>
              <a:ext cx="7924506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US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Is there enough capability to deliver the ambition?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66CF55-A790-53D9-94AD-9AF728301D4A}"/>
                </a:ext>
              </a:extLst>
            </p:cNvPr>
            <p:cNvSpPr txBox="1"/>
            <p:nvPr/>
          </p:nvSpPr>
          <p:spPr>
            <a:xfrm>
              <a:off x="1820506" y="4707962"/>
              <a:ext cx="582852" cy="523220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IN" sz="28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05</a:t>
              </a: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7DCBF3E-4DF8-649E-86DD-C298FA994141}"/>
              </a:ext>
            </a:extLst>
          </p:cNvPr>
          <p:cNvCxnSpPr/>
          <p:nvPr/>
        </p:nvCxnSpPr>
        <p:spPr>
          <a:xfrm>
            <a:off x="1344000" y="5738835"/>
            <a:ext cx="9189230" cy="0"/>
          </a:xfrm>
          <a:prstGeom prst="line">
            <a:avLst/>
          </a:prstGeom>
          <a:ln>
            <a:solidFill>
              <a:srgbClr val="1D1D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1503BDD5-3ABB-4BB1-8DB4-BC704D7B7BAB}" type="slidenum">
              <a:r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7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F6D1CC-7AAA-1A85-0CE0-AC132EE821DD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from Ceo’s Lens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535117-61C3-1FBF-CDF6-EF76400B0B91}"/>
              </a:ext>
            </a:extLst>
          </p:cNvPr>
          <p:cNvSpPr txBox="1"/>
          <p:nvPr/>
        </p:nvSpPr>
        <p:spPr>
          <a:xfrm>
            <a:off x="426995" y="1761181"/>
            <a:ext cx="2072639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2F2F2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</a:t>
            </a:r>
          </a:p>
          <a:p>
            <a:pPr algn="ctr" defTabSz="609585">
              <a:defRPr/>
            </a:pPr>
            <a:r>
              <a:rPr lang="en-US" sz="16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money?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0E9F08-287B-B795-2B97-60F69B0A1CDF}"/>
              </a:ext>
            </a:extLst>
          </p:cNvPr>
          <p:cNvSpPr txBox="1"/>
          <p:nvPr/>
        </p:nvSpPr>
        <p:spPr>
          <a:xfrm>
            <a:off x="2774749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2F2F2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I want </a:t>
            </a:r>
          </a:p>
          <a:p>
            <a:pPr algn="ctr" defTabSz="609585">
              <a:defRPr/>
            </a:pPr>
            <a:r>
              <a:rPr lang="en-US" sz="1600" spc="-10">
                <a:solidFill>
                  <a:srgbClr val="F2F2F2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en-US" sz="16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6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run the place?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C47851-DA7A-2376-2230-A5CD43F49D2A}"/>
              </a:ext>
            </a:extLst>
          </p:cNvPr>
          <p:cNvSpPr txBox="1"/>
          <p:nvPr/>
        </p:nvSpPr>
        <p:spPr>
          <a:xfrm>
            <a:off x="7470261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2F2F2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 we have </a:t>
            </a:r>
          </a:p>
          <a:p>
            <a:pPr algn="ctr" defTabSz="609585">
              <a:defRPr/>
            </a:pPr>
            <a:r>
              <a:rPr lang="en-US" sz="16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enough talent </a:t>
            </a:r>
          </a:p>
          <a:p>
            <a:pPr algn="ctr" defTabSz="609585">
              <a:defRPr/>
            </a:pPr>
            <a:r>
              <a:rPr lang="en-US" sz="1600" spc="-10">
                <a:solidFill>
                  <a:srgbClr val="F2F2F2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at our critical roles?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9CB85E-0CC5-018B-4D9E-1790E1C9878D}"/>
              </a:ext>
            </a:extLst>
          </p:cNvPr>
          <p:cNvSpPr txBox="1"/>
          <p:nvPr/>
        </p:nvSpPr>
        <p:spPr>
          <a:xfrm>
            <a:off x="9818016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2F2F2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</a:t>
            </a:r>
          </a:p>
          <a:p>
            <a:pPr algn="ctr" defTabSz="609585">
              <a:defRPr/>
            </a:pPr>
            <a:r>
              <a:rPr lang="en-US" sz="16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6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enabling success </a:t>
            </a:r>
          </a:p>
          <a:p>
            <a:pPr algn="ctr" defTabSz="609585">
              <a:defRPr/>
            </a:pPr>
            <a:r>
              <a:rPr lang="en-US" sz="1600" spc="-10">
                <a:solidFill>
                  <a:srgbClr val="F2F2F2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at our critical roles?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A421D0-2E97-1A1A-55F3-A266B143B89B}"/>
              </a:ext>
            </a:extLst>
          </p:cNvPr>
          <p:cNvGrpSpPr/>
          <p:nvPr/>
        </p:nvGrpSpPr>
        <p:grpSpPr>
          <a:xfrm>
            <a:off x="426996" y="2939272"/>
            <a:ext cx="2072640" cy="2166257"/>
            <a:chOff x="387702" y="2367644"/>
            <a:chExt cx="1554480" cy="1624693"/>
          </a:xfrm>
        </p:grpSpPr>
        <p:sp>
          <p:nvSpPr>
            <p:cNvPr id="42" name="Rectangle: Rounded Corners 35">
              <a:extLst>
                <a:ext uri="{FF2B5EF4-FFF2-40B4-BE49-F238E27FC236}">
                  <a16:creationId xmlns:a16="http://schemas.microsoft.com/office/drawing/2014/main" id="{EC3F65A7-5FF9-AAE0-BCB2-D5AB219FC701}"/>
                </a:ext>
              </a:extLst>
            </p:cNvPr>
            <p:cNvSpPr/>
            <p:nvPr/>
          </p:nvSpPr>
          <p:spPr>
            <a:xfrm>
              <a:off x="387702" y="2367644"/>
              <a:ext cx="1554480" cy="1624693"/>
            </a:xfrm>
            <a:prstGeom prst="roundRect">
              <a:avLst>
                <a:gd name="adj" fmla="val 11707"/>
              </a:avLst>
            </a:prstGeom>
            <a:solidFill>
              <a:srgbClr val="F2F2F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spc="-10" err="1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6B4742-681B-535C-48A4-A3699850D50C}"/>
                </a:ext>
              </a:extLst>
            </p:cNvPr>
            <p:cNvSpPr txBox="1"/>
            <p:nvPr/>
          </p:nvSpPr>
          <p:spPr>
            <a:xfrm>
              <a:off x="479142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>
                  <a:solidFill>
                    <a:srgbClr val="1D1D1D"/>
                  </a:solidFill>
                </a:defRPr>
              </a:pPr>
              <a:r>
                <a:rPr lang="en-US" sz="1333" b="1" u="sng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 Agenda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2D2EAE3-A9AC-F333-53FC-7A18CEB3A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519598" y="2750923"/>
              <a:ext cx="1290688" cy="5438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AF4A5E1-CA66-F71D-F3F7-03E306B5834C}"/>
              </a:ext>
            </a:extLst>
          </p:cNvPr>
          <p:cNvGrpSpPr/>
          <p:nvPr/>
        </p:nvGrpSpPr>
        <p:grpSpPr>
          <a:xfrm>
            <a:off x="7470260" y="2939271"/>
            <a:ext cx="2072640" cy="2166257"/>
            <a:chOff x="5778489" y="2367643"/>
            <a:chExt cx="1554480" cy="1624693"/>
          </a:xfrm>
        </p:grpSpPr>
        <p:sp>
          <p:nvSpPr>
            <p:cNvPr id="46" name="Rectangle: Rounded Corners 37">
              <a:extLst>
                <a:ext uri="{FF2B5EF4-FFF2-40B4-BE49-F238E27FC236}">
                  <a16:creationId xmlns:a16="http://schemas.microsoft.com/office/drawing/2014/main" id="{20D6AA70-7C4C-A6DE-31EF-418A412E74E9}"/>
                </a:ext>
              </a:extLst>
            </p:cNvPr>
            <p:cNvSpPr/>
            <p:nvPr/>
          </p:nvSpPr>
          <p:spPr>
            <a:xfrm>
              <a:off x="5778489" y="2367643"/>
              <a:ext cx="1554480" cy="1624693"/>
            </a:xfrm>
            <a:prstGeom prst="roundRect">
              <a:avLst/>
            </a:prstGeom>
            <a:solidFill>
              <a:srgbClr val="F2F2F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spc="-10" err="1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77DCF33-5627-7DC7-58FD-945E18E632FC}"/>
                </a:ext>
              </a:extLst>
            </p:cNvPr>
            <p:cNvSpPr txBox="1"/>
            <p:nvPr/>
          </p:nvSpPr>
          <p:spPr>
            <a:xfrm>
              <a:off x="5869929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>
                  <a:solidFill>
                    <a:srgbClr val="1D1D1D"/>
                  </a:solidFill>
                </a:defRPr>
              </a:pPr>
              <a:r>
                <a:rPr lang="en-US" sz="1333" b="1" u="sng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Capital</a:t>
              </a:r>
            </a:p>
            <a:p>
              <a:pPr algn="ctr" defTabSz="609585">
                <a:defRPr>
                  <a:solidFill>
                    <a:srgbClr val="1D1D1D"/>
                  </a:solidFill>
                </a:defRPr>
              </a:pPr>
              <a:r>
                <a:rPr lang="en-US" sz="1333" b="1" u="sng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Balance Sheet</a:t>
              </a:r>
            </a:p>
          </p:txBody>
        </p:sp>
        <p:pic>
          <p:nvPicPr>
            <p:cNvPr id="48" name="Picture 2">
              <a:extLst>
                <a:ext uri="{FF2B5EF4-FFF2-40B4-BE49-F238E27FC236}">
                  <a16:creationId xmlns:a16="http://schemas.microsoft.com/office/drawing/2014/main" id="{1B5276E9-1D99-ADBA-7730-F83F3855F5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rgbClr val="765FFF"/>
                <a:srgbClr val="FFFFFF"/>
              </a:duotone>
            </a:blip>
            <a:srcRect l="47100" r="13892"/>
            <a:stretch/>
          </p:blipFill>
          <p:spPr bwMode="auto">
            <a:xfrm>
              <a:off x="6213475" y="2588581"/>
              <a:ext cx="684508" cy="83503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D1241D7-A646-5E91-BD15-D2C17958F5B6}"/>
              </a:ext>
            </a:extLst>
          </p:cNvPr>
          <p:cNvGrpSpPr/>
          <p:nvPr/>
        </p:nvGrpSpPr>
        <p:grpSpPr>
          <a:xfrm>
            <a:off x="9818016" y="2939270"/>
            <a:ext cx="2072640" cy="2166257"/>
            <a:chOff x="7449186" y="2367643"/>
            <a:chExt cx="1554480" cy="1624693"/>
          </a:xfrm>
        </p:grpSpPr>
        <p:sp>
          <p:nvSpPr>
            <p:cNvPr id="50" name="Rectangle: Rounded Corners 39">
              <a:extLst>
                <a:ext uri="{FF2B5EF4-FFF2-40B4-BE49-F238E27FC236}">
                  <a16:creationId xmlns:a16="http://schemas.microsoft.com/office/drawing/2014/main" id="{361A0F24-9C24-5120-3BF6-176D0E4F47F6}"/>
                </a:ext>
              </a:extLst>
            </p:cNvPr>
            <p:cNvSpPr/>
            <p:nvPr/>
          </p:nvSpPr>
          <p:spPr>
            <a:xfrm>
              <a:off x="7449186" y="2367643"/>
              <a:ext cx="1554480" cy="1624693"/>
            </a:xfrm>
            <a:prstGeom prst="roundRect">
              <a:avLst/>
            </a:prstGeom>
            <a:solidFill>
              <a:srgbClr val="F2F2F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spc="-10" err="1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6361CEE-F69F-8AB4-0E9A-F789DA44AA6E}"/>
                </a:ext>
              </a:extLst>
            </p:cNvPr>
            <p:cNvSpPr txBox="1"/>
            <p:nvPr/>
          </p:nvSpPr>
          <p:spPr>
            <a:xfrm>
              <a:off x="7540626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>
                  <a:solidFill>
                    <a:srgbClr val="1D1D1D"/>
                  </a:solidFill>
                </a:defRPr>
              </a:pPr>
              <a:r>
                <a:rPr lang="en-US" sz="1333" b="1" u="sng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Mobilize the Value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CEF5FF0-4545-CC89-D758-DB4EB299A20F}"/>
              </a:ext>
            </a:extLst>
          </p:cNvPr>
          <p:cNvSpPr txBox="1"/>
          <p:nvPr/>
        </p:nvSpPr>
        <p:spPr>
          <a:xfrm>
            <a:off x="5122505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2F2F2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my leadership </a:t>
            </a:r>
            <a:r>
              <a:rPr lang="en-US" sz="16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team ready</a:t>
            </a:r>
            <a:r>
              <a:rPr lang="en-US" sz="1600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D782F85-9E74-CD02-296B-62AAFB8CE51C}"/>
              </a:ext>
            </a:extLst>
          </p:cNvPr>
          <p:cNvGrpSpPr/>
          <p:nvPr/>
        </p:nvGrpSpPr>
        <p:grpSpPr>
          <a:xfrm>
            <a:off x="2637193" y="1753454"/>
            <a:ext cx="7043264" cy="3352073"/>
            <a:chOff x="2045350" y="1200150"/>
            <a:chExt cx="5282448" cy="2743201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0436D71-BB7A-1E36-BB61-6F7C144AE29F}"/>
                </a:ext>
              </a:extLst>
            </p:cNvPr>
            <p:cNvCxnSpPr>
              <a:cxnSpLocks/>
            </p:cNvCxnSpPr>
            <p:nvPr/>
          </p:nvCxnSpPr>
          <p:spPr>
            <a:xfrm>
              <a:off x="2045350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9946674-421F-C98F-75B0-0AD19C967DD0}"/>
                </a:ext>
              </a:extLst>
            </p:cNvPr>
            <p:cNvCxnSpPr>
              <a:cxnSpLocks/>
            </p:cNvCxnSpPr>
            <p:nvPr/>
          </p:nvCxnSpPr>
          <p:spPr>
            <a:xfrm>
              <a:off x="3806166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CB29EA9-7066-038D-A4BD-D9D12A77AF8F}"/>
                </a:ext>
              </a:extLst>
            </p:cNvPr>
            <p:cNvCxnSpPr>
              <a:cxnSpLocks/>
            </p:cNvCxnSpPr>
            <p:nvPr/>
          </p:nvCxnSpPr>
          <p:spPr>
            <a:xfrm>
              <a:off x="7327798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04AE0FC-A98D-1295-F422-554E540F7A55}"/>
                </a:ext>
              </a:extLst>
            </p:cNvPr>
            <p:cNvCxnSpPr>
              <a:cxnSpLocks/>
            </p:cNvCxnSpPr>
            <p:nvPr/>
          </p:nvCxnSpPr>
          <p:spPr>
            <a:xfrm>
              <a:off x="5566982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8EF37A4-FD3D-951D-422B-9E5270A4D40C}"/>
              </a:ext>
            </a:extLst>
          </p:cNvPr>
          <p:cNvGrpSpPr/>
          <p:nvPr/>
        </p:nvGrpSpPr>
        <p:grpSpPr>
          <a:xfrm>
            <a:off x="2774751" y="2939271"/>
            <a:ext cx="2072640" cy="2166257"/>
            <a:chOff x="2145902" y="2367643"/>
            <a:chExt cx="1554480" cy="1624693"/>
          </a:xfrm>
        </p:grpSpPr>
        <p:sp>
          <p:nvSpPr>
            <p:cNvPr id="59" name="Rectangle: Rounded Corners 36">
              <a:extLst>
                <a:ext uri="{FF2B5EF4-FFF2-40B4-BE49-F238E27FC236}">
                  <a16:creationId xmlns:a16="http://schemas.microsoft.com/office/drawing/2014/main" id="{06939915-9FF1-AB85-0431-479ED8050B43}"/>
                </a:ext>
              </a:extLst>
            </p:cNvPr>
            <p:cNvSpPr/>
            <p:nvPr/>
          </p:nvSpPr>
          <p:spPr>
            <a:xfrm>
              <a:off x="2145902" y="2367643"/>
              <a:ext cx="1554480" cy="1624693"/>
            </a:xfrm>
            <a:prstGeom prst="roundRect">
              <a:avLst/>
            </a:prstGeom>
            <a:solidFill>
              <a:srgbClr val="F2F2F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spc="-10" err="1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486591F-A6E4-8FA0-AB2A-86B8B1F08778}"/>
                </a:ext>
              </a:extLst>
            </p:cNvPr>
            <p:cNvSpPr txBox="1"/>
            <p:nvPr/>
          </p:nvSpPr>
          <p:spPr>
            <a:xfrm>
              <a:off x="2237342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>
                  <a:solidFill>
                    <a:srgbClr val="1D1D1D"/>
                  </a:solidFill>
                </a:defRPr>
              </a:pPr>
              <a:r>
                <a:rPr lang="en-US" sz="1333" b="1" u="sng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Operating Model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6EF3370-4C24-15B8-2EB5-0EEC50BEB47C}"/>
                </a:ext>
              </a:extLst>
            </p:cNvPr>
            <p:cNvGrpSpPr/>
            <p:nvPr/>
          </p:nvGrpSpPr>
          <p:grpSpPr>
            <a:xfrm>
              <a:off x="2488189" y="2571750"/>
              <a:ext cx="869906" cy="919853"/>
              <a:chOff x="2447627" y="2571750"/>
              <a:chExt cx="869906" cy="919853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186607B0-F4A4-F47E-B788-463A3C32C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447627" y="2571750"/>
                <a:ext cx="869906" cy="919853"/>
              </a:xfrm>
              <a:prstGeom prst="rect">
                <a:avLst/>
              </a:prstGeom>
            </p:spPr>
          </p:pic>
          <p:sp>
            <p:nvSpPr>
              <p:cNvPr id="63" name="Rectangle: Rounded Corners 19">
                <a:extLst>
                  <a:ext uri="{FF2B5EF4-FFF2-40B4-BE49-F238E27FC236}">
                    <a16:creationId xmlns:a16="http://schemas.microsoft.com/office/drawing/2014/main" id="{498DA0AF-A2EC-CEB8-076D-28FAACA06A25}"/>
                  </a:ext>
                </a:extLst>
              </p:cNvPr>
              <p:cNvSpPr/>
              <p:nvPr/>
            </p:nvSpPr>
            <p:spPr>
              <a:xfrm>
                <a:off x="2762385" y="2934628"/>
                <a:ext cx="238896" cy="194095"/>
              </a:xfrm>
              <a:prstGeom prst="roundRect">
                <a:avLst>
                  <a:gd name="adj" fmla="val 16667"/>
                </a:avLst>
              </a:prstGeom>
              <a:solidFill>
                <a:srgbClr val="F2F2F2"/>
              </a:solidFill>
            </p:spPr>
            <p:txBody>
              <a:bodyPr vert="horz" lIns="73152" tIns="73152" rIns="60960" bIns="48768" rtlCol="0" anchor="ctr" anchorCtr="0">
                <a:noAutofit/>
              </a:bodyPr>
              <a:lstStyle/>
              <a:p>
                <a:pPr algn="ctr" defTabSz="231637">
                  <a:spcAft>
                    <a:spcPts val="800"/>
                  </a:spcAft>
                  <a:tabLst>
                    <a:tab pos="231637" algn="l"/>
                    <a:tab pos="463272" algn="l"/>
                    <a:tab pos="694909" algn="l"/>
                    <a:tab pos="926546" algn="l"/>
                  </a:tabLst>
                  <a:defRPr/>
                </a:pPr>
                <a:endParaRPr lang="en-US" sz="186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5FE8125-E164-B084-D6D4-DB29327CD733}"/>
              </a:ext>
            </a:extLst>
          </p:cNvPr>
          <p:cNvGrpSpPr/>
          <p:nvPr/>
        </p:nvGrpSpPr>
        <p:grpSpPr>
          <a:xfrm>
            <a:off x="5122505" y="2939271"/>
            <a:ext cx="2072640" cy="2166257"/>
            <a:chOff x="3909334" y="2125755"/>
            <a:chExt cx="1554480" cy="162469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746E36F-CAEF-3274-DF13-71203119EE59}"/>
                </a:ext>
              </a:extLst>
            </p:cNvPr>
            <p:cNvGrpSpPr/>
            <p:nvPr/>
          </p:nvGrpSpPr>
          <p:grpSpPr>
            <a:xfrm>
              <a:off x="3909334" y="2125755"/>
              <a:ext cx="1554480" cy="1624693"/>
              <a:chOff x="3982370" y="2367643"/>
              <a:chExt cx="1554480" cy="1624693"/>
            </a:xfrm>
          </p:grpSpPr>
          <p:sp>
            <p:nvSpPr>
              <p:cNvPr id="67" name="Rectangle: Rounded Corners 14">
                <a:extLst>
                  <a:ext uri="{FF2B5EF4-FFF2-40B4-BE49-F238E27FC236}">
                    <a16:creationId xmlns:a16="http://schemas.microsoft.com/office/drawing/2014/main" id="{2B40335E-35CD-2947-B2C5-B2046B35D29F}"/>
                  </a:ext>
                </a:extLst>
              </p:cNvPr>
              <p:cNvSpPr/>
              <p:nvPr/>
            </p:nvSpPr>
            <p:spPr>
              <a:xfrm>
                <a:off x="3982370" y="2367643"/>
                <a:ext cx="1554480" cy="1624693"/>
              </a:xfrm>
              <a:prstGeom prst="roundRect">
                <a:avLst/>
              </a:prstGeom>
              <a:solidFill>
                <a:srgbClr val="F2F2F2"/>
              </a:solidFill>
            </p:spPr>
            <p:txBody>
              <a:bodyPr vert="horz" lIns="73152" tIns="73152" rIns="60960" bIns="48768" rtlCol="0" anchor="ctr" anchorCtr="0">
                <a:noAutofit/>
              </a:bodyPr>
              <a:lstStyle/>
              <a:p>
                <a:pPr algn="ctr" defTabSz="231637">
                  <a:spcAft>
                    <a:spcPts val="800"/>
                  </a:spcAft>
                  <a:tabLst>
                    <a:tab pos="231637" algn="l"/>
                    <a:tab pos="463272" algn="l"/>
                    <a:tab pos="694909" algn="l"/>
                    <a:tab pos="926546" algn="l"/>
                  </a:tabLst>
                  <a:defRPr/>
                </a:pPr>
                <a:endParaRPr lang="en-US" sz="186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BBC30D-18F8-C644-E630-04BF57E503A6}"/>
                  </a:ext>
                </a:extLst>
              </p:cNvPr>
              <p:cNvSpPr txBox="1"/>
              <p:nvPr/>
            </p:nvSpPr>
            <p:spPr>
              <a:xfrm>
                <a:off x="4073810" y="3608554"/>
                <a:ext cx="1371600" cy="257569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noAutofit/>
              </a:bodyPr>
              <a:lstStyle/>
              <a:p>
                <a:pPr algn="ctr" defTabSz="609585">
                  <a:defRPr>
                    <a:solidFill>
                      <a:srgbClr val="1D1D1D"/>
                    </a:solidFill>
                  </a:defRPr>
                </a:pPr>
                <a:r>
                  <a:rPr lang="en-US" sz="1333" b="1" u="sng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Top Team Mobilization</a:t>
                </a:r>
              </a:p>
            </p:txBody>
          </p:sp>
        </p:grp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A20A7A6-B3DC-FC22-1C25-1624BA070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 l="27313" r="27827"/>
            <a:stretch/>
          </p:blipFill>
          <p:spPr>
            <a:xfrm>
              <a:off x="4306764" y="2306123"/>
              <a:ext cx="759619" cy="9047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69" name="Picture 68" descr="Talent to Value">
            <a:extLst>
              <a:ext uri="{FF2B5EF4-FFF2-40B4-BE49-F238E27FC236}">
                <a16:creationId xmlns:a16="http://schemas.microsoft.com/office/drawing/2014/main" id="{6995EB22-3AA7-A964-4ED7-764E9626754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327308" y="3355929"/>
            <a:ext cx="1081955" cy="1081955"/>
          </a:xfrm>
          <a:prstGeom prst="rect">
            <a:avLst/>
          </a:prstGeom>
        </p:spPr>
      </p:pic>
      <p:sp>
        <p:nvSpPr>
          <p:cNvPr id="7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8631503D-C6DA-4853-83DD-70D3DEC095D3}" type="slidenum">
              <a:r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6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429C7-1B2F-C05D-8E22-04678E94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EDF09F1-6B96-7D2A-1F97-7FEA9DDC13E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Impact of Talent to Value</a:t>
            </a:r>
          </a:p>
        </p:txBody>
      </p:sp>
      <p:pic>
        <p:nvPicPr>
          <p:cNvPr id="4" name="Picture 3" descr="Mobilize">
            <a:extLst>
              <a:ext uri="{FF2B5EF4-FFF2-40B4-BE49-F238E27FC236}">
                <a16:creationId xmlns:a16="http://schemas.microsoft.com/office/drawing/2014/main" id="{9D26DEA7-DA19-0C88-8388-22A7CB7BCC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05891" y="3599353"/>
            <a:ext cx="960000" cy="96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5881D-4DF9-EDE8-063B-7DB554BAE6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rgbClr val="765FFF"/>
              <a:srgbClr val="FFFFFF"/>
            </a:duotone>
          </a:blip>
          <a:srcRect t="16866"/>
          <a:stretch/>
        </p:blipFill>
        <p:spPr bwMode="auto">
          <a:xfrm>
            <a:off x="1631211" y="939851"/>
            <a:ext cx="8749698" cy="570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716322D6-DFA4-45E0-A58C-5EF03137161B}" type="slidenum">
              <a:r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6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"/>
    </mc:Choice>
    <mc:Fallback xmlns="">
      <p:transition spd="slow" advTm="546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AC06BD-3AA5-8DB9-67F4-045307523BF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 – An Overview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9C3B37FE-042B-EB7E-14A4-C654C96DF1D5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4EC643B8-D050-C664-2F6F-FEAB89DA6416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Rectangle: Rounded Corners 42">
            <a:extLst>
              <a:ext uri="{FF2B5EF4-FFF2-40B4-BE49-F238E27FC236}">
                <a16:creationId xmlns:a16="http://schemas.microsoft.com/office/drawing/2014/main" id="{7D2FFE62-A98B-3D0F-BDEB-2014D520EE4C}"/>
              </a:ext>
            </a:extLst>
          </p:cNvPr>
          <p:cNvSpPr/>
          <p:nvPr/>
        </p:nvSpPr>
        <p:spPr>
          <a:xfrm>
            <a:off x="5302733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C4AB96B7-5F3A-6CF2-CF0E-B757A91913EA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B56B29-04A1-58FD-0532-5ADAB5C2703A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</a:t>
            </a: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551DA6-CB77-FF8D-21CD-5A0061E1E63C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48F3E0-96ED-F30F-A7B6-32B3B73E2257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5442E3-A1AC-32C7-F6CB-CDC7944B49B0}"/>
              </a:ext>
            </a:extLst>
          </p:cNvPr>
          <p:cNvSpPr txBox="1"/>
          <p:nvPr/>
        </p:nvSpPr>
        <p:spPr>
          <a:xfrm>
            <a:off x="7350510" y="4642529"/>
            <a:ext cx="2025096" cy="564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77">
              <a:defRPr/>
            </a:pPr>
            <a:r>
              <a:rPr lang="en-US" sz="1467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</a:t>
            </a:r>
            <a:r>
              <a:rPr lang="en-US" sz="14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D70BCA49-719C-54E2-4E88-C7E4FACEC675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9CB56-91C4-17AB-0258-AE3004BC330F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F328D692-3570-7F91-1000-FBA0C4D9437D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0889BB15-8FAF-5630-7BE0-460FB84DF16F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9D8FDA64-0A8D-1A1F-FDAC-A2E660D90CC7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>
            <a:extLst>
              <a:ext uri="{FF2B5EF4-FFF2-40B4-BE49-F238E27FC236}">
                <a16:creationId xmlns:a16="http://schemas.microsoft.com/office/drawing/2014/main" id="{45F067C0-6D9A-2DE0-08ED-0E7338D6E515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3070D44C-AA20-5A7C-7F2A-235A6FBE2D89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659D2BA5-3011-7E3E-B6A5-D03AB95C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BA810889-3B12-9E88-A8EF-EB4953C5AF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A6ABE5ED-B452-62B2-9C81-11EB33061C6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815BE57D-3697-845F-0EDB-D9962F4F363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303BE482-497B-CA17-64BB-EC5F94D0449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53A9E3E-363A-89D4-0CC7-4DE7BD5CF6BA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783964-AD17-E31D-AB0A-290DDA0A65B3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6FAB97-0539-35F6-B173-ED245213EE3B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C0F2EB-7352-1201-7FB8-D30D9E9607ED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EACD09-E0DD-3B4F-8DCC-4EF60FCA92E9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6917844-81EF-4ABB-BEBA-DE3C338FECA1}" type="slidenum">
              <a:r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6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0EBD-DB90-32BE-8000-8E09372F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EE1F8-ABC4-C58E-F076-96BC5C47BD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  <p:sp>
        <p:nvSpPr>
          <p:cNvPr id="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2302D206-7231-42A5-80C2-A3A96FDC955D}" type="slidenum">
              <a:r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32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4645-F837-45ED-B187-9A308B69285D}"/>
              </a:ext>
            </a:extLst>
          </p:cNvPr>
          <p:cNvGrpSpPr/>
          <p:nvPr/>
        </p:nvGrpSpPr>
        <p:grpSpPr>
          <a:xfrm>
            <a:off x="3217403" y="1956605"/>
            <a:ext cx="5921365" cy="2883331"/>
            <a:chOff x="3217402" y="1956605"/>
            <a:chExt cx="5921365" cy="2883330"/>
          </a:xfrm>
        </p:grpSpPr>
        <p:sp>
          <p:nvSpPr>
            <p:cNvPr id="19" name="Rounded Rectangle 5">
              <a:extLst>
                <a:ext uri="{FF2B5EF4-FFF2-40B4-BE49-F238E27FC236}">
                  <a16:creationId xmlns:a16="http://schemas.microsoft.com/office/drawing/2014/main" id="{03052E33-59A8-4C54-8C1C-9FE50721F2C3}"/>
                </a:ext>
              </a:extLst>
            </p:cNvPr>
            <p:cNvSpPr/>
            <p:nvPr/>
          </p:nvSpPr>
          <p:spPr>
            <a:xfrm>
              <a:off x="3217403" y="1956605"/>
              <a:ext cx="5921364" cy="2883330"/>
            </a:xfrm>
            <a:prstGeom prst="roundRect">
              <a:avLst>
                <a:gd name="adj" fmla="val 1231"/>
              </a:avLst>
            </a:prstGeom>
            <a:solidFill>
              <a:srgbClr val="F2F2F2"/>
            </a:solidFill>
            <a:ln>
              <a:noFill/>
            </a:ln>
            <a:effectLst>
              <a:outerShdw blurRad="381000" dist="1270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351"/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47FD8FCE-EFC7-4510-A716-13C93C1140D3}"/>
                </a:ext>
              </a:extLst>
            </p:cNvPr>
            <p:cNvSpPr txBox="1">
              <a:spLocks/>
            </p:cNvSpPr>
            <p:nvPr/>
          </p:nvSpPr>
          <p:spPr>
            <a:xfrm>
              <a:off x="3217402" y="2955360"/>
              <a:ext cx="5921365" cy="592175"/>
            </a:xfrm>
            <a:prstGeom prst="rect">
              <a:avLst/>
            </a:prstGeom>
          </p:spPr>
          <p:txBody>
            <a:bodyPr lIns="91440" tIns="45720" rIns="91440" bIns="45720"/>
            <a:lstStyle>
              <a:lvl1pPr algn="ctr" defTabSz="914400" rtl="0" eaLnBrk="1" latinLnBrk="0" hangingPunct="1">
                <a:lnSpc>
                  <a:spcPct val="70000"/>
                </a:lnSpc>
                <a:spcBef>
                  <a:spcPct val="0"/>
                </a:spcBef>
                <a:buNone/>
                <a:defRPr sz="3600" i="0" kern="1200" spc="-10">
                  <a:solidFill>
                    <a:srgbClr val="1D1D1D"/>
                  </a:solidFill>
                  <a:latin typeface="Arial" pitchFamily="34" charset="0"/>
                  <a:ea typeface="Roboto Thin" charset="0"/>
                  <a:cs typeface="Roboto Thin" charset="0"/>
                </a:defRPr>
              </a:lvl1pPr>
            </a:lstStyle>
            <a:p>
              <a:r>
                <a:rPr lang="en-US" sz="4000" spc="-10">
                  <a:solidFill>
                    <a:srgbClr val="1D1D1D"/>
                  </a:solidFill>
                  <a:latin typeface="Arial" pitchFamily="34" charset="0"/>
                  <a:ea typeface="Roboto Light" charset="0"/>
                  <a:cs typeface="Roboto Light" charset="0"/>
                </a:rPr>
                <a:t>Break Time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E39120-AE22-42F9-8888-22E9F1FB6B47}"/>
                </a:ext>
              </a:extLst>
            </p:cNvPr>
            <p:cNvSpPr txBox="1"/>
            <p:nvPr/>
          </p:nvSpPr>
          <p:spPr>
            <a:xfrm>
              <a:off x="3490149" y="4251843"/>
              <a:ext cx="5375874" cy="275268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100" spc="-10">
                  <a:solidFill>
                    <a:srgbClr val="1D1D1D"/>
                  </a:solidFill>
                  <a:latin typeface="Arial" pitchFamily="34" charset="0"/>
                  <a:ea typeface="Roboto Light" charset="0"/>
                  <a:cs typeface="Roboto Light" charset="0"/>
                </a:rPr>
                <a:t>Go ahead and please stretch, move around, even run in place!</a:t>
              </a:r>
            </a:p>
          </p:txBody>
        </p:sp>
        <p:sp>
          <p:nvSpPr>
            <p:cNvPr id="22" name="Freeform 507">
              <a:extLst>
                <a:ext uri="{FF2B5EF4-FFF2-40B4-BE49-F238E27FC236}">
                  <a16:creationId xmlns:a16="http://schemas.microsoft.com/office/drawing/2014/main" id="{FBDDD6AD-23C2-442F-BE1F-F9BB2F535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78" y="2232872"/>
              <a:ext cx="505815" cy="502830"/>
            </a:xfrm>
            <a:custGeom>
              <a:avLst/>
              <a:gdLst>
                <a:gd name="T0" fmla="*/ 106 w 186"/>
                <a:gd name="T1" fmla="*/ 46 h 185"/>
                <a:gd name="T2" fmla="*/ 102 w 186"/>
                <a:gd name="T3" fmla="*/ 17 h 185"/>
                <a:gd name="T4" fmla="*/ 97 w 186"/>
                <a:gd name="T5" fmla="*/ 46 h 185"/>
                <a:gd name="T6" fmla="*/ 161 w 186"/>
                <a:gd name="T7" fmla="*/ 88 h 185"/>
                <a:gd name="T8" fmla="*/ 152 w 186"/>
                <a:gd name="T9" fmla="*/ 76 h 185"/>
                <a:gd name="T10" fmla="*/ 9 w 186"/>
                <a:gd name="T11" fmla="*/ 67 h 185"/>
                <a:gd name="T12" fmla="*/ 0 w 186"/>
                <a:gd name="T13" fmla="*/ 126 h 185"/>
                <a:gd name="T14" fmla="*/ 5 w 186"/>
                <a:gd name="T15" fmla="*/ 177 h 185"/>
                <a:gd name="T16" fmla="*/ 5 w 186"/>
                <a:gd name="T17" fmla="*/ 185 h 185"/>
                <a:gd name="T18" fmla="*/ 152 w 186"/>
                <a:gd name="T19" fmla="*/ 181 h 185"/>
                <a:gd name="T20" fmla="*/ 123 w 186"/>
                <a:gd name="T21" fmla="*/ 177 h 185"/>
                <a:gd name="T22" fmla="*/ 161 w 186"/>
                <a:gd name="T23" fmla="*/ 139 h 185"/>
                <a:gd name="T24" fmla="*/ 161 w 186"/>
                <a:gd name="T25" fmla="*/ 88 h 185"/>
                <a:gd name="T26" fmla="*/ 59 w 186"/>
                <a:gd name="T27" fmla="*/ 177 h 185"/>
                <a:gd name="T28" fmla="*/ 131 w 186"/>
                <a:gd name="T29" fmla="*/ 160 h 185"/>
                <a:gd name="T30" fmla="*/ 144 w 186"/>
                <a:gd name="T31" fmla="*/ 126 h 185"/>
                <a:gd name="T32" fmla="*/ 16 w 186"/>
                <a:gd name="T33" fmla="*/ 152 h 185"/>
                <a:gd name="T34" fmla="*/ 9 w 186"/>
                <a:gd name="T35" fmla="*/ 76 h 185"/>
                <a:gd name="T36" fmla="*/ 144 w 186"/>
                <a:gd name="T37" fmla="*/ 126 h 185"/>
                <a:gd name="T38" fmla="*/ 152 w 186"/>
                <a:gd name="T39" fmla="*/ 131 h 185"/>
                <a:gd name="T40" fmla="*/ 152 w 186"/>
                <a:gd name="T41" fmla="*/ 97 h 185"/>
                <a:gd name="T42" fmla="*/ 177 w 186"/>
                <a:gd name="T43" fmla="*/ 114 h 185"/>
                <a:gd name="T44" fmla="*/ 76 w 186"/>
                <a:gd name="T45" fmla="*/ 50 h 185"/>
                <a:gd name="T46" fmla="*/ 80 w 186"/>
                <a:gd name="T47" fmla="*/ 4 h 185"/>
                <a:gd name="T48" fmla="*/ 72 w 186"/>
                <a:gd name="T49" fmla="*/ 4 h 185"/>
                <a:gd name="T50" fmla="*/ 76 w 186"/>
                <a:gd name="T51" fmla="*/ 50 h 185"/>
                <a:gd name="T52" fmla="*/ 131 w 186"/>
                <a:gd name="T53" fmla="*/ 55 h 185"/>
                <a:gd name="T54" fmla="*/ 127 w 186"/>
                <a:gd name="T55" fmla="*/ 8 h 185"/>
                <a:gd name="T56" fmla="*/ 123 w 186"/>
                <a:gd name="T57" fmla="*/ 55 h 185"/>
                <a:gd name="T58" fmla="*/ 51 w 186"/>
                <a:gd name="T59" fmla="*/ 59 h 185"/>
                <a:gd name="T60" fmla="*/ 55 w 186"/>
                <a:gd name="T61" fmla="*/ 13 h 185"/>
                <a:gd name="T62" fmla="*/ 47 w 186"/>
                <a:gd name="T63" fmla="*/ 13 h 185"/>
                <a:gd name="T64" fmla="*/ 51 w 186"/>
                <a:gd name="T65" fmla="*/ 59 h 185"/>
                <a:gd name="T66" fmla="*/ 30 w 186"/>
                <a:gd name="T67" fmla="*/ 46 h 185"/>
                <a:gd name="T68" fmla="*/ 26 w 186"/>
                <a:gd name="T69" fmla="*/ 17 h 185"/>
                <a:gd name="T70" fmla="*/ 21 w 186"/>
                <a:gd name="T71" fmla="*/ 46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6" h="185">
                  <a:moveTo>
                    <a:pt x="102" y="50"/>
                  </a:moveTo>
                  <a:cubicBezTo>
                    <a:pt x="104" y="50"/>
                    <a:pt x="106" y="49"/>
                    <a:pt x="106" y="46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19"/>
                    <a:pt x="104" y="17"/>
                    <a:pt x="102" y="17"/>
                  </a:cubicBezTo>
                  <a:cubicBezTo>
                    <a:pt x="99" y="17"/>
                    <a:pt x="97" y="19"/>
                    <a:pt x="97" y="2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7" y="49"/>
                    <a:pt x="99" y="50"/>
                    <a:pt x="102" y="50"/>
                  </a:cubicBezTo>
                  <a:close/>
                  <a:moveTo>
                    <a:pt x="161" y="88"/>
                  </a:moveTo>
                  <a:cubicBezTo>
                    <a:pt x="152" y="88"/>
                    <a:pt x="152" y="88"/>
                    <a:pt x="152" y="88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71"/>
                    <a:pt x="148" y="67"/>
                    <a:pt x="144" y="67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4" y="67"/>
                    <a:pt x="0" y="71"/>
                    <a:pt x="0" y="76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48"/>
                    <a:pt x="12" y="167"/>
                    <a:pt x="29" y="177"/>
                  </a:cubicBezTo>
                  <a:cubicBezTo>
                    <a:pt x="5" y="177"/>
                    <a:pt x="5" y="177"/>
                    <a:pt x="5" y="177"/>
                  </a:cubicBezTo>
                  <a:cubicBezTo>
                    <a:pt x="2" y="177"/>
                    <a:pt x="0" y="179"/>
                    <a:pt x="0" y="181"/>
                  </a:cubicBezTo>
                  <a:cubicBezTo>
                    <a:pt x="0" y="184"/>
                    <a:pt x="2" y="185"/>
                    <a:pt x="5" y="185"/>
                  </a:cubicBezTo>
                  <a:cubicBezTo>
                    <a:pt x="148" y="185"/>
                    <a:pt x="148" y="185"/>
                    <a:pt x="148" y="185"/>
                  </a:cubicBezTo>
                  <a:cubicBezTo>
                    <a:pt x="150" y="185"/>
                    <a:pt x="152" y="184"/>
                    <a:pt x="152" y="181"/>
                  </a:cubicBezTo>
                  <a:cubicBezTo>
                    <a:pt x="152" y="179"/>
                    <a:pt x="150" y="177"/>
                    <a:pt x="148" y="177"/>
                  </a:cubicBezTo>
                  <a:cubicBezTo>
                    <a:pt x="123" y="177"/>
                    <a:pt x="123" y="177"/>
                    <a:pt x="123" y="177"/>
                  </a:cubicBezTo>
                  <a:cubicBezTo>
                    <a:pt x="137" y="169"/>
                    <a:pt x="147" y="155"/>
                    <a:pt x="151" y="139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75" y="139"/>
                    <a:pt x="186" y="128"/>
                    <a:pt x="186" y="114"/>
                  </a:cubicBezTo>
                  <a:cubicBezTo>
                    <a:pt x="186" y="100"/>
                    <a:pt x="175" y="88"/>
                    <a:pt x="161" y="88"/>
                  </a:cubicBezTo>
                  <a:close/>
                  <a:moveTo>
                    <a:pt x="93" y="177"/>
                  </a:moveTo>
                  <a:cubicBezTo>
                    <a:pt x="59" y="177"/>
                    <a:pt x="59" y="177"/>
                    <a:pt x="59" y="177"/>
                  </a:cubicBezTo>
                  <a:cubicBezTo>
                    <a:pt x="44" y="177"/>
                    <a:pt x="31" y="171"/>
                    <a:pt x="22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22" y="171"/>
                    <a:pt x="108" y="177"/>
                    <a:pt x="93" y="177"/>
                  </a:cubicBezTo>
                  <a:close/>
                  <a:moveTo>
                    <a:pt x="144" y="126"/>
                  </a:moveTo>
                  <a:cubicBezTo>
                    <a:pt x="144" y="136"/>
                    <a:pt x="141" y="144"/>
                    <a:pt x="137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1" y="144"/>
                    <a:pt x="9" y="136"/>
                    <a:pt x="9" y="126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144" y="76"/>
                    <a:pt x="144" y="76"/>
                    <a:pt x="144" y="76"/>
                  </a:cubicBezTo>
                  <a:lnTo>
                    <a:pt x="144" y="126"/>
                  </a:lnTo>
                  <a:close/>
                  <a:moveTo>
                    <a:pt x="161" y="131"/>
                  </a:moveTo>
                  <a:cubicBezTo>
                    <a:pt x="152" y="131"/>
                    <a:pt x="152" y="131"/>
                    <a:pt x="152" y="131"/>
                  </a:cubicBezTo>
                  <a:cubicBezTo>
                    <a:pt x="152" y="129"/>
                    <a:pt x="152" y="128"/>
                    <a:pt x="152" y="126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70" y="97"/>
                    <a:pt x="177" y="104"/>
                    <a:pt x="177" y="114"/>
                  </a:cubicBezTo>
                  <a:cubicBezTo>
                    <a:pt x="177" y="123"/>
                    <a:pt x="170" y="131"/>
                    <a:pt x="161" y="131"/>
                  </a:cubicBezTo>
                  <a:close/>
                  <a:moveTo>
                    <a:pt x="76" y="50"/>
                  </a:moveTo>
                  <a:cubicBezTo>
                    <a:pt x="79" y="50"/>
                    <a:pt x="80" y="49"/>
                    <a:pt x="80" y="46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2"/>
                    <a:pt x="79" y="0"/>
                    <a:pt x="76" y="0"/>
                  </a:cubicBezTo>
                  <a:cubicBezTo>
                    <a:pt x="74" y="0"/>
                    <a:pt x="72" y="2"/>
                    <a:pt x="72" y="4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9"/>
                    <a:pt x="74" y="50"/>
                    <a:pt x="76" y="50"/>
                  </a:cubicBezTo>
                  <a:close/>
                  <a:moveTo>
                    <a:pt x="127" y="59"/>
                  </a:moveTo>
                  <a:cubicBezTo>
                    <a:pt x="129" y="59"/>
                    <a:pt x="131" y="57"/>
                    <a:pt x="131" y="55"/>
                  </a:cubicBezTo>
                  <a:cubicBezTo>
                    <a:pt x="131" y="13"/>
                    <a:pt x="131" y="13"/>
                    <a:pt x="131" y="13"/>
                  </a:cubicBezTo>
                  <a:cubicBezTo>
                    <a:pt x="131" y="10"/>
                    <a:pt x="129" y="8"/>
                    <a:pt x="127" y="8"/>
                  </a:cubicBezTo>
                  <a:cubicBezTo>
                    <a:pt x="125" y="8"/>
                    <a:pt x="123" y="10"/>
                    <a:pt x="123" y="13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7"/>
                    <a:pt x="125" y="59"/>
                    <a:pt x="127" y="59"/>
                  </a:cubicBezTo>
                  <a:close/>
                  <a:moveTo>
                    <a:pt x="51" y="59"/>
                  </a:moveTo>
                  <a:cubicBezTo>
                    <a:pt x="53" y="59"/>
                    <a:pt x="55" y="57"/>
                    <a:pt x="55" y="55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0"/>
                    <a:pt x="53" y="8"/>
                    <a:pt x="51" y="8"/>
                  </a:cubicBezTo>
                  <a:cubicBezTo>
                    <a:pt x="49" y="8"/>
                    <a:pt x="47" y="10"/>
                    <a:pt x="47" y="13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7" y="57"/>
                    <a:pt x="49" y="59"/>
                    <a:pt x="51" y="59"/>
                  </a:cubicBezTo>
                  <a:close/>
                  <a:moveTo>
                    <a:pt x="26" y="50"/>
                  </a:moveTo>
                  <a:cubicBezTo>
                    <a:pt x="28" y="50"/>
                    <a:pt x="30" y="49"/>
                    <a:pt x="30" y="46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9"/>
                    <a:pt x="28" y="17"/>
                    <a:pt x="26" y="17"/>
                  </a:cubicBezTo>
                  <a:cubicBezTo>
                    <a:pt x="23" y="17"/>
                    <a:pt x="21" y="19"/>
                    <a:pt x="21" y="21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9"/>
                    <a:pt x="23" y="50"/>
                    <a:pt x="26" y="50"/>
                  </a:cubicBez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>
                <a:solidFill>
                  <a:srgbClr val="FFFFFF"/>
                </a:solidFill>
              </a:endParaRPr>
            </a:p>
          </p:txBody>
        </p:sp>
      </p:grp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D26D71C4-1BC3-40EA-BBCD-F7AEACE1BBE5}"/>
              </a:ext>
            </a:extLst>
          </p:cNvPr>
          <p:cNvSpPr/>
          <p:nvPr/>
        </p:nvSpPr>
        <p:spPr>
          <a:xfrm>
            <a:off x="5297563" y="3611540"/>
            <a:ext cx="1684424" cy="327587"/>
          </a:xfrm>
          <a:prstGeom prst="roundRect">
            <a:avLst>
              <a:gd name="adj" fmla="val 50000"/>
            </a:avLst>
          </a:prstGeom>
          <a:solidFill>
            <a:srgbClr val="281A42"/>
          </a:solidFill>
          <a:ln>
            <a:noFill/>
          </a:ln>
          <a:effectLst>
            <a:outerShdw blurRad="342900" dist="190500" dir="5400000" sx="78000" sy="78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spc="-10">
                <a:solidFill>
                  <a:srgbClr val="FFFFFF"/>
                </a:solidFill>
                <a:latin typeface="Segoe UI" pitchFamily="34" charset="0"/>
                <a:ea typeface="Roboto Medium" charset="0"/>
                <a:cs typeface="Roboto Medium" charset="0"/>
              </a:rPr>
              <a:t>15 Minutes</a:t>
            </a:r>
            <a:endParaRPr lang="en-US" sz="1100" b="1" spc="-10" baseline="30000">
              <a:solidFill>
                <a:srgbClr val="FFFFFF"/>
              </a:solidFill>
              <a:latin typeface="Segoe UI" pitchFamily="34" charset="0"/>
              <a:ea typeface="Roboto Medium" charset="0"/>
              <a:cs typeface="Roboto Medium" charset="0"/>
            </a:endParaRPr>
          </a:p>
        </p:txBody>
      </p:sp>
      <p:sp>
        <p:nvSpPr>
          <p:cNvPr id="2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10661A14-CC0B-48ED-AAE3-F69DC189DDEB}" type="slidenum">
              <a:r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73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06509-58D3-FD83-43A9-7EC610EB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BB0ACC-0489-4C86-7846-5A008A76E8E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A0A0216F-602F-A7C4-208C-E8443726F8AD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3C71AFF7-4168-3B64-009E-38FFAD27BC11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Rectangle: Rounded Corners 42" hidden="1">
            <a:extLst>
              <a:ext uri="{FF2B5EF4-FFF2-40B4-BE49-F238E27FC236}">
                <a16:creationId xmlns:a16="http://schemas.microsoft.com/office/drawing/2014/main" id="{B41867AF-69DF-8848-E76C-67F2179D6500}"/>
              </a:ext>
            </a:extLst>
          </p:cNvPr>
          <p:cNvSpPr/>
          <p:nvPr/>
        </p:nvSpPr>
        <p:spPr>
          <a:xfrm>
            <a:off x="5302733" y="2717234"/>
            <a:ext cx="1591098" cy="1591098"/>
          </a:xfrm>
          <a:prstGeom prst="roundRect">
            <a:avLst/>
          </a:prstGeom>
          <a:noFill/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A51A1D13-0E0D-F8FD-96BB-8243E3E1F189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5D5770-BD4B-B1B8-48DC-D1D0EEA78155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</a:t>
            </a: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3014EF-E4EB-5BD7-43FC-BF1F3405DC9C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1FAADB-C808-D640-C6E0-D0305581400C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5C469F-FE9B-3CAC-FC77-874CE19E9552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77">
              <a:defRPr/>
            </a:pPr>
            <a:r>
              <a:rPr lang="en-US" sz="1467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-1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B0A76D5A-CF1B-0600-616E-EA095119CDEE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0215E2-9485-31DB-D441-8EDB0D355FC8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DA43688E-5FD5-090B-00DF-E284CF86FE9A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DA3AB1FE-A389-93B5-FFD7-8EB782401FAA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E809258C-D193-988A-A70A-EFEC2DC84D4D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 hidden="1">
            <a:extLst>
              <a:ext uri="{FF2B5EF4-FFF2-40B4-BE49-F238E27FC236}">
                <a16:creationId xmlns:a16="http://schemas.microsoft.com/office/drawing/2014/main" id="{9D433C1C-11FB-2CF8-D35D-A9F0D5C79B58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1347E10-8E41-1FCC-BFA4-F5F5218FB7F3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4567070E-B07D-E863-C799-9486B8E90E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220DB6A2-DD57-FBF3-32C7-6E0E67A94C4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22D36D40-E011-9087-78ED-830224B192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595A4328-2FDF-0B7D-EE67-5F0D6E6F08B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76F152C9-A4FA-92C4-3642-58EE3CC30D4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F205EE-8E33-7DA4-4A50-FD485D54315D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39A14-6B0E-D048-2274-712F17E54514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11511-FFFE-EE15-2187-19D12016A87D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B3DFA-92D1-59C2-86E7-1E8986100EB9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FBC96-FA41-98AD-0166-C857DB67C56B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17C2C69F-2035-48B3-82F7-C35FF2FADDDA}" type="slidenum">
              <a:r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2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2515C4-C24A-164C-A427-1D8CE4C13E4B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Understand the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FC312D-45DE-46CB-B74E-94682D1AD575}"/>
              </a:ext>
            </a:extLst>
          </p:cNvPr>
          <p:cNvSpPr/>
          <p:nvPr/>
        </p:nvSpPr>
        <p:spPr>
          <a:xfrm>
            <a:off x="927527" y="1364713"/>
            <a:ext cx="8544020" cy="4435523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085B1-20C1-4227-A874-82A953D35918}"/>
              </a:ext>
            </a:extLst>
          </p:cNvPr>
          <p:cNvSpPr txBox="1"/>
          <p:nvPr/>
        </p:nvSpPr>
        <p:spPr>
          <a:xfrm>
            <a:off x="5253869" y="4033743"/>
            <a:ext cx="3185907" cy="112613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US" sz="13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Momentum Case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786ED-8922-48FA-972E-A955DD129981}"/>
              </a:ext>
            </a:extLst>
          </p:cNvPr>
          <p:cNvSpPr txBox="1"/>
          <p:nvPr/>
        </p:nvSpPr>
        <p:spPr>
          <a:xfrm>
            <a:off x="5253867" y="2642415"/>
            <a:ext cx="3345576" cy="121541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US" sz="1351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Bend-The-Curve Case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5D3D3F-8470-4B2F-B9C6-179D4933B25D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623515" y="3246659"/>
            <a:ext cx="630352" cy="3464"/>
          </a:xfrm>
          <a:prstGeom prst="straightConnector1">
            <a:avLst/>
          </a:prstGeom>
          <a:ln>
            <a:solidFill>
              <a:srgbClr val="281A4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3B59A0-3B30-4542-B050-49EC551C000D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4623516" y="4595487"/>
            <a:ext cx="630352" cy="1324"/>
          </a:xfrm>
          <a:prstGeom prst="straightConnector1">
            <a:avLst/>
          </a:prstGeom>
          <a:ln>
            <a:solidFill>
              <a:srgbClr val="1D1D1D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5A8F6F-2E71-4B91-BD51-93D0209C840D}"/>
              </a:ext>
            </a:extLst>
          </p:cNvPr>
          <p:cNvGrpSpPr/>
          <p:nvPr/>
        </p:nvGrpSpPr>
        <p:grpSpPr>
          <a:xfrm>
            <a:off x="7957974" y="2070429"/>
            <a:ext cx="3024095" cy="3024095"/>
            <a:chOff x="8613025" y="2223108"/>
            <a:chExt cx="2794434" cy="279443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A6F4FE7-E31E-4C14-AD98-80AB2EB2C9FE}"/>
                </a:ext>
              </a:extLst>
            </p:cNvPr>
            <p:cNvSpPr/>
            <p:nvPr/>
          </p:nvSpPr>
          <p:spPr>
            <a:xfrm>
              <a:off x="8613025" y="2223108"/>
              <a:ext cx="2794434" cy="2794434"/>
            </a:xfrm>
            <a:prstGeom prst="ellipse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35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DD75DC-5700-43ED-840D-1AFFE2E9F7B2}"/>
                </a:ext>
              </a:extLst>
            </p:cNvPr>
            <p:cNvSpPr txBox="1"/>
            <p:nvPr/>
          </p:nvSpPr>
          <p:spPr>
            <a:xfrm>
              <a:off x="8715061" y="3112024"/>
              <a:ext cx="2679170" cy="156346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marL="120648" indent="-120648">
                <a:buFont typeface="Arial" panose="020B0604020202020204" pitchFamily="34" charset="0"/>
                <a:buChar char="•"/>
              </a:pPr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Areas of the business where there is a material change in value creation (+ or -)</a:t>
              </a:r>
            </a:p>
            <a:p>
              <a:pPr marL="120648" indent="-120648">
                <a:buFont typeface="Arial" panose="020B0604020202020204" pitchFamily="34" charset="0"/>
                <a:buChar char="•"/>
              </a:pPr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Occurs In Momentum Case or Bend-The-Curve Case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069CAC-80D5-4143-AE1D-C0DB004C83F8}"/>
                </a:ext>
              </a:extLst>
            </p:cNvPr>
            <p:cNvSpPr txBox="1"/>
            <p:nvPr/>
          </p:nvSpPr>
          <p:spPr>
            <a:xfrm>
              <a:off x="8934089" y="2748701"/>
              <a:ext cx="2103117" cy="36332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20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 Hotspots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9AB4C9-FEA0-4633-9927-311445A3690D}"/>
              </a:ext>
            </a:extLst>
          </p:cNvPr>
          <p:cNvGrpSpPr/>
          <p:nvPr/>
        </p:nvGrpSpPr>
        <p:grpSpPr>
          <a:xfrm>
            <a:off x="628752" y="1229369"/>
            <a:ext cx="4706211" cy="4706211"/>
            <a:chOff x="628752" y="1229370"/>
            <a:chExt cx="4706210" cy="4706210"/>
          </a:xfrm>
        </p:grpSpPr>
        <p:pic>
          <p:nvPicPr>
            <p:cNvPr id="21" name="Picture 2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5BE9637-05C8-4289-9330-3304E5CDB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28752" y="1229370"/>
              <a:ext cx="4706210" cy="470621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C5CF51-93AF-498A-9017-7372ED7D418A}"/>
                </a:ext>
              </a:extLst>
            </p:cNvPr>
            <p:cNvSpPr txBox="1"/>
            <p:nvPr/>
          </p:nvSpPr>
          <p:spPr>
            <a:xfrm>
              <a:off x="2674675" y="5036572"/>
              <a:ext cx="687650" cy="40274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sz="1100" spc="-10">
                  <a:solidFill>
                    <a:srgbClr val="281A4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81C9239-E033-4BAA-A81D-8F6217DFA43A}"/>
                </a:ext>
              </a:extLst>
            </p:cNvPr>
            <p:cNvSpPr txBox="1"/>
            <p:nvPr/>
          </p:nvSpPr>
          <p:spPr>
            <a:xfrm rot="16200000">
              <a:off x="823556" y="3321026"/>
              <a:ext cx="765725" cy="29402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100" spc="-10">
                  <a:solidFill>
                    <a:srgbClr val="281A4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10F6F26-BB7F-A702-CDB6-9E2D8F451ED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9D9E6BCC-15DF-83CA-28DE-A25764B412D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40115C08-41F2-E057-295C-EE70CCD1192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DFC41F2A-4AA0-C7A5-9448-BFBB5CA15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976662-2A0A-B0AE-C70F-F08ED756646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61F62EA-FB60-66D8-26B5-5820EF137E7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2" name="Rectangle: Rounded Corners 13">
              <a:extLst>
                <a:ext uri="{FF2B5EF4-FFF2-40B4-BE49-F238E27FC236}">
                  <a16:creationId xmlns:a16="http://schemas.microsoft.com/office/drawing/2014/main" id="{562D759F-8A72-660C-CA4B-31C41DC6EED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4">
              <a:extLst>
                <a:ext uri="{FF2B5EF4-FFF2-40B4-BE49-F238E27FC236}">
                  <a16:creationId xmlns:a16="http://schemas.microsoft.com/office/drawing/2014/main" id="{2856C3FC-C470-8931-FC03-0F609C3D5BF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2B6D36D-5993-743F-6F07-95166E4E7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DF3D65-4409-FDF7-7E12-02BEF5C617F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1D1889-3E39-F3CD-1970-6B0415931DC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8" name="Rectangle: Rounded Corners 18">
              <a:extLst>
                <a:ext uri="{FF2B5EF4-FFF2-40B4-BE49-F238E27FC236}">
                  <a16:creationId xmlns:a16="http://schemas.microsoft.com/office/drawing/2014/main" id="{649A5874-5056-11FE-C52B-38428CC8E62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3B3F1DD6-F5E2-8E2B-2233-787A450D48C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2049C4A-2EC4-CF10-EF42-B4EFB1FCA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49996A-66A6-2410-AEE8-58052B45C57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DB7629-EEF9-A801-9FA3-AACC37B667F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31F6C823-18EF-B47E-5AFB-B0AB8D6A5E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672C43AC-6511-65DB-2127-20CFC18FB1E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B417704F-A4F5-A3B3-FE1B-D2E05609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DA2F21-2E35-8792-4AFE-1B95EB096B9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254AD44-963D-75FE-0F54-6DFD8D924099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27AD9078-25AE-CCA8-B54B-892A489B850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4B52DE78-5BD3-B4C6-A2B2-B75D9181BDE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3EC2462-26AF-21F4-AB78-D4754B84D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DFC5FB8-7B35-655C-9EC3-D3874CABC67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F71CC06F-22D5-4598-B261-BC65649F6025}" type="slidenum">
              <a:r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9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</a:t>
            </a:r>
            <a:endParaRPr lang="en-US" b="1" kern="0" spc="-25">
              <a:solidFill>
                <a:srgbClr val="281A42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8B6FFB4-1DEC-E759-1972-792EA35C0581}"/>
              </a:ext>
            </a:extLst>
          </p:cNvPr>
          <p:cNvGrpSpPr/>
          <p:nvPr/>
        </p:nvGrpSpPr>
        <p:grpSpPr>
          <a:xfrm>
            <a:off x="1070587" y="2159291"/>
            <a:ext cx="10050828" cy="3588499"/>
            <a:chOff x="1014929" y="2159291"/>
            <a:chExt cx="10050829" cy="358849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8E3BEF0-459C-603B-F60A-38705906A2A5}"/>
                </a:ext>
              </a:extLst>
            </p:cNvPr>
            <p:cNvGrpSpPr/>
            <p:nvPr/>
          </p:nvGrpSpPr>
          <p:grpSpPr>
            <a:xfrm>
              <a:off x="1014929" y="2159291"/>
              <a:ext cx="4119435" cy="3588498"/>
              <a:chOff x="707793" y="1955604"/>
              <a:chExt cx="4119435" cy="3588498"/>
            </a:xfrm>
          </p:grpSpPr>
          <p:sp>
            <p:nvSpPr>
              <p:cNvPr id="45" name="Right Arrow 17">
                <a:extLst>
                  <a:ext uri="{FF2B5EF4-FFF2-40B4-BE49-F238E27FC236}">
                    <a16:creationId xmlns:a16="http://schemas.microsoft.com/office/drawing/2014/main" id="{7AC91690-65E5-8872-0509-A2943F8E20C7}"/>
                  </a:ext>
                </a:extLst>
              </p:cNvPr>
              <p:cNvSpPr/>
              <p:nvPr/>
            </p:nvSpPr>
            <p:spPr>
              <a:xfrm>
                <a:off x="996723" y="5079884"/>
                <a:ext cx="3830505" cy="144940"/>
              </a:xfrm>
              <a:prstGeom prst="rightArrow">
                <a:avLst>
                  <a:gd name="adj1" fmla="val 56217"/>
                  <a:gd name="adj2" fmla="val 121014"/>
                </a:avLst>
              </a:prstGeom>
              <a:solidFill>
                <a:srgbClr val="B2BBCA"/>
              </a:solidFill>
              <a:ln>
                <a:solidFill>
                  <a:srgbClr val="F2F2F2"/>
                </a:solidFill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endParaRPr lang="en-US" sz="24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Right Arrow 18">
                <a:extLst>
                  <a:ext uri="{FF2B5EF4-FFF2-40B4-BE49-F238E27FC236}">
                    <a16:creationId xmlns:a16="http://schemas.microsoft.com/office/drawing/2014/main" id="{F0AF9F2F-9E53-F532-F599-6653F0A05CF5}"/>
                  </a:ext>
                </a:extLst>
              </p:cNvPr>
              <p:cNvSpPr/>
              <p:nvPr/>
            </p:nvSpPr>
            <p:spPr>
              <a:xfrm rot="16200000">
                <a:off x="-565413" y="3517743"/>
                <a:ext cx="3269220" cy="144942"/>
              </a:xfrm>
              <a:prstGeom prst="rightArrow">
                <a:avLst>
                  <a:gd name="adj1" fmla="val 56217"/>
                  <a:gd name="adj2" fmla="val 121014"/>
                </a:avLst>
              </a:prstGeom>
              <a:solidFill>
                <a:srgbClr val="B2BBCA"/>
              </a:solidFill>
              <a:ln>
                <a:solidFill>
                  <a:srgbClr val="F2F2F2"/>
                </a:solidFill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endParaRPr lang="en-US" sz="24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D7F027B-3600-78DC-B7AF-E8BC474EAD32}"/>
                  </a:ext>
                </a:extLst>
              </p:cNvPr>
              <p:cNvSpPr txBox="1"/>
              <p:nvPr/>
            </p:nvSpPr>
            <p:spPr>
              <a:xfrm rot="16200000">
                <a:off x="235897" y="3526545"/>
                <a:ext cx="1200312" cy="256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1440" tIns="45720" rIns="91440" bIns="45720" rtlCol="0" anchor="ctr">
                <a:noAutofit/>
              </a:bodyPr>
              <a:lstStyle/>
              <a:p>
                <a:pPr algn="ctr"/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BEC5332-83F4-960A-A860-9F074BC8F8E6}"/>
                  </a:ext>
                </a:extLst>
              </p:cNvPr>
              <p:cNvSpPr txBox="1"/>
              <p:nvPr/>
            </p:nvSpPr>
            <p:spPr>
              <a:xfrm>
                <a:off x="2229253" y="5287583"/>
                <a:ext cx="1200312" cy="256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1440" tIns="45720" rIns="91440" bIns="45720" rtlCol="0" anchor="ctr">
                <a:noAutofit/>
              </a:bodyPr>
              <a:lstStyle/>
              <a:p>
                <a:pPr algn="ctr"/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Time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9E7B38A-9045-C2D9-F4FB-F4006D7C69DC}"/>
                  </a:ext>
                </a:extLst>
              </p:cNvPr>
              <p:cNvCxnSpPr/>
              <p:nvPr/>
            </p:nvCxnSpPr>
            <p:spPr>
              <a:xfrm>
                <a:off x="1601077" y="5079884"/>
                <a:ext cx="0" cy="144940"/>
              </a:xfrm>
              <a:prstGeom prst="line">
                <a:avLst/>
              </a:prstGeom>
              <a:ln>
                <a:solidFill>
                  <a:srgbClr val="F2F2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B595DAE-484C-7F35-87E9-4535F3EDD150}"/>
                  </a:ext>
                </a:extLst>
              </p:cNvPr>
              <p:cNvCxnSpPr/>
              <p:nvPr/>
            </p:nvCxnSpPr>
            <p:spPr>
              <a:xfrm>
                <a:off x="2204741" y="5079884"/>
                <a:ext cx="0" cy="144940"/>
              </a:xfrm>
              <a:prstGeom prst="line">
                <a:avLst/>
              </a:prstGeom>
              <a:ln>
                <a:solidFill>
                  <a:srgbClr val="F2F2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D319E86-F6DB-2D7D-D5C3-45D295E2DE23}"/>
                  </a:ext>
                </a:extLst>
              </p:cNvPr>
              <p:cNvCxnSpPr/>
              <p:nvPr/>
            </p:nvCxnSpPr>
            <p:spPr>
              <a:xfrm>
                <a:off x="2808404" y="5079884"/>
                <a:ext cx="0" cy="144940"/>
              </a:xfrm>
              <a:prstGeom prst="line">
                <a:avLst/>
              </a:prstGeom>
              <a:ln>
                <a:solidFill>
                  <a:srgbClr val="F2F2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DBBB238-3BE0-985C-DACC-FA711F14A03D}"/>
                  </a:ext>
                </a:extLst>
              </p:cNvPr>
              <p:cNvCxnSpPr/>
              <p:nvPr/>
            </p:nvCxnSpPr>
            <p:spPr>
              <a:xfrm>
                <a:off x="3412068" y="5079884"/>
                <a:ext cx="0" cy="144940"/>
              </a:xfrm>
              <a:prstGeom prst="line">
                <a:avLst/>
              </a:prstGeom>
              <a:ln>
                <a:solidFill>
                  <a:srgbClr val="F2F2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0394535-5E96-9437-313A-A3FB30B736CA}"/>
                  </a:ext>
                </a:extLst>
              </p:cNvPr>
              <p:cNvCxnSpPr/>
              <p:nvPr/>
            </p:nvCxnSpPr>
            <p:spPr>
              <a:xfrm>
                <a:off x="4015729" y="5079884"/>
                <a:ext cx="0" cy="144940"/>
              </a:xfrm>
              <a:prstGeom prst="line">
                <a:avLst/>
              </a:prstGeom>
              <a:ln>
                <a:solidFill>
                  <a:srgbClr val="F2F2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CF9D838-9311-7950-7B36-FE3F7298829F}"/>
                  </a:ext>
                </a:extLst>
              </p:cNvPr>
              <p:cNvCxnSpPr/>
              <p:nvPr/>
            </p:nvCxnSpPr>
            <p:spPr>
              <a:xfrm flipH="1">
                <a:off x="1141649" y="2187817"/>
                <a:ext cx="3421629" cy="4"/>
              </a:xfrm>
              <a:prstGeom prst="line">
                <a:avLst/>
              </a:prstGeom>
              <a:ln w="12700" cap="rnd">
                <a:solidFill>
                  <a:srgbClr val="F2F2F2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6FE9F8F-81FD-A44A-FA6D-E6AAB5FE4F60}"/>
                  </a:ext>
                </a:extLst>
              </p:cNvPr>
              <p:cNvCxnSpPr/>
              <p:nvPr/>
            </p:nvCxnSpPr>
            <p:spPr>
              <a:xfrm flipH="1">
                <a:off x="1141650" y="2791478"/>
                <a:ext cx="3421628" cy="5"/>
              </a:xfrm>
              <a:prstGeom prst="line">
                <a:avLst/>
              </a:prstGeom>
              <a:ln w="12700" cap="rnd">
                <a:solidFill>
                  <a:srgbClr val="F2F2F2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3CA77E7-4FD9-BED8-B27D-FFFA2503CAC6}"/>
                  </a:ext>
                </a:extLst>
              </p:cNvPr>
              <p:cNvCxnSpPr/>
              <p:nvPr/>
            </p:nvCxnSpPr>
            <p:spPr>
              <a:xfrm flipH="1">
                <a:off x="1141650" y="3395140"/>
                <a:ext cx="3421628" cy="7"/>
              </a:xfrm>
              <a:prstGeom prst="line">
                <a:avLst/>
              </a:prstGeom>
              <a:ln w="12700" cap="rnd">
                <a:solidFill>
                  <a:srgbClr val="F2F2F2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C366A92-2EF6-6A64-708F-D42A9BBE3921}"/>
                  </a:ext>
                </a:extLst>
              </p:cNvPr>
              <p:cNvCxnSpPr/>
              <p:nvPr/>
            </p:nvCxnSpPr>
            <p:spPr>
              <a:xfrm flipH="1">
                <a:off x="1141649" y="3998801"/>
                <a:ext cx="3426807" cy="8"/>
              </a:xfrm>
              <a:prstGeom prst="line">
                <a:avLst/>
              </a:prstGeom>
              <a:ln w="12700" cap="rnd">
                <a:solidFill>
                  <a:srgbClr val="F2F2F2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ABB5522-D2C1-4803-B710-2B72CE0CF3A0}"/>
                  </a:ext>
                </a:extLst>
              </p:cNvPr>
              <p:cNvCxnSpPr/>
              <p:nvPr/>
            </p:nvCxnSpPr>
            <p:spPr>
              <a:xfrm flipH="1">
                <a:off x="1141649" y="4602461"/>
                <a:ext cx="3426807" cy="12"/>
              </a:xfrm>
              <a:prstGeom prst="line">
                <a:avLst/>
              </a:prstGeom>
              <a:ln w="12700" cap="rnd">
                <a:solidFill>
                  <a:srgbClr val="F2F2F2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279677F-0536-DF92-48DD-B7B432A4CDA5}"/>
                  </a:ext>
                </a:extLst>
              </p:cNvPr>
              <p:cNvCxnSpPr/>
              <p:nvPr/>
            </p:nvCxnSpPr>
            <p:spPr>
              <a:xfrm>
                <a:off x="4568454" y="5079884"/>
                <a:ext cx="0" cy="144940"/>
              </a:xfrm>
              <a:prstGeom prst="line">
                <a:avLst/>
              </a:prstGeom>
              <a:ln>
                <a:solidFill>
                  <a:srgbClr val="F2F2F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36">
                <a:extLst>
                  <a:ext uri="{FF2B5EF4-FFF2-40B4-BE49-F238E27FC236}">
                    <a16:creationId xmlns:a16="http://schemas.microsoft.com/office/drawing/2014/main" id="{1CFC51BD-995D-41E5-55E6-436FBB72C610}"/>
                  </a:ext>
                </a:extLst>
              </p:cNvPr>
              <p:cNvSpPr/>
              <p:nvPr/>
            </p:nvSpPr>
            <p:spPr>
              <a:xfrm>
                <a:off x="1114697" y="2668976"/>
                <a:ext cx="3453756" cy="2447840"/>
              </a:xfrm>
              <a:custGeom>
                <a:avLst/>
                <a:gdLst>
                  <a:gd name="connsiteX0" fmla="*/ 0 w 3438428"/>
                  <a:gd name="connsiteY0" fmla="*/ 0 h 871965"/>
                  <a:gd name="connsiteX1" fmla="*/ 3438428 w 3438428"/>
                  <a:gd name="connsiteY1" fmla="*/ 0 h 871965"/>
                  <a:gd name="connsiteX2" fmla="*/ 3438428 w 3438428"/>
                  <a:gd name="connsiteY2" fmla="*/ 871965 h 871965"/>
                  <a:gd name="connsiteX3" fmla="*/ 0 w 3438428"/>
                  <a:gd name="connsiteY3" fmla="*/ 871965 h 871965"/>
                  <a:gd name="connsiteX4" fmla="*/ 0 w 3438428"/>
                  <a:gd name="connsiteY4" fmla="*/ 0 h 871965"/>
                  <a:gd name="connsiteX0" fmla="*/ 0 w 3447482"/>
                  <a:gd name="connsiteY0" fmla="*/ 362139 h 1234104"/>
                  <a:gd name="connsiteX1" fmla="*/ 3447482 w 3447482"/>
                  <a:gd name="connsiteY1" fmla="*/ 0 h 1234104"/>
                  <a:gd name="connsiteX2" fmla="*/ 3438428 w 3447482"/>
                  <a:gd name="connsiteY2" fmla="*/ 1234104 h 1234104"/>
                  <a:gd name="connsiteX3" fmla="*/ 0 w 3447482"/>
                  <a:gd name="connsiteY3" fmla="*/ 1234104 h 1234104"/>
                  <a:gd name="connsiteX4" fmla="*/ 0 w 3447482"/>
                  <a:gd name="connsiteY4" fmla="*/ 362139 h 1234104"/>
                  <a:gd name="connsiteX0" fmla="*/ 0 w 3447482"/>
                  <a:gd name="connsiteY0" fmla="*/ 362139 h 1234104"/>
                  <a:gd name="connsiteX1" fmla="*/ 1596367 w 3447482"/>
                  <a:gd name="connsiteY1" fmla="*/ 194609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62139 h 1234104"/>
                  <a:gd name="connsiteX1" fmla="*/ 1587313 w 3447482"/>
                  <a:gd name="connsiteY1" fmla="*/ 366625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4220 h 1266185"/>
                  <a:gd name="connsiteX1" fmla="*/ 1596366 w 3447482"/>
                  <a:gd name="connsiteY1" fmla="*/ 335332 h 1266185"/>
                  <a:gd name="connsiteX2" fmla="*/ 3447482 w 3447482"/>
                  <a:gd name="connsiteY2" fmla="*/ 32081 h 1266185"/>
                  <a:gd name="connsiteX3" fmla="*/ 3438428 w 3447482"/>
                  <a:gd name="connsiteY3" fmla="*/ 1266185 h 1266185"/>
                  <a:gd name="connsiteX4" fmla="*/ 0 w 3447482"/>
                  <a:gd name="connsiteY4" fmla="*/ 1266185 h 1266185"/>
                  <a:gd name="connsiteX5" fmla="*/ 0 w 3447482"/>
                  <a:gd name="connsiteY5" fmla="*/ 394220 h 1266185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500715 h 1273092"/>
                  <a:gd name="connsiteX1" fmla="*/ 1858917 w 3456536"/>
                  <a:gd name="connsiteY1" fmla="*/ 269811 h 1273092"/>
                  <a:gd name="connsiteX2" fmla="*/ 3456536 w 3456536"/>
                  <a:gd name="connsiteY2" fmla="*/ 38988 h 1273092"/>
                  <a:gd name="connsiteX3" fmla="*/ 3447482 w 3456536"/>
                  <a:gd name="connsiteY3" fmla="*/ 1273092 h 1273092"/>
                  <a:gd name="connsiteX4" fmla="*/ 9054 w 3456536"/>
                  <a:gd name="connsiteY4" fmla="*/ 1273092 h 1273092"/>
                  <a:gd name="connsiteX5" fmla="*/ 0 w 3456536"/>
                  <a:gd name="connsiteY5" fmla="*/ 500715 h 1273092"/>
                  <a:gd name="connsiteX0" fmla="*/ 0 w 3456536"/>
                  <a:gd name="connsiteY0" fmla="*/ 509221 h 1281598"/>
                  <a:gd name="connsiteX1" fmla="*/ 1858917 w 3456536"/>
                  <a:gd name="connsiteY1" fmla="*/ 278317 h 1281598"/>
                  <a:gd name="connsiteX2" fmla="*/ 3456536 w 3456536"/>
                  <a:gd name="connsiteY2" fmla="*/ 47494 h 1281598"/>
                  <a:gd name="connsiteX3" fmla="*/ 3447482 w 3456536"/>
                  <a:gd name="connsiteY3" fmla="*/ 1281598 h 1281598"/>
                  <a:gd name="connsiteX4" fmla="*/ 9054 w 3456536"/>
                  <a:gd name="connsiteY4" fmla="*/ 1281598 h 1281598"/>
                  <a:gd name="connsiteX5" fmla="*/ 0 w 3456536"/>
                  <a:gd name="connsiteY5" fmla="*/ 509221 h 1281598"/>
                  <a:gd name="connsiteX0" fmla="*/ 0 w 3456536"/>
                  <a:gd name="connsiteY0" fmla="*/ 466109 h 1238486"/>
                  <a:gd name="connsiteX1" fmla="*/ 1858917 w 3456536"/>
                  <a:gd name="connsiteY1" fmla="*/ 235205 h 1238486"/>
                  <a:gd name="connsiteX2" fmla="*/ 3456536 w 3456536"/>
                  <a:gd name="connsiteY2" fmla="*/ 4382 h 1238486"/>
                  <a:gd name="connsiteX3" fmla="*/ 3447482 w 3456536"/>
                  <a:gd name="connsiteY3" fmla="*/ 1238486 h 1238486"/>
                  <a:gd name="connsiteX4" fmla="*/ 9054 w 3456536"/>
                  <a:gd name="connsiteY4" fmla="*/ 1238486 h 1238486"/>
                  <a:gd name="connsiteX5" fmla="*/ 0 w 3456536"/>
                  <a:gd name="connsiteY5" fmla="*/ 466109 h 1238486"/>
                  <a:gd name="connsiteX0" fmla="*/ 0 w 3456536"/>
                  <a:gd name="connsiteY0" fmla="*/ 461727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61727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0 w 3456536"/>
                  <a:gd name="connsiteY0" fmla="*/ 488888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88888 h 1234104"/>
                  <a:gd name="connsiteX0" fmla="*/ 0 w 3447482"/>
                  <a:gd name="connsiteY0" fmla="*/ 479835 h 1225051"/>
                  <a:gd name="connsiteX1" fmla="*/ 1858917 w 3447482"/>
                  <a:gd name="connsiteY1" fmla="*/ 221770 h 1225051"/>
                  <a:gd name="connsiteX2" fmla="*/ 3438429 w 3447482"/>
                  <a:gd name="connsiteY2" fmla="*/ 0 h 1225051"/>
                  <a:gd name="connsiteX3" fmla="*/ 3447482 w 3447482"/>
                  <a:gd name="connsiteY3" fmla="*/ 1225051 h 1225051"/>
                  <a:gd name="connsiteX4" fmla="*/ 9054 w 3447482"/>
                  <a:gd name="connsiteY4" fmla="*/ 1225051 h 1225051"/>
                  <a:gd name="connsiteX5" fmla="*/ 0 w 3447482"/>
                  <a:gd name="connsiteY5" fmla="*/ 479835 h 1225051"/>
                  <a:gd name="connsiteX0" fmla="*/ 0 w 3448354"/>
                  <a:gd name="connsiteY0" fmla="*/ 470782 h 1215998"/>
                  <a:gd name="connsiteX1" fmla="*/ 1858917 w 3448354"/>
                  <a:gd name="connsiteY1" fmla="*/ 212717 h 1215998"/>
                  <a:gd name="connsiteX2" fmla="*/ 3447483 w 3448354"/>
                  <a:gd name="connsiteY2" fmla="*/ 0 h 1215998"/>
                  <a:gd name="connsiteX3" fmla="*/ 3447482 w 3448354"/>
                  <a:gd name="connsiteY3" fmla="*/ 1215998 h 1215998"/>
                  <a:gd name="connsiteX4" fmla="*/ 9054 w 3448354"/>
                  <a:gd name="connsiteY4" fmla="*/ 1215998 h 1215998"/>
                  <a:gd name="connsiteX5" fmla="*/ 0 w 3448354"/>
                  <a:gd name="connsiteY5" fmla="*/ 470782 h 1215998"/>
                  <a:gd name="connsiteX0" fmla="*/ 9053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9053 w 3439300"/>
                  <a:gd name="connsiteY5" fmla="*/ 479835 h 1215998"/>
                  <a:gd name="connsiteX0" fmla="*/ 0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47884"/>
                  <a:gd name="connsiteY0" fmla="*/ 1355117 h 2091280"/>
                  <a:gd name="connsiteX1" fmla="*/ 1867970 w 3447884"/>
                  <a:gd name="connsiteY1" fmla="*/ 1214747 h 2091280"/>
                  <a:gd name="connsiteX2" fmla="*/ 3447483 w 3447884"/>
                  <a:gd name="connsiteY2" fmla="*/ 0 h 2091280"/>
                  <a:gd name="connsiteX3" fmla="*/ 3438428 w 3447884"/>
                  <a:gd name="connsiteY3" fmla="*/ 2091280 h 2091280"/>
                  <a:gd name="connsiteX4" fmla="*/ 0 w 3447884"/>
                  <a:gd name="connsiteY4" fmla="*/ 2091280 h 2091280"/>
                  <a:gd name="connsiteX5" fmla="*/ 0 w 3447884"/>
                  <a:gd name="connsiteY5" fmla="*/ 1355117 h 2091280"/>
                  <a:gd name="connsiteX0" fmla="*/ 0 w 3447884"/>
                  <a:gd name="connsiteY0" fmla="*/ 1347439 h 2083602"/>
                  <a:gd name="connsiteX1" fmla="*/ 1867970 w 3447884"/>
                  <a:gd name="connsiteY1" fmla="*/ 1207069 h 2083602"/>
                  <a:gd name="connsiteX2" fmla="*/ 3447483 w 3447884"/>
                  <a:gd name="connsiteY2" fmla="*/ 0 h 2083602"/>
                  <a:gd name="connsiteX3" fmla="*/ 3438428 w 3447884"/>
                  <a:gd name="connsiteY3" fmla="*/ 2083602 h 2083602"/>
                  <a:gd name="connsiteX4" fmla="*/ 0 w 3447884"/>
                  <a:gd name="connsiteY4" fmla="*/ 2083602 h 2083602"/>
                  <a:gd name="connsiteX5" fmla="*/ 0 w 3447884"/>
                  <a:gd name="connsiteY5" fmla="*/ 1347439 h 2083602"/>
                  <a:gd name="connsiteX0" fmla="*/ 0 w 3438428"/>
                  <a:gd name="connsiteY0" fmla="*/ 1339761 h 2075924"/>
                  <a:gd name="connsiteX1" fmla="*/ 1867970 w 3438428"/>
                  <a:gd name="connsiteY1" fmla="*/ 1199391 h 2075924"/>
                  <a:gd name="connsiteX2" fmla="*/ 3429376 w 3438428"/>
                  <a:gd name="connsiteY2" fmla="*/ 0 h 2075924"/>
                  <a:gd name="connsiteX3" fmla="*/ 3438428 w 3438428"/>
                  <a:gd name="connsiteY3" fmla="*/ 2075924 h 2075924"/>
                  <a:gd name="connsiteX4" fmla="*/ 0 w 3438428"/>
                  <a:gd name="connsiteY4" fmla="*/ 2075924 h 2075924"/>
                  <a:gd name="connsiteX5" fmla="*/ 0 w 3438428"/>
                  <a:gd name="connsiteY5" fmla="*/ 1339761 h 2075924"/>
                  <a:gd name="connsiteX0" fmla="*/ 0 w 3439300"/>
                  <a:gd name="connsiteY0" fmla="*/ 1339761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0 w 3439300"/>
                  <a:gd name="connsiteY5" fmla="*/ 1339761 h 2075924"/>
                  <a:gd name="connsiteX0" fmla="*/ 0 w 3439300"/>
                  <a:gd name="connsiteY0" fmla="*/ 1631522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0 w 3439300"/>
                  <a:gd name="connsiteY5" fmla="*/ 1631522 h 2075924"/>
                  <a:gd name="connsiteX0" fmla="*/ 9054 w 3439300"/>
                  <a:gd name="connsiteY0" fmla="*/ 1608488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9054 w 3439300"/>
                  <a:gd name="connsiteY5" fmla="*/ 1608488 h 2075924"/>
                  <a:gd name="connsiteX0" fmla="*/ 376 w 3439300"/>
                  <a:gd name="connsiteY0" fmla="*/ 1615873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376 w 3439300"/>
                  <a:gd name="connsiteY5" fmla="*/ 1615873 h 2075924"/>
                  <a:gd name="connsiteX0" fmla="*/ 376 w 3439300"/>
                  <a:gd name="connsiteY0" fmla="*/ 1615873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376 w 3439300"/>
                  <a:gd name="connsiteY5" fmla="*/ 1615873 h 207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39300" h="2075924">
                    <a:moveTo>
                      <a:pt x="376" y="1615873"/>
                    </a:moveTo>
                    <a:cubicBezTo>
                      <a:pt x="382623" y="1616149"/>
                      <a:pt x="1294961" y="1468703"/>
                      <a:pt x="1867970" y="1199391"/>
                    </a:cubicBezTo>
                    <a:cubicBezTo>
                      <a:pt x="2440979" y="930079"/>
                      <a:pt x="3232832" y="241613"/>
                      <a:pt x="3438429" y="0"/>
                    </a:cubicBezTo>
                    <a:cubicBezTo>
                      <a:pt x="3441447" y="408350"/>
                      <a:pt x="3435410" y="1667574"/>
                      <a:pt x="3438428" y="2075924"/>
                    </a:cubicBezTo>
                    <a:lnTo>
                      <a:pt x="0" y="2075924"/>
                    </a:lnTo>
                    <a:cubicBezTo>
                      <a:pt x="125" y="1922574"/>
                      <a:pt x="251" y="1769223"/>
                      <a:pt x="376" y="1615873"/>
                    </a:cubicBez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1" name="Rectangle 36">
                <a:extLst>
                  <a:ext uri="{FF2B5EF4-FFF2-40B4-BE49-F238E27FC236}">
                    <a16:creationId xmlns:a16="http://schemas.microsoft.com/office/drawing/2014/main" id="{52E20CC6-8EAF-BDB9-357E-4EE6E19A1014}"/>
                  </a:ext>
                </a:extLst>
              </p:cNvPr>
              <p:cNvSpPr/>
              <p:nvPr/>
            </p:nvSpPr>
            <p:spPr>
              <a:xfrm>
                <a:off x="1114698" y="4202648"/>
                <a:ext cx="3448578" cy="914361"/>
              </a:xfrm>
              <a:custGeom>
                <a:avLst/>
                <a:gdLst>
                  <a:gd name="connsiteX0" fmla="*/ 0 w 3438428"/>
                  <a:gd name="connsiteY0" fmla="*/ 0 h 871965"/>
                  <a:gd name="connsiteX1" fmla="*/ 3438428 w 3438428"/>
                  <a:gd name="connsiteY1" fmla="*/ 0 h 871965"/>
                  <a:gd name="connsiteX2" fmla="*/ 3438428 w 3438428"/>
                  <a:gd name="connsiteY2" fmla="*/ 871965 h 871965"/>
                  <a:gd name="connsiteX3" fmla="*/ 0 w 3438428"/>
                  <a:gd name="connsiteY3" fmla="*/ 871965 h 871965"/>
                  <a:gd name="connsiteX4" fmla="*/ 0 w 3438428"/>
                  <a:gd name="connsiteY4" fmla="*/ 0 h 871965"/>
                  <a:gd name="connsiteX0" fmla="*/ 0 w 3447482"/>
                  <a:gd name="connsiteY0" fmla="*/ 362139 h 1234104"/>
                  <a:gd name="connsiteX1" fmla="*/ 3447482 w 3447482"/>
                  <a:gd name="connsiteY1" fmla="*/ 0 h 1234104"/>
                  <a:gd name="connsiteX2" fmla="*/ 3438428 w 3447482"/>
                  <a:gd name="connsiteY2" fmla="*/ 1234104 h 1234104"/>
                  <a:gd name="connsiteX3" fmla="*/ 0 w 3447482"/>
                  <a:gd name="connsiteY3" fmla="*/ 1234104 h 1234104"/>
                  <a:gd name="connsiteX4" fmla="*/ 0 w 3447482"/>
                  <a:gd name="connsiteY4" fmla="*/ 362139 h 1234104"/>
                  <a:gd name="connsiteX0" fmla="*/ 0 w 3447482"/>
                  <a:gd name="connsiteY0" fmla="*/ 362139 h 1234104"/>
                  <a:gd name="connsiteX1" fmla="*/ 1596367 w 3447482"/>
                  <a:gd name="connsiteY1" fmla="*/ 194609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62139 h 1234104"/>
                  <a:gd name="connsiteX1" fmla="*/ 1587313 w 3447482"/>
                  <a:gd name="connsiteY1" fmla="*/ 366625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4220 h 1266185"/>
                  <a:gd name="connsiteX1" fmla="*/ 1596366 w 3447482"/>
                  <a:gd name="connsiteY1" fmla="*/ 335332 h 1266185"/>
                  <a:gd name="connsiteX2" fmla="*/ 3447482 w 3447482"/>
                  <a:gd name="connsiteY2" fmla="*/ 32081 h 1266185"/>
                  <a:gd name="connsiteX3" fmla="*/ 3438428 w 3447482"/>
                  <a:gd name="connsiteY3" fmla="*/ 1266185 h 1266185"/>
                  <a:gd name="connsiteX4" fmla="*/ 0 w 3447482"/>
                  <a:gd name="connsiteY4" fmla="*/ 1266185 h 1266185"/>
                  <a:gd name="connsiteX5" fmla="*/ 0 w 3447482"/>
                  <a:gd name="connsiteY5" fmla="*/ 394220 h 1266185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500715 h 1273092"/>
                  <a:gd name="connsiteX1" fmla="*/ 1858917 w 3456536"/>
                  <a:gd name="connsiteY1" fmla="*/ 269811 h 1273092"/>
                  <a:gd name="connsiteX2" fmla="*/ 3456536 w 3456536"/>
                  <a:gd name="connsiteY2" fmla="*/ 38988 h 1273092"/>
                  <a:gd name="connsiteX3" fmla="*/ 3447482 w 3456536"/>
                  <a:gd name="connsiteY3" fmla="*/ 1273092 h 1273092"/>
                  <a:gd name="connsiteX4" fmla="*/ 9054 w 3456536"/>
                  <a:gd name="connsiteY4" fmla="*/ 1273092 h 1273092"/>
                  <a:gd name="connsiteX5" fmla="*/ 0 w 3456536"/>
                  <a:gd name="connsiteY5" fmla="*/ 500715 h 1273092"/>
                  <a:gd name="connsiteX0" fmla="*/ 0 w 3456536"/>
                  <a:gd name="connsiteY0" fmla="*/ 509221 h 1281598"/>
                  <a:gd name="connsiteX1" fmla="*/ 1858917 w 3456536"/>
                  <a:gd name="connsiteY1" fmla="*/ 278317 h 1281598"/>
                  <a:gd name="connsiteX2" fmla="*/ 3456536 w 3456536"/>
                  <a:gd name="connsiteY2" fmla="*/ 47494 h 1281598"/>
                  <a:gd name="connsiteX3" fmla="*/ 3447482 w 3456536"/>
                  <a:gd name="connsiteY3" fmla="*/ 1281598 h 1281598"/>
                  <a:gd name="connsiteX4" fmla="*/ 9054 w 3456536"/>
                  <a:gd name="connsiteY4" fmla="*/ 1281598 h 1281598"/>
                  <a:gd name="connsiteX5" fmla="*/ 0 w 3456536"/>
                  <a:gd name="connsiteY5" fmla="*/ 509221 h 1281598"/>
                  <a:gd name="connsiteX0" fmla="*/ 0 w 3456536"/>
                  <a:gd name="connsiteY0" fmla="*/ 466109 h 1238486"/>
                  <a:gd name="connsiteX1" fmla="*/ 1858917 w 3456536"/>
                  <a:gd name="connsiteY1" fmla="*/ 235205 h 1238486"/>
                  <a:gd name="connsiteX2" fmla="*/ 3456536 w 3456536"/>
                  <a:gd name="connsiteY2" fmla="*/ 4382 h 1238486"/>
                  <a:gd name="connsiteX3" fmla="*/ 3447482 w 3456536"/>
                  <a:gd name="connsiteY3" fmla="*/ 1238486 h 1238486"/>
                  <a:gd name="connsiteX4" fmla="*/ 9054 w 3456536"/>
                  <a:gd name="connsiteY4" fmla="*/ 1238486 h 1238486"/>
                  <a:gd name="connsiteX5" fmla="*/ 0 w 3456536"/>
                  <a:gd name="connsiteY5" fmla="*/ 466109 h 1238486"/>
                  <a:gd name="connsiteX0" fmla="*/ 0 w 3456536"/>
                  <a:gd name="connsiteY0" fmla="*/ 461727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61727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0 w 3456536"/>
                  <a:gd name="connsiteY0" fmla="*/ 488888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88888 h 1234104"/>
                  <a:gd name="connsiteX0" fmla="*/ 0 w 3447482"/>
                  <a:gd name="connsiteY0" fmla="*/ 479835 h 1225051"/>
                  <a:gd name="connsiteX1" fmla="*/ 1858917 w 3447482"/>
                  <a:gd name="connsiteY1" fmla="*/ 221770 h 1225051"/>
                  <a:gd name="connsiteX2" fmla="*/ 3438429 w 3447482"/>
                  <a:gd name="connsiteY2" fmla="*/ 0 h 1225051"/>
                  <a:gd name="connsiteX3" fmla="*/ 3447482 w 3447482"/>
                  <a:gd name="connsiteY3" fmla="*/ 1225051 h 1225051"/>
                  <a:gd name="connsiteX4" fmla="*/ 9054 w 3447482"/>
                  <a:gd name="connsiteY4" fmla="*/ 1225051 h 1225051"/>
                  <a:gd name="connsiteX5" fmla="*/ 0 w 3447482"/>
                  <a:gd name="connsiteY5" fmla="*/ 479835 h 1225051"/>
                  <a:gd name="connsiteX0" fmla="*/ 0 w 3448354"/>
                  <a:gd name="connsiteY0" fmla="*/ 470782 h 1215998"/>
                  <a:gd name="connsiteX1" fmla="*/ 1858917 w 3448354"/>
                  <a:gd name="connsiteY1" fmla="*/ 212717 h 1215998"/>
                  <a:gd name="connsiteX2" fmla="*/ 3447483 w 3448354"/>
                  <a:gd name="connsiteY2" fmla="*/ 0 h 1215998"/>
                  <a:gd name="connsiteX3" fmla="*/ 3447482 w 3448354"/>
                  <a:gd name="connsiteY3" fmla="*/ 1215998 h 1215998"/>
                  <a:gd name="connsiteX4" fmla="*/ 9054 w 3448354"/>
                  <a:gd name="connsiteY4" fmla="*/ 1215998 h 1215998"/>
                  <a:gd name="connsiteX5" fmla="*/ 0 w 3448354"/>
                  <a:gd name="connsiteY5" fmla="*/ 470782 h 1215998"/>
                  <a:gd name="connsiteX0" fmla="*/ 9053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9053 w 3439300"/>
                  <a:gd name="connsiteY5" fmla="*/ 479835 h 1215998"/>
                  <a:gd name="connsiteX0" fmla="*/ 0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39300" h="1215998">
                    <a:moveTo>
                      <a:pt x="0" y="479835"/>
                    </a:moveTo>
                    <a:cubicBezTo>
                      <a:pt x="382247" y="480111"/>
                      <a:pt x="760744" y="500919"/>
                      <a:pt x="1867970" y="339465"/>
                    </a:cubicBezTo>
                    <a:cubicBezTo>
                      <a:pt x="2975196" y="178011"/>
                      <a:pt x="3102749" y="27436"/>
                      <a:pt x="3438429" y="0"/>
                    </a:cubicBezTo>
                    <a:cubicBezTo>
                      <a:pt x="3441447" y="408350"/>
                      <a:pt x="3435410" y="807648"/>
                      <a:pt x="3438428" y="1215998"/>
                    </a:cubicBezTo>
                    <a:lnTo>
                      <a:pt x="0" y="1215998"/>
                    </a:lnTo>
                    <a:lnTo>
                      <a:pt x="0" y="479835"/>
                    </a:lnTo>
                    <a:close/>
                  </a:path>
                </a:pathLst>
              </a:custGeom>
              <a:solidFill>
                <a:srgbClr val="5858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0B160B1-80D0-AABE-CA51-B884E521E2AA}"/>
                </a:ext>
              </a:extLst>
            </p:cNvPr>
            <p:cNvSpPr txBox="1">
              <a:spLocks/>
            </p:cNvSpPr>
            <p:nvPr/>
          </p:nvSpPr>
          <p:spPr>
            <a:xfrm>
              <a:off x="5010168" y="2333727"/>
              <a:ext cx="777240" cy="778072"/>
            </a:xfrm>
            <a:prstGeom prst="ellipse">
              <a:avLst/>
            </a:prstGeom>
            <a:solidFill>
              <a:srgbClr val="281A42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$1</a:t>
              </a:r>
            </a:p>
            <a:p>
              <a:pPr algn="ctr"/>
              <a:r>
                <a:rPr lang="en-US" sz="1100" b="1" i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04CBC89-5EEA-5CB3-8114-0F6F96EA63EC}"/>
                </a:ext>
              </a:extLst>
            </p:cNvPr>
            <p:cNvSpPr txBox="1">
              <a:spLocks/>
            </p:cNvSpPr>
            <p:nvPr/>
          </p:nvSpPr>
          <p:spPr>
            <a:xfrm>
              <a:off x="5010168" y="4227160"/>
              <a:ext cx="777240" cy="778072"/>
            </a:xfrm>
            <a:prstGeom prst="ellipse">
              <a:avLst/>
            </a:prstGeom>
            <a:solidFill>
              <a:srgbClr val="585858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$600</a:t>
              </a:r>
            </a:p>
            <a:p>
              <a:pPr algn="ctr"/>
              <a:r>
                <a:rPr lang="en-US" sz="1100" b="1" i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</a:t>
              </a:r>
              <a:endParaRPr lang="en-US" sz="1200" b="1" i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3B91969-7566-8901-626C-945E3660AEAA}"/>
                </a:ext>
              </a:extLst>
            </p:cNvPr>
            <p:cNvGrpSpPr/>
            <p:nvPr/>
          </p:nvGrpSpPr>
          <p:grpSpPr>
            <a:xfrm>
              <a:off x="6940060" y="2274298"/>
              <a:ext cx="4125698" cy="1461938"/>
              <a:chOff x="7007337" y="2070611"/>
              <a:chExt cx="4125698" cy="146193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593C2C-1C8B-CE46-ABE4-3B7ED8EDBAC2}"/>
                  </a:ext>
                </a:extLst>
              </p:cNvPr>
              <p:cNvSpPr txBox="1"/>
              <p:nvPr/>
            </p:nvSpPr>
            <p:spPr>
              <a:xfrm>
                <a:off x="7230412" y="2070611"/>
                <a:ext cx="3902623" cy="1461938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t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1" spc="-10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Bend-The-Curve Case</a:t>
                </a: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Grow the Business</a:t>
                </a: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Strategic Pivots</a:t>
                </a: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 Protection in High-Risk Areas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7383359-3B4B-FAD3-51AA-6F8F2AF19EAA}"/>
                  </a:ext>
                </a:extLst>
              </p:cNvPr>
              <p:cNvSpPr/>
              <p:nvPr/>
            </p:nvSpPr>
            <p:spPr>
              <a:xfrm>
                <a:off x="7007337" y="2130040"/>
                <a:ext cx="45719" cy="1279399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B342BF5-3F77-A95E-AF2C-287665F309C0}"/>
                </a:ext>
              </a:extLst>
            </p:cNvPr>
            <p:cNvGrpSpPr/>
            <p:nvPr/>
          </p:nvGrpSpPr>
          <p:grpSpPr>
            <a:xfrm>
              <a:off x="6943404" y="4356402"/>
              <a:ext cx="4122354" cy="815608"/>
              <a:chOff x="7010681" y="4290344"/>
              <a:chExt cx="4122354" cy="815608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1A006F0-CC8E-9085-7E8B-263E3C45F5E3}"/>
                  </a:ext>
                </a:extLst>
              </p:cNvPr>
              <p:cNvSpPr txBox="1"/>
              <p:nvPr/>
            </p:nvSpPr>
            <p:spPr>
              <a:xfrm>
                <a:off x="7230412" y="4290344"/>
                <a:ext cx="3902623" cy="815608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t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1" spc="-10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Momentum Case</a:t>
                </a: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Run the Business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CFDE63-28FB-A1DA-13AA-5C8386AA142F}"/>
                  </a:ext>
                </a:extLst>
              </p:cNvPr>
              <p:cNvSpPr/>
              <p:nvPr/>
            </p:nvSpPr>
            <p:spPr>
              <a:xfrm>
                <a:off x="7010681" y="4344173"/>
                <a:ext cx="45719" cy="584837"/>
              </a:xfrm>
              <a:prstGeom prst="rect">
                <a:avLst/>
              </a:prstGeom>
              <a:solidFill>
                <a:srgbClr val="5858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068E0A8-7BAB-CB30-DD39-824E56DCE336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5787408" y="2722763"/>
              <a:ext cx="1175511" cy="0"/>
            </a:xfrm>
            <a:prstGeom prst="line">
              <a:avLst/>
            </a:prstGeom>
            <a:ln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74260B8-8B4E-AEA8-5D88-6F85DBC4C995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>
              <a:off x="5787408" y="4616196"/>
              <a:ext cx="1152652" cy="0"/>
            </a:xfrm>
            <a:prstGeom prst="line">
              <a:avLst/>
            </a:prstGeom>
            <a:ln>
              <a:solidFill>
                <a:srgbClr val="1D1D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BE45537-7D70-2AF7-660A-D9AADAB3249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2E6C7C7F-6458-AFC3-F9A1-F00B888B8117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52C87F99-A82C-2FB8-744A-9A48DE3576D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A69BF5AE-0B3F-D47E-793B-66EB93ACC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2B4BDEB-6A5E-0830-B24B-70F87EFDCA8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C5CD15E-3282-926A-348C-9E9DD11C3F47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FEFCB191-2EC9-1764-D71D-48939F9C770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440F98C1-022A-0FA4-ADFB-A9BB15E840D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FC53336-3326-1323-D3F4-1AF3D4910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927E0F-5C6D-2D8F-13A8-CBF5FC5AC5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2FEF1E-41AF-1A41-F399-104CE99CA4D6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56C15B79-2142-8BFD-5E15-8EF1F74E768C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FED4A9CE-83A0-B785-77CB-0C001CDF757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239A57-55D3-D1DF-4A58-B374CFDE3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FD99B6-7DE2-C1D4-3B51-8C27506B52E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6A6FB2-7E3E-281C-82C7-941885ECB8F6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CDE8D33E-52BE-E911-0032-060981FEFB3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D9419FFE-FDEB-16E6-7E06-9BC03809621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3" name="Picture 22" descr="Choose">
              <a:extLst>
                <a:ext uri="{FF2B5EF4-FFF2-40B4-BE49-F238E27FC236}">
                  <a16:creationId xmlns:a16="http://schemas.microsoft.com/office/drawing/2014/main" id="{E715BBDF-D781-429A-DFB6-C4C13599C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2844A8-B2C5-13F7-D9CF-1D2556A7D20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F114E8-8022-4CCC-05B6-266DC45A678E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8">
              <a:extLst>
                <a:ext uri="{FF2B5EF4-FFF2-40B4-BE49-F238E27FC236}">
                  <a16:creationId xmlns:a16="http://schemas.microsoft.com/office/drawing/2014/main" id="{F5F6A110-00DB-9111-71D0-D7F59598415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9">
              <a:extLst>
                <a:ext uri="{FF2B5EF4-FFF2-40B4-BE49-F238E27FC236}">
                  <a16:creationId xmlns:a16="http://schemas.microsoft.com/office/drawing/2014/main" id="{82D2A70B-841A-160A-B21C-405B94DC68F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CE39A43-FF92-94F9-A6DE-02EDDB860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67D5C02-7AF7-970F-9EF0-C39E688DBFD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6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1048C5FB-F28E-4494-B631-2EDAD025DAAC}" type="slidenum">
              <a:r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0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Number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FDFC09F1-0EAD-45EC-B8A8-FB06DBF95A45}" type="slidenum">
              <a:rPr lang="en-US"/>
              <a:pPr/>
              <a:t>22</a:t>
            </a:fld>
            <a:endParaRPr lang="en-US"/>
          </a:p>
        </p:txBody>
      </p:sp>
      <p:sp>
        <p:nvSpPr>
          <p:cNvPr id="97" name="Title 96">
            <a:extLst>
              <a:ext uri="{FF2B5EF4-FFF2-40B4-BE49-F238E27FC236}">
                <a16:creationId xmlns:a16="http://schemas.microsoft.com/office/drawing/2014/main" id="{0A9DCB1A-D33F-AE99-3B11-5FEBBB2D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Analytics + Judgment</a:t>
            </a:r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4FE2A3BE-083E-FAC7-D37C-18EBBED0705B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1493838"/>
            <a:ext cx="11337925" cy="4673600"/>
          </a:xfrm>
          <a:prstGeom prst="rect">
            <a:avLst/>
          </a:prstGeom>
          <a:solidFill>
            <a:srgbClr val="F2F2F2"/>
          </a:solidFill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i="0" kern="1200" spc="-10">
                <a:solidFill>
                  <a:srgbClr val="1D1D1D"/>
                </a:solidFill>
                <a:latin typeface="Arial" pitchFamily="34" charset="0"/>
                <a:ea typeface="Helvetica Neue Light" panose="020004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Geographies</a:t>
            </a:r>
          </a:p>
          <a:p>
            <a:r>
              <a:rPr lang="en-US"/>
              <a:t>Channels</a:t>
            </a:r>
          </a:p>
          <a:p>
            <a:r>
              <a:rPr lang="en-US"/>
              <a:t>Business Units</a:t>
            </a:r>
          </a:p>
          <a:p>
            <a:r>
              <a:rPr lang="en-US"/>
              <a:t>Consumer segments</a:t>
            </a:r>
          </a:p>
          <a:p>
            <a:r>
              <a:rPr lang="en-US"/>
              <a:t>Product segments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9B625-36B1-767E-153C-34EA8A733769}"/>
              </a:ext>
            </a:extLst>
          </p:cNvPr>
          <p:cNvSpPr/>
          <p:nvPr/>
        </p:nvSpPr>
        <p:spPr>
          <a:xfrm>
            <a:off x="2282461" y="1374464"/>
            <a:ext cx="4251201" cy="4441720"/>
          </a:xfrm>
          <a:prstGeom prst="rect">
            <a:avLst/>
          </a:prstGeom>
          <a:noFill/>
          <a:ln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20FA0-2226-1925-3542-A593238ECDEA}"/>
              </a:ext>
            </a:extLst>
          </p:cNvPr>
          <p:cNvSpPr/>
          <p:nvPr/>
        </p:nvSpPr>
        <p:spPr>
          <a:xfrm>
            <a:off x="1701741" y="1757407"/>
            <a:ext cx="3780431" cy="36985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503B63-E1F3-67BF-F2BE-73C6C412F62B}"/>
              </a:ext>
            </a:extLst>
          </p:cNvPr>
          <p:cNvSpPr/>
          <p:nvPr/>
        </p:nvSpPr>
        <p:spPr>
          <a:xfrm>
            <a:off x="4573092" y="1757407"/>
            <a:ext cx="3675453" cy="3752507"/>
          </a:xfrm>
          <a:prstGeom prst="rect">
            <a:avLst/>
          </a:prstGeom>
          <a:noFill/>
          <a:ln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1F0BC3D-9359-44B6-3DC2-1CA3A8BDE4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/>
        </p:blipFill>
        <p:spPr>
          <a:xfrm>
            <a:off x="563253" y="1611970"/>
            <a:ext cx="3615636" cy="37507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7C1A40-C014-FEA6-EF6F-2E0542ADCECD}"/>
              </a:ext>
            </a:extLst>
          </p:cNvPr>
          <p:cNvSpPr/>
          <p:nvPr/>
        </p:nvSpPr>
        <p:spPr>
          <a:xfrm>
            <a:off x="8726202" y="2749667"/>
            <a:ext cx="2977204" cy="1231106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n-US" sz="3600" spc="-10">
                <a:ln w="0"/>
                <a:solidFill>
                  <a:srgbClr val="281A42"/>
                </a:solidFill>
                <a:effectLst>
                  <a:reflection blurRad="25007" stA="11000" endPos="41104" dist="50800" dir="5400000" sy="-100000" algn="bl" rotWithShape="0"/>
                </a:effectLst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STRATEGIC</a:t>
            </a:r>
          </a:p>
          <a:p>
            <a:pPr algn="ctr"/>
            <a:r>
              <a:rPr lang="en-US" sz="3600" spc="-10">
                <a:ln w="0"/>
                <a:solidFill>
                  <a:srgbClr val="281A42"/>
                </a:solidFill>
                <a:effectLst>
                  <a:reflection blurRad="25007" stA="11000" endPos="41104" dist="50800" dir="5400000" sy="-100000" algn="bl" rotWithShape="0"/>
                </a:effectLst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PIVOTS</a:t>
            </a:r>
            <a:endParaRPr lang="en-US" sz="4267" spc="-10">
              <a:ln w="0"/>
              <a:solidFill>
                <a:srgbClr val="281A42"/>
              </a:solidFill>
              <a:effectLst>
                <a:reflection blurRad="25007" stA="11000" endPos="41104" dist="50800" dir="5400000" sy="-100000" algn="bl" rotWithShape="0"/>
              </a:effectLst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8F035-B3AA-8DAA-81E6-296DB71EA733}"/>
              </a:ext>
            </a:extLst>
          </p:cNvPr>
          <p:cNvSpPr txBox="1"/>
          <p:nvPr/>
        </p:nvSpPr>
        <p:spPr>
          <a:xfrm>
            <a:off x="10889383" y="4314092"/>
            <a:ext cx="595035" cy="46166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400" i="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B1B6A-8F58-4F06-AD4E-2990834B9D40}"/>
              </a:ext>
            </a:extLst>
          </p:cNvPr>
          <p:cNvSpPr txBox="1"/>
          <p:nvPr/>
        </p:nvSpPr>
        <p:spPr>
          <a:xfrm>
            <a:off x="8940747" y="4314092"/>
            <a:ext cx="1074333" cy="46166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400" i="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99C764-826E-5ECD-6262-E8D5D7FBC399}"/>
              </a:ext>
            </a:extLst>
          </p:cNvPr>
          <p:cNvGrpSpPr/>
          <p:nvPr/>
        </p:nvGrpSpPr>
        <p:grpSpPr>
          <a:xfrm>
            <a:off x="10159718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88CB7EF8-9179-A710-8F92-93C08E0BCE85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7ECCD6-0B10-9C24-C3AE-C8AA9264F3E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82CD2C0C-48A2-B415-265D-6A94245C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2FB52A-6B2A-359F-8CF9-1727E20B9E8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58B64B-1C7B-BE25-9967-D73B10951B65}"/>
              </a:ext>
            </a:extLst>
          </p:cNvPr>
          <p:cNvGrpSpPr/>
          <p:nvPr/>
        </p:nvGrpSpPr>
        <p:grpSpPr>
          <a:xfrm>
            <a:off x="10559783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96AD260-9747-7C7E-A17C-9C8B6EA61B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4A59B64-D57E-8DC3-62E5-06A99C54D0C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F85144-D703-7CFC-3BC5-29AA71260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4FB011-A2E3-3AE4-9934-510B4D9D9F6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3080A8-12A5-F4A9-DA4B-1489CEB875A2}"/>
              </a:ext>
            </a:extLst>
          </p:cNvPr>
          <p:cNvGrpSpPr/>
          <p:nvPr/>
        </p:nvGrpSpPr>
        <p:grpSpPr>
          <a:xfrm>
            <a:off x="11759975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C41B4FC-A50F-AE68-1A56-6D267B63CD4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ABB788D-E939-587C-CCFF-44715395288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A4324C9-47BA-3CB4-97CE-108FA496D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93F6DA-3DE1-967C-B935-4C721E63D26C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731862-C3F8-AE2D-12C8-5B94C5361611}"/>
              </a:ext>
            </a:extLst>
          </p:cNvPr>
          <p:cNvGrpSpPr/>
          <p:nvPr/>
        </p:nvGrpSpPr>
        <p:grpSpPr>
          <a:xfrm>
            <a:off x="10959846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3">
              <a:extLst>
                <a:ext uri="{FF2B5EF4-FFF2-40B4-BE49-F238E27FC236}">
                  <a16:creationId xmlns:a16="http://schemas.microsoft.com/office/drawing/2014/main" id="{AF85CF49-58BA-17F0-BE31-FE68F1859D8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4">
              <a:extLst>
                <a:ext uri="{FF2B5EF4-FFF2-40B4-BE49-F238E27FC236}">
                  <a16:creationId xmlns:a16="http://schemas.microsoft.com/office/drawing/2014/main" id="{DA6C5024-7276-3C3D-C7E1-328EAACC958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 descr="Choose">
              <a:extLst>
                <a:ext uri="{FF2B5EF4-FFF2-40B4-BE49-F238E27FC236}">
                  <a16:creationId xmlns:a16="http://schemas.microsoft.com/office/drawing/2014/main" id="{5331A731-9858-5E86-0FBB-DFB987449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0ECDA49-649C-D6B7-CB80-B707A1AF23E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6E46E2-37FA-AF92-63EF-CB176C7AF821}"/>
              </a:ext>
            </a:extLst>
          </p:cNvPr>
          <p:cNvGrpSpPr/>
          <p:nvPr/>
        </p:nvGrpSpPr>
        <p:grpSpPr>
          <a:xfrm>
            <a:off x="11359909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8">
              <a:extLst>
                <a:ext uri="{FF2B5EF4-FFF2-40B4-BE49-F238E27FC236}">
                  <a16:creationId xmlns:a16="http://schemas.microsoft.com/office/drawing/2014/main" id="{F61164E2-0E31-80A2-0E92-99D3AE36E80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4C1429B4-6253-26A7-6009-A437BBF7974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A7128F-CA4F-6138-BB44-39B920752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E8D85AC-0AF3-B066-C369-F244BB5CCBD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B79E42E-957A-8260-9E8C-9133FDBA9A34}"/>
              </a:ext>
            </a:extLst>
          </p:cNvPr>
          <p:cNvSpPr txBox="1"/>
          <p:nvPr/>
        </p:nvSpPr>
        <p:spPr>
          <a:xfrm>
            <a:off x="4749510" y="1977233"/>
            <a:ext cx="342992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WHERE’S THE MONEY?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8DF559-E2EA-8906-1F06-919311BC0E1A}"/>
              </a:ext>
            </a:extLst>
          </p:cNvPr>
          <p:cNvSpPr txBox="1"/>
          <p:nvPr/>
        </p:nvSpPr>
        <p:spPr>
          <a:xfrm>
            <a:off x="5986789" y="5030866"/>
            <a:ext cx="1066318" cy="33855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1600" i="1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14572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Concept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D0F9A4E6-DACD-F6C8-BAE8-92FE2A9D77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“fat numbers”</a:t>
            </a:r>
          </a:p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85671C8-1DAD-524E-100E-069C0890A04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" name="SlideNumber"/>
          <p:cNvSpPr>
            <a:spLocks noGrp="1"/>
          </p:cNvSpPr>
          <p:nvPr>
            <p:ph type="sldNum" idx="4294967295"/>
          </p:nvPr>
        </p:nvSpPr>
        <p:spPr>
          <a:xfrm>
            <a:off x="0" y="6564313"/>
            <a:ext cx="457200" cy="128587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BB648F7F-C097-48DE-B84F-AE9F9050C8D4}" type="slidenum">
              <a:t>23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655B5DF-346A-83B9-EFDE-FE12BB8350C8}"/>
              </a:ext>
            </a:extLst>
          </p:cNvPr>
          <p:cNvGrpSpPr/>
          <p:nvPr/>
        </p:nvGrpSpPr>
        <p:grpSpPr>
          <a:xfrm>
            <a:off x="1515901" y="1298792"/>
            <a:ext cx="9523078" cy="3525119"/>
            <a:chOff x="1092982" y="1241753"/>
            <a:chExt cx="10056983" cy="3926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A3437F-E323-B447-8D05-924D97083E92}"/>
                </a:ext>
              </a:extLst>
            </p:cNvPr>
            <p:cNvSpPr/>
            <p:nvPr/>
          </p:nvSpPr>
          <p:spPr>
            <a:xfrm>
              <a:off x="3533013" y="1517389"/>
              <a:ext cx="7616952" cy="344184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281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35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04F597-A96D-4849-BF53-22EB073839BD}"/>
                </a:ext>
              </a:extLst>
            </p:cNvPr>
            <p:cNvSpPr/>
            <p:nvPr/>
          </p:nvSpPr>
          <p:spPr>
            <a:xfrm>
              <a:off x="6989603" y="1241753"/>
              <a:ext cx="3308288" cy="532475"/>
            </a:xfrm>
            <a:prstGeom prst="rect">
              <a:avLst/>
            </a:prstGeom>
            <a:solidFill>
              <a:srgbClr val="7A828D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Choices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91334A-7BB5-FC4C-A6F5-BBBC2DED33E7}"/>
                </a:ext>
              </a:extLst>
            </p:cNvPr>
            <p:cNvSpPr/>
            <p:nvPr/>
          </p:nvSpPr>
          <p:spPr>
            <a:xfrm>
              <a:off x="6989603" y="4635609"/>
              <a:ext cx="3308288" cy="532475"/>
            </a:xfrm>
            <a:prstGeom prst="rect">
              <a:avLst/>
            </a:prstGeom>
            <a:solidFill>
              <a:srgbClr val="7A828D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“FAT” NUMBERS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B7FA798-6740-6549-A307-5BDA970CF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066926" y="2424678"/>
              <a:ext cx="3153644" cy="165747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B3B3B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F72CB0-6BB2-1C46-897C-89C192F74F82}"/>
                </a:ext>
              </a:extLst>
            </p:cNvPr>
            <p:cNvSpPr/>
            <p:nvPr/>
          </p:nvSpPr>
          <p:spPr>
            <a:xfrm>
              <a:off x="1092982" y="1848975"/>
              <a:ext cx="4886324" cy="280887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1D00EC-5744-EC46-8124-474A5E28DF64}"/>
                </a:ext>
              </a:extLst>
            </p:cNvPr>
            <p:cNvSpPr txBox="1"/>
            <p:nvPr/>
          </p:nvSpPr>
          <p:spPr>
            <a:xfrm>
              <a:off x="1279998" y="3764502"/>
              <a:ext cx="2054847" cy="893349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noAutofit/>
            </a:bodyPr>
            <a:lstStyle/>
            <a:p>
              <a:pPr algn="ctr"/>
              <a:r>
                <a:rPr lang="en-US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CAPITAL</a:t>
              </a:r>
            </a:p>
            <a:p>
              <a:pPr algn="ctr"/>
              <a:r>
                <a:rPr lang="en-US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ALLOCATION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1EE310-B117-1B49-B0F7-BF9A8E2D82D1}"/>
                </a:ext>
              </a:extLst>
            </p:cNvPr>
            <p:cNvSpPr txBox="1"/>
            <p:nvPr/>
          </p:nvSpPr>
          <p:spPr>
            <a:xfrm>
              <a:off x="3741258" y="3764502"/>
              <a:ext cx="2054847" cy="893349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noAutofit/>
            </a:bodyPr>
            <a:lstStyle/>
            <a:p>
              <a:pPr algn="ctr"/>
              <a:r>
                <a:rPr lang="en-US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  <a:p>
              <a:pPr algn="ctr"/>
              <a:r>
                <a:rPr lang="en-US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ALLOCATION</a:t>
              </a:r>
            </a:p>
          </p:txBody>
        </p:sp>
        <p:pic>
          <p:nvPicPr>
            <p:cNvPr id="10" name="Picture 9" descr="icon of people in a heirarchy">
              <a:extLst>
                <a:ext uri="{FF2B5EF4-FFF2-40B4-BE49-F238E27FC236}">
                  <a16:creationId xmlns:a16="http://schemas.microsoft.com/office/drawing/2014/main" id="{AF8F1D77-BDD2-8A43-A5A1-16151F2D7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676807" y="1726737"/>
              <a:ext cx="2160000" cy="2160000"/>
            </a:xfrm>
            <a:prstGeom prst="rect">
              <a:avLst/>
            </a:prstGeom>
          </p:spPr>
        </p:pic>
        <p:pic>
          <p:nvPicPr>
            <p:cNvPr id="11" name="Picture 10" descr="stack of coins">
              <a:extLst>
                <a:ext uri="{FF2B5EF4-FFF2-40B4-BE49-F238E27FC236}">
                  <a16:creationId xmlns:a16="http://schemas.microsoft.com/office/drawing/2014/main" id="{717CDB42-3509-244A-BE18-FAA2CE456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227419" y="1726737"/>
              <a:ext cx="2160000" cy="2160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1B5174-CE25-F349-8CBD-3699ABF4192E}"/>
                </a:ext>
              </a:extLst>
            </p:cNvPr>
            <p:cNvSpPr txBox="1"/>
            <p:nvPr/>
          </p:nvSpPr>
          <p:spPr>
            <a:xfrm>
              <a:off x="3183109" y="2981251"/>
              <a:ext cx="750436" cy="42140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noAutofit/>
            </a:bodyPr>
            <a:lstStyle/>
            <a:p>
              <a:pPr algn="ctr"/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VS.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EE2C48-3A49-5446-A969-35BF2359BB65}"/>
                </a:ext>
              </a:extLst>
            </p:cNvPr>
            <p:cNvCxnSpPr>
              <a:cxnSpLocks/>
            </p:cNvCxnSpPr>
            <p:nvPr/>
          </p:nvCxnSpPr>
          <p:spPr>
            <a:xfrm>
              <a:off x="3543087" y="2222109"/>
              <a:ext cx="0" cy="762000"/>
            </a:xfrm>
            <a:prstGeom prst="line">
              <a:avLst/>
            </a:prstGeom>
            <a:ln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3022948-6768-5341-A9AA-3EAB95E196AB}"/>
                </a:ext>
              </a:extLst>
            </p:cNvPr>
            <p:cNvCxnSpPr>
              <a:cxnSpLocks/>
            </p:cNvCxnSpPr>
            <p:nvPr/>
          </p:nvCxnSpPr>
          <p:spPr>
            <a:xfrm>
              <a:off x="3543087" y="3479409"/>
              <a:ext cx="0" cy="716280"/>
            </a:xfrm>
            <a:prstGeom prst="line">
              <a:avLst/>
            </a:prstGeom>
            <a:ln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93526F-AEBF-5276-AD4D-D7E325CE9437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8" name="Rectangle: Rounded Corners 7">
              <a:extLst>
                <a:ext uri="{FF2B5EF4-FFF2-40B4-BE49-F238E27FC236}">
                  <a16:creationId xmlns:a16="http://schemas.microsoft.com/office/drawing/2014/main" id="{D2B48366-E29E-DD68-DD9F-A4C63E1E09CC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: Rounded Corners 9">
              <a:extLst>
                <a:ext uri="{FF2B5EF4-FFF2-40B4-BE49-F238E27FC236}">
                  <a16:creationId xmlns:a16="http://schemas.microsoft.com/office/drawing/2014/main" id="{2AAED63C-0775-1E87-2568-ED252A5A88B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0" name="Picture 19" descr="Bend the Curve">
              <a:extLst>
                <a:ext uri="{FF2B5EF4-FFF2-40B4-BE49-F238E27FC236}">
                  <a16:creationId xmlns:a16="http://schemas.microsoft.com/office/drawing/2014/main" id="{D5B5D8D8-36F0-A7A3-3C5F-C9AF3A50B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39C6C0-E0D1-3737-EEFD-700061CF83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A1E33D-21C9-846F-10D5-9BCA6D21E3E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3" name="Rectangle: Rounded Corners 13">
              <a:extLst>
                <a:ext uri="{FF2B5EF4-FFF2-40B4-BE49-F238E27FC236}">
                  <a16:creationId xmlns:a16="http://schemas.microsoft.com/office/drawing/2014/main" id="{50D4E863-8F55-BF1A-B9DB-36C9EFD36AD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4">
              <a:extLst>
                <a:ext uri="{FF2B5EF4-FFF2-40B4-BE49-F238E27FC236}">
                  <a16:creationId xmlns:a16="http://schemas.microsoft.com/office/drawing/2014/main" id="{6494D521-EC02-1634-5061-C850E11F79A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6DC987C-1B8E-D086-CAA6-14185D206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20D1D7D-2A3E-9AA8-B6DD-3423944E492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0BFDCA-C4E2-FDEC-010A-D6EB1FB836A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8" name="Rectangle: Rounded Corners 18">
              <a:extLst>
                <a:ext uri="{FF2B5EF4-FFF2-40B4-BE49-F238E27FC236}">
                  <a16:creationId xmlns:a16="http://schemas.microsoft.com/office/drawing/2014/main" id="{D7842344-4CAF-B395-8AF9-66E5FDB8FF1E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98D78E41-6724-3C09-A9BE-156F699B9F2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1635B8-5AE3-866B-4167-5C1C845C6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82351FB-285C-508C-4E54-C20F28024E0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215746-6FE4-4F03-3D6C-15301B1088F2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F628FB2F-A86B-43F5-C209-03998F6D522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4CB3640D-796F-F158-930F-3104D7B7C6D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38B84B5C-E3C9-7BB1-78B4-022ED2A24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4044A97-4702-4752-979C-2A3B703141E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FA70AA5-9542-CCED-342D-2D93D7F73955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13322902-15E4-3424-0B4F-A542A2EFF6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86076170-D64F-0993-C2EF-84C92ECBBF1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A9CB8C9-8073-5683-E7FE-AF8548A96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5C418B-484D-62D6-C446-F24F1FDF5B2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2F9EF3-0FFD-C3C6-CBF1-0E54639E67C4}"/>
              </a:ext>
            </a:extLst>
          </p:cNvPr>
          <p:cNvGrpSpPr/>
          <p:nvPr/>
        </p:nvGrpSpPr>
        <p:grpSpPr>
          <a:xfrm>
            <a:off x="3387419" y="5276896"/>
            <a:ext cx="8080062" cy="991452"/>
            <a:chOff x="3387419" y="5381826"/>
            <a:chExt cx="8080062" cy="991452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DD82AC3-0980-CECC-4F05-C6D9E89518D0}"/>
                </a:ext>
              </a:extLst>
            </p:cNvPr>
            <p:cNvSpPr/>
            <p:nvPr/>
          </p:nvSpPr>
          <p:spPr>
            <a:xfrm>
              <a:off x="3387419" y="5416991"/>
              <a:ext cx="8080062" cy="956287"/>
            </a:xfrm>
            <a:prstGeom prst="rect">
              <a:avLst/>
            </a:prstGeom>
            <a:ln>
              <a:noFill/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lnSpc>
                  <a:spcPct val="150000"/>
                </a:lnSpc>
              </a:pPr>
              <a:endParaRPr lang="en-US" sz="2000" i="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335835-6AA6-CA9A-A50E-1F9F43B4D896}"/>
                </a:ext>
              </a:extLst>
            </p:cNvPr>
            <p:cNvSpPr txBox="1"/>
            <p:nvPr/>
          </p:nvSpPr>
          <p:spPr>
            <a:xfrm>
              <a:off x="4057439" y="5381826"/>
              <a:ext cx="7067862" cy="956287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“Nothing captures an imagination better… than a number!”</a:t>
              </a: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- Sumeet Salwan  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379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5895E5-DA6F-0C84-2422-F8B9DA120BC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 Value Hotspots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831211-7566-BD8B-5EFE-1272E4EF00B4}"/>
              </a:ext>
            </a:extLst>
          </p:cNvPr>
          <p:cNvSpPr txBox="1"/>
          <p:nvPr/>
        </p:nvSpPr>
        <p:spPr>
          <a:xfrm>
            <a:off x="889005" y="1547434"/>
            <a:ext cx="1737626" cy="4919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defTabSz="914354">
              <a:lnSpc>
                <a:spcPct val="120000"/>
              </a:lnSpc>
              <a:defRPr/>
            </a:pPr>
            <a:r>
              <a:rPr lang="en-US" sz="24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Client</a:t>
            </a:r>
            <a:endParaRPr lang="en-US" sz="2400" b="1" strike="sngStrike" spc="-10">
              <a:solidFill>
                <a:srgbClr val="765FFF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691A00D-B150-965A-2031-096F978C1EB4}"/>
              </a:ext>
            </a:extLst>
          </p:cNvPr>
          <p:cNvSpPr/>
          <p:nvPr/>
        </p:nvSpPr>
        <p:spPr>
          <a:xfrm>
            <a:off x="2283371" y="2845827"/>
            <a:ext cx="2065697" cy="2065696"/>
          </a:xfrm>
          <a:prstGeom prst="ellipse">
            <a:avLst/>
          </a:prstGeom>
          <a:solidFill>
            <a:srgbClr val="F2F2F2"/>
          </a:solidFill>
          <a:ln w="19050"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spc="-10" err="1">
              <a:solidFill>
                <a:srgbClr val="3B3B3B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91306C1-79D8-A275-1D63-D012D40BDF3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26631" y="3391676"/>
            <a:ext cx="1379173" cy="91944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2869500-69C1-8FA2-1530-87AE42294ED1}"/>
              </a:ext>
            </a:extLst>
          </p:cNvPr>
          <p:cNvSpPr txBox="1"/>
          <p:nvPr/>
        </p:nvSpPr>
        <p:spPr>
          <a:xfrm>
            <a:off x="2114587" y="5212474"/>
            <a:ext cx="2403261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DECLINING STOCK PRICE</a:t>
            </a:r>
          </a:p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&amp; A NEW CEO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91B33AE-DFED-7C97-75A6-15F9740B1970}"/>
              </a:ext>
            </a:extLst>
          </p:cNvPr>
          <p:cNvSpPr/>
          <p:nvPr/>
        </p:nvSpPr>
        <p:spPr>
          <a:xfrm>
            <a:off x="5001139" y="2845828"/>
            <a:ext cx="2065698" cy="2065697"/>
          </a:xfrm>
          <a:prstGeom prst="ellipse">
            <a:avLst/>
          </a:prstGeom>
          <a:solidFill>
            <a:srgbClr val="F2F2F2"/>
          </a:solidFill>
          <a:ln w="19050"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spc="-10" err="1">
              <a:solidFill>
                <a:srgbClr val="3B3B3B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8" name="Picture 67" descr="Mobilize">
            <a:extLst>
              <a:ext uri="{FF2B5EF4-FFF2-40B4-BE49-F238E27FC236}">
                <a16:creationId xmlns:a16="http://schemas.microsoft.com/office/drawing/2014/main" id="{A9045B2C-EAAF-3469-9DA2-E505B2386C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306838" y="3124249"/>
            <a:ext cx="1454302" cy="145430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756B3889-CD3E-B71D-12B6-42226B8D2D21}"/>
              </a:ext>
            </a:extLst>
          </p:cNvPr>
          <p:cNvSpPr txBox="1"/>
          <p:nvPr/>
        </p:nvSpPr>
        <p:spPr>
          <a:xfrm>
            <a:off x="5001138" y="5212476"/>
            <a:ext cx="2062568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INORGANIC TO ORGANIC GROWTH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EE3304D-6F4C-C6B9-7284-35FCCD4BB7D9}"/>
              </a:ext>
            </a:extLst>
          </p:cNvPr>
          <p:cNvSpPr/>
          <p:nvPr/>
        </p:nvSpPr>
        <p:spPr>
          <a:xfrm>
            <a:off x="7733368" y="2855839"/>
            <a:ext cx="2065697" cy="2065697"/>
          </a:xfrm>
          <a:prstGeom prst="ellipse">
            <a:avLst/>
          </a:prstGeom>
          <a:solidFill>
            <a:srgbClr val="F2F2F2"/>
          </a:solidFill>
          <a:ln w="19050"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spc="-10" err="1">
              <a:solidFill>
                <a:srgbClr val="3B3B3B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90C9ED4-EAB0-EFE7-B0A1-08E7FD1A34B7}"/>
              </a:ext>
            </a:extLst>
          </p:cNvPr>
          <p:cNvGrpSpPr/>
          <p:nvPr/>
        </p:nvGrpSpPr>
        <p:grpSpPr>
          <a:xfrm>
            <a:off x="8203888" y="3349895"/>
            <a:ext cx="1124657" cy="1124657"/>
            <a:chOff x="6970603" y="2070084"/>
            <a:chExt cx="746760" cy="746760"/>
          </a:xfrm>
          <a:solidFill>
            <a:srgbClr val="F2F2F2"/>
          </a:solidFill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80FD1F-69C7-803F-FF16-26D5E3EA0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970603" y="2070084"/>
              <a:ext cx="746760" cy="746760"/>
            </a:xfrm>
            <a:prstGeom prst="rect">
              <a:avLst/>
            </a:prstGeom>
            <a:grpFill/>
          </p:spPr>
        </p:pic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86B189A-27D0-18EA-A010-39CA4A23A3D4}"/>
                </a:ext>
              </a:extLst>
            </p:cNvPr>
            <p:cNvSpPr/>
            <p:nvPr/>
          </p:nvSpPr>
          <p:spPr>
            <a:xfrm>
              <a:off x="7540781" y="2311796"/>
              <a:ext cx="145725" cy="130221"/>
            </a:xfrm>
            <a:prstGeom prst="rect">
              <a:avLst/>
            </a:prstGeom>
            <a:grpFill/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42">
                <a:spcAft>
                  <a:spcPts val="800"/>
                </a:spcAft>
                <a:tabLst>
                  <a:tab pos="231642" algn="l"/>
                  <a:tab pos="463284" algn="l"/>
                  <a:tab pos="694927" algn="l"/>
                  <a:tab pos="926569" algn="l"/>
                </a:tabLst>
                <a:defRPr/>
              </a:pPr>
              <a:endParaRPr lang="en-US" sz="2667" spc="-10" err="1">
                <a:solidFill>
                  <a:srgbClr val="3B3B3B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28FD8D0-D911-EA07-F5F9-ECC3008920C0}"/>
                </a:ext>
              </a:extLst>
            </p:cNvPr>
            <p:cNvSpPr/>
            <p:nvPr/>
          </p:nvSpPr>
          <p:spPr>
            <a:xfrm>
              <a:off x="7523144" y="2570251"/>
              <a:ext cx="145725" cy="130221"/>
            </a:xfrm>
            <a:prstGeom prst="rect">
              <a:avLst/>
            </a:prstGeom>
            <a:grpFill/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42">
                <a:spcAft>
                  <a:spcPts val="800"/>
                </a:spcAft>
                <a:tabLst>
                  <a:tab pos="231642" algn="l"/>
                  <a:tab pos="463284" algn="l"/>
                  <a:tab pos="694927" algn="l"/>
                  <a:tab pos="926569" algn="l"/>
                </a:tabLst>
                <a:defRPr/>
              </a:pPr>
              <a:endParaRPr lang="en-US" sz="2667" spc="-10" err="1">
                <a:solidFill>
                  <a:srgbClr val="3B3B3B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Graphic 74" descr="Close with solid fill">
              <a:extLst>
                <a:ext uri="{FF2B5EF4-FFF2-40B4-BE49-F238E27FC236}">
                  <a16:creationId xmlns:a16="http://schemas.microsoft.com/office/drawing/2014/main" id="{EF253B57-7447-6A93-A2C2-1A98FBFD4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522569" y="2305172"/>
              <a:ext cx="120434" cy="120434"/>
            </a:xfrm>
            <a:prstGeom prst="rect">
              <a:avLst/>
            </a:prstGeom>
          </p:spPr>
        </p:pic>
        <p:pic>
          <p:nvPicPr>
            <p:cNvPr id="76" name="Graphic 75" descr="Close with solid fill">
              <a:extLst>
                <a:ext uri="{FF2B5EF4-FFF2-40B4-BE49-F238E27FC236}">
                  <a16:creationId xmlns:a16="http://schemas.microsoft.com/office/drawing/2014/main" id="{8EE1D896-D676-2467-26B0-79A7A8F63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522569" y="2600477"/>
              <a:ext cx="120434" cy="120434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E1C2D61-B73C-648A-E55A-838CE4B7AA87}"/>
              </a:ext>
            </a:extLst>
          </p:cNvPr>
          <p:cNvSpPr txBox="1"/>
          <p:nvPr/>
        </p:nvSpPr>
        <p:spPr>
          <a:xfrm>
            <a:off x="7374533" y="5215744"/>
            <a:ext cx="2783357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UNDER TALENTED ORGANIZATION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9E52DB-D48D-2FAA-0483-613ED041A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75" y="1259729"/>
            <a:ext cx="7073900" cy="1067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 Leading global consumer health business</a:t>
            </a:r>
          </a:p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Portfolio of 50+ iconic and emerging brands</a:t>
            </a:r>
          </a:p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Focused on sustainable growth and innovation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E45F1C5-49D1-EF3A-EFBA-21D139D8AEF1}"/>
              </a:ext>
            </a:extLst>
          </p:cNvPr>
          <p:cNvCxnSpPr/>
          <p:nvPr/>
        </p:nvCxnSpPr>
        <p:spPr>
          <a:xfrm>
            <a:off x="2760308" y="1379768"/>
            <a:ext cx="0" cy="827263"/>
          </a:xfrm>
          <a:prstGeom prst="line">
            <a:avLst/>
          </a:prstGeom>
          <a:ln w="38100">
            <a:solidFill>
              <a:srgbClr val="281A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55C28C2-A649-0903-6D08-BA67AB3FD8F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7AD4A094-D7FF-350D-2194-9EDA8F91386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25CD742C-ABC8-4F68-77A7-6932F57356A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F06DC8C4-38DB-0D3D-3961-0A793A166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A945CD-9E1A-EE7E-4BF1-94466911B9D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8255659-D724-B21E-107D-85F9AF8F2CDD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C08EC41A-313A-9511-E306-6CE2910E0D2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97999B4B-6687-B58E-A64F-A14FEEF4AD8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5C35AB-B823-F377-2CA4-2F4287254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1E1D4-5AFD-7F56-F37D-09BE76BF4A3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AECFA5-6D81-1E28-B222-F545518C74D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5" name="Rectangle: Rounded Corners 18">
              <a:extLst>
                <a:ext uri="{FF2B5EF4-FFF2-40B4-BE49-F238E27FC236}">
                  <a16:creationId xmlns:a16="http://schemas.microsoft.com/office/drawing/2014/main" id="{A724DC8F-1D04-9A0F-9236-71765852954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9">
              <a:extLst>
                <a:ext uri="{FF2B5EF4-FFF2-40B4-BE49-F238E27FC236}">
                  <a16:creationId xmlns:a16="http://schemas.microsoft.com/office/drawing/2014/main" id="{1FEDD92C-80BF-3F5D-AD27-7E94DC657BDB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C40BEB5-E93C-1550-66E4-58F98F2FC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B1293B-5FAF-3BE1-7D1C-6BD4CC755F4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D0A9D1-5EBC-A654-668F-BB17C7B9C27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0" name="Rectangle: Rounded Corners 23">
              <a:extLst>
                <a:ext uri="{FF2B5EF4-FFF2-40B4-BE49-F238E27FC236}">
                  <a16:creationId xmlns:a16="http://schemas.microsoft.com/office/drawing/2014/main" id="{0EE51B9A-9218-31AD-2C86-A5B64BB6127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7E22E3F4-4B72-F913-4D75-18A8C7DE0BC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07B969A5-2B2F-A25A-690D-89ADDCE4A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622FE0-D62E-8A2F-1599-CDFB7B946FB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16BE78-4924-2087-B20A-3F94AC0CC14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28">
              <a:extLst>
                <a:ext uri="{FF2B5EF4-FFF2-40B4-BE49-F238E27FC236}">
                  <a16:creationId xmlns:a16="http://schemas.microsoft.com/office/drawing/2014/main" id="{52A06F52-16DA-1E82-084C-730950BB70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Rectangle: Rounded Corners 29">
              <a:extLst>
                <a:ext uri="{FF2B5EF4-FFF2-40B4-BE49-F238E27FC236}">
                  <a16:creationId xmlns:a16="http://schemas.microsoft.com/office/drawing/2014/main" id="{7559845D-48BD-C3AB-08C5-C76E3C819DD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AA1FD2A-B687-EE7B-B3FA-1F70AB549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B9E3F0F-82A5-74F4-D72C-F0771BA03A3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8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FBAB3240-3D8D-403B-AF9A-E841E6366EA5}" type="slidenum"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7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Facilitating the Treasure Hunt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CAFCAA-F681-51F0-DD6A-F4FFE4B90EC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E3379D3E-4221-4BA5-2881-D37DCB39972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E9429DC4-D463-27CD-C660-02917D4B773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C8B9AF9A-9941-AAE6-895F-E1661C256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A15A14-1852-6F89-7616-472A7288040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2A49CD7-5166-D975-DD3D-2B8EBFB6A80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C710C6D2-26BC-3999-D314-731000F01A6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E2FD95DE-AC26-97A8-0E15-68848BF4BFD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E255523-D68B-DA74-1434-EA359861C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5B8147-7BB1-1B93-BD82-769520B8AF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90A758-FF47-6771-9714-9F8E3CAB2C8B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A196BFBA-28B4-567B-C4AD-A5A727B1426D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AD2D3D5F-6E45-7350-2A02-03AA63A08A53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2E0D7A5-995C-ECF8-9CCA-8FE621191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5AC850-5D8B-BF6B-53C2-7DA2F67FAAF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AFAE55-0F31-1BA1-0422-5C40FD3BB89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3" name="Rectangle: Rounded Corners 23">
              <a:extLst>
                <a:ext uri="{FF2B5EF4-FFF2-40B4-BE49-F238E27FC236}">
                  <a16:creationId xmlns:a16="http://schemas.microsoft.com/office/drawing/2014/main" id="{8DF01A27-CD03-37B6-1097-8F532A7F574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24">
              <a:extLst>
                <a:ext uri="{FF2B5EF4-FFF2-40B4-BE49-F238E27FC236}">
                  <a16:creationId xmlns:a16="http://schemas.microsoft.com/office/drawing/2014/main" id="{8AD0B016-A17E-DD48-E36F-669F1660F86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 descr="Choose">
              <a:extLst>
                <a:ext uri="{FF2B5EF4-FFF2-40B4-BE49-F238E27FC236}">
                  <a16:creationId xmlns:a16="http://schemas.microsoft.com/office/drawing/2014/main" id="{4289B164-7396-9023-6662-A2573AB15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34A37C-7390-E595-3F44-5A1079FEE43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FE378A2-6520-7BAF-DBFE-A132B677097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9" name="Rectangle: Rounded Corners 28">
              <a:extLst>
                <a:ext uri="{FF2B5EF4-FFF2-40B4-BE49-F238E27FC236}">
                  <a16:creationId xmlns:a16="http://schemas.microsoft.com/office/drawing/2014/main" id="{B61690AB-4C37-067C-9EE1-26E34B3A69F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Rectangle: Rounded Corners 29">
              <a:extLst>
                <a:ext uri="{FF2B5EF4-FFF2-40B4-BE49-F238E27FC236}">
                  <a16:creationId xmlns:a16="http://schemas.microsoft.com/office/drawing/2014/main" id="{46F8E235-EE0D-6003-1B75-7EFA11FCF5B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F60AD78-BA67-7321-F796-B623318B4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B1F4A60-0701-667A-2F31-7EF6005C7DB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EA878783-E088-4961-C4D0-5662D25FE3F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duotone>
              <a:srgbClr val="765FFF"/>
              <a:srgbClr val="FFFFFF"/>
            </a:duotone>
          </a:blip>
          <a:srcRect/>
          <a:stretch/>
        </p:blipFill>
        <p:spPr>
          <a:xfrm>
            <a:off x="3643459" y="1616720"/>
            <a:ext cx="7774987" cy="4215997"/>
          </a:xfrm>
          <a:prstGeom prst="rect">
            <a:avLst/>
          </a:prstGeom>
        </p:spPr>
      </p:pic>
      <p:cxnSp>
        <p:nvCxnSpPr>
          <p:cNvPr id="74" name="Curved Connector 16">
            <a:extLst>
              <a:ext uri="{FF2B5EF4-FFF2-40B4-BE49-F238E27FC236}">
                <a16:creationId xmlns:a16="http://schemas.microsoft.com/office/drawing/2014/main" id="{363C11B1-4FE1-35FC-6198-44947B5F2B0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00994" y="-414011"/>
            <a:ext cx="344391" cy="3580233"/>
          </a:xfrm>
          <a:prstGeom prst="curvedConnector3">
            <a:avLst>
              <a:gd name="adj1" fmla="val 166378"/>
            </a:avLst>
          </a:prstGeom>
          <a:ln>
            <a:solidFill>
              <a:srgbClr val="1D1D1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urved Connector 125">
            <a:extLst>
              <a:ext uri="{FF2B5EF4-FFF2-40B4-BE49-F238E27FC236}">
                <a16:creationId xmlns:a16="http://schemas.microsoft.com/office/drawing/2014/main" id="{CCED4875-7896-A4D4-7312-70DD70F53E7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49193" y="1386174"/>
            <a:ext cx="2631855" cy="1773212"/>
          </a:xfrm>
          <a:prstGeom prst="curvedConnector2">
            <a:avLst/>
          </a:prstGeom>
          <a:ln>
            <a:solidFill>
              <a:srgbClr val="1D1D1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126">
            <a:extLst>
              <a:ext uri="{FF2B5EF4-FFF2-40B4-BE49-F238E27FC236}">
                <a16:creationId xmlns:a16="http://schemas.microsoft.com/office/drawing/2014/main" id="{E0355A54-5027-28D9-7267-7908A196AF45}"/>
              </a:ext>
            </a:extLst>
          </p:cNvPr>
          <p:cNvCxnSpPr>
            <a:cxnSpLocks/>
          </p:cNvCxnSpPr>
          <p:nvPr/>
        </p:nvCxnSpPr>
        <p:spPr>
          <a:xfrm rot="5400000">
            <a:off x="1339355" y="3686597"/>
            <a:ext cx="972520" cy="647153"/>
          </a:xfrm>
          <a:prstGeom prst="curvedConnector3">
            <a:avLst>
              <a:gd name="adj1" fmla="val 50000"/>
            </a:avLst>
          </a:prstGeom>
          <a:ln>
            <a:solidFill>
              <a:srgbClr val="1D1D1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127">
            <a:extLst>
              <a:ext uri="{FF2B5EF4-FFF2-40B4-BE49-F238E27FC236}">
                <a16:creationId xmlns:a16="http://schemas.microsoft.com/office/drawing/2014/main" id="{160DA981-0E26-8087-8C67-6970AB4C96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29251" y="4833745"/>
            <a:ext cx="1058708" cy="1113136"/>
          </a:xfrm>
          <a:prstGeom prst="curvedConnector2">
            <a:avLst/>
          </a:prstGeom>
          <a:ln>
            <a:solidFill>
              <a:srgbClr val="1D1D1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C7DD348-7E5C-70E4-E0F5-0274706ACD14}"/>
              </a:ext>
            </a:extLst>
          </p:cNvPr>
          <p:cNvGrpSpPr/>
          <p:nvPr/>
        </p:nvGrpSpPr>
        <p:grpSpPr>
          <a:xfrm>
            <a:off x="1200809" y="1105087"/>
            <a:ext cx="8792839" cy="5194484"/>
            <a:chOff x="1307670" y="921391"/>
            <a:chExt cx="8792838" cy="5194484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58DC7A0-19D6-F689-E112-EF4DFCCCC6AA}"/>
                </a:ext>
              </a:extLst>
            </p:cNvPr>
            <p:cNvGrpSpPr/>
            <p:nvPr/>
          </p:nvGrpSpPr>
          <p:grpSpPr>
            <a:xfrm>
              <a:off x="1307670" y="1265781"/>
              <a:ext cx="2101543" cy="562169"/>
              <a:chOff x="1307670" y="1265781"/>
              <a:chExt cx="2101543" cy="562169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C03973B2-BC5E-B9DF-7B7E-FC3E1F71DB1B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283A4831-782A-D5C8-1F5C-349BB3483870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rgbClr val="585858"/>
                </a:solidFill>
                <a:ln w="9525">
                  <a:solidFill>
                    <a:srgbClr val="1D1D1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06F491F1-6AE7-FB0B-5266-C0E10767C3F2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rgbClr val="B2BBCA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C80BC594-0A34-EF78-9661-0C56FA0A8E2B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b="1" spc="-25">
                    <a:solidFill>
                      <a:srgbClr val="281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Data Collection Templates</a:t>
                </a:r>
              </a:p>
              <a:p>
                <a:r>
                  <a:rPr lang="en-US" sz="1000" b="1" spc="-25">
                    <a:solidFill>
                      <a:srgbClr val="281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(product, Region, Bu, Etc.)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B9161A8-250E-56CC-4CFA-4ECB79F2971F}"/>
                </a:ext>
              </a:extLst>
            </p:cNvPr>
            <p:cNvGrpSpPr/>
            <p:nvPr/>
          </p:nvGrpSpPr>
          <p:grpSpPr>
            <a:xfrm>
              <a:off x="4887903" y="921391"/>
              <a:ext cx="2101543" cy="562169"/>
              <a:chOff x="1307670" y="1265781"/>
              <a:chExt cx="2101543" cy="56216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4F7B7707-11F9-1558-20EC-AC7A668028CE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33D15AA-3A3E-16BE-CE48-23D54AC54094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rgbClr val="B2BBCA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EF418DA8-0BC4-B213-E2B4-D3D4439A443F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rgbClr val="585858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B2BA9A2-7987-5A91-2DCC-2E22103DB830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b="1" spc="-25">
                    <a:solidFill>
                      <a:srgbClr val="281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Breakdown from Finance Team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F43BBE6-967C-84F9-EF28-84F8A7D6F906}"/>
                </a:ext>
              </a:extLst>
            </p:cNvPr>
            <p:cNvGrpSpPr/>
            <p:nvPr/>
          </p:nvGrpSpPr>
          <p:grpSpPr>
            <a:xfrm>
              <a:off x="2073788" y="2876867"/>
              <a:ext cx="2101543" cy="562169"/>
              <a:chOff x="1307670" y="1265781"/>
              <a:chExt cx="2101543" cy="562169"/>
            </a:xfrm>
          </p:grpSpPr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0C1B08E5-F78A-7F78-FE60-AC41B341FA3C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453F9347-90BD-998C-F4CA-113FA06B02A2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rgbClr val="B2BBCA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D99D664F-AC02-1953-94D2-F7B8CC22DCF5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rgbClr val="585858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16B69270-516C-E998-13B4-BAC0EB000D47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b="1" spc="-25">
                    <a:solidFill>
                      <a:srgbClr val="281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Meeting with CFO with Targeted Questions to Uncover Hotspots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9A19ACA-7A29-07BC-9212-C19E852FD491}"/>
                </a:ext>
              </a:extLst>
            </p:cNvPr>
            <p:cNvGrpSpPr/>
            <p:nvPr/>
          </p:nvGrpSpPr>
          <p:grpSpPr>
            <a:xfrm>
              <a:off x="1426635" y="4213914"/>
              <a:ext cx="2101543" cy="562169"/>
              <a:chOff x="1307670" y="1265781"/>
              <a:chExt cx="2101543" cy="562169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E2EE93F3-C659-6B34-7050-CD78C0F010E1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0AF65A73-5BAF-B337-3A34-9C741BAAECD4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rgbClr val="B2BBCA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64853EAF-B2DD-725D-A174-9A91D3004212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rgbClr val="585858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F664191-AF00-212F-CEDD-247DE732ECC4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b="1" spc="-25">
                    <a:solidFill>
                      <a:srgbClr val="281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Strategy Deck Disseminated from Client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E0451E6-BBBE-4F8E-F3A9-17C0EEF15218}"/>
                </a:ext>
              </a:extLst>
            </p:cNvPr>
            <p:cNvGrpSpPr/>
            <p:nvPr/>
          </p:nvGrpSpPr>
          <p:grpSpPr>
            <a:xfrm>
              <a:off x="2722035" y="5454885"/>
              <a:ext cx="2101543" cy="562169"/>
              <a:chOff x="1307670" y="1265781"/>
              <a:chExt cx="2101543" cy="562169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6F23F237-28C0-6895-6EE0-B0EBA611FF41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EAD222F0-ACDD-C306-713A-5B97F7701F68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rgbClr val="B2BBCA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3640392B-C03B-44EA-0F7C-7E5FDCB1B296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rgbClr val="585858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E12290C-CD81-CBC8-CD13-8D15F312D7E9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b="1" spc="-25">
                    <a:solidFill>
                      <a:srgbClr val="281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CFO Follow-up to Clarify the Curve-bending Areas of Work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485CDB2B-3E02-6BCC-D3DD-D77312CC0521}"/>
                </a:ext>
              </a:extLst>
            </p:cNvPr>
            <p:cNvGrpSpPr/>
            <p:nvPr/>
          </p:nvGrpSpPr>
          <p:grpSpPr>
            <a:xfrm>
              <a:off x="5576360" y="5272622"/>
              <a:ext cx="2101543" cy="562169"/>
              <a:chOff x="1307670" y="1265781"/>
              <a:chExt cx="2101543" cy="562169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7609BD4D-89C0-53F0-02D5-DB506B9B90F8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AA2437E-C00B-D7A0-E18A-105950DE2251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rgbClr val="B2BBCA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3382ED8B-C4C6-AE43-7FF4-FA26AA918633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rgbClr val="585858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4C4DDC80-B8DE-5C80-ACC2-01A6CAAE6F55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b="1" spc="-25">
                    <a:solidFill>
                      <a:srgbClr val="281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Meeting with President and Ops to Understand Work, Plans, Etc.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DB3CD22-9747-B210-383E-1CE5930DC2BF}"/>
                </a:ext>
              </a:extLst>
            </p:cNvPr>
            <p:cNvGrpSpPr/>
            <p:nvPr/>
          </p:nvGrpSpPr>
          <p:grpSpPr>
            <a:xfrm>
              <a:off x="7998965" y="5553706"/>
              <a:ext cx="2101543" cy="562169"/>
              <a:chOff x="1307670" y="1265781"/>
              <a:chExt cx="2101543" cy="562169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39BB78C0-A9FF-7FFE-C678-F77376C715F2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0E7C0700-9EDC-AA70-0F77-49B175B3ED05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rgbClr val="B2BBCA"/>
                </a:solidFill>
                <a:ln w="9525"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6C077538-B21D-9337-E69F-FF7A4D8656FE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rgbClr val="585858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39AEA52-9ABB-ABB8-073F-05EEA298BFE0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b="1" spc="-25">
                    <a:solidFill>
                      <a:srgbClr val="281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Hypothesis on Value Hotspots and Workshop with CEO</a:t>
                </a:r>
              </a:p>
            </p:txBody>
          </p:sp>
        </p:grpSp>
      </p:grpSp>
      <p:cxnSp>
        <p:nvCxnSpPr>
          <p:cNvPr id="114" name="Curved Connector 133">
            <a:extLst>
              <a:ext uri="{FF2B5EF4-FFF2-40B4-BE49-F238E27FC236}">
                <a16:creationId xmlns:a16="http://schemas.microsoft.com/office/drawing/2014/main" id="{B58A6D58-1C84-EA7B-F205-96C54B37A7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95722" y="4310243"/>
            <a:ext cx="128879" cy="2725445"/>
          </a:xfrm>
          <a:prstGeom prst="curvedConnector3">
            <a:avLst>
              <a:gd name="adj1" fmla="val 318797"/>
            </a:avLst>
          </a:prstGeom>
          <a:ln>
            <a:solidFill>
              <a:srgbClr val="1D1D1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134">
            <a:extLst>
              <a:ext uri="{FF2B5EF4-FFF2-40B4-BE49-F238E27FC236}">
                <a16:creationId xmlns:a16="http://schemas.microsoft.com/office/drawing/2014/main" id="{A24A861F-7F25-94B9-754A-8EE6432BF1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22523" y="4828359"/>
            <a:ext cx="281084" cy="2422605"/>
          </a:xfrm>
          <a:prstGeom prst="curvedConnector3">
            <a:avLst>
              <a:gd name="adj1" fmla="val 181328"/>
            </a:avLst>
          </a:prstGeom>
          <a:ln>
            <a:solidFill>
              <a:srgbClr val="1D1D1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136">
            <a:extLst>
              <a:ext uri="{FF2B5EF4-FFF2-40B4-BE49-F238E27FC236}">
                <a16:creationId xmlns:a16="http://schemas.microsoft.com/office/drawing/2014/main" id="{0B6893D7-8B30-117E-2F5B-3CA2FE0B51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963224" y="4272116"/>
            <a:ext cx="1675257" cy="1452965"/>
          </a:xfrm>
          <a:prstGeom prst="curvedConnector3">
            <a:avLst>
              <a:gd name="adj1" fmla="val 50000"/>
            </a:avLst>
          </a:prstGeom>
          <a:ln>
            <a:solidFill>
              <a:srgbClr val="1D1D1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7BED4E8E-1646-4891-991C-84E2A59E11A9}" type="slidenum">
              <a:r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7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53704F-40AF-8C06-1AEF-B5D3FEF6E88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B8F777-A9B8-907F-A88B-8ABDEB654EF3}"/>
              </a:ext>
            </a:extLst>
          </p:cNvPr>
          <p:cNvSpPr txBox="1"/>
          <p:nvPr/>
        </p:nvSpPr>
        <p:spPr>
          <a:xfrm>
            <a:off x="852253" y="827493"/>
            <a:ext cx="1391728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000" b="1" i="1" u="sng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 1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1B1D45D-3F3B-BEC6-4FFB-094E5715C69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1" name="Rectangle: Rounded Corners 7">
              <a:extLst>
                <a:ext uri="{FF2B5EF4-FFF2-40B4-BE49-F238E27FC236}">
                  <a16:creationId xmlns:a16="http://schemas.microsoft.com/office/drawing/2014/main" id="{EAFC7AC4-82D2-A192-B7C7-14ED2CDAC85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9">
              <a:extLst>
                <a:ext uri="{FF2B5EF4-FFF2-40B4-BE49-F238E27FC236}">
                  <a16:creationId xmlns:a16="http://schemas.microsoft.com/office/drawing/2014/main" id="{F03CBBD6-C988-0E01-4F6A-B383D51D795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Bend the Curve">
              <a:extLst>
                <a:ext uri="{FF2B5EF4-FFF2-40B4-BE49-F238E27FC236}">
                  <a16:creationId xmlns:a16="http://schemas.microsoft.com/office/drawing/2014/main" id="{8911213D-2C55-E5C3-0E2F-E60548641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8FFF0E-CC17-7AEB-A1F0-C3C68156B9B7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50BBCCE-9E93-AE24-A175-F7C6BF8D58C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13">
              <a:extLst>
                <a:ext uri="{FF2B5EF4-FFF2-40B4-BE49-F238E27FC236}">
                  <a16:creationId xmlns:a16="http://schemas.microsoft.com/office/drawing/2014/main" id="{32CCE6B5-B029-BE08-E804-E15502160F7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4">
              <a:extLst>
                <a:ext uri="{FF2B5EF4-FFF2-40B4-BE49-F238E27FC236}">
                  <a16:creationId xmlns:a16="http://schemas.microsoft.com/office/drawing/2014/main" id="{BAE32125-FEFD-C0E8-1DC4-A5BB47E3C18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7C282C7-79F6-032B-E806-657979FC7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7315D16-92D7-DD3F-5C0E-14A02D2A161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EAE79D-AD03-44D6-D8E0-534EA20B90B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1" name="Rectangle: Rounded Corners 18">
              <a:extLst>
                <a:ext uri="{FF2B5EF4-FFF2-40B4-BE49-F238E27FC236}">
                  <a16:creationId xmlns:a16="http://schemas.microsoft.com/office/drawing/2014/main" id="{B9FE99D8-0F1C-E139-1FB5-504F92FFB679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19">
              <a:extLst>
                <a:ext uri="{FF2B5EF4-FFF2-40B4-BE49-F238E27FC236}">
                  <a16:creationId xmlns:a16="http://schemas.microsoft.com/office/drawing/2014/main" id="{711DDE1F-7143-0874-A41D-8B731EF3B1B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2AAF3949-53C9-4417-632D-CF185B464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CFB8FD-06B8-5DC0-A431-361A9ED00701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8FC1DF7-A70B-DA5A-2F41-C003C8D1842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6" name="Rectangle: Rounded Corners 23">
              <a:extLst>
                <a:ext uri="{FF2B5EF4-FFF2-40B4-BE49-F238E27FC236}">
                  <a16:creationId xmlns:a16="http://schemas.microsoft.com/office/drawing/2014/main" id="{8C01FAA8-38A0-866D-4027-F975C36927A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Rectangle: Rounded Corners 24">
              <a:extLst>
                <a:ext uri="{FF2B5EF4-FFF2-40B4-BE49-F238E27FC236}">
                  <a16:creationId xmlns:a16="http://schemas.microsoft.com/office/drawing/2014/main" id="{08A42FF0-23DE-7B90-E2B7-E099131A102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8" name="Picture 57" descr="Choose">
              <a:extLst>
                <a:ext uri="{FF2B5EF4-FFF2-40B4-BE49-F238E27FC236}">
                  <a16:creationId xmlns:a16="http://schemas.microsoft.com/office/drawing/2014/main" id="{E12DD2F7-F780-79BD-3521-CFA374EA1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7C68E16-2FB4-C39F-4DE0-24A0A130699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3C3D8CE-1142-C3D8-49F8-A4512A17D33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1" name="Rectangle: Rounded Corners 28">
              <a:extLst>
                <a:ext uri="{FF2B5EF4-FFF2-40B4-BE49-F238E27FC236}">
                  <a16:creationId xmlns:a16="http://schemas.microsoft.com/office/drawing/2014/main" id="{E5CF1FC2-C5A2-A4CA-D4D6-E5981EC464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Rectangle: Rounded Corners 29">
              <a:extLst>
                <a:ext uri="{FF2B5EF4-FFF2-40B4-BE49-F238E27FC236}">
                  <a16:creationId xmlns:a16="http://schemas.microsoft.com/office/drawing/2014/main" id="{94826971-480F-27EE-C396-57B91F7FD36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182CC06-54BE-7308-32D3-249AF3B2A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071D99E-2DA8-5028-C8FC-5DD205906E9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1EE2553-9ECD-0ADE-F028-C2FCD8385CF7}"/>
              </a:ext>
            </a:extLst>
          </p:cNvPr>
          <p:cNvGrpSpPr/>
          <p:nvPr/>
        </p:nvGrpSpPr>
        <p:grpSpPr>
          <a:xfrm>
            <a:off x="1009199" y="2614203"/>
            <a:ext cx="2970510" cy="2671879"/>
            <a:chOff x="532802" y="1586522"/>
            <a:chExt cx="2227883" cy="2003909"/>
          </a:xfrm>
        </p:grpSpPr>
        <p:sp>
          <p:nvSpPr>
            <p:cNvPr id="65" name="Arrow: Right 69">
              <a:extLst>
                <a:ext uri="{FF2B5EF4-FFF2-40B4-BE49-F238E27FC236}">
                  <a16:creationId xmlns:a16="http://schemas.microsoft.com/office/drawing/2014/main" id="{C605A74F-05B5-1F16-97C2-92D81E519A7C}"/>
                </a:ext>
              </a:extLst>
            </p:cNvPr>
            <p:cNvSpPr/>
            <p:nvPr/>
          </p:nvSpPr>
          <p:spPr>
            <a:xfrm>
              <a:off x="2318366" y="2148368"/>
              <a:ext cx="442319" cy="313718"/>
            </a:xfrm>
            <a:prstGeom prst="rightArrow">
              <a:avLst/>
            </a:prstGeom>
            <a:solidFill>
              <a:srgbClr val="3B3B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>
                  <a:solidFill>
                    <a:srgbClr val="FFFFFF"/>
                  </a:solidFill>
                </a:defRPr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B1AD448-057B-782A-E252-1BF8AE558FAE}"/>
                </a:ext>
              </a:extLst>
            </p:cNvPr>
            <p:cNvGrpSpPr/>
            <p:nvPr/>
          </p:nvGrpSpPr>
          <p:grpSpPr>
            <a:xfrm>
              <a:off x="532802" y="1586522"/>
              <a:ext cx="2212848" cy="2003909"/>
              <a:chOff x="4235007" y="1742036"/>
              <a:chExt cx="2212848" cy="2003909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D43ECBC-4646-B7E3-2815-81D65F5D811F}"/>
                  </a:ext>
                </a:extLst>
              </p:cNvPr>
              <p:cNvSpPr/>
              <p:nvPr/>
            </p:nvSpPr>
            <p:spPr>
              <a:xfrm>
                <a:off x="4658506" y="1742036"/>
                <a:ext cx="1371600" cy="1371600"/>
              </a:xfrm>
              <a:prstGeom prst="ellipse">
                <a:avLst/>
              </a:prstGeom>
              <a:noFill/>
              <a:ln w="19050">
                <a:solidFill>
                  <a:srgbClr val="F2F2F2"/>
                </a:solidFill>
              </a:ln>
            </p:spPr>
            <p:txBody>
              <a:bodyPr vert="horz" lIns="73152" tIns="73152" rIns="60960" bIns="48768" rtlCol="0" anchor="ctr" anchorCtr="0">
                <a:noAutofit/>
              </a:bodyPr>
              <a:lstStyle/>
              <a:p>
                <a:pPr algn="ctr" defTabSz="231642">
                  <a:spcAft>
                    <a:spcPts val="800"/>
                  </a:spcAft>
                  <a:tabLst>
                    <a:tab pos="231642" algn="l"/>
                    <a:tab pos="463284" algn="l"/>
                    <a:tab pos="694927" algn="l"/>
                    <a:tab pos="926569" algn="l"/>
                  </a:tabLst>
                  <a:defRPr/>
                </a:pPr>
                <a:endParaRPr lang="en-US" sz="1867" spc="-10" err="1">
                  <a:solidFill>
                    <a:srgbClr val="3B3B3B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68" name="Picture 67" descr="Mobilize">
                <a:extLst>
                  <a:ext uri="{FF2B5EF4-FFF2-40B4-BE49-F238E27FC236}">
                    <a16:creationId xmlns:a16="http://schemas.microsoft.com/office/drawing/2014/main" id="{865134F5-B073-B3C2-348C-98EBEF468E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861486" y="1926905"/>
                <a:ext cx="965640" cy="965640"/>
              </a:xfrm>
              <a:prstGeom prst="rect">
                <a:avLst/>
              </a:prstGeom>
            </p:spPr>
          </p:pic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FEE8F-C95F-BECB-64F1-9B9151455E1B}"/>
                  </a:ext>
                </a:extLst>
              </p:cNvPr>
              <p:cNvSpPr txBox="1"/>
              <p:nvPr/>
            </p:nvSpPr>
            <p:spPr>
              <a:xfrm>
                <a:off x="4235007" y="3184349"/>
                <a:ext cx="2212848" cy="56159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 defTabSz="914354">
                  <a:defRPr/>
                </a:pPr>
                <a:r>
                  <a:rPr lang="en-US" sz="21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INORGANIC TO </a:t>
                </a:r>
              </a:p>
              <a:p>
                <a:pPr algn="ctr" defTabSz="914354">
                  <a:defRPr/>
                </a:pPr>
                <a:r>
                  <a:rPr lang="en-US" sz="21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ORGANIC GROWTH</a:t>
                </a:r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32F4E48-2A51-DC0F-1609-939BDD5858E1}"/>
              </a:ext>
            </a:extLst>
          </p:cNvPr>
          <p:cNvGrpSpPr/>
          <p:nvPr/>
        </p:nvGrpSpPr>
        <p:grpSpPr>
          <a:xfrm>
            <a:off x="5124657" y="1093415"/>
            <a:ext cx="6098553" cy="4554638"/>
            <a:chOff x="1283007" y="308795"/>
            <a:chExt cx="8131404" cy="6072852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118C771-45AE-8795-6CAA-81EAAC782A2D}"/>
                </a:ext>
              </a:extLst>
            </p:cNvPr>
            <p:cNvGrpSpPr/>
            <p:nvPr/>
          </p:nvGrpSpPr>
          <p:grpSpPr>
            <a:xfrm>
              <a:off x="1283007" y="308795"/>
              <a:ext cx="8128000" cy="6072852"/>
              <a:chOff x="1094584" y="307923"/>
              <a:chExt cx="8128000" cy="6072852"/>
            </a:xfrm>
          </p:grpSpPr>
          <mc:AlternateContent xmlns:mc="http://schemas.openxmlformats.org/markup-compatibility/2006" xmlns:cx1="http://schemas.microsoft.com/office/drawing/2015/9/8/chartex">
            <mc:Choice Requires="cx1">
              <p:graphicFrame>
                <p:nvGraphicFramePr>
                  <p:cNvPr id="83" name="Chart 82">
                    <a:extLst>
                      <a:ext uri="{FF2B5EF4-FFF2-40B4-BE49-F238E27FC236}">
                        <a16:creationId xmlns:a16="http://schemas.microsoft.com/office/drawing/2014/main" id="{41526BFC-159C-9995-D8DC-40E4408489DE}"/>
                      </a:ext>
                    </a:extLst>
                  </p:cNvPr>
                  <p:cNvGraphicFramePr/>
                  <p:nvPr/>
                </p:nvGraphicFramePr>
                <p:xfrm>
                  <a:off x="1094584" y="307923"/>
                  <a:ext cx="8128000" cy="5418667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8"/>
                  </a:graphicData>
                </a:graphic>
              </p:graphicFrame>
            </mc:Choice>
            <mc:Fallback xmlns="">
              <p:pic>
                <p:nvPicPr>
                  <p:cNvPr id="83" name="Chart 82">
                    <a:extLst>
                      <a:ext uri="{FF2B5EF4-FFF2-40B4-BE49-F238E27FC236}">
                        <a16:creationId xmlns:a16="http://schemas.microsoft.com/office/drawing/2014/main" id="{41526BFC-159C-9995-D8DC-40E4408489DE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9">
                    <a:duotone>
                      <a:srgbClr val="765FFF"/>
                      <a:srgbClr val="FFFFFF"/>
                    </a:duotone>
                  </a:blip>
                  <a:stretch>
                    <a:fillRect/>
                  </a:stretch>
                </p:blipFill>
                <p:spPr>
                  <a:xfrm>
                    <a:off x="5124657" y="1093415"/>
                    <a:ext cx="6096000" cy="40639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72883B9-411B-5EF9-02D2-E62A3757ACEF}"/>
                  </a:ext>
                </a:extLst>
              </p:cNvPr>
              <p:cNvSpPr txBox="1"/>
              <p:nvPr/>
            </p:nvSpPr>
            <p:spPr>
              <a:xfrm>
                <a:off x="1145796" y="4217852"/>
                <a:ext cx="806064" cy="29301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24,000</a:t>
                </a:r>
                <a:endParaRPr kumimoji="0" lang="en-SG" sz="9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9C3A08-E011-0B58-24D2-63F83E45872A}"/>
                  </a:ext>
                </a:extLst>
              </p:cNvPr>
              <p:cNvSpPr txBox="1"/>
              <p:nvPr/>
            </p:nvSpPr>
            <p:spPr>
              <a:xfrm>
                <a:off x="8357809" y="993362"/>
                <a:ext cx="770299" cy="271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1" spc="-25">
                    <a:latin typeface="Segoe UI" pitchFamily="34" charset="0"/>
                  </a:defRPr>
                </a:pPr>
                <a:r>
                  <a:rPr kumimoji="0" lang="en-US" sz="900" b="1" i="0" u="none" strike="noStrike" kern="1200" cap="none" spc="-25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28000</a:t>
                </a:r>
                <a:endParaRPr kumimoji="0" lang="en-SG" sz="900" b="1" i="0" u="none" strike="noStrike" kern="1200" cap="none" spc="-25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D4D39237-D679-EA54-793B-BB9D9CAF22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9801" y="6210972"/>
                <a:ext cx="1407611" cy="0"/>
              </a:xfrm>
              <a:prstGeom prst="straightConnector1">
                <a:avLst/>
              </a:prstGeom>
              <a:ln w="28575">
                <a:solidFill>
                  <a:srgbClr val="281A4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2E0125C6-44EA-6DEF-F995-A095E0559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7244" y="6205530"/>
                <a:ext cx="1809300" cy="0"/>
              </a:xfrm>
              <a:prstGeom prst="straightConnector1">
                <a:avLst/>
              </a:prstGeom>
              <a:ln w="28575">
                <a:solidFill>
                  <a:srgbClr val="281A4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A72B6FB-3330-82FB-FD34-E3CCAD4FE0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57919" y="6205530"/>
                <a:ext cx="1892853" cy="0"/>
              </a:xfrm>
              <a:prstGeom prst="straightConnector1">
                <a:avLst/>
              </a:prstGeom>
              <a:ln w="28575">
                <a:solidFill>
                  <a:srgbClr val="281A4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A3FABC2-4AAE-6978-4EDD-FA140DC01019}"/>
                  </a:ext>
                </a:extLst>
              </p:cNvPr>
              <p:cNvSpPr txBox="1"/>
              <p:nvPr/>
            </p:nvSpPr>
            <p:spPr>
              <a:xfrm>
                <a:off x="2106308" y="6061246"/>
                <a:ext cx="928211" cy="319529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MARKETS</a:t>
                </a:r>
                <a:endParaRPr kumimoji="0" lang="en-SG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B372B88-C208-37B0-8F3E-E637C40A09C4}"/>
                  </a:ext>
                </a:extLst>
              </p:cNvPr>
              <p:cNvSpPr txBox="1"/>
              <p:nvPr/>
            </p:nvSpPr>
            <p:spPr>
              <a:xfrm>
                <a:off x="3769771" y="6049970"/>
                <a:ext cx="1185472" cy="237989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 CATEGORY</a:t>
                </a:r>
                <a:endParaRPr kumimoji="0" lang="en-SG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8F3CF6E-65F9-A933-8195-9A00D83FB234}"/>
                  </a:ext>
                </a:extLst>
              </p:cNvPr>
              <p:cNvSpPr txBox="1"/>
              <p:nvPr/>
            </p:nvSpPr>
            <p:spPr>
              <a:xfrm>
                <a:off x="6032723" y="6061246"/>
                <a:ext cx="1145138" cy="299453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NEW SPACES</a:t>
                </a:r>
                <a:endParaRPr kumimoji="0" lang="en-SG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6E79EDF0-E4FC-C9A1-C198-E39952F4313F}"/>
                  </a:ext>
                </a:extLst>
              </p:cNvPr>
              <p:cNvCxnSpPr/>
              <p:nvPr/>
            </p:nvCxnSpPr>
            <p:spPr>
              <a:xfrm>
                <a:off x="1506614" y="1270121"/>
                <a:ext cx="0" cy="3049012"/>
              </a:xfrm>
              <a:prstGeom prst="line">
                <a:avLst/>
              </a:prstGeom>
              <a:ln>
                <a:solidFill>
                  <a:srgbClr val="281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F39E1D49-49C3-E273-D1FA-E0FA8AD01D32}"/>
                  </a:ext>
                </a:extLst>
              </p:cNvPr>
              <p:cNvCxnSpPr/>
              <p:nvPr/>
            </p:nvCxnSpPr>
            <p:spPr>
              <a:xfrm>
                <a:off x="1506615" y="1208752"/>
                <a:ext cx="1380345" cy="0"/>
              </a:xfrm>
              <a:prstGeom prst="line">
                <a:avLst/>
              </a:prstGeom>
              <a:ln>
                <a:solidFill>
                  <a:srgbClr val="281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04808198-6EA3-12B1-818C-8CBB4CB1C6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9929" y="1196860"/>
                <a:ext cx="1587296" cy="0"/>
              </a:xfrm>
              <a:prstGeom prst="line">
                <a:avLst/>
              </a:prstGeom>
              <a:ln>
                <a:solidFill>
                  <a:srgbClr val="281A42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B40623C-9047-D1B1-23DB-2E2000AAE6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7225" y="1248002"/>
                <a:ext cx="0" cy="423805"/>
              </a:xfrm>
              <a:prstGeom prst="line">
                <a:avLst/>
              </a:prstGeom>
              <a:ln>
                <a:solidFill>
                  <a:srgbClr val="281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19105EF-84FA-0CAF-1927-CC8E21C06890}"/>
                  </a:ext>
                </a:extLst>
              </p:cNvPr>
              <p:cNvSpPr txBox="1"/>
              <p:nvPr/>
            </p:nvSpPr>
            <p:spPr>
              <a:xfrm>
                <a:off x="2784677" y="1046375"/>
                <a:ext cx="3367281" cy="271724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kumimoji="0" lang="en-US" sz="1200" b="1" i="0" u="none" strike="noStrike" kern="1200" cap="none" spc="-25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85% of Net Revenue (</a:t>
                </a:r>
                <a:r>
                  <a:rPr kumimoji="0" lang="en-US" sz="1200" b="1" i="0" u="none" strike="noStrike" kern="0" cap="none" spc="-25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$ Mn.)</a:t>
                </a:r>
                <a:endParaRPr kumimoji="0" lang="en-SG" sz="1200" b="1" i="0" u="none" strike="noStrike" kern="1200" cap="none" spc="-25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D596326-BE05-D2F5-0830-98D50927AE87}"/>
                </a:ext>
              </a:extLst>
            </p:cNvPr>
            <p:cNvSpPr txBox="1"/>
            <p:nvPr/>
          </p:nvSpPr>
          <p:spPr>
            <a:xfrm>
              <a:off x="2046306" y="5409265"/>
              <a:ext cx="1085605" cy="466901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Region X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VITAMINS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0ABEF80-9859-C571-7D58-E5BA65FD76BA}"/>
                </a:ext>
              </a:extLst>
            </p:cNvPr>
            <p:cNvSpPr txBox="1"/>
            <p:nvPr/>
          </p:nvSpPr>
          <p:spPr>
            <a:xfrm>
              <a:off x="3002144" y="5393881"/>
              <a:ext cx="463691" cy="265088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NA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4F3775B-2491-C79E-2B20-7AFAAEEF166D}"/>
                </a:ext>
              </a:extLst>
            </p:cNvPr>
            <p:cNvSpPr txBox="1"/>
            <p:nvPr/>
          </p:nvSpPr>
          <p:spPr>
            <a:xfrm>
              <a:off x="3626958" y="5407705"/>
              <a:ext cx="762000" cy="280668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HAIR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CARE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41CAA12-5D5A-E8B7-6B2A-BEF99339CD90}"/>
                </a:ext>
              </a:extLst>
            </p:cNvPr>
            <p:cNvSpPr txBox="1"/>
            <p:nvPr/>
          </p:nvSpPr>
          <p:spPr>
            <a:xfrm>
              <a:off x="4139560" y="5407705"/>
              <a:ext cx="1135328" cy="290896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GROOMING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DBB9E27-1D47-BA07-6F43-2C470B2D6E85}"/>
                </a:ext>
              </a:extLst>
            </p:cNvPr>
            <p:cNvSpPr txBox="1"/>
            <p:nvPr/>
          </p:nvSpPr>
          <p:spPr>
            <a:xfrm>
              <a:off x="7973648" y="5407461"/>
              <a:ext cx="770536" cy="205667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OTHER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F456825-1B43-72E8-1831-EDB0D8DE2508}"/>
                </a:ext>
              </a:extLst>
            </p:cNvPr>
            <p:cNvSpPr txBox="1"/>
            <p:nvPr/>
          </p:nvSpPr>
          <p:spPr>
            <a:xfrm>
              <a:off x="7433790" y="5408681"/>
              <a:ext cx="627663" cy="369907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 anchor="t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DEV.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lang="en-US" sz="8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MKT</a:t>
              </a:r>
              <a:endParaRPr lang="en-US" sz="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2863D77-EACB-E3AD-BC87-0EC943B90803}"/>
                </a:ext>
              </a:extLst>
            </p:cNvPr>
            <p:cNvSpPr txBox="1"/>
            <p:nvPr/>
          </p:nvSpPr>
          <p:spPr>
            <a:xfrm>
              <a:off x="6570168" y="5408041"/>
              <a:ext cx="862587" cy="466901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PRO-GO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6C38C-51D4-9E4D-A7AE-340CCC39CF5B}"/>
                </a:ext>
              </a:extLst>
            </p:cNvPr>
            <p:cNvSpPr txBox="1"/>
            <p:nvPr/>
          </p:nvSpPr>
          <p:spPr>
            <a:xfrm>
              <a:off x="5782391" y="5395916"/>
              <a:ext cx="874509" cy="280668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DIGITAL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22AA97-C46C-C551-EBEB-54714A946B4D}"/>
                </a:ext>
              </a:extLst>
            </p:cNvPr>
            <p:cNvSpPr txBox="1"/>
            <p:nvPr/>
          </p:nvSpPr>
          <p:spPr>
            <a:xfrm>
              <a:off x="1379743" y="5426821"/>
              <a:ext cx="678481" cy="246579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9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2025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1CFE000-9E12-64D5-7763-FE44F74BE2C4}"/>
                </a:ext>
              </a:extLst>
            </p:cNvPr>
            <p:cNvSpPr txBox="1"/>
            <p:nvPr/>
          </p:nvSpPr>
          <p:spPr>
            <a:xfrm>
              <a:off x="8725702" y="5385909"/>
              <a:ext cx="688709" cy="256807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9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2030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B516C03-C8D0-B6B8-F718-D9C61DDCDB38}"/>
                </a:ext>
              </a:extLst>
            </p:cNvPr>
            <p:cNvSpPr txBox="1"/>
            <p:nvPr/>
          </p:nvSpPr>
          <p:spPr>
            <a:xfrm>
              <a:off x="5143665" y="5406144"/>
              <a:ext cx="762000" cy="280668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SKIN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CARE</a:t>
              </a:r>
            </a:p>
          </p:txBody>
        </p:sp>
      </p:grpSp>
      <p:sp>
        <p:nvSpPr>
          <p:cNvPr id="9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BF259539-BCE2-423E-AC81-F9C14F1F202A}" type="slidenum">
              <a:r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3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B48585-F85D-043C-FA86-63D2D40421B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Agenda: Case 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21A37-3C25-1A05-D1D9-845F7ADF902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F4B1E84E-28FD-3C3A-13FB-A7D70C73FA8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F3EB5A-F43C-2F9D-5B1B-33877E3F366A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D1C9DEC1-FA62-C689-E5E9-86CBDBC66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C5C1AE-7935-B479-D3E9-A0AAEF6D615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B1FAF6-302C-DB9C-82AE-274BA26AD86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2536727-8A29-ABDF-E358-D7886A63A04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8DA2081-CAFC-1352-203E-65B4CD7D536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20411B-D0B5-9005-40F3-902D01A74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97A63F-4E40-AEA5-EBC2-675913BB33A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5DB004-C5F4-CC7C-8829-EE9FF7F6A0F3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1C6F330-54FC-B411-12AF-F14612DD749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DEB1738-89E7-B2B4-C01D-5AAA0F8E23D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524D00B-9D3D-099F-C659-D1D4304C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1F661C-5B18-3EAD-256B-780FC61583CD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E347873-AC02-EBC0-3EE7-332D846FE8D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B4FDF37-9299-821D-8793-30D18C4B650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E868188-E1C3-924A-242B-54B30C68D8B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1E9C7990-D655-9308-EAF6-E5F1622D8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D6551F-903D-331D-5459-0C3533D14E5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91C652-C642-2BE3-5D9A-2AA024244C57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1792B05-4731-289D-E7F3-B22C887A854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F4041DE-0884-74D5-A5B8-31D8CDEA882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1704440-A77B-A54A-C0D6-89B354D6E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A712178-7499-BCAF-8C05-4576909A4ED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78536C2-A5F9-633B-1B79-6E5F95BFBD7F}"/>
              </a:ext>
            </a:extLst>
          </p:cNvPr>
          <p:cNvSpPr txBox="1"/>
          <p:nvPr/>
        </p:nvSpPr>
        <p:spPr>
          <a:xfrm>
            <a:off x="852253" y="827493"/>
            <a:ext cx="1391728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000" b="1" i="1" u="sng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 </a:t>
            </a:r>
            <a:r>
              <a:rPr lang="en-US" altLang="zh-CN" sz="2000" b="1" i="1" u="sng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endParaRPr lang="en-US" sz="2000" b="1" i="1" u="sng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3D516B-5B8B-5326-010C-A4D74EE99172}"/>
              </a:ext>
            </a:extLst>
          </p:cNvPr>
          <p:cNvSpPr/>
          <p:nvPr/>
        </p:nvSpPr>
        <p:spPr>
          <a:xfrm>
            <a:off x="673296" y="1714363"/>
            <a:ext cx="3018803" cy="4208554"/>
          </a:xfrm>
          <a:prstGeom prst="rect">
            <a:avLst/>
          </a:prstGeom>
          <a:solidFill>
            <a:srgbClr val="F2F2F2"/>
          </a:solidFill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National installer of commercial HVAC solutions</a:t>
            </a: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75000"/>
                  <a:lumOff val="2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Fragmented market with +4000 sub-scale local outfits</a:t>
            </a: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75000"/>
                  <a:lumOff val="2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Built 2025 – 2030 through roll-up. Now with new owner for Phase 2 roll-up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C69EC3-AC20-4545-9D49-FC8EE8A801E0}"/>
              </a:ext>
            </a:extLst>
          </p:cNvPr>
          <p:cNvGrpSpPr/>
          <p:nvPr/>
        </p:nvGrpSpPr>
        <p:grpSpPr>
          <a:xfrm>
            <a:off x="3775717" y="1714363"/>
            <a:ext cx="7820424" cy="4208554"/>
            <a:chOff x="3775717" y="1714363"/>
            <a:chExt cx="7820424" cy="420855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5A5847E-D984-5288-381F-8FBB5991663F}"/>
                </a:ext>
              </a:extLst>
            </p:cNvPr>
            <p:cNvGrpSpPr/>
            <p:nvPr/>
          </p:nvGrpSpPr>
          <p:grpSpPr>
            <a:xfrm>
              <a:off x="3838024" y="5292174"/>
              <a:ext cx="7758117" cy="630743"/>
              <a:chOff x="3426200" y="5034999"/>
              <a:chExt cx="8227091" cy="636320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664B403-2C70-892D-07BD-D3F749E6C57E}"/>
                  </a:ext>
                </a:extLst>
              </p:cNvPr>
              <p:cNvSpPr txBox="1"/>
              <p:nvPr/>
            </p:nvSpPr>
            <p:spPr>
              <a:xfrm>
                <a:off x="3426200" y="5040574"/>
                <a:ext cx="3989399" cy="630745"/>
              </a:xfrm>
              <a:prstGeom prst="rect">
                <a:avLst/>
              </a:prstGeom>
              <a:solidFill>
                <a:srgbClr val="FFB547"/>
              </a:solidFill>
              <a:ln w="12700">
                <a:noFill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1400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EBITDA</a:t>
                </a:r>
                <a: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 </a:t>
                </a:r>
                <a:b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$50M to $185M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A7962C-D45B-47DF-1CDD-D20F241243E3}"/>
                  </a:ext>
                </a:extLst>
              </p:cNvPr>
              <p:cNvSpPr txBox="1"/>
              <p:nvPr/>
            </p:nvSpPr>
            <p:spPr>
              <a:xfrm>
                <a:off x="7570345" y="5034999"/>
                <a:ext cx="4082946" cy="630742"/>
              </a:xfrm>
              <a:prstGeom prst="rect">
                <a:avLst/>
              </a:prstGeom>
              <a:solidFill>
                <a:srgbClr val="281A42"/>
              </a:solidFill>
              <a:ln w="12700">
                <a:noFill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</a:defRPr>
                </a:pPr>
                <a:r>
                  <a:rPr kumimoji="0" lang="en-US" sz="1400" b="0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ENTERPRISE VALUE  </a:t>
                </a:r>
                <a:b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From $462M to $2.2B</a:t>
                </a: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2CDB89A-1A8A-3907-1EB3-37977BD0C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775717" y="1714363"/>
              <a:ext cx="7698930" cy="342669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C4CF0A-E3CC-9EFF-77F8-51ACEEF288B5}"/>
                </a:ext>
              </a:extLst>
            </p:cNvPr>
            <p:cNvSpPr txBox="1"/>
            <p:nvPr/>
          </p:nvSpPr>
          <p:spPr>
            <a:xfrm>
              <a:off x="4013860" y="4801116"/>
              <a:ext cx="498855" cy="276999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sz="1200" b="1">
                  <a:solidFill>
                    <a:srgbClr val="1D1D1D"/>
                  </a:solidFill>
                </a:rPr>
                <a:t>2025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075182-C9A4-8902-7020-9DFC11D10405}"/>
                </a:ext>
              </a:extLst>
            </p:cNvPr>
            <p:cNvSpPr txBox="1"/>
            <p:nvPr/>
          </p:nvSpPr>
          <p:spPr>
            <a:xfrm>
              <a:off x="10776627" y="4801116"/>
              <a:ext cx="498855" cy="276999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sz="1200" b="1">
                  <a:solidFill>
                    <a:srgbClr val="1D1D1D"/>
                  </a:solidFill>
                </a:rPr>
                <a:t>2030</a:t>
              </a:r>
            </a:p>
          </p:txBody>
        </p:sp>
      </p:grpSp>
      <p:sp>
        <p:nvSpPr>
          <p:cNvPr id="4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6CE6C202-7752-423E-B8E6-043633F8D643}" type="slidenum">
              <a:r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6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t"/>
          <a:lstStyle/>
          <a:p>
            <a:r>
              <a:t>Value Agenda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DB57880-608C-7D0F-96F0-3FF78EAEE4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1029" name="SlideNumber"/>
          <p:cNvSpPr>
            <a:spLocks noGrp="1"/>
          </p:cNvSpPr>
          <p:nvPr>
            <p:ph type="sldNum" idx="4294967295"/>
          </p:nvPr>
        </p:nvSpPr>
        <p:spPr>
          <a:xfrm>
            <a:off x="0" y="6564313"/>
            <a:ext cx="457200" cy="128587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2B135222-5140-43B9-8060-37C1E2B8D9B1}" type="slidenum">
              <a:rPr/>
              <a:t>28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C6635C-8781-C8DA-8F1A-C6D0154AF256}"/>
              </a:ext>
            </a:extLst>
          </p:cNvPr>
          <p:cNvSpPr txBox="1"/>
          <p:nvPr/>
        </p:nvSpPr>
        <p:spPr>
          <a:xfrm>
            <a:off x="854569" y="4321269"/>
            <a:ext cx="6282486" cy="119481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</a:t>
            </a:r>
            <a:r>
              <a:rPr lang="zh-CN" alt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Group debrief / Q&amp;A on how to approach in your organization</a:t>
            </a:r>
            <a:b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altLang="zh-CN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4F7323-8B4D-57D5-AB65-7D3341DCD451}"/>
              </a:ext>
            </a:extLst>
          </p:cNvPr>
          <p:cNvSpPr txBox="1"/>
          <p:nvPr/>
        </p:nvSpPr>
        <p:spPr>
          <a:xfrm>
            <a:off x="854569" y="1859054"/>
            <a:ext cx="6282486" cy="82567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1.</a:t>
            </a:r>
            <a:r>
              <a:rPr lang="zh-CN" alt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Review the Strategic Business Case</a:t>
            </a:r>
          </a:p>
          <a:p>
            <a:pPr>
              <a:lnSpc>
                <a:spcPct val="120000"/>
              </a:lnSpc>
            </a:pPr>
            <a:r>
              <a:rPr lang="en-US" altLang="zh-CN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894ED6-C144-95B4-5E53-FC88B78C901C}"/>
              </a:ext>
            </a:extLst>
          </p:cNvPr>
          <p:cNvSpPr txBox="1"/>
          <p:nvPr/>
        </p:nvSpPr>
        <p:spPr>
          <a:xfrm>
            <a:off x="854569" y="2926013"/>
            <a:ext cx="6282487" cy="1195071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</a:t>
            </a:r>
            <a:r>
              <a:rPr lang="zh-CN" alt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Discuss and identify the Hotspots Comprising the Business Value Agenda</a:t>
            </a:r>
          </a:p>
          <a:p>
            <a:pPr>
              <a:lnSpc>
                <a:spcPct val="120000"/>
              </a:lnSpc>
            </a:pPr>
            <a:r>
              <a:rPr lang="en-US" altLang="zh-CN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(20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A6C9-BDC9-BCC7-3E61-37544761F60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03F82BAB-F6DB-7D43-52DE-35407B450AB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CFEA36CE-1E20-E1A1-43E6-C4C6ADDB52A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5068E51E-0D65-E285-DBFC-F5E12250E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9A260A-7C9B-10AF-2125-688990E57FB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F41EDF-5C4E-B25C-E006-2099FDF0859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3D84A688-A993-CC5D-6C15-9526782AD1C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8FF1C5EF-025B-B8C9-6BA9-10072CE916C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2B5D6AF-65A4-1454-AC6D-0DDA8855A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7E2357-A993-4ADE-B502-E5E1B8DBAB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0CAADF-FAA7-48C1-68AF-B86E73C1EA4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71A705E8-88B5-6D0B-7108-F157B7E141C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B35D26DD-F5DE-B41E-8510-A50BB3F2D86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711ADA-9E47-5BC7-A59F-0FBC8EFDB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D5E49D-3395-EA58-7AB0-B74C660D387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E6DCE5-1522-8754-9F5C-012DB915B02F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0" name="Rectangle: Rounded Corners 23">
              <a:extLst>
                <a:ext uri="{FF2B5EF4-FFF2-40B4-BE49-F238E27FC236}">
                  <a16:creationId xmlns:a16="http://schemas.microsoft.com/office/drawing/2014/main" id="{667547F9-3CAF-854A-BC64-1206C1F229D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E7FA7631-7F97-3A0D-D58B-D0C3B66AF96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6E7AF16A-0FCA-9B73-DAA6-D350B78BB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AD36C4-7C6A-7BBF-5630-EFBD8AB53F9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D0B303-E72D-2540-4548-3D7FAF7E2F7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7" name="Rectangle: Rounded Corners 28">
              <a:extLst>
                <a:ext uri="{FF2B5EF4-FFF2-40B4-BE49-F238E27FC236}">
                  <a16:creationId xmlns:a16="http://schemas.microsoft.com/office/drawing/2014/main" id="{E5D07837-E338-5CCC-F8AD-2802EC840D4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9">
              <a:extLst>
                <a:ext uri="{FF2B5EF4-FFF2-40B4-BE49-F238E27FC236}">
                  <a16:creationId xmlns:a16="http://schemas.microsoft.com/office/drawing/2014/main" id="{F5A1FFB2-18B6-70BD-9CD6-EB4537B880A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66D79C3-AD5E-596C-CF47-F17383C07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475C772-95A6-F758-98E2-606B67C4B25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1026" name="Picture 2" descr="Qr Code Preview">
            <a:extLst>
              <a:ext uri="{FF2B5EF4-FFF2-40B4-BE49-F238E27FC236}">
                <a16:creationId xmlns:a16="http://schemas.microsoft.com/office/drawing/2014/main" id="{DF60F1E1-F06D-ECB1-19D3-441EA97D3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8221952" y="2025035"/>
            <a:ext cx="2166396" cy="280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F0B0313-4310-E021-1FC2-AC265A7F24A2}"/>
              </a:ext>
            </a:extLst>
          </p:cNvPr>
          <p:cNvSpPr txBox="1"/>
          <p:nvPr/>
        </p:nvSpPr>
        <p:spPr>
          <a:xfrm>
            <a:off x="7892376" y="5067629"/>
            <a:ext cx="287453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i="1" spc="-10">
                <a:solidFill>
                  <a:srgbClr val="281A42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spc="-10" err="1">
                <a:solidFill>
                  <a:srgbClr val="281A42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 spc="-10">
                <a:solidFill>
                  <a:srgbClr val="281A42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i="1" spc="-10" err="1">
                <a:solidFill>
                  <a:srgbClr val="281A42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bgeXPz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8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dirty="0"/>
              <a:t>Value Agenda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54CC31-D6EE-7459-886D-0DBC22B7322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7" name="Rectangle: Rounded Corners 7">
              <a:extLst>
                <a:ext uri="{FF2B5EF4-FFF2-40B4-BE49-F238E27FC236}">
                  <a16:creationId xmlns:a16="http://schemas.microsoft.com/office/drawing/2014/main" id="{3BE3D766-86B6-0D2D-88BA-0F9F0198920C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8" name="Rectangle: Rounded Corners 9">
              <a:extLst>
                <a:ext uri="{FF2B5EF4-FFF2-40B4-BE49-F238E27FC236}">
                  <a16:creationId xmlns:a16="http://schemas.microsoft.com/office/drawing/2014/main" id="{3F40FECB-DCF2-8EA9-16D8-50F6DFC8D7F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 descr="Bend the Curve">
              <a:extLst>
                <a:ext uri="{FF2B5EF4-FFF2-40B4-BE49-F238E27FC236}">
                  <a16:creationId xmlns:a16="http://schemas.microsoft.com/office/drawing/2014/main" id="{CA2B1F6F-BFC8-E776-8F7B-B3EA73B7F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11F7A9-33D8-5304-70AE-FD8E19C7503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CA32AE-F9BC-BEB8-BD04-D6F6CE5C63B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2" name="Rectangle: Rounded Corners 13">
              <a:extLst>
                <a:ext uri="{FF2B5EF4-FFF2-40B4-BE49-F238E27FC236}">
                  <a16:creationId xmlns:a16="http://schemas.microsoft.com/office/drawing/2014/main" id="{40132E2A-565F-8C4B-7182-DDCDAC21EEF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4">
              <a:extLst>
                <a:ext uri="{FF2B5EF4-FFF2-40B4-BE49-F238E27FC236}">
                  <a16:creationId xmlns:a16="http://schemas.microsoft.com/office/drawing/2014/main" id="{17A18216-F8F0-A064-40A3-290EF19924F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F7FF667-56D1-37EE-D2BC-FEA52E870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EA467F-B21F-21CE-A75C-A9C0ECFE5FE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A26797-85AD-5D25-FA0A-E5FB7F6037D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7" name="Rectangle: Rounded Corners 18">
              <a:extLst>
                <a:ext uri="{FF2B5EF4-FFF2-40B4-BE49-F238E27FC236}">
                  <a16:creationId xmlns:a16="http://schemas.microsoft.com/office/drawing/2014/main" id="{9CD3CF05-AFF0-4E9A-2E44-BF997D9450F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4D5F5113-6FE5-708F-E3F2-C7D64A175C53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5AD828E-B8FC-5637-DB04-8CB5DECF2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A6EC9F-EC72-87B9-4FF1-0F089A3CCEE1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32FEFF-D069-8EB8-06ED-BEC894320C5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30588AF4-1E52-B7C1-3FEE-F0D6AECF47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4DC3D93A-FF2E-BD56-E901-697D32794DB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35831062-C341-7A82-7BEA-112480BFE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04F5832-9416-D196-FB7E-AF749FAE4B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1B51144-B0A0-A0B1-614A-19D65A5C9CF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364D61AA-366B-29B8-B286-38454B4440B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226FD082-F38B-5FC9-BC4D-E07907866F4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9842075-0CCF-3FE2-53A6-FD380B534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68278AD-3B9A-1659-7CCB-1E6E6883682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9A70DA-4080-A726-8501-E2D259C046A1}"/>
              </a:ext>
            </a:extLst>
          </p:cNvPr>
          <p:cNvGrpSpPr/>
          <p:nvPr/>
        </p:nvGrpSpPr>
        <p:grpSpPr>
          <a:xfrm>
            <a:off x="1562412" y="1566199"/>
            <a:ext cx="8848702" cy="4117498"/>
            <a:chOff x="6286666" y="2608322"/>
            <a:chExt cx="6428861" cy="297669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104A709-63FB-748B-9978-4CDC5DFD1C09}"/>
                </a:ext>
              </a:extLst>
            </p:cNvPr>
            <p:cNvSpPr/>
            <p:nvPr/>
          </p:nvSpPr>
          <p:spPr>
            <a:xfrm>
              <a:off x="6676786" y="2714446"/>
              <a:ext cx="5461890" cy="2777651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ounded Rectangle 13">
              <a:extLst>
                <a:ext uri="{FF2B5EF4-FFF2-40B4-BE49-F238E27FC236}">
                  <a16:creationId xmlns:a16="http://schemas.microsoft.com/office/drawing/2014/main" id="{3A6A7776-31FB-E2D7-DA7A-7C51D266E788}"/>
                </a:ext>
              </a:extLst>
            </p:cNvPr>
            <p:cNvSpPr/>
            <p:nvPr/>
          </p:nvSpPr>
          <p:spPr>
            <a:xfrm>
              <a:off x="6286666" y="2608322"/>
              <a:ext cx="458495" cy="2976698"/>
            </a:xfrm>
            <a:prstGeom prst="roundRect">
              <a:avLst/>
            </a:prstGeom>
            <a:solidFill>
              <a:srgbClr val="281A42"/>
            </a:solidFill>
            <a:ln w="9525">
              <a:solidFill>
                <a:srgbClr val="281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5" name="Graphic 44" descr="Checkbox Checked">
              <a:extLst>
                <a:ext uri="{FF2B5EF4-FFF2-40B4-BE49-F238E27FC236}">
                  <a16:creationId xmlns:a16="http://schemas.microsoft.com/office/drawing/2014/main" id="{30ED9946-D3CE-C7D8-88B4-A9B3833D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2865474"/>
              <a:ext cx="337325" cy="383562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C5B366-0A7E-DA51-BBE9-42A74EC9A173}"/>
                </a:ext>
              </a:extLst>
            </p:cNvPr>
            <p:cNvSpPr txBox="1"/>
            <p:nvPr/>
          </p:nvSpPr>
          <p:spPr>
            <a:xfrm>
              <a:off x="6833483" y="2911358"/>
              <a:ext cx="5045851" cy="27565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CHECK FOR: VALUE &amp; STRATEGIC PIVOTS</a:t>
              </a:r>
            </a:p>
          </p:txBody>
        </p:sp>
        <p:pic>
          <p:nvPicPr>
            <p:cNvPr id="47" name="Graphic 46" descr="Checkbox Checked">
              <a:extLst>
                <a:ext uri="{FF2B5EF4-FFF2-40B4-BE49-F238E27FC236}">
                  <a16:creationId xmlns:a16="http://schemas.microsoft.com/office/drawing/2014/main" id="{80E31729-3CB3-8677-C2F9-60F5354C1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3385182"/>
              <a:ext cx="337325" cy="38356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8A00F38-D336-DD2E-713A-0E2B45F274A2}"/>
                </a:ext>
              </a:extLst>
            </p:cNvPr>
            <p:cNvSpPr txBox="1"/>
            <p:nvPr/>
          </p:nvSpPr>
          <p:spPr>
            <a:xfrm>
              <a:off x="6833661" y="3430777"/>
              <a:ext cx="4788590" cy="293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5-7: NUMBER OF HOTSPOTS</a:t>
              </a:r>
            </a:p>
          </p:txBody>
        </p:sp>
        <p:pic>
          <p:nvPicPr>
            <p:cNvPr id="49" name="Graphic 48" descr="Checkbox Checked">
              <a:extLst>
                <a:ext uri="{FF2B5EF4-FFF2-40B4-BE49-F238E27FC236}">
                  <a16:creationId xmlns:a16="http://schemas.microsoft.com/office/drawing/2014/main" id="{4623E7C5-3C73-6B97-1E82-0F256F357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3904890"/>
              <a:ext cx="337325" cy="38356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50F5CC5-E927-8FC5-D5E6-35B648CB1C16}"/>
                </a:ext>
              </a:extLst>
            </p:cNvPr>
            <p:cNvSpPr txBox="1"/>
            <p:nvPr/>
          </p:nvSpPr>
          <p:spPr>
            <a:xfrm>
              <a:off x="6833661" y="3950194"/>
              <a:ext cx="4788590" cy="293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70-80% OF THE VALUE COVERED</a:t>
              </a:r>
            </a:p>
          </p:txBody>
        </p:sp>
        <p:pic>
          <p:nvPicPr>
            <p:cNvPr id="51" name="Graphic 50" descr="Checkbox Checked">
              <a:extLst>
                <a:ext uri="{FF2B5EF4-FFF2-40B4-BE49-F238E27FC236}">
                  <a16:creationId xmlns:a16="http://schemas.microsoft.com/office/drawing/2014/main" id="{C2F920F1-30E7-0CB3-D2A4-CB7E5C26F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4424598"/>
              <a:ext cx="337325" cy="383562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06A2C47-AE1E-1679-C19D-60CDE037CE4C}"/>
                </a:ext>
              </a:extLst>
            </p:cNvPr>
            <p:cNvSpPr txBox="1"/>
            <p:nvPr/>
          </p:nvSpPr>
          <p:spPr>
            <a:xfrm>
              <a:off x="6833661" y="4460352"/>
              <a:ext cx="5881866" cy="321018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ctr">
              <a:noAutofit/>
            </a:bodyPr>
            <a:lstStyle/>
            <a:p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STRETCH &amp; NEW WORK TO REACH THE  ORGANIZATION'S AMBITION </a:t>
              </a:r>
            </a:p>
          </p:txBody>
        </p:sp>
        <p:pic>
          <p:nvPicPr>
            <p:cNvPr id="53" name="Graphic 52" descr="Checkbox Checked">
              <a:extLst>
                <a:ext uri="{FF2B5EF4-FFF2-40B4-BE49-F238E27FC236}">
                  <a16:creationId xmlns:a16="http://schemas.microsoft.com/office/drawing/2014/main" id="{D800B5FA-E7BD-8175-6558-02F2C3829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4944306"/>
              <a:ext cx="337325" cy="383562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4F7D0AD-8E9D-2F5C-78AE-A069CD38630C}"/>
                </a:ext>
              </a:extLst>
            </p:cNvPr>
            <p:cNvSpPr txBox="1"/>
            <p:nvPr/>
          </p:nvSpPr>
          <p:spPr>
            <a:xfrm>
              <a:off x="6833661" y="4989029"/>
              <a:ext cx="4788590" cy="293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 CREATED BY THE VALUE AGENDA</a:t>
              </a:r>
            </a:p>
          </p:txBody>
        </p:sp>
      </p:grpSp>
      <p:sp>
        <p:nvSpPr>
          <p:cNvPr id="5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F4CD29B-51CD-4369-9D32-2CDB5F3FC576}" type="slidenum">
              <a:t>29</a:t>
            </a:fld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B38C3DD4-6E4C-CDFF-B825-82F45696E10A}"/>
              </a:ext>
            </a:extLst>
          </p:cNvPr>
          <p:cNvSpPr txBox="1">
            <a:spLocks/>
          </p:cNvSpPr>
          <p:nvPr/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 lIns="121920" tIns="60960" rIns="121920" bIns="6096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>
                <a:solidFill>
                  <a:srgbClr val="1D1D1D"/>
                </a:solidFill>
                <a:latin typeface="Segoe UI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Value Agenda</a:t>
            </a:r>
          </a:p>
        </p:txBody>
      </p:sp>
      <p:sp>
        <p:nvSpPr>
          <p:cNvPr id="4" name="Text Placeholder 31">
            <a:extLst>
              <a:ext uri="{FF2B5EF4-FFF2-40B4-BE49-F238E27FC236}">
                <a16:creationId xmlns:a16="http://schemas.microsoft.com/office/drawing/2014/main" id="{E01FFF37-CFCE-2BBA-F3A8-070112DA24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</p:spPr>
        <p:txBody>
          <a:bodyPr/>
          <a:lstStyle/>
          <a:p>
            <a:r>
              <a:rPr lang="en-US" dirty="0"/>
              <a:t>Plenary checklist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168500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451B-A07E-8514-F312-DBC8899C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AB1674-90B5-FA68-BC5A-1EB2AD91B2D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 dirty="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</a:t>
            </a:r>
            <a:r>
              <a:rPr lang="en-US" b="1" spc="-25" dirty="0" err="1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Methdology</a:t>
            </a:r>
            <a:endParaRPr lang="en-US" b="1" spc="-25" dirty="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C1516C78-04FD-031F-0BD5-EBE89CA42487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732F9E84-F774-320A-4358-4DD89A3686A5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D207A7EC-D4EE-A7B0-B7F4-6BFBA1BF291F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3999D9-651D-2C9B-B436-66840E39172E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BB6969-8F02-F891-C948-088869462B76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20DFB3-9457-8003-F46F-F343638C0AB6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00C27A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C4C444-FF20-5F22-6855-6645D4F31A74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77">
              <a:defRPr/>
            </a:pPr>
            <a:r>
              <a:rPr lang="en-US" sz="1467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-1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E896B973-2EC7-90E5-B14E-4D02D1DC1BDA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123481-76E6-9FF5-0D43-6F2B6D2B755C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 hidden="1">
            <a:extLst>
              <a:ext uri="{FF2B5EF4-FFF2-40B4-BE49-F238E27FC236}">
                <a16:creationId xmlns:a16="http://schemas.microsoft.com/office/drawing/2014/main" id="{96C93E9F-2445-415B-2DCA-23166983FB89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E48A3B9B-2CFF-6A24-30DB-8BEA9544C110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rgbClr val="F2F2F2"/>
          </a:solidFill>
          <a:ln w="38100"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4EFBE1CC-DE50-2276-4410-5F8DEBE0A7A2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rgbClr val="F2F2F2"/>
          </a:solidFill>
          <a:ln w="38100"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 hidden="1">
            <a:extLst>
              <a:ext uri="{FF2B5EF4-FFF2-40B4-BE49-F238E27FC236}">
                <a16:creationId xmlns:a16="http://schemas.microsoft.com/office/drawing/2014/main" id="{652768CB-1ABA-94F5-2648-C42254B4B528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4C3E54A-28D5-FB4E-9123-1B4EB52DEBB3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A56EF10F-82BB-B891-4D50-C8FB7B5DA3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46D7C461-EEC4-091B-E00E-518E60D051E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CC6E0947-14D3-F345-2558-05F4531ACD3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C004991B-145E-2B88-6B80-4C4D0EEABC2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C50E4948-06D3-69CE-D743-DB39BEE3C05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487219-1E57-76B9-D3EE-3616442E6FC8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92B85-A92D-09EF-F0BE-DB59C7000D28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2C174-ED18-4DE2-0E06-3EE24AD8EB81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2431E-819E-449A-5E44-F988B909F95E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65898-BF22-A11B-3F8B-33B608F2EB4D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EC2B9541-6AB8-4907-8C14-6F29B3FDF83A}" type="slidenum">
              <a:r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0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0AEBE9F-65E0-611B-0E50-25FB1C16B73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0C8D5D5D-0B50-254A-720D-8C39DC311DA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3D91D54-912C-0537-543A-52E9A6A93CE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6F445D9F-C83B-5784-A6DD-99A9B7618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841381-0A51-1EDC-7CC7-0ECF3248306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B7B40-D5DB-2041-5475-EEDDA5798636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76282A9-DA7D-5592-7D1D-3B25C558C58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CCFC7-3DCD-8730-9858-6A9BCF791F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774C07D-2F15-E2A8-4BAB-3F7429284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F1AA8B5-1FA9-5125-AC41-838DE15DBDB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6AA36F-9574-21E2-B162-6DA9CDB2BEAD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08C7B81-926A-7936-C2FA-6D50106E26B3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D426C27-0AF4-5945-DC83-486BDB485F0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002E5B9-ECE2-9AC4-DD69-042CFAA01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1FC59B-2FD8-7599-3726-0185E319BC6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F8CFA2-B8BE-9011-A670-64AD286296F1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D6B8370-13F4-496D-61C1-2BB52F00AF2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4F05DF7-A786-3FC4-DC97-2184CCFF6C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D4EA69FA-4834-EB75-44CC-38B32A5CB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F8D692-780C-0E0D-BF98-3B871327019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7ED886-CF03-2EA3-49F2-AEAD92F99EF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FA019B7-AB1B-011A-5E63-71B73E77F27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B205BA8-05DF-739C-2389-EDA28628F59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D48143C-3D76-2097-CF08-FFBBA52F7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F2D10A5-5F1B-911E-F663-5C3A737425C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8F137B73-871B-77DD-0806-AA2E3F268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</p:spPr>
        <p:txBody>
          <a:bodyPr/>
          <a:lstStyle/>
          <a:p>
            <a:r>
              <a:rPr lang="en-US" dirty="0"/>
              <a:t>Work Context &amp; Critical Roles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449816-96B1-A4F8-5EE8-B57244EDF3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</p:spPr>
        <p:txBody>
          <a:bodyPr/>
          <a:lstStyle/>
          <a:p>
            <a:r>
              <a:rPr lang="en-US" dirty="0"/>
              <a:t>Defining Work Context @ Hotspots Is Critical</a:t>
            </a:r>
          </a:p>
        </p:txBody>
      </p:sp>
      <p:sp>
        <p:nvSpPr>
          <p:cNvPr id="41" name="SlideNumber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6DCFB9A8-7462-4556-BFD5-E4643EDC0D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0D7DD-C673-3A64-2954-DFB423C431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72897" y="2457668"/>
            <a:ext cx="6185716" cy="2335305"/>
          </a:xfr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MUST BE ACCOMPLISHED?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WILL IT BE DONE? 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ARE THE KEY PIVOTS IN THE WORK?</a:t>
            </a:r>
            <a:br>
              <a:rPr lang="en-US" dirty="0"/>
            </a:br>
            <a:endParaRPr lang="en-US" dirty="0"/>
          </a:p>
          <a:p>
            <a:r>
              <a:rPr lang="en-US" dirty="0"/>
              <a:t>BY WHEN?</a:t>
            </a:r>
          </a:p>
        </p:txBody>
      </p:sp>
      <p:pic>
        <p:nvPicPr>
          <p:cNvPr id="38" name="Graphic 37" descr="Bullseye with solid fill">
            <a:extLst>
              <a:ext uri="{FF2B5EF4-FFF2-40B4-BE49-F238E27FC236}">
                <a16:creationId xmlns:a16="http://schemas.microsoft.com/office/drawing/2014/main" id="{03856E90-ACC4-B9CC-D970-09823716BA6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77795" y="1685116"/>
            <a:ext cx="2930013" cy="293001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5E88B5A-3B37-8968-0616-17B2CA45C621}"/>
              </a:ext>
            </a:extLst>
          </p:cNvPr>
          <p:cNvSpPr txBox="1"/>
          <p:nvPr/>
        </p:nvSpPr>
        <p:spPr>
          <a:xfrm>
            <a:off x="1618445" y="4536454"/>
            <a:ext cx="1848711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914377">
              <a:defRPr/>
            </a:pPr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Hotspots</a:t>
            </a:r>
          </a:p>
        </p:txBody>
      </p:sp>
    </p:spTree>
    <p:extLst>
      <p:ext uri="{BB962C8B-B14F-4D97-AF65-F5344CB8AC3E}">
        <p14:creationId xmlns:p14="http://schemas.microsoft.com/office/powerpoint/2010/main" val="151470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A Table for Each </a:t>
            </a:r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Hotspot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6CE3120-89F2-2382-A4A3-B994E0C0B5C3}"/>
              </a:ext>
            </a:extLst>
          </p:cNvPr>
          <p:cNvSpPr/>
          <p:nvPr/>
        </p:nvSpPr>
        <p:spPr>
          <a:xfrm>
            <a:off x="7173159" y="2518459"/>
            <a:ext cx="2605661" cy="2642427"/>
          </a:xfrm>
          <a:prstGeom prst="ellipse">
            <a:avLst/>
          </a:prstGeom>
          <a:solidFill>
            <a:srgbClr val="281A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74BFF91-FE74-9E30-7B2A-9BA81CCF51B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8" name="Rectangle: Rounded Corners 7">
              <a:extLst>
                <a:ext uri="{FF2B5EF4-FFF2-40B4-BE49-F238E27FC236}">
                  <a16:creationId xmlns:a16="http://schemas.microsoft.com/office/drawing/2014/main" id="{626EB8B7-0D1D-4115-554F-403401F36D0D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Rectangle: Rounded Corners 9">
              <a:extLst>
                <a:ext uri="{FF2B5EF4-FFF2-40B4-BE49-F238E27FC236}">
                  <a16:creationId xmlns:a16="http://schemas.microsoft.com/office/drawing/2014/main" id="{C36EF2C1-C866-0C99-569A-190251C5F7A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0" name="Picture 59" descr="Bend the Curve">
              <a:extLst>
                <a:ext uri="{FF2B5EF4-FFF2-40B4-BE49-F238E27FC236}">
                  <a16:creationId xmlns:a16="http://schemas.microsoft.com/office/drawing/2014/main" id="{9528B7F3-1D46-2245-E385-F02689BBE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D69DB9C-6895-68EF-31BC-49C3F7D2AE7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78DA294-EDA8-6DF6-C13C-8656EB4F382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63" name="Rectangle: Rounded Corners 13">
              <a:extLst>
                <a:ext uri="{FF2B5EF4-FFF2-40B4-BE49-F238E27FC236}">
                  <a16:creationId xmlns:a16="http://schemas.microsoft.com/office/drawing/2014/main" id="{7AD3EF8F-EB44-F15A-9E2E-583BCF85CB6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14">
              <a:extLst>
                <a:ext uri="{FF2B5EF4-FFF2-40B4-BE49-F238E27FC236}">
                  <a16:creationId xmlns:a16="http://schemas.microsoft.com/office/drawing/2014/main" id="{FA520958-64E5-83CC-0C6A-F6423EA44BB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AA3EB765-6F45-0A42-0EAF-55CB434A5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8B77D52-667D-30F0-8C58-D220CC08CB6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9BB1816-C96A-4F5A-4285-46AD4C0269F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8" name="Rectangle: Rounded Corners 18">
              <a:extLst>
                <a:ext uri="{FF2B5EF4-FFF2-40B4-BE49-F238E27FC236}">
                  <a16:creationId xmlns:a16="http://schemas.microsoft.com/office/drawing/2014/main" id="{A2821CDD-266C-BB8F-A167-8F86062E809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Rectangle: Rounded Corners 19">
              <a:extLst>
                <a:ext uri="{FF2B5EF4-FFF2-40B4-BE49-F238E27FC236}">
                  <a16:creationId xmlns:a16="http://schemas.microsoft.com/office/drawing/2014/main" id="{E15FD147-6D42-2905-5A0D-0D0E67A0386A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B879F00-94CB-9CF7-D1CA-9F1DBED55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7AB6622-7BC0-1EF0-6B34-8DFACF5668BD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7D95010-380D-FAA0-23BE-156C183A0D6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73" name="Rectangle: Rounded Corners 23">
              <a:extLst>
                <a:ext uri="{FF2B5EF4-FFF2-40B4-BE49-F238E27FC236}">
                  <a16:creationId xmlns:a16="http://schemas.microsoft.com/office/drawing/2014/main" id="{ECB19BF5-7105-7F4A-ED7F-35B1E605049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24">
              <a:extLst>
                <a:ext uri="{FF2B5EF4-FFF2-40B4-BE49-F238E27FC236}">
                  <a16:creationId xmlns:a16="http://schemas.microsoft.com/office/drawing/2014/main" id="{C1FFE244-2921-D393-92FF-B434D3A1ED2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 descr="Choose">
              <a:extLst>
                <a:ext uri="{FF2B5EF4-FFF2-40B4-BE49-F238E27FC236}">
                  <a16:creationId xmlns:a16="http://schemas.microsoft.com/office/drawing/2014/main" id="{A3AFF463-0D0A-7F13-7018-EECA76D12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8A7BAA1-0C89-97D2-2ED6-A70F1E68E34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6CC4384-5CC6-13A1-7D59-95641A49F2BC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8" name="Rectangle: Rounded Corners 28">
              <a:extLst>
                <a:ext uri="{FF2B5EF4-FFF2-40B4-BE49-F238E27FC236}">
                  <a16:creationId xmlns:a16="http://schemas.microsoft.com/office/drawing/2014/main" id="{D541C174-BBAD-D59B-4FDB-663BF7D1456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Rectangle: Rounded Corners 29">
              <a:extLst>
                <a:ext uri="{FF2B5EF4-FFF2-40B4-BE49-F238E27FC236}">
                  <a16:creationId xmlns:a16="http://schemas.microsoft.com/office/drawing/2014/main" id="{EF356E8D-DBD3-C98F-12DC-419EB018107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FCB69C7-2A44-6680-1889-DE265596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2FFDBA6-7187-7349-06C6-CBCDBEE9D17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874144C-2612-DECD-871D-7779A51FF8DF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845127" y="1203443"/>
            <a:chExt cx="3990109" cy="483546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EB2BEA6-2641-7EE9-2820-EA787CCC2471}"/>
                </a:ext>
              </a:extLst>
            </p:cNvPr>
            <p:cNvSpPr/>
            <p:nvPr/>
          </p:nvSpPr>
          <p:spPr>
            <a:xfrm>
              <a:off x="845127" y="1203443"/>
              <a:ext cx="3990109" cy="4835465"/>
            </a:xfrm>
            <a:prstGeom prst="rect">
              <a:avLst/>
            </a:prstGeom>
            <a:solidFill>
              <a:srgbClr val="D0D7DF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351" b="1" spc="-25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D9CF7E3-7E6E-591A-F5C1-FD6E6576B7D5}"/>
                </a:ext>
              </a:extLst>
            </p:cNvPr>
            <p:cNvGrpSpPr/>
            <p:nvPr/>
          </p:nvGrpSpPr>
          <p:grpSpPr>
            <a:xfrm>
              <a:off x="1153340" y="1421477"/>
              <a:ext cx="3373682" cy="895007"/>
              <a:chOff x="1777903" y="2433470"/>
              <a:chExt cx="6748145" cy="1790222"/>
            </a:xfrm>
          </p:grpSpPr>
          <p:sp>
            <p:nvSpPr>
              <p:cNvPr id="94" name="Rectangle: Rounded Corners 22">
                <a:extLst>
                  <a:ext uri="{FF2B5EF4-FFF2-40B4-BE49-F238E27FC236}">
                    <a16:creationId xmlns:a16="http://schemas.microsoft.com/office/drawing/2014/main" id="{0AC028B0-F185-0FE3-CA6A-CEE306F1E725}"/>
                  </a:ext>
                </a:extLst>
              </p:cNvPr>
              <p:cNvSpPr/>
              <p:nvPr/>
            </p:nvSpPr>
            <p:spPr>
              <a:xfrm>
                <a:off x="1777903" y="2433470"/>
                <a:ext cx="6748145" cy="1790222"/>
              </a:xfrm>
              <a:prstGeom prst="roundRect">
                <a:avLst>
                  <a:gd name="adj" fmla="val 5838"/>
                </a:avLst>
              </a:prstGeom>
              <a:solidFill>
                <a:srgbClr val="5858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9FA7B52-A11C-A8BA-3B0B-57C32818966F}"/>
                  </a:ext>
                </a:extLst>
              </p:cNvPr>
              <p:cNvSpPr/>
              <p:nvPr/>
            </p:nvSpPr>
            <p:spPr>
              <a:xfrm>
                <a:off x="2394955" y="2788581"/>
                <a:ext cx="1080000" cy="1080000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021C4C4-A4C2-2D10-98EC-4ABE082FC6A1}"/>
                  </a:ext>
                </a:extLst>
              </p:cNvPr>
              <p:cNvSpPr txBox="1"/>
              <p:nvPr/>
            </p:nvSpPr>
            <p:spPr>
              <a:xfrm>
                <a:off x="3474955" y="2647284"/>
                <a:ext cx="4582688" cy="93659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M&amp;A</a:t>
                </a:r>
              </a:p>
            </p:txBody>
          </p:sp>
          <p:sp>
            <p:nvSpPr>
              <p:cNvPr id="97" name="Freeform 73">
                <a:extLst>
                  <a:ext uri="{FF2B5EF4-FFF2-40B4-BE49-F238E27FC236}">
                    <a16:creationId xmlns:a16="http://schemas.microsoft.com/office/drawing/2014/main" id="{43FF7DCC-6142-4B8F-04AC-9EFC80EFFE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6996" y="3141290"/>
                <a:ext cx="405177" cy="407581"/>
              </a:xfrm>
              <a:custGeom>
                <a:avLst/>
                <a:gdLst>
                  <a:gd name="T0" fmla="*/ 38 w 185"/>
                  <a:gd name="T1" fmla="*/ 51 h 186"/>
                  <a:gd name="T2" fmla="*/ 88 w 185"/>
                  <a:gd name="T3" fmla="*/ 51 h 186"/>
                  <a:gd name="T4" fmla="*/ 92 w 185"/>
                  <a:gd name="T5" fmla="*/ 46 h 186"/>
                  <a:gd name="T6" fmla="*/ 88 w 185"/>
                  <a:gd name="T7" fmla="*/ 42 h 186"/>
                  <a:gd name="T8" fmla="*/ 38 w 185"/>
                  <a:gd name="T9" fmla="*/ 42 h 186"/>
                  <a:gd name="T10" fmla="*/ 33 w 185"/>
                  <a:gd name="T11" fmla="*/ 46 h 186"/>
                  <a:gd name="T12" fmla="*/ 38 w 185"/>
                  <a:gd name="T13" fmla="*/ 51 h 186"/>
                  <a:gd name="T14" fmla="*/ 38 w 185"/>
                  <a:gd name="T15" fmla="*/ 76 h 186"/>
                  <a:gd name="T16" fmla="*/ 147 w 185"/>
                  <a:gd name="T17" fmla="*/ 76 h 186"/>
                  <a:gd name="T18" fmla="*/ 151 w 185"/>
                  <a:gd name="T19" fmla="*/ 72 h 186"/>
                  <a:gd name="T20" fmla="*/ 147 w 185"/>
                  <a:gd name="T21" fmla="*/ 67 h 186"/>
                  <a:gd name="T22" fmla="*/ 38 w 185"/>
                  <a:gd name="T23" fmla="*/ 67 h 186"/>
                  <a:gd name="T24" fmla="*/ 33 w 185"/>
                  <a:gd name="T25" fmla="*/ 72 h 186"/>
                  <a:gd name="T26" fmla="*/ 38 w 185"/>
                  <a:gd name="T27" fmla="*/ 76 h 186"/>
                  <a:gd name="T28" fmla="*/ 177 w 185"/>
                  <a:gd name="T29" fmla="*/ 0 h 186"/>
                  <a:gd name="T30" fmla="*/ 8 w 185"/>
                  <a:gd name="T31" fmla="*/ 0 h 186"/>
                  <a:gd name="T32" fmla="*/ 0 w 185"/>
                  <a:gd name="T33" fmla="*/ 8 h 186"/>
                  <a:gd name="T34" fmla="*/ 0 w 185"/>
                  <a:gd name="T35" fmla="*/ 143 h 186"/>
                  <a:gd name="T36" fmla="*/ 33 w 185"/>
                  <a:gd name="T37" fmla="*/ 177 h 186"/>
                  <a:gd name="T38" fmla="*/ 42 w 185"/>
                  <a:gd name="T39" fmla="*/ 186 h 186"/>
                  <a:gd name="T40" fmla="*/ 177 w 185"/>
                  <a:gd name="T41" fmla="*/ 186 h 186"/>
                  <a:gd name="T42" fmla="*/ 185 w 185"/>
                  <a:gd name="T43" fmla="*/ 177 h 186"/>
                  <a:gd name="T44" fmla="*/ 185 w 185"/>
                  <a:gd name="T45" fmla="*/ 8 h 186"/>
                  <a:gd name="T46" fmla="*/ 177 w 185"/>
                  <a:gd name="T47" fmla="*/ 0 h 186"/>
                  <a:gd name="T48" fmla="*/ 42 w 185"/>
                  <a:gd name="T49" fmla="*/ 173 h 186"/>
                  <a:gd name="T50" fmla="*/ 12 w 185"/>
                  <a:gd name="T51" fmla="*/ 143 h 186"/>
                  <a:gd name="T52" fmla="*/ 42 w 185"/>
                  <a:gd name="T53" fmla="*/ 143 h 186"/>
                  <a:gd name="T54" fmla="*/ 42 w 185"/>
                  <a:gd name="T55" fmla="*/ 173 h 186"/>
                  <a:gd name="T56" fmla="*/ 177 w 185"/>
                  <a:gd name="T57" fmla="*/ 177 h 186"/>
                  <a:gd name="T58" fmla="*/ 50 w 185"/>
                  <a:gd name="T59" fmla="*/ 177 h 186"/>
                  <a:gd name="T60" fmla="*/ 50 w 185"/>
                  <a:gd name="T61" fmla="*/ 139 h 186"/>
                  <a:gd name="T62" fmla="*/ 46 w 185"/>
                  <a:gd name="T63" fmla="*/ 135 h 186"/>
                  <a:gd name="T64" fmla="*/ 8 w 185"/>
                  <a:gd name="T65" fmla="*/ 135 h 186"/>
                  <a:gd name="T66" fmla="*/ 8 w 185"/>
                  <a:gd name="T67" fmla="*/ 8 h 186"/>
                  <a:gd name="T68" fmla="*/ 177 w 185"/>
                  <a:gd name="T69" fmla="*/ 8 h 186"/>
                  <a:gd name="T70" fmla="*/ 177 w 185"/>
                  <a:gd name="T71" fmla="*/ 177 h 186"/>
                  <a:gd name="T72" fmla="*/ 38 w 185"/>
                  <a:gd name="T73" fmla="*/ 101 h 186"/>
                  <a:gd name="T74" fmla="*/ 122 w 185"/>
                  <a:gd name="T75" fmla="*/ 101 h 186"/>
                  <a:gd name="T76" fmla="*/ 126 w 185"/>
                  <a:gd name="T77" fmla="*/ 97 h 186"/>
                  <a:gd name="T78" fmla="*/ 122 w 185"/>
                  <a:gd name="T79" fmla="*/ 93 h 186"/>
                  <a:gd name="T80" fmla="*/ 38 w 185"/>
                  <a:gd name="T81" fmla="*/ 93 h 186"/>
                  <a:gd name="T82" fmla="*/ 33 w 185"/>
                  <a:gd name="T83" fmla="*/ 97 h 186"/>
                  <a:gd name="T84" fmla="*/ 38 w 185"/>
                  <a:gd name="T85" fmla="*/ 10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5" h="186">
                    <a:moveTo>
                      <a:pt x="38" y="51"/>
                    </a:moveTo>
                    <a:cubicBezTo>
                      <a:pt x="88" y="51"/>
                      <a:pt x="88" y="51"/>
                      <a:pt x="88" y="51"/>
                    </a:cubicBezTo>
                    <a:cubicBezTo>
                      <a:pt x="90" y="51"/>
                      <a:pt x="92" y="49"/>
                      <a:pt x="92" y="46"/>
                    </a:cubicBezTo>
                    <a:cubicBezTo>
                      <a:pt x="92" y="44"/>
                      <a:pt x="90" y="42"/>
                      <a:pt x="88" y="42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5" y="42"/>
                      <a:pt x="33" y="44"/>
                      <a:pt x="33" y="46"/>
                    </a:cubicBezTo>
                    <a:cubicBezTo>
                      <a:pt x="33" y="49"/>
                      <a:pt x="35" y="51"/>
                      <a:pt x="38" y="51"/>
                    </a:cubicBezTo>
                    <a:close/>
                    <a:moveTo>
                      <a:pt x="38" y="76"/>
                    </a:moveTo>
                    <a:cubicBezTo>
                      <a:pt x="147" y="76"/>
                      <a:pt x="147" y="76"/>
                      <a:pt x="147" y="76"/>
                    </a:cubicBezTo>
                    <a:cubicBezTo>
                      <a:pt x="150" y="76"/>
                      <a:pt x="151" y="74"/>
                      <a:pt x="151" y="72"/>
                    </a:cubicBezTo>
                    <a:cubicBezTo>
                      <a:pt x="151" y="69"/>
                      <a:pt x="150" y="67"/>
                      <a:pt x="147" y="67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5" y="67"/>
                      <a:pt x="33" y="69"/>
                      <a:pt x="33" y="72"/>
                    </a:cubicBezTo>
                    <a:cubicBezTo>
                      <a:pt x="33" y="74"/>
                      <a:pt x="35" y="76"/>
                      <a:pt x="38" y="76"/>
                    </a:cubicBezTo>
                    <a:close/>
                    <a:moveTo>
                      <a:pt x="177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33" y="177"/>
                      <a:pt x="33" y="177"/>
                      <a:pt x="33" y="177"/>
                    </a:cubicBezTo>
                    <a:cubicBezTo>
                      <a:pt x="42" y="186"/>
                      <a:pt x="42" y="186"/>
                      <a:pt x="42" y="186"/>
                    </a:cubicBezTo>
                    <a:cubicBezTo>
                      <a:pt x="177" y="186"/>
                      <a:pt x="177" y="186"/>
                      <a:pt x="177" y="186"/>
                    </a:cubicBezTo>
                    <a:cubicBezTo>
                      <a:pt x="181" y="186"/>
                      <a:pt x="185" y="182"/>
                      <a:pt x="185" y="177"/>
                    </a:cubicBezTo>
                    <a:cubicBezTo>
                      <a:pt x="185" y="8"/>
                      <a:pt x="185" y="8"/>
                      <a:pt x="185" y="8"/>
                    </a:cubicBezTo>
                    <a:cubicBezTo>
                      <a:pt x="185" y="4"/>
                      <a:pt x="181" y="0"/>
                      <a:pt x="177" y="0"/>
                    </a:cubicBezTo>
                    <a:close/>
                    <a:moveTo>
                      <a:pt x="42" y="173"/>
                    </a:moveTo>
                    <a:cubicBezTo>
                      <a:pt x="12" y="143"/>
                      <a:pt x="12" y="143"/>
                      <a:pt x="12" y="143"/>
                    </a:cubicBezTo>
                    <a:cubicBezTo>
                      <a:pt x="42" y="143"/>
                      <a:pt x="42" y="143"/>
                      <a:pt x="42" y="143"/>
                    </a:cubicBezTo>
                    <a:lnTo>
                      <a:pt x="42" y="173"/>
                    </a:lnTo>
                    <a:close/>
                    <a:moveTo>
                      <a:pt x="177" y="177"/>
                    </a:moveTo>
                    <a:cubicBezTo>
                      <a:pt x="50" y="177"/>
                      <a:pt x="50" y="177"/>
                      <a:pt x="50" y="177"/>
                    </a:cubicBezTo>
                    <a:cubicBezTo>
                      <a:pt x="50" y="139"/>
                      <a:pt x="50" y="139"/>
                      <a:pt x="50" y="139"/>
                    </a:cubicBezTo>
                    <a:cubicBezTo>
                      <a:pt x="50" y="137"/>
                      <a:pt x="48" y="135"/>
                      <a:pt x="46" y="135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77" y="8"/>
                      <a:pt x="177" y="8"/>
                      <a:pt x="177" y="8"/>
                    </a:cubicBezTo>
                    <a:lnTo>
                      <a:pt x="177" y="177"/>
                    </a:lnTo>
                    <a:close/>
                    <a:moveTo>
                      <a:pt x="38" y="101"/>
                    </a:moveTo>
                    <a:cubicBezTo>
                      <a:pt x="122" y="101"/>
                      <a:pt x="122" y="101"/>
                      <a:pt x="122" y="101"/>
                    </a:cubicBezTo>
                    <a:cubicBezTo>
                      <a:pt x="124" y="101"/>
                      <a:pt x="126" y="99"/>
                      <a:pt x="126" y="97"/>
                    </a:cubicBezTo>
                    <a:cubicBezTo>
                      <a:pt x="126" y="95"/>
                      <a:pt x="124" y="93"/>
                      <a:pt x="122" y="93"/>
                    </a:cubicBezTo>
                    <a:cubicBezTo>
                      <a:pt x="38" y="93"/>
                      <a:pt x="38" y="93"/>
                      <a:pt x="38" y="93"/>
                    </a:cubicBezTo>
                    <a:cubicBezTo>
                      <a:pt x="35" y="93"/>
                      <a:pt x="33" y="95"/>
                      <a:pt x="33" y="97"/>
                    </a:cubicBezTo>
                    <a:cubicBezTo>
                      <a:pt x="33" y="99"/>
                      <a:pt x="35" y="101"/>
                      <a:pt x="38" y="101"/>
                    </a:cubicBezTo>
                    <a:close/>
                  </a:path>
                </a:pathLst>
              </a:custGeom>
              <a:solidFill>
                <a:srgbClr val="B2BBCA"/>
              </a:solidFill>
              <a:ln>
                <a:noFill/>
              </a:ln>
            </p:spPr>
            <p:txBody>
              <a:bodyPr vert="horz" wrap="square" lIns="34287" tIns="17143" rIns="34287" bIns="1714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75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89B31C8-2005-6110-9E90-15E94E5C2FC8}"/>
                </a:ext>
              </a:extLst>
            </p:cNvPr>
            <p:cNvGrpSpPr/>
            <p:nvPr/>
          </p:nvGrpSpPr>
          <p:grpSpPr>
            <a:xfrm>
              <a:off x="1153340" y="2437649"/>
              <a:ext cx="3373682" cy="895007"/>
              <a:chOff x="8841640" y="2433470"/>
              <a:chExt cx="6748145" cy="1790222"/>
            </a:xfrm>
          </p:grpSpPr>
          <p:sp>
            <p:nvSpPr>
              <p:cNvPr id="89" name="Rectangle: Rounded Corners 4">
                <a:extLst>
                  <a:ext uri="{FF2B5EF4-FFF2-40B4-BE49-F238E27FC236}">
                    <a16:creationId xmlns:a16="http://schemas.microsoft.com/office/drawing/2014/main" id="{3BF508B6-6F25-D690-1DC5-4A8239111965}"/>
                  </a:ext>
                </a:extLst>
              </p:cNvPr>
              <p:cNvSpPr/>
              <p:nvPr/>
            </p:nvSpPr>
            <p:spPr>
              <a:xfrm>
                <a:off x="8841640" y="2433470"/>
                <a:ext cx="6748145" cy="1790222"/>
              </a:xfrm>
              <a:prstGeom prst="roundRect">
                <a:avLst>
                  <a:gd name="adj" fmla="val 5838"/>
                </a:avLst>
              </a:prstGeom>
              <a:solidFill>
                <a:srgbClr val="5858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DE497A6-44FA-54D6-16F6-DB3365335016}"/>
                  </a:ext>
                </a:extLst>
              </p:cNvPr>
              <p:cNvSpPr/>
              <p:nvPr/>
            </p:nvSpPr>
            <p:spPr>
              <a:xfrm>
                <a:off x="9458692" y="2788581"/>
                <a:ext cx="1080000" cy="1080000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DECD8D6-A014-C52A-EA10-C4487A410457}"/>
                  </a:ext>
                </a:extLst>
              </p:cNvPr>
              <p:cNvSpPr txBox="1"/>
              <p:nvPr/>
            </p:nvSpPr>
            <p:spPr>
              <a:xfrm>
                <a:off x="11302889" y="3485256"/>
                <a:ext cx="3818489" cy="4703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/>
                <a:r>
                  <a:rPr lang="en-US" sz="10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EBITDA $53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B043805-3861-0E19-73FA-18DE55120938}"/>
                  </a:ext>
                </a:extLst>
              </p:cNvPr>
              <p:cNvSpPr txBox="1"/>
              <p:nvPr/>
            </p:nvSpPr>
            <p:spPr>
              <a:xfrm>
                <a:off x="11535780" y="2768331"/>
                <a:ext cx="3585598" cy="93659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EV $750</a:t>
                </a:r>
              </a:p>
            </p:txBody>
          </p:sp>
          <p:sp>
            <p:nvSpPr>
              <p:cNvPr id="93" name="Freeform 245">
                <a:extLst>
                  <a:ext uri="{FF2B5EF4-FFF2-40B4-BE49-F238E27FC236}">
                    <a16:creationId xmlns:a16="http://schemas.microsoft.com/office/drawing/2014/main" id="{22C7EEF8-0B19-4791-FBD1-6D3C48670F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740824" y="3089258"/>
                <a:ext cx="510504" cy="508993"/>
              </a:xfrm>
              <a:custGeom>
                <a:avLst/>
                <a:gdLst>
                  <a:gd name="T0" fmla="*/ 103 w 186"/>
                  <a:gd name="T1" fmla="*/ 88 h 185"/>
                  <a:gd name="T2" fmla="*/ 95 w 186"/>
                  <a:gd name="T3" fmla="*/ 65 h 185"/>
                  <a:gd name="T4" fmla="*/ 104 w 186"/>
                  <a:gd name="T5" fmla="*/ 75 h 185"/>
                  <a:gd name="T6" fmla="*/ 113 w 186"/>
                  <a:gd name="T7" fmla="*/ 67 h 185"/>
                  <a:gd name="T8" fmla="*/ 102 w 186"/>
                  <a:gd name="T9" fmla="*/ 58 h 185"/>
                  <a:gd name="T10" fmla="*/ 95 w 186"/>
                  <a:gd name="T11" fmla="*/ 50 h 185"/>
                  <a:gd name="T12" fmla="*/ 90 w 186"/>
                  <a:gd name="T13" fmla="*/ 56 h 185"/>
                  <a:gd name="T14" fmla="*/ 76 w 186"/>
                  <a:gd name="T15" fmla="*/ 61 h 185"/>
                  <a:gd name="T16" fmla="*/ 69 w 186"/>
                  <a:gd name="T17" fmla="*/ 75 h 185"/>
                  <a:gd name="T18" fmla="*/ 76 w 186"/>
                  <a:gd name="T19" fmla="*/ 90 h 185"/>
                  <a:gd name="T20" fmla="*/ 90 w 186"/>
                  <a:gd name="T21" fmla="*/ 96 h 185"/>
                  <a:gd name="T22" fmla="*/ 81 w 186"/>
                  <a:gd name="T23" fmla="*/ 116 h 185"/>
                  <a:gd name="T24" fmla="*/ 68 w 186"/>
                  <a:gd name="T25" fmla="*/ 106 h 185"/>
                  <a:gd name="T26" fmla="*/ 74 w 186"/>
                  <a:gd name="T27" fmla="*/ 122 h 185"/>
                  <a:gd name="T28" fmla="*/ 90 w 186"/>
                  <a:gd name="T29" fmla="*/ 128 h 185"/>
                  <a:gd name="T30" fmla="*/ 95 w 186"/>
                  <a:gd name="T31" fmla="*/ 134 h 185"/>
                  <a:gd name="T32" fmla="*/ 103 w 186"/>
                  <a:gd name="T33" fmla="*/ 126 h 185"/>
                  <a:gd name="T34" fmla="*/ 115 w 186"/>
                  <a:gd name="T35" fmla="*/ 116 h 185"/>
                  <a:gd name="T36" fmla="*/ 115 w 186"/>
                  <a:gd name="T37" fmla="*/ 98 h 185"/>
                  <a:gd name="T38" fmla="*/ 90 w 186"/>
                  <a:gd name="T39" fmla="*/ 84 h 185"/>
                  <a:gd name="T40" fmla="*/ 83 w 186"/>
                  <a:gd name="T41" fmla="*/ 81 h 185"/>
                  <a:gd name="T42" fmla="*/ 80 w 186"/>
                  <a:gd name="T43" fmla="*/ 74 h 185"/>
                  <a:gd name="T44" fmla="*/ 90 w 186"/>
                  <a:gd name="T45" fmla="*/ 65 h 185"/>
                  <a:gd name="T46" fmla="*/ 103 w 186"/>
                  <a:gd name="T47" fmla="*/ 116 h 185"/>
                  <a:gd name="T48" fmla="*/ 95 w 186"/>
                  <a:gd name="T49" fmla="*/ 97 h 185"/>
                  <a:gd name="T50" fmla="*/ 102 w 186"/>
                  <a:gd name="T51" fmla="*/ 100 h 185"/>
                  <a:gd name="T52" fmla="*/ 106 w 186"/>
                  <a:gd name="T53" fmla="*/ 108 h 185"/>
                  <a:gd name="T54" fmla="*/ 93 w 186"/>
                  <a:gd name="T55" fmla="*/ 0 h 185"/>
                  <a:gd name="T56" fmla="*/ 93 w 186"/>
                  <a:gd name="T57" fmla="*/ 185 h 185"/>
                  <a:gd name="T58" fmla="*/ 93 w 186"/>
                  <a:gd name="T59" fmla="*/ 0 h 185"/>
                  <a:gd name="T60" fmla="*/ 8 w 186"/>
                  <a:gd name="T61" fmla="*/ 92 h 185"/>
                  <a:gd name="T62" fmla="*/ 177 w 186"/>
                  <a:gd name="T63" fmla="*/ 9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6" h="185">
                    <a:moveTo>
                      <a:pt x="110" y="92"/>
                    </a:moveTo>
                    <a:cubicBezTo>
                      <a:pt x="108" y="90"/>
                      <a:pt x="105" y="89"/>
                      <a:pt x="103" y="88"/>
                    </a:cubicBezTo>
                    <a:cubicBezTo>
                      <a:pt x="100" y="87"/>
                      <a:pt x="98" y="86"/>
                      <a:pt x="95" y="85"/>
                    </a:cubicBezTo>
                    <a:cubicBezTo>
                      <a:pt x="95" y="65"/>
                      <a:pt x="95" y="65"/>
                      <a:pt x="95" y="65"/>
                    </a:cubicBezTo>
                    <a:cubicBezTo>
                      <a:pt x="99" y="65"/>
                      <a:pt x="100" y="66"/>
                      <a:pt x="102" y="68"/>
                    </a:cubicBezTo>
                    <a:cubicBezTo>
                      <a:pt x="103" y="69"/>
                      <a:pt x="104" y="72"/>
                      <a:pt x="104" y="75"/>
                    </a:cubicBezTo>
                    <a:cubicBezTo>
                      <a:pt x="115" y="75"/>
                      <a:pt x="115" y="75"/>
                      <a:pt x="115" y="75"/>
                    </a:cubicBezTo>
                    <a:cubicBezTo>
                      <a:pt x="115" y="72"/>
                      <a:pt x="114" y="69"/>
                      <a:pt x="113" y="67"/>
                    </a:cubicBezTo>
                    <a:cubicBezTo>
                      <a:pt x="112" y="64"/>
                      <a:pt x="111" y="63"/>
                      <a:pt x="109" y="61"/>
                    </a:cubicBezTo>
                    <a:cubicBezTo>
                      <a:pt x="107" y="59"/>
                      <a:pt x="105" y="58"/>
                      <a:pt x="102" y="58"/>
                    </a:cubicBezTo>
                    <a:cubicBezTo>
                      <a:pt x="100" y="57"/>
                      <a:pt x="98" y="56"/>
                      <a:pt x="95" y="56"/>
                    </a:cubicBezTo>
                    <a:cubicBezTo>
                      <a:pt x="95" y="50"/>
                      <a:pt x="95" y="50"/>
                      <a:pt x="95" y="50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6"/>
                      <a:pt x="90" y="56"/>
                      <a:pt x="90" y="56"/>
                    </a:cubicBezTo>
                    <a:cubicBezTo>
                      <a:pt x="87" y="56"/>
                      <a:pt x="85" y="57"/>
                      <a:pt x="82" y="58"/>
                    </a:cubicBezTo>
                    <a:cubicBezTo>
                      <a:pt x="80" y="58"/>
                      <a:pt x="78" y="60"/>
                      <a:pt x="76" y="61"/>
                    </a:cubicBezTo>
                    <a:cubicBezTo>
                      <a:pt x="74" y="63"/>
                      <a:pt x="72" y="65"/>
                      <a:pt x="71" y="67"/>
                    </a:cubicBezTo>
                    <a:cubicBezTo>
                      <a:pt x="70" y="69"/>
                      <a:pt x="69" y="72"/>
                      <a:pt x="69" y="75"/>
                    </a:cubicBezTo>
                    <a:cubicBezTo>
                      <a:pt x="69" y="79"/>
                      <a:pt x="70" y="82"/>
                      <a:pt x="71" y="84"/>
                    </a:cubicBezTo>
                    <a:cubicBezTo>
                      <a:pt x="72" y="86"/>
                      <a:pt x="74" y="88"/>
                      <a:pt x="76" y="90"/>
                    </a:cubicBezTo>
                    <a:cubicBezTo>
                      <a:pt x="78" y="91"/>
                      <a:pt x="80" y="93"/>
                      <a:pt x="83" y="94"/>
                    </a:cubicBezTo>
                    <a:cubicBezTo>
                      <a:pt x="85" y="95"/>
                      <a:pt x="87" y="95"/>
                      <a:pt x="90" y="96"/>
                    </a:cubicBezTo>
                    <a:cubicBezTo>
                      <a:pt x="90" y="119"/>
                      <a:pt x="90" y="119"/>
                      <a:pt x="90" y="119"/>
                    </a:cubicBezTo>
                    <a:cubicBezTo>
                      <a:pt x="85" y="119"/>
                      <a:pt x="83" y="118"/>
                      <a:pt x="81" y="116"/>
                    </a:cubicBezTo>
                    <a:cubicBezTo>
                      <a:pt x="79" y="113"/>
                      <a:pt x="78" y="110"/>
                      <a:pt x="79" y="106"/>
                    </a:cubicBezTo>
                    <a:cubicBezTo>
                      <a:pt x="68" y="106"/>
                      <a:pt x="68" y="106"/>
                      <a:pt x="68" y="106"/>
                    </a:cubicBezTo>
                    <a:cubicBezTo>
                      <a:pt x="68" y="109"/>
                      <a:pt x="68" y="112"/>
                      <a:pt x="69" y="115"/>
                    </a:cubicBezTo>
                    <a:cubicBezTo>
                      <a:pt x="71" y="118"/>
                      <a:pt x="72" y="120"/>
                      <a:pt x="74" y="122"/>
                    </a:cubicBezTo>
                    <a:cubicBezTo>
                      <a:pt x="76" y="124"/>
                      <a:pt x="78" y="125"/>
                      <a:pt x="81" y="126"/>
                    </a:cubicBezTo>
                    <a:cubicBezTo>
                      <a:pt x="84" y="127"/>
                      <a:pt x="86" y="128"/>
                      <a:pt x="90" y="128"/>
                    </a:cubicBezTo>
                    <a:cubicBezTo>
                      <a:pt x="90" y="134"/>
                      <a:pt x="90" y="134"/>
                      <a:pt x="90" y="134"/>
                    </a:cubicBezTo>
                    <a:cubicBezTo>
                      <a:pt x="95" y="134"/>
                      <a:pt x="95" y="134"/>
                      <a:pt x="95" y="134"/>
                    </a:cubicBezTo>
                    <a:cubicBezTo>
                      <a:pt x="95" y="128"/>
                      <a:pt x="95" y="128"/>
                      <a:pt x="95" y="128"/>
                    </a:cubicBezTo>
                    <a:cubicBezTo>
                      <a:pt x="98" y="128"/>
                      <a:pt x="100" y="127"/>
                      <a:pt x="103" y="126"/>
                    </a:cubicBezTo>
                    <a:cubicBezTo>
                      <a:pt x="106" y="125"/>
                      <a:pt x="108" y="124"/>
                      <a:pt x="110" y="122"/>
                    </a:cubicBezTo>
                    <a:cubicBezTo>
                      <a:pt x="112" y="121"/>
                      <a:pt x="114" y="118"/>
                      <a:pt x="115" y="116"/>
                    </a:cubicBezTo>
                    <a:cubicBezTo>
                      <a:pt x="116" y="113"/>
                      <a:pt x="116" y="110"/>
                      <a:pt x="116" y="106"/>
                    </a:cubicBezTo>
                    <a:cubicBezTo>
                      <a:pt x="116" y="103"/>
                      <a:pt x="116" y="100"/>
                      <a:pt x="115" y="98"/>
                    </a:cubicBezTo>
                    <a:cubicBezTo>
                      <a:pt x="113" y="95"/>
                      <a:pt x="112" y="93"/>
                      <a:pt x="110" y="92"/>
                    </a:cubicBezTo>
                    <a:close/>
                    <a:moveTo>
                      <a:pt x="90" y="84"/>
                    </a:moveTo>
                    <a:cubicBezTo>
                      <a:pt x="88" y="84"/>
                      <a:pt x="88" y="83"/>
                      <a:pt x="87" y="83"/>
                    </a:cubicBezTo>
                    <a:cubicBezTo>
                      <a:pt x="85" y="82"/>
                      <a:pt x="84" y="82"/>
                      <a:pt x="83" y="81"/>
                    </a:cubicBezTo>
                    <a:cubicBezTo>
                      <a:pt x="82" y="80"/>
                      <a:pt x="81" y="79"/>
                      <a:pt x="81" y="78"/>
                    </a:cubicBezTo>
                    <a:cubicBezTo>
                      <a:pt x="80" y="77"/>
                      <a:pt x="80" y="76"/>
                      <a:pt x="80" y="74"/>
                    </a:cubicBezTo>
                    <a:cubicBezTo>
                      <a:pt x="80" y="71"/>
                      <a:pt x="81" y="69"/>
                      <a:pt x="83" y="67"/>
                    </a:cubicBezTo>
                    <a:cubicBezTo>
                      <a:pt x="84" y="66"/>
                      <a:pt x="86" y="65"/>
                      <a:pt x="90" y="65"/>
                    </a:cubicBezTo>
                    <a:lnTo>
                      <a:pt x="90" y="84"/>
                    </a:lnTo>
                    <a:close/>
                    <a:moveTo>
                      <a:pt x="103" y="116"/>
                    </a:moveTo>
                    <a:cubicBezTo>
                      <a:pt x="100" y="118"/>
                      <a:pt x="99" y="119"/>
                      <a:pt x="95" y="119"/>
                    </a:cubicBezTo>
                    <a:cubicBezTo>
                      <a:pt x="95" y="97"/>
                      <a:pt x="95" y="97"/>
                      <a:pt x="95" y="97"/>
                    </a:cubicBezTo>
                    <a:cubicBezTo>
                      <a:pt x="97" y="97"/>
                      <a:pt x="97" y="98"/>
                      <a:pt x="99" y="98"/>
                    </a:cubicBezTo>
                    <a:cubicBezTo>
                      <a:pt x="100" y="99"/>
                      <a:pt x="101" y="100"/>
                      <a:pt x="102" y="100"/>
                    </a:cubicBezTo>
                    <a:cubicBezTo>
                      <a:pt x="103" y="101"/>
                      <a:pt x="104" y="102"/>
                      <a:pt x="105" y="103"/>
                    </a:cubicBezTo>
                    <a:cubicBezTo>
                      <a:pt x="105" y="105"/>
                      <a:pt x="106" y="106"/>
                      <a:pt x="106" y="108"/>
                    </a:cubicBezTo>
                    <a:cubicBezTo>
                      <a:pt x="106" y="112"/>
                      <a:pt x="105" y="115"/>
                      <a:pt x="103" y="116"/>
                    </a:cubicBezTo>
                    <a:close/>
                    <a:moveTo>
                      <a:pt x="93" y="0"/>
                    </a:moveTo>
                    <a:cubicBezTo>
                      <a:pt x="41" y="0"/>
                      <a:pt x="0" y="41"/>
                      <a:pt x="0" y="92"/>
                    </a:cubicBezTo>
                    <a:cubicBezTo>
                      <a:pt x="0" y="144"/>
                      <a:pt x="41" y="185"/>
                      <a:pt x="93" y="185"/>
                    </a:cubicBezTo>
                    <a:cubicBezTo>
                      <a:pt x="144" y="185"/>
                      <a:pt x="186" y="144"/>
                      <a:pt x="186" y="92"/>
                    </a:cubicBezTo>
                    <a:cubicBezTo>
                      <a:pt x="186" y="41"/>
                      <a:pt x="144" y="0"/>
                      <a:pt x="93" y="0"/>
                    </a:cubicBezTo>
                    <a:close/>
                    <a:moveTo>
                      <a:pt x="93" y="177"/>
                    </a:moveTo>
                    <a:cubicBezTo>
                      <a:pt x="46" y="177"/>
                      <a:pt x="8" y="139"/>
                      <a:pt x="8" y="92"/>
                    </a:cubicBezTo>
                    <a:cubicBezTo>
                      <a:pt x="8" y="46"/>
                      <a:pt x="46" y="8"/>
                      <a:pt x="93" y="8"/>
                    </a:cubicBezTo>
                    <a:cubicBezTo>
                      <a:pt x="139" y="8"/>
                      <a:pt x="177" y="46"/>
                      <a:pt x="177" y="92"/>
                    </a:cubicBezTo>
                    <a:cubicBezTo>
                      <a:pt x="177" y="139"/>
                      <a:pt x="139" y="177"/>
                      <a:pt x="93" y="177"/>
                    </a:cubicBezTo>
                    <a:close/>
                  </a:path>
                </a:pathLst>
              </a:custGeom>
              <a:solidFill>
                <a:srgbClr val="B2BBCA"/>
              </a:solidFill>
              <a:ln>
                <a:noFill/>
              </a:ln>
            </p:spPr>
            <p:txBody>
              <a:bodyPr vert="horz" wrap="square" lIns="34287" tIns="17143" rIns="34287" bIns="1714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75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9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0BC88244-E4A5-45A4-B083-83CE878825B6}" type="slidenum"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3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 the Work to Deliver the Value</a:t>
            </a:r>
            <a:endParaRPr lang="en-US" b="1" spc="-25">
              <a:solidFill>
                <a:srgbClr val="765FFF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6CE3120-89F2-2382-A4A3-B994E0C0B5C3}"/>
              </a:ext>
            </a:extLst>
          </p:cNvPr>
          <p:cNvSpPr/>
          <p:nvPr/>
        </p:nvSpPr>
        <p:spPr>
          <a:xfrm>
            <a:off x="7173159" y="2518459"/>
            <a:ext cx="2605661" cy="2642427"/>
          </a:xfrm>
          <a:prstGeom prst="ellipse">
            <a:avLst/>
          </a:prstGeom>
          <a:solidFill>
            <a:srgbClr val="281A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2962F9-A409-8E97-2B87-480A411A484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7" name="Rectangle: Rounded Corners 7">
              <a:extLst>
                <a:ext uri="{FF2B5EF4-FFF2-40B4-BE49-F238E27FC236}">
                  <a16:creationId xmlns:a16="http://schemas.microsoft.com/office/drawing/2014/main" id="{259B55FA-7ACB-8620-F4EC-74BC341AD55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: Rounded Corners 9">
              <a:extLst>
                <a:ext uri="{FF2B5EF4-FFF2-40B4-BE49-F238E27FC236}">
                  <a16:creationId xmlns:a16="http://schemas.microsoft.com/office/drawing/2014/main" id="{A70C09C0-F69D-D178-DBBD-4F398EF2A93F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 descr="Bend the Curve">
              <a:extLst>
                <a:ext uri="{FF2B5EF4-FFF2-40B4-BE49-F238E27FC236}">
                  <a16:creationId xmlns:a16="http://schemas.microsoft.com/office/drawing/2014/main" id="{322F3C11-01D3-F6D4-A28B-ECA7B0ADC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3736DC4-E3C6-53A0-2E0F-FE7E700CB3FD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4BC141C-4C6D-065E-9DED-29D3770F474D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2" name="Rectangle: Rounded Corners 13">
              <a:extLst>
                <a:ext uri="{FF2B5EF4-FFF2-40B4-BE49-F238E27FC236}">
                  <a16:creationId xmlns:a16="http://schemas.microsoft.com/office/drawing/2014/main" id="{CA1C1132-5438-FC5D-BD90-4ACE6B8F235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Rectangle: Rounded Corners 14">
              <a:extLst>
                <a:ext uri="{FF2B5EF4-FFF2-40B4-BE49-F238E27FC236}">
                  <a16:creationId xmlns:a16="http://schemas.microsoft.com/office/drawing/2014/main" id="{509B9246-87AC-A050-80F9-43506AC7D9F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8031D207-0667-3199-1572-F99EA2DA4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FFB52C1-9210-2089-EC11-10521A1E828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66FA6F1-5623-0DE9-5A12-90403BBDB29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7" name="Rectangle: Rounded Corners 18">
              <a:extLst>
                <a:ext uri="{FF2B5EF4-FFF2-40B4-BE49-F238E27FC236}">
                  <a16:creationId xmlns:a16="http://schemas.microsoft.com/office/drawing/2014/main" id="{502295D9-9BEE-3884-9860-9567FD01094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19">
              <a:extLst>
                <a:ext uri="{FF2B5EF4-FFF2-40B4-BE49-F238E27FC236}">
                  <a16:creationId xmlns:a16="http://schemas.microsoft.com/office/drawing/2014/main" id="{2047C6BA-6591-00C9-FD80-B1B90C6D7A9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06DE2D1-859E-47D0-C668-026A26307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045A4AD-AAF7-390E-C174-0524BF4A9B72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2479FF-A3B0-3B9B-7C7A-E506F67BA97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2" name="Rectangle: Rounded Corners 23">
              <a:extLst>
                <a:ext uri="{FF2B5EF4-FFF2-40B4-BE49-F238E27FC236}">
                  <a16:creationId xmlns:a16="http://schemas.microsoft.com/office/drawing/2014/main" id="{A1E182D4-3E45-D26B-8C79-DE0AED8C349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: Rounded Corners 24">
              <a:extLst>
                <a:ext uri="{FF2B5EF4-FFF2-40B4-BE49-F238E27FC236}">
                  <a16:creationId xmlns:a16="http://schemas.microsoft.com/office/drawing/2014/main" id="{D4745C10-AACC-1181-6DEA-09597291560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 descr="Choose">
              <a:extLst>
                <a:ext uri="{FF2B5EF4-FFF2-40B4-BE49-F238E27FC236}">
                  <a16:creationId xmlns:a16="http://schemas.microsoft.com/office/drawing/2014/main" id="{4CF6D777-11CA-DA88-2BB2-2CDC61869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C8447CD-03FD-F3B3-3258-1D33ABDB806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4CD3BFE-60A7-C854-ADC4-6A08E187DD8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7" name="Rectangle: Rounded Corners 28">
              <a:extLst>
                <a:ext uri="{FF2B5EF4-FFF2-40B4-BE49-F238E27FC236}">
                  <a16:creationId xmlns:a16="http://schemas.microsoft.com/office/drawing/2014/main" id="{94D7C93E-E843-5751-C8C9-BFD5D58BFAF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: Rounded Corners 29">
              <a:extLst>
                <a:ext uri="{FF2B5EF4-FFF2-40B4-BE49-F238E27FC236}">
                  <a16:creationId xmlns:a16="http://schemas.microsoft.com/office/drawing/2014/main" id="{6235F0DF-CC78-9CB0-B9AF-2C8802E2DCF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C804EEE9-F13D-1F7F-C077-363D2F9FE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82D17C4-38AE-996D-548C-227059C710D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08A8575-0C98-4ED2-2E8B-037E51765163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719233" y="1353081"/>
            <a:chExt cx="4512335" cy="50628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0596038-DC1E-63E3-53B3-EAABAF5F8FF2}"/>
                </a:ext>
              </a:extLst>
            </p:cNvPr>
            <p:cNvGrpSpPr/>
            <p:nvPr/>
          </p:nvGrpSpPr>
          <p:grpSpPr>
            <a:xfrm>
              <a:off x="719233" y="1353081"/>
              <a:ext cx="4512335" cy="5062831"/>
              <a:chOff x="845127" y="1203443"/>
              <a:chExt cx="3990109" cy="483546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CB901CE-CC64-E426-8B22-2328423A3D27}"/>
                  </a:ext>
                </a:extLst>
              </p:cNvPr>
              <p:cNvSpPr/>
              <p:nvPr/>
            </p:nvSpPr>
            <p:spPr>
              <a:xfrm>
                <a:off x="845127" y="1203443"/>
                <a:ext cx="3990109" cy="4835465"/>
              </a:xfrm>
              <a:prstGeom prst="rect">
                <a:avLst/>
              </a:prstGeom>
              <a:solidFill>
                <a:srgbClr val="D0D7DF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73BC1C6-7E6E-CD45-9965-CE65BEC64E23}"/>
                  </a:ext>
                </a:extLst>
              </p:cNvPr>
              <p:cNvGrpSpPr/>
              <p:nvPr/>
            </p:nvGrpSpPr>
            <p:grpSpPr>
              <a:xfrm>
                <a:off x="1153340" y="1421477"/>
                <a:ext cx="3373682" cy="895007"/>
                <a:chOff x="1777903" y="2433470"/>
                <a:chExt cx="6748145" cy="1790222"/>
              </a:xfrm>
            </p:grpSpPr>
            <p:sp>
              <p:nvSpPr>
                <p:cNvPr id="17" name="Rectangle: Rounded Corners 22">
                  <a:extLst>
                    <a:ext uri="{FF2B5EF4-FFF2-40B4-BE49-F238E27FC236}">
                      <a16:creationId xmlns:a16="http://schemas.microsoft.com/office/drawing/2014/main" id="{864B8464-843A-3C7A-D382-3FD205FC1F12}"/>
                    </a:ext>
                  </a:extLst>
                </p:cNvPr>
                <p:cNvSpPr/>
                <p:nvPr/>
              </p:nvSpPr>
              <p:spPr>
                <a:xfrm>
                  <a:off x="1777903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rgbClr val="5858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rgbClr val="F2F2F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C756F2E-4F36-A9B2-676A-A2EB48180263}"/>
                    </a:ext>
                  </a:extLst>
                </p:cNvPr>
                <p:cNvSpPr/>
                <p:nvPr/>
              </p:nvSpPr>
              <p:spPr>
                <a:xfrm>
                  <a:off x="2394955" y="2788581"/>
                  <a:ext cx="1080000" cy="1080000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787970E-B0EE-B4CB-691B-C9B016C75044}"/>
                    </a:ext>
                  </a:extLst>
                </p:cNvPr>
                <p:cNvSpPr txBox="1"/>
                <p:nvPr/>
              </p:nvSpPr>
              <p:spPr>
                <a:xfrm>
                  <a:off x="3474955" y="2647284"/>
                  <a:ext cx="4582688" cy="93659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M&amp;A</a:t>
                  </a:r>
                </a:p>
              </p:txBody>
            </p:sp>
            <p:sp>
              <p:nvSpPr>
                <p:cNvPr id="20" name="Freeform 73">
                  <a:extLst>
                    <a:ext uri="{FF2B5EF4-FFF2-40B4-BE49-F238E27FC236}">
                      <a16:creationId xmlns:a16="http://schemas.microsoft.com/office/drawing/2014/main" id="{2E20EB71-21C2-0335-11E6-35F889E1866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36996" y="3141290"/>
                  <a:ext cx="405177" cy="407581"/>
                </a:xfrm>
                <a:custGeom>
                  <a:avLst/>
                  <a:gdLst>
                    <a:gd name="T0" fmla="*/ 38 w 185"/>
                    <a:gd name="T1" fmla="*/ 51 h 186"/>
                    <a:gd name="T2" fmla="*/ 88 w 185"/>
                    <a:gd name="T3" fmla="*/ 51 h 186"/>
                    <a:gd name="T4" fmla="*/ 92 w 185"/>
                    <a:gd name="T5" fmla="*/ 46 h 186"/>
                    <a:gd name="T6" fmla="*/ 88 w 185"/>
                    <a:gd name="T7" fmla="*/ 42 h 186"/>
                    <a:gd name="T8" fmla="*/ 38 w 185"/>
                    <a:gd name="T9" fmla="*/ 42 h 186"/>
                    <a:gd name="T10" fmla="*/ 33 w 185"/>
                    <a:gd name="T11" fmla="*/ 46 h 186"/>
                    <a:gd name="T12" fmla="*/ 38 w 185"/>
                    <a:gd name="T13" fmla="*/ 51 h 186"/>
                    <a:gd name="T14" fmla="*/ 38 w 185"/>
                    <a:gd name="T15" fmla="*/ 76 h 186"/>
                    <a:gd name="T16" fmla="*/ 147 w 185"/>
                    <a:gd name="T17" fmla="*/ 76 h 186"/>
                    <a:gd name="T18" fmla="*/ 151 w 185"/>
                    <a:gd name="T19" fmla="*/ 72 h 186"/>
                    <a:gd name="T20" fmla="*/ 147 w 185"/>
                    <a:gd name="T21" fmla="*/ 67 h 186"/>
                    <a:gd name="T22" fmla="*/ 38 w 185"/>
                    <a:gd name="T23" fmla="*/ 67 h 186"/>
                    <a:gd name="T24" fmla="*/ 33 w 185"/>
                    <a:gd name="T25" fmla="*/ 72 h 186"/>
                    <a:gd name="T26" fmla="*/ 38 w 185"/>
                    <a:gd name="T27" fmla="*/ 76 h 186"/>
                    <a:gd name="T28" fmla="*/ 177 w 185"/>
                    <a:gd name="T29" fmla="*/ 0 h 186"/>
                    <a:gd name="T30" fmla="*/ 8 w 185"/>
                    <a:gd name="T31" fmla="*/ 0 h 186"/>
                    <a:gd name="T32" fmla="*/ 0 w 185"/>
                    <a:gd name="T33" fmla="*/ 8 h 186"/>
                    <a:gd name="T34" fmla="*/ 0 w 185"/>
                    <a:gd name="T35" fmla="*/ 143 h 186"/>
                    <a:gd name="T36" fmla="*/ 33 w 185"/>
                    <a:gd name="T37" fmla="*/ 177 h 186"/>
                    <a:gd name="T38" fmla="*/ 42 w 185"/>
                    <a:gd name="T39" fmla="*/ 186 h 186"/>
                    <a:gd name="T40" fmla="*/ 177 w 185"/>
                    <a:gd name="T41" fmla="*/ 186 h 186"/>
                    <a:gd name="T42" fmla="*/ 185 w 185"/>
                    <a:gd name="T43" fmla="*/ 177 h 186"/>
                    <a:gd name="T44" fmla="*/ 185 w 185"/>
                    <a:gd name="T45" fmla="*/ 8 h 186"/>
                    <a:gd name="T46" fmla="*/ 177 w 185"/>
                    <a:gd name="T47" fmla="*/ 0 h 186"/>
                    <a:gd name="T48" fmla="*/ 42 w 185"/>
                    <a:gd name="T49" fmla="*/ 173 h 186"/>
                    <a:gd name="T50" fmla="*/ 12 w 185"/>
                    <a:gd name="T51" fmla="*/ 143 h 186"/>
                    <a:gd name="T52" fmla="*/ 42 w 185"/>
                    <a:gd name="T53" fmla="*/ 143 h 186"/>
                    <a:gd name="T54" fmla="*/ 42 w 185"/>
                    <a:gd name="T55" fmla="*/ 173 h 186"/>
                    <a:gd name="T56" fmla="*/ 177 w 185"/>
                    <a:gd name="T57" fmla="*/ 177 h 186"/>
                    <a:gd name="T58" fmla="*/ 50 w 185"/>
                    <a:gd name="T59" fmla="*/ 177 h 186"/>
                    <a:gd name="T60" fmla="*/ 50 w 185"/>
                    <a:gd name="T61" fmla="*/ 139 h 186"/>
                    <a:gd name="T62" fmla="*/ 46 w 185"/>
                    <a:gd name="T63" fmla="*/ 135 h 186"/>
                    <a:gd name="T64" fmla="*/ 8 w 185"/>
                    <a:gd name="T65" fmla="*/ 135 h 186"/>
                    <a:gd name="T66" fmla="*/ 8 w 185"/>
                    <a:gd name="T67" fmla="*/ 8 h 186"/>
                    <a:gd name="T68" fmla="*/ 177 w 185"/>
                    <a:gd name="T69" fmla="*/ 8 h 186"/>
                    <a:gd name="T70" fmla="*/ 177 w 185"/>
                    <a:gd name="T71" fmla="*/ 177 h 186"/>
                    <a:gd name="T72" fmla="*/ 38 w 185"/>
                    <a:gd name="T73" fmla="*/ 101 h 186"/>
                    <a:gd name="T74" fmla="*/ 122 w 185"/>
                    <a:gd name="T75" fmla="*/ 101 h 186"/>
                    <a:gd name="T76" fmla="*/ 126 w 185"/>
                    <a:gd name="T77" fmla="*/ 97 h 186"/>
                    <a:gd name="T78" fmla="*/ 122 w 185"/>
                    <a:gd name="T79" fmla="*/ 93 h 186"/>
                    <a:gd name="T80" fmla="*/ 38 w 185"/>
                    <a:gd name="T81" fmla="*/ 93 h 186"/>
                    <a:gd name="T82" fmla="*/ 33 w 185"/>
                    <a:gd name="T83" fmla="*/ 97 h 186"/>
                    <a:gd name="T84" fmla="*/ 38 w 185"/>
                    <a:gd name="T85" fmla="*/ 101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85" h="186">
                      <a:moveTo>
                        <a:pt x="38" y="51"/>
                      </a:moveTo>
                      <a:cubicBezTo>
                        <a:pt x="88" y="51"/>
                        <a:pt x="88" y="51"/>
                        <a:pt x="88" y="51"/>
                      </a:cubicBezTo>
                      <a:cubicBezTo>
                        <a:pt x="90" y="51"/>
                        <a:pt x="92" y="49"/>
                        <a:pt x="92" y="46"/>
                      </a:cubicBezTo>
                      <a:cubicBezTo>
                        <a:pt x="92" y="44"/>
                        <a:pt x="90" y="42"/>
                        <a:pt x="88" y="42"/>
                      </a:cubicBezTo>
                      <a:cubicBezTo>
                        <a:pt x="38" y="42"/>
                        <a:pt x="38" y="42"/>
                        <a:pt x="38" y="42"/>
                      </a:cubicBezTo>
                      <a:cubicBezTo>
                        <a:pt x="35" y="42"/>
                        <a:pt x="33" y="44"/>
                        <a:pt x="33" y="46"/>
                      </a:cubicBezTo>
                      <a:cubicBezTo>
                        <a:pt x="33" y="49"/>
                        <a:pt x="35" y="51"/>
                        <a:pt x="38" y="51"/>
                      </a:cubicBezTo>
                      <a:close/>
                      <a:moveTo>
                        <a:pt x="38" y="76"/>
                      </a:moveTo>
                      <a:cubicBezTo>
                        <a:pt x="147" y="76"/>
                        <a:pt x="147" y="76"/>
                        <a:pt x="147" y="76"/>
                      </a:cubicBezTo>
                      <a:cubicBezTo>
                        <a:pt x="150" y="76"/>
                        <a:pt x="151" y="74"/>
                        <a:pt x="151" y="72"/>
                      </a:cubicBezTo>
                      <a:cubicBezTo>
                        <a:pt x="151" y="69"/>
                        <a:pt x="150" y="67"/>
                        <a:pt x="147" y="67"/>
                      </a:cubicBezTo>
                      <a:cubicBezTo>
                        <a:pt x="38" y="67"/>
                        <a:pt x="38" y="67"/>
                        <a:pt x="38" y="67"/>
                      </a:cubicBezTo>
                      <a:cubicBezTo>
                        <a:pt x="35" y="67"/>
                        <a:pt x="33" y="69"/>
                        <a:pt x="33" y="72"/>
                      </a:cubicBezTo>
                      <a:cubicBezTo>
                        <a:pt x="33" y="74"/>
                        <a:pt x="35" y="76"/>
                        <a:pt x="38" y="76"/>
                      </a:cubicBezTo>
                      <a:close/>
                      <a:moveTo>
                        <a:pt x="177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3" y="0"/>
                        <a:pt x="0" y="4"/>
                        <a:pt x="0" y="8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33" y="177"/>
                        <a:pt x="33" y="177"/>
                        <a:pt x="33" y="177"/>
                      </a:cubicBezTo>
                      <a:cubicBezTo>
                        <a:pt x="42" y="186"/>
                        <a:pt x="42" y="186"/>
                        <a:pt x="42" y="186"/>
                      </a:cubicBezTo>
                      <a:cubicBezTo>
                        <a:pt x="177" y="186"/>
                        <a:pt x="177" y="186"/>
                        <a:pt x="177" y="186"/>
                      </a:cubicBezTo>
                      <a:cubicBezTo>
                        <a:pt x="181" y="186"/>
                        <a:pt x="185" y="182"/>
                        <a:pt x="185" y="177"/>
                      </a:cubicBezTo>
                      <a:cubicBezTo>
                        <a:pt x="185" y="8"/>
                        <a:pt x="185" y="8"/>
                        <a:pt x="185" y="8"/>
                      </a:cubicBezTo>
                      <a:cubicBezTo>
                        <a:pt x="185" y="4"/>
                        <a:pt x="181" y="0"/>
                        <a:pt x="177" y="0"/>
                      </a:cubicBezTo>
                      <a:close/>
                      <a:moveTo>
                        <a:pt x="42" y="173"/>
                      </a:moveTo>
                      <a:cubicBezTo>
                        <a:pt x="12" y="143"/>
                        <a:pt x="12" y="143"/>
                        <a:pt x="12" y="143"/>
                      </a:cubicBezTo>
                      <a:cubicBezTo>
                        <a:pt x="42" y="143"/>
                        <a:pt x="42" y="143"/>
                        <a:pt x="42" y="143"/>
                      </a:cubicBezTo>
                      <a:lnTo>
                        <a:pt x="42" y="173"/>
                      </a:lnTo>
                      <a:close/>
                      <a:moveTo>
                        <a:pt x="177" y="177"/>
                      </a:moveTo>
                      <a:cubicBezTo>
                        <a:pt x="50" y="177"/>
                        <a:pt x="50" y="177"/>
                        <a:pt x="50" y="177"/>
                      </a:cubicBezTo>
                      <a:cubicBezTo>
                        <a:pt x="50" y="139"/>
                        <a:pt x="50" y="139"/>
                        <a:pt x="50" y="139"/>
                      </a:cubicBezTo>
                      <a:cubicBezTo>
                        <a:pt x="50" y="137"/>
                        <a:pt x="48" y="135"/>
                        <a:pt x="46" y="135"/>
                      </a:cubicBezTo>
                      <a:cubicBezTo>
                        <a:pt x="8" y="135"/>
                        <a:pt x="8" y="135"/>
                        <a:pt x="8" y="135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77" y="8"/>
                        <a:pt x="177" y="8"/>
                        <a:pt x="177" y="8"/>
                      </a:cubicBezTo>
                      <a:lnTo>
                        <a:pt x="177" y="177"/>
                      </a:lnTo>
                      <a:close/>
                      <a:moveTo>
                        <a:pt x="38" y="101"/>
                      </a:moveTo>
                      <a:cubicBezTo>
                        <a:pt x="122" y="101"/>
                        <a:pt x="122" y="101"/>
                        <a:pt x="122" y="101"/>
                      </a:cubicBezTo>
                      <a:cubicBezTo>
                        <a:pt x="124" y="101"/>
                        <a:pt x="126" y="99"/>
                        <a:pt x="126" y="97"/>
                      </a:cubicBezTo>
                      <a:cubicBezTo>
                        <a:pt x="126" y="95"/>
                        <a:pt x="124" y="93"/>
                        <a:pt x="122" y="93"/>
                      </a:cubicBezTo>
                      <a:cubicBezTo>
                        <a:pt x="38" y="93"/>
                        <a:pt x="38" y="93"/>
                        <a:pt x="38" y="93"/>
                      </a:cubicBezTo>
                      <a:cubicBezTo>
                        <a:pt x="35" y="93"/>
                        <a:pt x="33" y="95"/>
                        <a:pt x="33" y="97"/>
                      </a:cubicBezTo>
                      <a:cubicBezTo>
                        <a:pt x="33" y="99"/>
                        <a:pt x="35" y="101"/>
                        <a:pt x="38" y="101"/>
                      </a:cubicBezTo>
                      <a:close/>
                    </a:path>
                  </a:pathLst>
                </a:custGeom>
                <a:solidFill>
                  <a:srgbClr val="B2BBCA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EB66AB7-3639-42D5-BE65-91837EBED947}"/>
                  </a:ext>
                </a:extLst>
              </p:cNvPr>
              <p:cNvGrpSpPr/>
              <p:nvPr/>
            </p:nvGrpSpPr>
            <p:grpSpPr>
              <a:xfrm>
                <a:off x="1153340" y="2437649"/>
                <a:ext cx="3373682" cy="895007"/>
                <a:chOff x="8841640" y="2433470"/>
                <a:chExt cx="6748145" cy="1790222"/>
              </a:xfrm>
            </p:grpSpPr>
            <p:sp>
              <p:nvSpPr>
                <p:cNvPr id="12" name="Rectangle: Rounded Corners 4">
                  <a:extLst>
                    <a:ext uri="{FF2B5EF4-FFF2-40B4-BE49-F238E27FC236}">
                      <a16:creationId xmlns:a16="http://schemas.microsoft.com/office/drawing/2014/main" id="{D37F6D76-2DC1-AF78-8E50-069C8FD2A20A}"/>
                    </a:ext>
                  </a:extLst>
                </p:cNvPr>
                <p:cNvSpPr/>
                <p:nvPr/>
              </p:nvSpPr>
              <p:spPr>
                <a:xfrm>
                  <a:off x="8841640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rgbClr val="5858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rgbClr val="F2F2F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742A5B8-314F-8AA6-DA98-E7DD0094BF24}"/>
                    </a:ext>
                  </a:extLst>
                </p:cNvPr>
                <p:cNvSpPr/>
                <p:nvPr/>
              </p:nvSpPr>
              <p:spPr>
                <a:xfrm>
                  <a:off x="9458692" y="2788581"/>
                  <a:ext cx="1080000" cy="1080000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D1ECD0A-93FE-AB91-911B-63A813EE5912}"/>
                    </a:ext>
                  </a:extLst>
                </p:cNvPr>
                <p:cNvSpPr txBox="1"/>
                <p:nvPr/>
              </p:nvSpPr>
              <p:spPr>
                <a:xfrm>
                  <a:off x="11302889" y="3485256"/>
                  <a:ext cx="3818489" cy="47038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/>
                  <a:r>
                    <a:rPr lang="en-US" sz="1000" b="1" spc="-10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EBITDA $53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D29BE60-2A95-18F5-7209-1C4671E467EE}"/>
                    </a:ext>
                  </a:extLst>
                </p:cNvPr>
                <p:cNvSpPr txBox="1"/>
                <p:nvPr/>
              </p:nvSpPr>
              <p:spPr>
                <a:xfrm>
                  <a:off x="11535780" y="2768331"/>
                  <a:ext cx="3585598" cy="93659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EV $750</a:t>
                  </a:r>
                </a:p>
              </p:txBody>
            </p:sp>
            <p:sp>
              <p:nvSpPr>
                <p:cNvPr id="16" name="Freeform 245">
                  <a:extLst>
                    <a:ext uri="{FF2B5EF4-FFF2-40B4-BE49-F238E27FC236}">
                      <a16:creationId xmlns:a16="http://schemas.microsoft.com/office/drawing/2014/main" id="{D56DDFBB-B3BF-A363-031C-CE9F8DFBA30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824" y="3089258"/>
                  <a:ext cx="510504" cy="508993"/>
                </a:xfrm>
                <a:custGeom>
                  <a:avLst/>
                  <a:gdLst>
                    <a:gd name="T0" fmla="*/ 103 w 186"/>
                    <a:gd name="T1" fmla="*/ 88 h 185"/>
                    <a:gd name="T2" fmla="*/ 95 w 186"/>
                    <a:gd name="T3" fmla="*/ 65 h 185"/>
                    <a:gd name="T4" fmla="*/ 104 w 186"/>
                    <a:gd name="T5" fmla="*/ 75 h 185"/>
                    <a:gd name="T6" fmla="*/ 113 w 186"/>
                    <a:gd name="T7" fmla="*/ 67 h 185"/>
                    <a:gd name="T8" fmla="*/ 102 w 186"/>
                    <a:gd name="T9" fmla="*/ 58 h 185"/>
                    <a:gd name="T10" fmla="*/ 95 w 186"/>
                    <a:gd name="T11" fmla="*/ 50 h 185"/>
                    <a:gd name="T12" fmla="*/ 90 w 186"/>
                    <a:gd name="T13" fmla="*/ 56 h 185"/>
                    <a:gd name="T14" fmla="*/ 76 w 186"/>
                    <a:gd name="T15" fmla="*/ 61 h 185"/>
                    <a:gd name="T16" fmla="*/ 69 w 186"/>
                    <a:gd name="T17" fmla="*/ 75 h 185"/>
                    <a:gd name="T18" fmla="*/ 76 w 186"/>
                    <a:gd name="T19" fmla="*/ 90 h 185"/>
                    <a:gd name="T20" fmla="*/ 90 w 186"/>
                    <a:gd name="T21" fmla="*/ 96 h 185"/>
                    <a:gd name="T22" fmla="*/ 81 w 186"/>
                    <a:gd name="T23" fmla="*/ 116 h 185"/>
                    <a:gd name="T24" fmla="*/ 68 w 186"/>
                    <a:gd name="T25" fmla="*/ 106 h 185"/>
                    <a:gd name="T26" fmla="*/ 74 w 186"/>
                    <a:gd name="T27" fmla="*/ 122 h 185"/>
                    <a:gd name="T28" fmla="*/ 90 w 186"/>
                    <a:gd name="T29" fmla="*/ 128 h 185"/>
                    <a:gd name="T30" fmla="*/ 95 w 186"/>
                    <a:gd name="T31" fmla="*/ 134 h 185"/>
                    <a:gd name="T32" fmla="*/ 103 w 186"/>
                    <a:gd name="T33" fmla="*/ 126 h 185"/>
                    <a:gd name="T34" fmla="*/ 115 w 186"/>
                    <a:gd name="T35" fmla="*/ 116 h 185"/>
                    <a:gd name="T36" fmla="*/ 115 w 186"/>
                    <a:gd name="T37" fmla="*/ 98 h 185"/>
                    <a:gd name="T38" fmla="*/ 90 w 186"/>
                    <a:gd name="T39" fmla="*/ 84 h 185"/>
                    <a:gd name="T40" fmla="*/ 83 w 186"/>
                    <a:gd name="T41" fmla="*/ 81 h 185"/>
                    <a:gd name="T42" fmla="*/ 80 w 186"/>
                    <a:gd name="T43" fmla="*/ 74 h 185"/>
                    <a:gd name="T44" fmla="*/ 90 w 186"/>
                    <a:gd name="T45" fmla="*/ 65 h 185"/>
                    <a:gd name="T46" fmla="*/ 103 w 186"/>
                    <a:gd name="T47" fmla="*/ 116 h 185"/>
                    <a:gd name="T48" fmla="*/ 95 w 186"/>
                    <a:gd name="T49" fmla="*/ 97 h 185"/>
                    <a:gd name="T50" fmla="*/ 102 w 186"/>
                    <a:gd name="T51" fmla="*/ 100 h 185"/>
                    <a:gd name="T52" fmla="*/ 106 w 186"/>
                    <a:gd name="T53" fmla="*/ 108 h 185"/>
                    <a:gd name="T54" fmla="*/ 93 w 186"/>
                    <a:gd name="T55" fmla="*/ 0 h 185"/>
                    <a:gd name="T56" fmla="*/ 93 w 186"/>
                    <a:gd name="T57" fmla="*/ 185 h 185"/>
                    <a:gd name="T58" fmla="*/ 93 w 186"/>
                    <a:gd name="T59" fmla="*/ 0 h 185"/>
                    <a:gd name="T60" fmla="*/ 8 w 186"/>
                    <a:gd name="T61" fmla="*/ 92 h 185"/>
                    <a:gd name="T62" fmla="*/ 177 w 186"/>
                    <a:gd name="T63" fmla="*/ 92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86" h="185">
                      <a:moveTo>
                        <a:pt x="110" y="92"/>
                      </a:moveTo>
                      <a:cubicBezTo>
                        <a:pt x="108" y="90"/>
                        <a:pt x="105" y="89"/>
                        <a:pt x="103" y="88"/>
                      </a:cubicBezTo>
                      <a:cubicBezTo>
                        <a:pt x="100" y="87"/>
                        <a:pt x="98" y="86"/>
                        <a:pt x="95" y="85"/>
                      </a:cubicBezTo>
                      <a:cubicBezTo>
                        <a:pt x="95" y="65"/>
                        <a:pt x="95" y="65"/>
                        <a:pt x="95" y="65"/>
                      </a:cubicBezTo>
                      <a:cubicBezTo>
                        <a:pt x="99" y="65"/>
                        <a:pt x="100" y="66"/>
                        <a:pt x="102" y="68"/>
                      </a:cubicBezTo>
                      <a:cubicBezTo>
                        <a:pt x="103" y="69"/>
                        <a:pt x="104" y="72"/>
                        <a:pt x="104" y="75"/>
                      </a:cubicBezTo>
                      <a:cubicBezTo>
                        <a:pt x="115" y="75"/>
                        <a:pt x="115" y="75"/>
                        <a:pt x="115" y="75"/>
                      </a:cubicBezTo>
                      <a:cubicBezTo>
                        <a:pt x="115" y="72"/>
                        <a:pt x="114" y="69"/>
                        <a:pt x="113" y="67"/>
                      </a:cubicBezTo>
                      <a:cubicBezTo>
                        <a:pt x="112" y="64"/>
                        <a:pt x="111" y="63"/>
                        <a:pt x="109" y="61"/>
                      </a:cubicBezTo>
                      <a:cubicBezTo>
                        <a:pt x="107" y="59"/>
                        <a:pt x="105" y="58"/>
                        <a:pt x="102" y="58"/>
                      </a:cubicBezTo>
                      <a:cubicBezTo>
                        <a:pt x="100" y="57"/>
                        <a:pt x="98" y="56"/>
                        <a:pt x="95" y="56"/>
                      </a:cubicBezTo>
                      <a:cubicBezTo>
                        <a:pt x="95" y="50"/>
                        <a:pt x="95" y="50"/>
                        <a:pt x="95" y="50"/>
                      </a:cubicBezTo>
                      <a:cubicBezTo>
                        <a:pt x="90" y="50"/>
                        <a:pt x="90" y="50"/>
                        <a:pt x="90" y="50"/>
                      </a:cubicBezTo>
                      <a:cubicBezTo>
                        <a:pt x="90" y="56"/>
                        <a:pt x="90" y="56"/>
                        <a:pt x="90" y="56"/>
                      </a:cubicBezTo>
                      <a:cubicBezTo>
                        <a:pt x="87" y="56"/>
                        <a:pt x="85" y="57"/>
                        <a:pt x="82" y="58"/>
                      </a:cubicBezTo>
                      <a:cubicBezTo>
                        <a:pt x="80" y="58"/>
                        <a:pt x="78" y="60"/>
                        <a:pt x="76" y="61"/>
                      </a:cubicBezTo>
                      <a:cubicBezTo>
                        <a:pt x="74" y="63"/>
                        <a:pt x="72" y="65"/>
                        <a:pt x="71" y="67"/>
                      </a:cubicBezTo>
                      <a:cubicBezTo>
                        <a:pt x="70" y="69"/>
                        <a:pt x="69" y="72"/>
                        <a:pt x="69" y="75"/>
                      </a:cubicBezTo>
                      <a:cubicBezTo>
                        <a:pt x="69" y="79"/>
                        <a:pt x="70" y="82"/>
                        <a:pt x="71" y="84"/>
                      </a:cubicBezTo>
                      <a:cubicBezTo>
                        <a:pt x="72" y="86"/>
                        <a:pt x="74" y="88"/>
                        <a:pt x="76" y="90"/>
                      </a:cubicBezTo>
                      <a:cubicBezTo>
                        <a:pt x="78" y="91"/>
                        <a:pt x="80" y="93"/>
                        <a:pt x="83" y="94"/>
                      </a:cubicBezTo>
                      <a:cubicBezTo>
                        <a:pt x="85" y="95"/>
                        <a:pt x="87" y="95"/>
                        <a:pt x="90" y="96"/>
                      </a:cubicBez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5" y="119"/>
                        <a:pt x="83" y="118"/>
                        <a:pt x="81" y="116"/>
                      </a:cubicBezTo>
                      <a:cubicBezTo>
                        <a:pt x="79" y="113"/>
                        <a:pt x="78" y="110"/>
                        <a:pt x="79" y="106"/>
                      </a:cubicBezTo>
                      <a:cubicBezTo>
                        <a:pt x="68" y="106"/>
                        <a:pt x="68" y="106"/>
                        <a:pt x="68" y="106"/>
                      </a:cubicBezTo>
                      <a:cubicBezTo>
                        <a:pt x="68" y="109"/>
                        <a:pt x="68" y="112"/>
                        <a:pt x="69" y="115"/>
                      </a:cubicBezTo>
                      <a:cubicBezTo>
                        <a:pt x="71" y="118"/>
                        <a:pt x="72" y="120"/>
                        <a:pt x="74" y="122"/>
                      </a:cubicBezTo>
                      <a:cubicBezTo>
                        <a:pt x="76" y="124"/>
                        <a:pt x="78" y="125"/>
                        <a:pt x="81" y="126"/>
                      </a:cubicBezTo>
                      <a:cubicBezTo>
                        <a:pt x="84" y="127"/>
                        <a:pt x="86" y="128"/>
                        <a:pt x="90" y="128"/>
                      </a:cubicBezTo>
                      <a:cubicBezTo>
                        <a:pt x="90" y="134"/>
                        <a:pt x="90" y="134"/>
                        <a:pt x="90" y="134"/>
                      </a:cubicBezTo>
                      <a:cubicBezTo>
                        <a:pt x="95" y="134"/>
                        <a:pt x="95" y="134"/>
                        <a:pt x="95" y="134"/>
                      </a:cubicBezTo>
                      <a:cubicBezTo>
                        <a:pt x="95" y="128"/>
                        <a:pt x="95" y="128"/>
                        <a:pt x="95" y="128"/>
                      </a:cubicBezTo>
                      <a:cubicBezTo>
                        <a:pt x="98" y="128"/>
                        <a:pt x="100" y="127"/>
                        <a:pt x="103" y="126"/>
                      </a:cubicBezTo>
                      <a:cubicBezTo>
                        <a:pt x="106" y="125"/>
                        <a:pt x="108" y="124"/>
                        <a:pt x="110" y="122"/>
                      </a:cubicBezTo>
                      <a:cubicBezTo>
                        <a:pt x="112" y="121"/>
                        <a:pt x="114" y="118"/>
                        <a:pt x="115" y="116"/>
                      </a:cubicBezTo>
                      <a:cubicBezTo>
                        <a:pt x="116" y="113"/>
                        <a:pt x="116" y="110"/>
                        <a:pt x="116" y="106"/>
                      </a:cubicBezTo>
                      <a:cubicBezTo>
                        <a:pt x="116" y="103"/>
                        <a:pt x="116" y="100"/>
                        <a:pt x="115" y="98"/>
                      </a:cubicBezTo>
                      <a:cubicBezTo>
                        <a:pt x="113" y="95"/>
                        <a:pt x="112" y="93"/>
                        <a:pt x="110" y="92"/>
                      </a:cubicBezTo>
                      <a:close/>
                      <a:moveTo>
                        <a:pt x="90" y="84"/>
                      </a:moveTo>
                      <a:cubicBezTo>
                        <a:pt x="88" y="84"/>
                        <a:pt x="88" y="83"/>
                        <a:pt x="87" y="83"/>
                      </a:cubicBezTo>
                      <a:cubicBezTo>
                        <a:pt x="85" y="82"/>
                        <a:pt x="84" y="82"/>
                        <a:pt x="83" y="81"/>
                      </a:cubicBezTo>
                      <a:cubicBezTo>
                        <a:pt x="82" y="80"/>
                        <a:pt x="81" y="79"/>
                        <a:pt x="81" y="78"/>
                      </a:cubicBezTo>
                      <a:cubicBezTo>
                        <a:pt x="80" y="77"/>
                        <a:pt x="80" y="76"/>
                        <a:pt x="80" y="74"/>
                      </a:cubicBezTo>
                      <a:cubicBezTo>
                        <a:pt x="80" y="71"/>
                        <a:pt x="81" y="69"/>
                        <a:pt x="83" y="67"/>
                      </a:cubicBezTo>
                      <a:cubicBezTo>
                        <a:pt x="84" y="66"/>
                        <a:pt x="86" y="65"/>
                        <a:pt x="90" y="65"/>
                      </a:cubicBezTo>
                      <a:lnTo>
                        <a:pt x="90" y="84"/>
                      </a:lnTo>
                      <a:close/>
                      <a:moveTo>
                        <a:pt x="103" y="116"/>
                      </a:moveTo>
                      <a:cubicBezTo>
                        <a:pt x="100" y="118"/>
                        <a:pt x="99" y="119"/>
                        <a:pt x="95" y="119"/>
                      </a:cubicBezTo>
                      <a:cubicBezTo>
                        <a:pt x="95" y="97"/>
                        <a:pt x="95" y="97"/>
                        <a:pt x="95" y="97"/>
                      </a:cubicBezTo>
                      <a:cubicBezTo>
                        <a:pt x="97" y="97"/>
                        <a:pt x="97" y="98"/>
                        <a:pt x="99" y="98"/>
                      </a:cubicBezTo>
                      <a:cubicBezTo>
                        <a:pt x="100" y="99"/>
                        <a:pt x="101" y="100"/>
                        <a:pt x="102" y="100"/>
                      </a:cubicBezTo>
                      <a:cubicBezTo>
                        <a:pt x="103" y="101"/>
                        <a:pt x="104" y="102"/>
                        <a:pt x="105" y="103"/>
                      </a:cubicBezTo>
                      <a:cubicBezTo>
                        <a:pt x="105" y="105"/>
                        <a:pt x="106" y="106"/>
                        <a:pt x="106" y="108"/>
                      </a:cubicBezTo>
                      <a:cubicBezTo>
                        <a:pt x="106" y="112"/>
                        <a:pt x="105" y="115"/>
                        <a:pt x="103" y="116"/>
                      </a:cubicBezTo>
                      <a:close/>
                      <a:moveTo>
                        <a:pt x="93" y="0"/>
                      </a:moveTo>
                      <a:cubicBezTo>
                        <a:pt x="41" y="0"/>
                        <a:pt x="0" y="41"/>
                        <a:pt x="0" y="92"/>
                      </a:cubicBezTo>
                      <a:cubicBezTo>
                        <a:pt x="0" y="144"/>
                        <a:pt x="41" y="185"/>
                        <a:pt x="93" y="185"/>
                      </a:cubicBezTo>
                      <a:cubicBezTo>
                        <a:pt x="144" y="185"/>
                        <a:pt x="186" y="144"/>
                        <a:pt x="186" y="92"/>
                      </a:cubicBezTo>
                      <a:cubicBezTo>
                        <a:pt x="186" y="41"/>
                        <a:pt x="144" y="0"/>
                        <a:pt x="93" y="0"/>
                      </a:cubicBezTo>
                      <a:close/>
                      <a:moveTo>
                        <a:pt x="93" y="177"/>
                      </a:moveTo>
                      <a:cubicBezTo>
                        <a:pt x="46" y="177"/>
                        <a:pt x="8" y="139"/>
                        <a:pt x="8" y="92"/>
                      </a:cubicBezTo>
                      <a:cubicBezTo>
                        <a:pt x="8" y="46"/>
                        <a:pt x="46" y="8"/>
                        <a:pt x="93" y="8"/>
                      </a:cubicBezTo>
                      <a:cubicBezTo>
                        <a:pt x="139" y="8"/>
                        <a:pt x="177" y="46"/>
                        <a:pt x="177" y="92"/>
                      </a:cubicBezTo>
                      <a:cubicBezTo>
                        <a:pt x="177" y="139"/>
                        <a:pt x="139" y="177"/>
                        <a:pt x="93" y="177"/>
                      </a:cubicBezTo>
                      <a:close/>
                    </a:path>
                  </a:pathLst>
                </a:custGeom>
                <a:solidFill>
                  <a:srgbClr val="B2BBCA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D8A627-7DB6-B309-46FE-7DAB52D46BA9}"/>
                </a:ext>
              </a:extLst>
            </p:cNvPr>
            <p:cNvSpPr/>
            <p:nvPr/>
          </p:nvSpPr>
          <p:spPr>
            <a:xfrm>
              <a:off x="1059073" y="3768292"/>
              <a:ext cx="3391703" cy="313637"/>
            </a:xfrm>
            <a:prstGeom prst="rect">
              <a:avLst/>
            </a:prstGeom>
            <a:noFill/>
            <a:ln w="190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999" tIns="0" rIns="0" bIns="0" rtlCol="0" anchor="ctr"/>
            <a:lstStyle/>
            <a:p>
              <a:r>
                <a:rPr lang="en-GB" sz="1351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IDENTIFY THE WORK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B87CE0-F28A-0FB0-F880-351B428C0537}"/>
                </a:ext>
              </a:extLst>
            </p:cNvPr>
            <p:cNvSpPr txBox="1"/>
            <p:nvPr/>
          </p:nvSpPr>
          <p:spPr>
            <a:xfrm>
              <a:off x="955250" y="4163836"/>
              <a:ext cx="4129421" cy="169934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Double the deal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volume from 3 to 6 deals p.a.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Build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three-team approach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Outbound – Insource the team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Diligence &amp; Deal Making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Integration &amp; Synergy Extraction</a:t>
              </a:r>
            </a:p>
            <a:p>
              <a:pPr lvl="1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Rigorous,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repeatable processes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for executing 2X deal volume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7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6D31C42C-259C-4232-B376-107B6527FF2D}" type="slidenum">
              <a:r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3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C5704F-F94B-8558-2243-B448023DCD7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What Is the Pivotal Work?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7033F0-61F8-AB98-349C-87917A63082D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B645DD9E-5945-2F77-FA57-11579050003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9">
              <a:extLst>
                <a:ext uri="{FF2B5EF4-FFF2-40B4-BE49-F238E27FC236}">
                  <a16:creationId xmlns:a16="http://schemas.microsoft.com/office/drawing/2014/main" id="{D6FAD1C4-7E32-D3CE-2EB1-3D1D3B065BD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 descr="Bend the Curve">
              <a:extLst>
                <a:ext uri="{FF2B5EF4-FFF2-40B4-BE49-F238E27FC236}">
                  <a16:creationId xmlns:a16="http://schemas.microsoft.com/office/drawing/2014/main" id="{5DF9559B-2EAE-B178-E9DB-EEC3A6F95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37616AC-376B-F1D7-8868-9C934FEC3C01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9A287DC-6A99-2A53-45E4-CA5B73B8E00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78" name="Rectangle: Rounded Corners 13">
              <a:extLst>
                <a:ext uri="{FF2B5EF4-FFF2-40B4-BE49-F238E27FC236}">
                  <a16:creationId xmlns:a16="http://schemas.microsoft.com/office/drawing/2014/main" id="{F1240680-0151-B8AD-0881-0FCD61208A2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Rectangle: Rounded Corners 14">
              <a:extLst>
                <a:ext uri="{FF2B5EF4-FFF2-40B4-BE49-F238E27FC236}">
                  <a16:creationId xmlns:a16="http://schemas.microsoft.com/office/drawing/2014/main" id="{C2715004-D952-291D-9AD7-9B81193146B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40F51CC-07F8-A594-2191-D3F29DF20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CAB5EF2-FD2F-48B5-7154-360F8064484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37F885F-7357-373B-3F25-A506084DBA0E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83" name="Rectangle: Rounded Corners 18">
              <a:extLst>
                <a:ext uri="{FF2B5EF4-FFF2-40B4-BE49-F238E27FC236}">
                  <a16:creationId xmlns:a16="http://schemas.microsoft.com/office/drawing/2014/main" id="{B5B8CBDF-2003-2552-A4CF-C6D7CB7DCAD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" name="Rectangle: Rounded Corners 19">
              <a:extLst>
                <a:ext uri="{FF2B5EF4-FFF2-40B4-BE49-F238E27FC236}">
                  <a16:creationId xmlns:a16="http://schemas.microsoft.com/office/drawing/2014/main" id="{D16DD506-E4C9-6B9E-ABFF-5E3EF935A40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708491A-9B17-DB7A-6000-EA1059958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C6460DC-16AB-478B-0FB2-B36D11FE5FD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9460C79-B37E-2810-4CCA-C4170A810083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88" name="Rectangle: Rounded Corners 23">
              <a:extLst>
                <a:ext uri="{FF2B5EF4-FFF2-40B4-BE49-F238E27FC236}">
                  <a16:creationId xmlns:a16="http://schemas.microsoft.com/office/drawing/2014/main" id="{FA1DCAB5-FF6C-42A1-E20C-32B983F2F45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" name="Rectangle: Rounded Corners 24">
              <a:extLst>
                <a:ext uri="{FF2B5EF4-FFF2-40B4-BE49-F238E27FC236}">
                  <a16:creationId xmlns:a16="http://schemas.microsoft.com/office/drawing/2014/main" id="{96AF8916-41FE-043C-C574-FCCFD4497B3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0" name="Picture 89" descr="Choose">
              <a:extLst>
                <a:ext uri="{FF2B5EF4-FFF2-40B4-BE49-F238E27FC236}">
                  <a16:creationId xmlns:a16="http://schemas.microsoft.com/office/drawing/2014/main" id="{34E7DD7C-08E8-295F-182D-DC068EA38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971A9A3-B908-BD39-7DAA-15E7CED3F2F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1FF1B02-0BAB-3534-4053-A3A7EADCAD0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93" name="Rectangle: Rounded Corners 28">
              <a:extLst>
                <a:ext uri="{FF2B5EF4-FFF2-40B4-BE49-F238E27FC236}">
                  <a16:creationId xmlns:a16="http://schemas.microsoft.com/office/drawing/2014/main" id="{C3376B7A-575E-162B-3E6D-8D93C4CF8E9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4" name="Rectangle: Rounded Corners 29">
              <a:extLst>
                <a:ext uri="{FF2B5EF4-FFF2-40B4-BE49-F238E27FC236}">
                  <a16:creationId xmlns:a16="http://schemas.microsoft.com/office/drawing/2014/main" id="{209DE376-E7CD-DD9D-F68F-D3BF8FCFF7B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755DE1C7-4C6E-AE30-950F-03D918A81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BBF8B74-73EA-6EE2-561F-0DDB72510F6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51" name="Rectangle: Rounded Corners 7">
            <a:extLst>
              <a:ext uri="{FF2B5EF4-FFF2-40B4-BE49-F238E27FC236}">
                <a16:creationId xmlns:a16="http://schemas.microsoft.com/office/drawing/2014/main" id="{7D7E88C4-9E80-F43F-8EFA-FAA92ED2EEF1}"/>
              </a:ext>
            </a:extLst>
          </p:cNvPr>
          <p:cNvSpPr/>
          <p:nvPr/>
        </p:nvSpPr>
        <p:spPr>
          <a:xfrm>
            <a:off x="7344251" y="1703914"/>
            <a:ext cx="4380227" cy="603375"/>
          </a:xfrm>
          <a:prstGeom prst="roundRect">
            <a:avLst/>
          </a:prstGeom>
          <a:solidFill>
            <a:srgbClr val="281A42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defRPr>
                <a:solidFill>
                  <a:srgbClr val="FFFFFF"/>
                </a:solidFill>
              </a:defRPr>
            </a:pPr>
            <a:r>
              <a:rPr lang="en-US" sz="1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for Hair Care</a:t>
            </a:r>
          </a:p>
        </p:txBody>
      </p:sp>
      <p:sp>
        <p:nvSpPr>
          <p:cNvPr id="52" name="Rectangle: Rounded Corners 7">
            <a:extLst>
              <a:ext uri="{FF2B5EF4-FFF2-40B4-BE49-F238E27FC236}">
                <a16:creationId xmlns:a16="http://schemas.microsoft.com/office/drawing/2014/main" id="{AEFA4970-C743-3986-1699-F31762FC9A1E}"/>
              </a:ext>
            </a:extLst>
          </p:cNvPr>
          <p:cNvSpPr/>
          <p:nvPr/>
        </p:nvSpPr>
        <p:spPr>
          <a:xfrm>
            <a:off x="7691491" y="2387414"/>
            <a:ext cx="4038583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Turbocharge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growth in emerging markets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20-25% while maintaining momentum in NA and Europe</a:t>
            </a:r>
          </a:p>
        </p:txBody>
      </p:sp>
      <p:sp>
        <p:nvSpPr>
          <p:cNvPr id="53" name="Rectangle: Rounded Corners 7">
            <a:extLst>
              <a:ext uri="{FF2B5EF4-FFF2-40B4-BE49-F238E27FC236}">
                <a16:creationId xmlns:a16="http://schemas.microsoft.com/office/drawing/2014/main" id="{DFB48B2C-333A-0D72-FB40-6FD05C58687F}"/>
              </a:ext>
            </a:extLst>
          </p:cNvPr>
          <p:cNvSpPr/>
          <p:nvPr/>
        </p:nvSpPr>
        <p:spPr>
          <a:xfrm>
            <a:off x="7691490" y="3112291"/>
            <a:ext cx="4038583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global adjacencies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Hair Removal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Gel Products and Mousse</a:t>
            </a:r>
          </a:p>
        </p:txBody>
      </p:sp>
      <p:sp>
        <p:nvSpPr>
          <p:cNvPr id="54" name="Rectangle: Rounded Corners 7">
            <a:extLst>
              <a:ext uri="{FF2B5EF4-FFF2-40B4-BE49-F238E27FC236}">
                <a16:creationId xmlns:a16="http://schemas.microsoft.com/office/drawing/2014/main" id="{AA75476D-C043-AAAC-00B6-CB2C50753743}"/>
              </a:ext>
            </a:extLst>
          </p:cNvPr>
          <p:cNvSpPr/>
          <p:nvPr/>
        </p:nvSpPr>
        <p:spPr>
          <a:xfrm>
            <a:off x="7691488" y="3837168"/>
            <a:ext cx="4038583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a SMB and Retail Only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focus on building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capabilities in Big-Box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and Non-Commercial business</a:t>
            </a:r>
          </a:p>
        </p:txBody>
      </p:sp>
      <p:sp>
        <p:nvSpPr>
          <p:cNvPr id="55" name="Rectangle: Rounded Corners 7">
            <a:extLst>
              <a:ext uri="{FF2B5EF4-FFF2-40B4-BE49-F238E27FC236}">
                <a16:creationId xmlns:a16="http://schemas.microsoft.com/office/drawing/2014/main" id="{F47B9673-F589-0161-37AF-05A76E472B06}"/>
              </a:ext>
            </a:extLst>
          </p:cNvPr>
          <p:cNvSpPr/>
          <p:nvPr/>
        </p:nvSpPr>
        <p:spPr>
          <a:xfrm>
            <a:off x="7691488" y="4562045"/>
            <a:ext cx="4038583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Build capabilities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support an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Innovation-driven portfolio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, that can be manufactured in smaller batches, with faster turns, and an agile supply chain.</a:t>
            </a:r>
          </a:p>
        </p:txBody>
      </p:sp>
      <p:sp>
        <p:nvSpPr>
          <p:cNvPr id="56" name="Rectangle: Rounded Corners 7">
            <a:extLst>
              <a:ext uri="{FF2B5EF4-FFF2-40B4-BE49-F238E27FC236}">
                <a16:creationId xmlns:a16="http://schemas.microsoft.com/office/drawing/2014/main" id="{AD3CE152-B9DA-D829-32C0-929DCA1CB5CC}"/>
              </a:ext>
            </a:extLst>
          </p:cNvPr>
          <p:cNvSpPr/>
          <p:nvPr/>
        </p:nvSpPr>
        <p:spPr>
          <a:xfrm>
            <a:off x="7691487" y="5286920"/>
            <a:ext cx="4038583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Scale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with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North American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customers (e.g., </a:t>
            </a:r>
            <a:r>
              <a:rPr lang="en-US" sz="1200" spc="-10" err="1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WholeFoods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as they grow globally</a:t>
            </a:r>
          </a:p>
        </p:txBody>
      </p:sp>
      <p:sp>
        <p:nvSpPr>
          <p:cNvPr id="57" name="Rectangle: Rounded Corners 7">
            <a:extLst>
              <a:ext uri="{FF2B5EF4-FFF2-40B4-BE49-F238E27FC236}">
                <a16:creationId xmlns:a16="http://schemas.microsoft.com/office/drawing/2014/main" id="{4F500407-AAD6-8059-82E2-9D86D2692F6D}"/>
              </a:ext>
            </a:extLst>
          </p:cNvPr>
          <p:cNvSpPr/>
          <p:nvPr/>
        </p:nvSpPr>
        <p:spPr>
          <a:xfrm>
            <a:off x="7344251" y="2387414"/>
            <a:ext cx="298814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58" name="Rectangle: Rounded Corners 7">
            <a:extLst>
              <a:ext uri="{FF2B5EF4-FFF2-40B4-BE49-F238E27FC236}">
                <a16:creationId xmlns:a16="http://schemas.microsoft.com/office/drawing/2014/main" id="{8F3291BC-5B82-657B-DACF-4387F6DF98CA}"/>
              </a:ext>
            </a:extLst>
          </p:cNvPr>
          <p:cNvSpPr/>
          <p:nvPr/>
        </p:nvSpPr>
        <p:spPr>
          <a:xfrm>
            <a:off x="7344251" y="3112291"/>
            <a:ext cx="298814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59" name="Rectangle: Rounded Corners 7">
            <a:extLst>
              <a:ext uri="{FF2B5EF4-FFF2-40B4-BE49-F238E27FC236}">
                <a16:creationId xmlns:a16="http://schemas.microsoft.com/office/drawing/2014/main" id="{12CD9E6E-0D0A-4A44-2316-156FF6E6AD03}"/>
              </a:ext>
            </a:extLst>
          </p:cNvPr>
          <p:cNvSpPr/>
          <p:nvPr/>
        </p:nvSpPr>
        <p:spPr>
          <a:xfrm>
            <a:off x="7344608" y="3837168"/>
            <a:ext cx="298814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60" name="Rectangle: Rounded Corners 7">
            <a:extLst>
              <a:ext uri="{FF2B5EF4-FFF2-40B4-BE49-F238E27FC236}">
                <a16:creationId xmlns:a16="http://schemas.microsoft.com/office/drawing/2014/main" id="{E694899B-BE84-255D-861D-888409095A05}"/>
              </a:ext>
            </a:extLst>
          </p:cNvPr>
          <p:cNvSpPr/>
          <p:nvPr/>
        </p:nvSpPr>
        <p:spPr>
          <a:xfrm>
            <a:off x="7344608" y="4562045"/>
            <a:ext cx="298814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61" name="Rectangle: Rounded Corners 7">
            <a:extLst>
              <a:ext uri="{FF2B5EF4-FFF2-40B4-BE49-F238E27FC236}">
                <a16:creationId xmlns:a16="http://schemas.microsoft.com/office/drawing/2014/main" id="{C0B2827B-9244-8A9C-2912-039BEE71B069}"/>
              </a:ext>
            </a:extLst>
          </p:cNvPr>
          <p:cNvSpPr/>
          <p:nvPr/>
        </p:nvSpPr>
        <p:spPr>
          <a:xfrm>
            <a:off x="7344251" y="5286920"/>
            <a:ext cx="298814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599EA-711D-9661-5C67-0A0D5C57209D}"/>
              </a:ext>
            </a:extLst>
          </p:cNvPr>
          <p:cNvGrpSpPr/>
          <p:nvPr/>
        </p:nvGrpSpPr>
        <p:grpSpPr>
          <a:xfrm>
            <a:off x="248225" y="1207714"/>
            <a:ext cx="7096025" cy="4906410"/>
            <a:chOff x="248225" y="1207714"/>
            <a:chExt cx="7096025" cy="4906410"/>
          </a:xfrm>
        </p:grpSpPr>
        <p:sp>
          <p:nvSpPr>
            <p:cNvPr id="36" name="Trapezoid 35">
              <a:extLst>
                <a:ext uri="{FF2B5EF4-FFF2-40B4-BE49-F238E27FC236}">
                  <a16:creationId xmlns:a16="http://schemas.microsoft.com/office/drawing/2014/main" id="{AEFDA765-0B03-DC7E-8A05-1438D7326ECB}"/>
                </a:ext>
              </a:extLst>
            </p:cNvPr>
            <p:cNvSpPr/>
            <p:nvPr/>
          </p:nvSpPr>
          <p:spPr>
            <a:xfrm rot="5400000">
              <a:off x="4919872" y="3290968"/>
              <a:ext cx="3960615" cy="563280"/>
            </a:xfrm>
            <a:prstGeom prst="trapezoid">
              <a:avLst>
                <a:gd name="adj" fmla="val 429621"/>
              </a:avLst>
            </a:prstGeom>
            <a:gradFill>
              <a:gsLst>
                <a:gs pos="72000">
                  <a:srgbClr val="F2F2F2"/>
                </a:gs>
                <a:gs pos="20000">
                  <a:srgbClr val="F2F2F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50" name="Connector: Elbow 13">
              <a:extLst>
                <a:ext uri="{FF2B5EF4-FFF2-40B4-BE49-F238E27FC236}">
                  <a16:creationId xmlns:a16="http://schemas.microsoft.com/office/drawing/2014/main" id="{7C8EED3B-DC2F-8122-2E07-566832CA0C86}"/>
                </a:ext>
              </a:extLst>
            </p:cNvPr>
            <p:cNvCxnSpPr>
              <a:cxnSpLocks/>
              <a:stCxn id="49" idx="0"/>
              <a:endCxn id="51" idx="1"/>
            </p:cNvCxnSpPr>
            <p:nvPr/>
          </p:nvCxnSpPr>
          <p:spPr>
            <a:xfrm rot="5400000" flipH="1" flipV="1">
              <a:off x="4191032" y="191946"/>
              <a:ext cx="1339562" cy="4966875"/>
            </a:xfrm>
            <a:prstGeom prst="bentConnector2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CBA9C5B-8220-1D85-1B40-33A8057BBE27}"/>
                </a:ext>
              </a:extLst>
            </p:cNvPr>
            <p:cNvGrpSpPr/>
            <p:nvPr/>
          </p:nvGrpSpPr>
          <p:grpSpPr>
            <a:xfrm>
              <a:off x="248225" y="1207714"/>
              <a:ext cx="6671657" cy="4906410"/>
              <a:chOff x="1269954" y="372379"/>
              <a:chExt cx="8144457" cy="598952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F67D8588-3D25-AE27-6E44-CC4FB8B89829}"/>
                  </a:ext>
                </a:extLst>
              </p:cNvPr>
              <p:cNvGrpSpPr/>
              <p:nvPr/>
            </p:nvGrpSpPr>
            <p:grpSpPr>
              <a:xfrm>
                <a:off x="1269954" y="372379"/>
                <a:ext cx="8128000" cy="5989525"/>
                <a:chOff x="1081531" y="371507"/>
                <a:chExt cx="8128000" cy="5989525"/>
              </a:xfrm>
            </p:grpSpPr>
            <mc:AlternateContent xmlns:mc="http://schemas.openxmlformats.org/markup-compatibility/2006" xmlns:cx1="http://schemas.microsoft.com/office/drawing/2015/9/8/chartex">
              <mc:Choice Requires="cx1">
                <p:graphicFrame>
                  <p:nvGraphicFramePr>
                    <p:cNvPr id="98" name="Chart 97">
                      <a:extLst>
                        <a:ext uri="{FF2B5EF4-FFF2-40B4-BE49-F238E27FC236}">
                          <a16:creationId xmlns:a16="http://schemas.microsoft.com/office/drawing/2014/main" id="{4E8C7490-593C-A19B-9D02-BABBB47B121F}"/>
                        </a:ext>
                      </a:extLst>
                    </p:cNvPr>
                    <p:cNvGraphicFramePr/>
                    <p:nvPr>
                      <p:extLst>
                        <p:ext uri="{D42A27DB-BD31-4B8C-83A1-F6EECF244321}">
                          <p14:modId xmlns:p14="http://schemas.microsoft.com/office/powerpoint/2010/main" val="2564326539"/>
                        </p:ext>
                      </p:extLst>
                    </p:nvPr>
                  </p:nvGraphicFramePr>
                  <p:xfrm>
                    <a:off x="1081531" y="371507"/>
                    <a:ext cx="8128000" cy="5418667"/>
                  </p:xfrm>
                  <a:graphic>
                    <a:graphicData uri="http://schemas.microsoft.com/office/drawing/2014/chartex">
                      <cx:chart xmlns:cx="http://schemas.microsoft.com/office/drawing/2014/chartex" xmlns:r="http://schemas.openxmlformats.org/officeDocument/2006/relationships" r:id="rId7"/>
                    </a:graphicData>
                  </a:graphic>
                </p:graphicFrame>
              </mc:Choice>
              <mc:Fallback xmlns="">
                <p:pic>
                  <p:nvPicPr>
                    <p:cNvPr id="98" name="Chart 97">
                      <a:extLst>
                        <a:ext uri="{FF2B5EF4-FFF2-40B4-BE49-F238E27FC236}">
                          <a16:creationId xmlns:a16="http://schemas.microsoft.com/office/drawing/2014/main" id="{4E8C7490-593C-A19B-9D02-BABBB47B12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/>
                    </p:cNvPicPr>
                    <p:nvPr/>
                  </p:nvPicPr>
                  <p:blipFill>
                    <a:blip r:embed="rId8">
                      <a:duotone>
                        <a:srgbClr val="765FFF"/>
                        <a:srgbClr val="FFFFFF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248225" y="1207714"/>
                      <a:ext cx="6658176" cy="4438783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2918D3BE-4016-6BFC-5C10-FC1400911D27}"/>
                    </a:ext>
                  </a:extLst>
                </p:cNvPr>
                <p:cNvSpPr txBox="1"/>
                <p:nvPr/>
              </p:nvSpPr>
              <p:spPr>
                <a:xfrm>
                  <a:off x="1145796" y="4217852"/>
                  <a:ext cx="806064" cy="29301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-1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 pitchFamily="34" charset="0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24,000</a:t>
                  </a:r>
                  <a:endParaRPr kumimoji="0" lang="en-SG" sz="9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F623350-E5B5-793B-D877-5B103A56B92D}"/>
                    </a:ext>
                  </a:extLst>
                </p:cNvPr>
                <p:cNvSpPr txBox="1"/>
                <p:nvPr/>
              </p:nvSpPr>
              <p:spPr>
                <a:xfrm>
                  <a:off x="8357809" y="993362"/>
                  <a:ext cx="770299" cy="27173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b="1" spc="-25">
                      <a:latin typeface="Segoe UI" pitchFamily="34" charset="0"/>
                    </a:defRPr>
                  </a:pPr>
                  <a:r>
                    <a:rPr kumimoji="0" lang="en-US" sz="900" b="1" i="0" u="none" strike="noStrike" kern="1200" cap="none" spc="-25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 pitchFamily="34" charset="0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28000</a:t>
                  </a:r>
                  <a:endParaRPr kumimoji="0" lang="en-SG" sz="900" b="1" i="0" u="none" strike="noStrike" kern="1200" cap="none" spc="-25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cxnSp>
              <p:nvCxnSpPr>
                <p:cNvPr id="101" name="Straight Arrow Connector 100">
                  <a:extLst>
                    <a:ext uri="{FF2B5EF4-FFF2-40B4-BE49-F238E27FC236}">
                      <a16:creationId xmlns:a16="http://schemas.microsoft.com/office/drawing/2014/main" id="{DAA6A486-B9B5-CFA1-563E-2941357C295B}"/>
                    </a:ext>
                  </a:extLst>
                </p:cNvPr>
                <p:cNvCxnSpPr/>
                <p:nvPr/>
              </p:nvCxnSpPr>
              <p:spPr>
                <a:xfrm>
                  <a:off x="2064859" y="6210973"/>
                  <a:ext cx="1066313" cy="0"/>
                </a:xfrm>
                <a:prstGeom prst="straightConnector1">
                  <a:avLst/>
                </a:prstGeom>
                <a:ln w="28575">
                  <a:solidFill>
                    <a:srgbClr val="281A4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8A7579D2-E984-B9D4-196E-06F8AFEB6F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77244" y="6205530"/>
                  <a:ext cx="1809300" cy="0"/>
                </a:xfrm>
                <a:prstGeom prst="straightConnector1">
                  <a:avLst/>
                </a:prstGeom>
                <a:ln w="28575">
                  <a:solidFill>
                    <a:srgbClr val="281A4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C833F15C-1D56-96A9-1C06-DC32789AF6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57919" y="6205530"/>
                  <a:ext cx="1892853" cy="0"/>
                </a:xfrm>
                <a:prstGeom prst="straightConnector1">
                  <a:avLst/>
                </a:prstGeom>
                <a:ln w="28575">
                  <a:solidFill>
                    <a:srgbClr val="281A4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9255F18E-9B42-EA6D-2F95-8B71648A8E93}"/>
                    </a:ext>
                  </a:extLst>
                </p:cNvPr>
                <p:cNvSpPr txBox="1"/>
                <p:nvPr/>
              </p:nvSpPr>
              <p:spPr>
                <a:xfrm>
                  <a:off x="2138884" y="6041123"/>
                  <a:ext cx="910280" cy="319909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>
                      <a:solidFill>
                        <a:srgbClr val="1D1D1D"/>
                      </a:solidFill>
                    </a:defRPr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MARKETS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43BC1823-4988-8300-6026-8069ACC3CF3D}"/>
                    </a:ext>
                  </a:extLst>
                </p:cNvPr>
                <p:cNvSpPr txBox="1"/>
                <p:nvPr/>
              </p:nvSpPr>
              <p:spPr>
                <a:xfrm>
                  <a:off x="3769771" y="6049969"/>
                  <a:ext cx="1185472" cy="237990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>
                      <a:solidFill>
                        <a:srgbClr val="1D1D1D"/>
                      </a:solidFill>
                    </a:defRPr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 CATEGORY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DB229E4-AF71-3D2F-12DB-8061D32FF5FF}"/>
                    </a:ext>
                  </a:extLst>
                </p:cNvPr>
                <p:cNvSpPr txBox="1"/>
                <p:nvPr/>
              </p:nvSpPr>
              <p:spPr>
                <a:xfrm>
                  <a:off x="6032723" y="6061246"/>
                  <a:ext cx="1145138" cy="299453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>
                      <a:solidFill>
                        <a:srgbClr val="1D1D1D"/>
                      </a:solidFill>
                    </a:defRPr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NEW SPACES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DD3F50C9-DB7F-F84F-3DD5-BC5385655475}"/>
                    </a:ext>
                  </a:extLst>
                </p:cNvPr>
                <p:cNvSpPr txBox="1"/>
                <p:nvPr/>
              </p:nvSpPr>
              <p:spPr>
                <a:xfrm>
                  <a:off x="2784677" y="1003596"/>
                  <a:ext cx="3096572" cy="30461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b="1" spc="-25">
                      <a:latin typeface="Segoe UI" pitchFamily="34" charset="0"/>
                    </a:defRPr>
                  </a:pPr>
                  <a:r>
                    <a:rPr kumimoji="0" lang="en-US" sz="1200" b="1" i="0" u="none" strike="noStrike" kern="1200" cap="none" spc="-25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 pitchFamily="34" charset="0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85% of Net Revenue (</a:t>
                  </a:r>
                  <a:r>
                    <a:rPr kumimoji="0" lang="en-US" sz="1200" b="1" i="0" u="none" strike="noStrike" kern="0" cap="none" spc="-25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 pitchFamily="34" charset="0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$</a:t>
                  </a:r>
                  <a:r>
                    <a:rPr kumimoji="0" lang="en-US" sz="1200" b="1" i="0" u="none" strike="noStrike" kern="0" cap="none" spc="-25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 pitchFamily="34" charset="0"/>
                      <a:ea typeface="+mn-ea"/>
                      <a:cs typeface="Arial"/>
                      <a:sym typeface="Arial"/>
                    </a:rPr>
                    <a:t> Mn.)</a:t>
                  </a:r>
                  <a:endParaRPr kumimoji="0" lang="en-SG" sz="1200" b="1" i="0" u="none" strike="noStrike" kern="1200" cap="none" spc="-25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BAD0A8D0-FCFD-91CE-BCF1-6F6B75654155}"/>
                    </a:ext>
                  </a:extLst>
                </p:cNvPr>
                <p:cNvCxnSpPr/>
                <p:nvPr/>
              </p:nvCxnSpPr>
              <p:spPr>
                <a:xfrm>
                  <a:off x="1506614" y="1270121"/>
                  <a:ext cx="0" cy="3049012"/>
                </a:xfrm>
                <a:prstGeom prst="line">
                  <a:avLst/>
                </a:prstGeom>
                <a:ln>
                  <a:solidFill>
                    <a:srgbClr val="281A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BEB68FEC-F513-49BE-61C2-1A4A201891E5}"/>
                    </a:ext>
                  </a:extLst>
                </p:cNvPr>
                <p:cNvCxnSpPr/>
                <p:nvPr/>
              </p:nvCxnSpPr>
              <p:spPr>
                <a:xfrm>
                  <a:off x="1506615" y="1208752"/>
                  <a:ext cx="1380345" cy="0"/>
                </a:xfrm>
                <a:prstGeom prst="line">
                  <a:avLst/>
                </a:prstGeom>
                <a:ln>
                  <a:solidFill>
                    <a:srgbClr val="281A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BF32991F-0C58-FDA0-536C-28C051BE4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39929" y="1196860"/>
                  <a:ext cx="1587296" cy="0"/>
                </a:xfrm>
                <a:prstGeom prst="line">
                  <a:avLst/>
                </a:prstGeom>
                <a:ln>
                  <a:solidFill>
                    <a:srgbClr val="281A42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0B4B50FA-7C65-CC2E-CC9C-A44FB652A4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7225" y="1248002"/>
                  <a:ext cx="0" cy="423805"/>
                </a:xfrm>
                <a:prstGeom prst="line">
                  <a:avLst/>
                </a:prstGeom>
                <a:ln>
                  <a:solidFill>
                    <a:srgbClr val="281A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730F52F-03B0-4342-7E13-6023CA75F85B}"/>
                  </a:ext>
                </a:extLst>
              </p:cNvPr>
              <p:cNvSpPr txBox="1"/>
              <p:nvPr/>
            </p:nvSpPr>
            <p:spPr>
              <a:xfrm>
                <a:off x="2046306" y="5409265"/>
                <a:ext cx="1085605" cy="466901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Region X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VITAMINS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1D67233-0454-9EB4-EB4F-3136904C4E5A}"/>
                  </a:ext>
                </a:extLst>
              </p:cNvPr>
              <p:cNvSpPr txBox="1"/>
              <p:nvPr/>
            </p:nvSpPr>
            <p:spPr>
              <a:xfrm>
                <a:off x="3002143" y="5393881"/>
                <a:ext cx="463691" cy="265088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NA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7AD5CA7-BFB9-4BA8-141E-21C724DA9730}"/>
                  </a:ext>
                </a:extLst>
              </p:cNvPr>
              <p:cNvSpPr txBox="1"/>
              <p:nvPr/>
            </p:nvSpPr>
            <p:spPr>
              <a:xfrm>
                <a:off x="3626958" y="5407705"/>
                <a:ext cx="762000" cy="280668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HAIR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CARE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E676659-EF70-F0D6-7045-18E5879CDC5D}"/>
                  </a:ext>
                </a:extLst>
              </p:cNvPr>
              <p:cNvSpPr txBox="1"/>
              <p:nvPr/>
            </p:nvSpPr>
            <p:spPr>
              <a:xfrm>
                <a:off x="4139560" y="5407705"/>
                <a:ext cx="1135328" cy="290896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GROOMING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4DD050F-ECE6-758E-BCAD-73CF78AF19ED}"/>
                  </a:ext>
                </a:extLst>
              </p:cNvPr>
              <p:cNvSpPr txBox="1"/>
              <p:nvPr/>
            </p:nvSpPr>
            <p:spPr>
              <a:xfrm>
                <a:off x="7973648" y="5407462"/>
                <a:ext cx="770536" cy="316596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OTHER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34EFC8B-278D-B18F-6395-F7BB3B73DE92}"/>
                  </a:ext>
                </a:extLst>
              </p:cNvPr>
              <p:cNvSpPr txBox="1"/>
              <p:nvPr/>
            </p:nvSpPr>
            <p:spPr>
              <a:xfrm>
                <a:off x="7433790" y="5408681"/>
                <a:ext cx="627663" cy="369907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 anchor="t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Lato"/>
                    <a:cs typeface="Lato Light"/>
                    <a:sym typeface="Arial"/>
                  </a:rPr>
                  <a:t>DEV.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lang="en-US" sz="800" b="1" spc="-10">
                    <a:solidFill>
                      <a:srgbClr val="1D1D1D"/>
                    </a:solidFill>
                    <a:latin typeface="Segoe UI" pitchFamily="34" charset="0"/>
                    <a:ea typeface="Lato"/>
                    <a:cs typeface="Lato Light"/>
                    <a:sym typeface="Arial"/>
                  </a:rPr>
                  <a:t>MKT</a:t>
                </a:r>
                <a:endParaRPr lang="en-US" sz="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/>
                  <a:cs typeface="Lato Light" panose="020F0402020204030203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2FFCA0D-5F01-2EB4-6718-1123A8F41A26}"/>
                  </a:ext>
                </a:extLst>
              </p:cNvPr>
              <p:cNvSpPr txBox="1"/>
              <p:nvPr/>
            </p:nvSpPr>
            <p:spPr>
              <a:xfrm>
                <a:off x="6570168" y="5408041"/>
                <a:ext cx="862587" cy="466901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PRO-GO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4F90E50-289B-9798-0254-9D907299CE9A}"/>
                  </a:ext>
                </a:extLst>
              </p:cNvPr>
              <p:cNvSpPr txBox="1"/>
              <p:nvPr/>
            </p:nvSpPr>
            <p:spPr>
              <a:xfrm>
                <a:off x="5782391" y="5395916"/>
                <a:ext cx="874509" cy="280668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DIGITAL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9F48945-7B3C-35FA-4793-EBA84086C603}"/>
                  </a:ext>
                </a:extLst>
              </p:cNvPr>
              <p:cNvSpPr txBox="1"/>
              <p:nvPr/>
            </p:nvSpPr>
            <p:spPr>
              <a:xfrm>
                <a:off x="1379743" y="5426821"/>
                <a:ext cx="678481" cy="246579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2020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A3C1318-D7BD-6C46-0199-744A3CF59101}"/>
                  </a:ext>
                </a:extLst>
              </p:cNvPr>
              <p:cNvSpPr txBox="1"/>
              <p:nvPr/>
            </p:nvSpPr>
            <p:spPr>
              <a:xfrm>
                <a:off x="8725702" y="5385909"/>
                <a:ext cx="688709" cy="256807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2025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4C0DAB4-3B65-985F-5F33-C525B9502D37}"/>
                  </a:ext>
                </a:extLst>
              </p:cNvPr>
              <p:cNvSpPr txBox="1"/>
              <p:nvPr/>
            </p:nvSpPr>
            <p:spPr>
              <a:xfrm>
                <a:off x="5143665" y="5406144"/>
                <a:ext cx="762000" cy="280668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SKIN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1D1D1D"/>
                    </a:solidFill>
                  </a:defRPr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CARE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FC64FB5-4122-E686-BBB0-2602FF3F4165}"/>
                </a:ext>
              </a:extLst>
            </p:cNvPr>
            <p:cNvSpPr/>
            <p:nvPr/>
          </p:nvSpPr>
          <p:spPr>
            <a:xfrm>
              <a:off x="2032455" y="3345164"/>
              <a:ext cx="689842" cy="2506731"/>
            </a:xfrm>
            <a:prstGeom prst="rect">
              <a:avLst/>
            </a:prstGeom>
            <a:noFill/>
            <a:ln w="28575">
              <a:solidFill>
                <a:srgbClr val="281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0CC218-6EB8-E364-B128-584932729BBA}"/>
                </a:ext>
              </a:extLst>
            </p:cNvPr>
            <p:cNvSpPr txBox="1"/>
            <p:nvPr/>
          </p:nvSpPr>
          <p:spPr>
            <a:xfrm>
              <a:off x="371850" y="5307449"/>
              <a:ext cx="498855" cy="276999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sz="1200" b="1">
                  <a:solidFill>
                    <a:srgbClr val="1D1D1D"/>
                  </a:solidFill>
                </a:rPr>
                <a:t>2025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0F8449-A4AF-2F99-C265-4FE55E5DC3DD}"/>
                </a:ext>
              </a:extLst>
            </p:cNvPr>
            <p:cNvSpPr txBox="1"/>
            <p:nvPr/>
          </p:nvSpPr>
          <p:spPr>
            <a:xfrm>
              <a:off x="6273947" y="5322496"/>
              <a:ext cx="498855" cy="276999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sz="1200" b="1">
                  <a:solidFill>
                    <a:srgbClr val="1D1D1D"/>
                  </a:solidFill>
                </a:rPr>
                <a:t>2030</a:t>
              </a:r>
            </a:p>
          </p:txBody>
        </p:sp>
      </p:grpSp>
      <p:sp>
        <p:nvSpPr>
          <p:cNvPr id="11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CF0B0DAD-8C79-4A8D-A83E-9D1042C18A7E}" type="slidenum">
              <a:r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5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2DEF-F57A-811C-0E9E-2C40828E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83F97A-AF4B-39B8-1EA9-F5BA23159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t"/>
          <a:lstStyle/>
          <a:p>
            <a:r>
              <a:t>Work @ Hotspot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7D74C-5C56-F325-EF99-0278149996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64" name="SlideNumber"/>
          <p:cNvSpPr>
            <a:spLocks noGrp="1"/>
          </p:cNvSpPr>
          <p:nvPr>
            <p:ph type="sldNum" idx="4294967295"/>
          </p:nvPr>
        </p:nvSpPr>
        <p:spPr>
          <a:xfrm>
            <a:off x="0" y="6564313"/>
            <a:ext cx="457200" cy="128587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45FB9467-E1A5-41E0-AD16-9B20383CDBAF}" type="slidenum">
              <a:rPr/>
              <a:t>35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FF24D-04DB-3F1F-9899-70FB1ED7CC78}"/>
              </a:ext>
            </a:extLst>
          </p:cNvPr>
          <p:cNvSpPr txBox="1"/>
          <p:nvPr/>
        </p:nvSpPr>
        <p:spPr>
          <a:xfrm>
            <a:off x="816889" y="4469643"/>
            <a:ext cx="5420766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Group debrief / Q&amp;A 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(10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98D37B-B28B-0D5D-7298-2C11F2869244}"/>
              </a:ext>
            </a:extLst>
          </p:cNvPr>
          <p:cNvSpPr txBox="1"/>
          <p:nvPr/>
        </p:nvSpPr>
        <p:spPr>
          <a:xfrm>
            <a:off x="816889" y="2007427"/>
            <a:ext cx="5556001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1. Review the Hotspot 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(5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FDDC76-BB84-BCB1-3834-FA40994E68AE}"/>
              </a:ext>
            </a:extLst>
          </p:cNvPr>
          <p:cNvSpPr txBox="1"/>
          <p:nvPr/>
        </p:nvSpPr>
        <p:spPr>
          <a:xfrm>
            <a:off x="816889" y="3074420"/>
            <a:ext cx="6267409" cy="1046440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Discuss and identify 3-4 Critical Work       Outcomes with Pivots @ the Hotspot 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(15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509B78-E178-9027-40AF-67530C69EDB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3" name="Rectangle: Rounded Corners 7">
              <a:extLst>
                <a:ext uri="{FF2B5EF4-FFF2-40B4-BE49-F238E27FC236}">
                  <a16:creationId xmlns:a16="http://schemas.microsoft.com/office/drawing/2014/main" id="{5C9738B9-D663-9CCE-850F-75F729DBEB5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9">
              <a:extLst>
                <a:ext uri="{FF2B5EF4-FFF2-40B4-BE49-F238E27FC236}">
                  <a16:creationId xmlns:a16="http://schemas.microsoft.com/office/drawing/2014/main" id="{16AF69B3-0FF4-BA86-1B28-17DDB55CC98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Bend the Curve">
              <a:extLst>
                <a:ext uri="{FF2B5EF4-FFF2-40B4-BE49-F238E27FC236}">
                  <a16:creationId xmlns:a16="http://schemas.microsoft.com/office/drawing/2014/main" id="{0DE339D6-CC3D-F1B5-E432-BCE092A31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0BC559-52BC-BC65-EEFB-3F6E231551A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9F5681D-5A41-5B7B-C47A-45D317F8E1B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9" name="Rectangle: Rounded Corners 13">
              <a:extLst>
                <a:ext uri="{FF2B5EF4-FFF2-40B4-BE49-F238E27FC236}">
                  <a16:creationId xmlns:a16="http://schemas.microsoft.com/office/drawing/2014/main" id="{42FA0DBE-35F3-715B-9636-03DB5A6440F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14">
              <a:extLst>
                <a:ext uri="{FF2B5EF4-FFF2-40B4-BE49-F238E27FC236}">
                  <a16:creationId xmlns:a16="http://schemas.microsoft.com/office/drawing/2014/main" id="{46C21F72-FA93-EE26-7E07-9E2BBCF41999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24C8D07-E57C-DC92-9D05-A845C4121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29C1DD-774F-C256-BCB0-B2B91A480A3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079C41D-3B52-69C1-ECF6-BC4A908E8EC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5" name="Rectangle: Rounded Corners 18">
              <a:extLst>
                <a:ext uri="{FF2B5EF4-FFF2-40B4-BE49-F238E27FC236}">
                  <a16:creationId xmlns:a16="http://schemas.microsoft.com/office/drawing/2014/main" id="{84F16176-3732-48EF-1CDA-19FA85F09055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Rectangle: Rounded Corners 19">
              <a:extLst>
                <a:ext uri="{FF2B5EF4-FFF2-40B4-BE49-F238E27FC236}">
                  <a16:creationId xmlns:a16="http://schemas.microsoft.com/office/drawing/2014/main" id="{4084B76A-6F3C-1ACF-294B-6C9BAD6B1FA1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3F54519-CE55-2DBA-E686-D129CD122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80E5489-C87B-0E2C-746A-0C4A7C730588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4AFB945-DBAD-E00A-D5C4-1C20557924E2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3">
              <a:extLst>
                <a:ext uri="{FF2B5EF4-FFF2-40B4-BE49-F238E27FC236}">
                  <a16:creationId xmlns:a16="http://schemas.microsoft.com/office/drawing/2014/main" id="{9EA5BD8F-E0CA-6CE8-ADE7-F06D9A25D02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4">
              <a:extLst>
                <a:ext uri="{FF2B5EF4-FFF2-40B4-BE49-F238E27FC236}">
                  <a16:creationId xmlns:a16="http://schemas.microsoft.com/office/drawing/2014/main" id="{53F32FA1-B274-75B0-6ABE-E79B75CAF72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 descr="Choose">
              <a:extLst>
                <a:ext uri="{FF2B5EF4-FFF2-40B4-BE49-F238E27FC236}">
                  <a16:creationId xmlns:a16="http://schemas.microsoft.com/office/drawing/2014/main" id="{6E507D48-BF90-BA16-64A1-3347BB3D0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5911A6-0125-3F2D-AC6C-985E3CFE7D2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0965C91-96A4-B73B-37DC-439F7B967F5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7" name="Rectangle: Rounded Corners 28">
              <a:extLst>
                <a:ext uri="{FF2B5EF4-FFF2-40B4-BE49-F238E27FC236}">
                  <a16:creationId xmlns:a16="http://schemas.microsoft.com/office/drawing/2014/main" id="{4B1CE391-E408-CF4C-7E3F-29BD92B71DA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29">
              <a:extLst>
                <a:ext uri="{FF2B5EF4-FFF2-40B4-BE49-F238E27FC236}">
                  <a16:creationId xmlns:a16="http://schemas.microsoft.com/office/drawing/2014/main" id="{31E81F82-9D5A-222A-3C78-49C5D409068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C316D8DB-9A92-F998-BA07-0481D07CC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5282521-A79C-1F1B-850C-5D8F771636C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60892B-3D94-2673-8570-A3337E1AF281}"/>
              </a:ext>
            </a:extLst>
          </p:cNvPr>
          <p:cNvSpPr txBox="1"/>
          <p:nvPr/>
        </p:nvSpPr>
        <p:spPr>
          <a:xfrm>
            <a:off x="7533443" y="5023641"/>
            <a:ext cx="299755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i="1" spc="-10">
                <a:solidFill>
                  <a:srgbClr val="281A42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spc="-10" err="1">
                <a:solidFill>
                  <a:srgbClr val="281A42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 spc="-10">
                <a:solidFill>
                  <a:srgbClr val="281A42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i="1" spc="-10" err="1">
                <a:solidFill>
                  <a:srgbClr val="281A42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bgeXQp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8" name="Picture 2" descr="code preview">
            <a:extLst>
              <a:ext uri="{FF2B5EF4-FFF2-40B4-BE49-F238E27FC236}">
                <a16:creationId xmlns:a16="http://schemas.microsoft.com/office/drawing/2014/main" id="{454535CE-FE06-8E6A-AA29-ECF2B6FB9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7987033" y="2007427"/>
            <a:ext cx="2143902" cy="277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0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Identify the Critical Roles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25A7B-AA2F-E740-9E53-F8586FFA1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855" y="2904019"/>
            <a:ext cx="4212079" cy="109260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</a:t>
            </a:r>
          </a:p>
          <a:p>
            <a:pPr marL="285744" indent="-285744">
              <a:spcAft>
                <a:spcPts val="600"/>
              </a:spcAft>
              <a:buBlip>
                <a:blip r:embed="rId2"/>
              </a:buBlip>
            </a:pPr>
            <a:r>
              <a:rPr lang="en-US" sz="1200" spc="-10">
                <a:solidFill>
                  <a:srgbClr val="765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Disproportionate impact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on delivering the Critical work</a:t>
            </a:r>
          </a:p>
          <a:p>
            <a:pPr marL="285744" indent="-285744">
              <a:spcAft>
                <a:spcPts val="600"/>
              </a:spcAft>
              <a:buBlip>
                <a:blip r:embed="rId2"/>
              </a:buBlip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Important roles are defined by their </a:t>
            </a:r>
            <a:r>
              <a:rPr lang="en-US" sz="1200" spc="-10">
                <a:solidFill>
                  <a:srgbClr val="00C27A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contribution</a:t>
            </a:r>
          </a:p>
          <a:p>
            <a:pPr marL="285744" indent="-285744">
              <a:spcAft>
                <a:spcPts val="600"/>
              </a:spcAft>
              <a:buBlip>
                <a:blip r:embed="rId2"/>
              </a:buBlip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within the same level are not equal</a:t>
            </a:r>
          </a:p>
        </p:txBody>
      </p:sp>
      <p:pic>
        <p:nvPicPr>
          <p:cNvPr id="4" name="Picture 3" descr="A picture containing black&#10;&#10;Description automatically generated">
            <a:extLst>
              <a:ext uri="{FF2B5EF4-FFF2-40B4-BE49-F238E27FC236}">
                <a16:creationId xmlns:a16="http://schemas.microsoft.com/office/drawing/2014/main" id="{F4DB35FA-0BB6-B247-9978-308566842A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rgbClr val="765FFF"/>
              <a:srgbClr val="FFFFFF"/>
            </a:duotone>
          </a:blip>
          <a:srcRect t="9339" b="19535"/>
          <a:stretch/>
        </p:blipFill>
        <p:spPr>
          <a:xfrm>
            <a:off x="7233365" y="865697"/>
            <a:ext cx="2783807" cy="1980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3B5B254-B12C-8E46-B702-C3C534B530BD}"/>
              </a:ext>
            </a:extLst>
          </p:cNvPr>
          <p:cNvSpPr/>
          <p:nvPr/>
        </p:nvSpPr>
        <p:spPr>
          <a:xfrm>
            <a:off x="1578769" y="4061847"/>
            <a:ext cx="8865395" cy="2302207"/>
          </a:xfrm>
          <a:prstGeom prst="rect">
            <a:avLst/>
          </a:prstGeom>
          <a:solidFill>
            <a:srgbClr val="F2F2F2"/>
          </a:solidFill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DD63C7-11FB-FF4E-AA86-342A489B2F2D}"/>
              </a:ext>
            </a:extLst>
          </p:cNvPr>
          <p:cNvSpPr txBox="1"/>
          <p:nvPr/>
        </p:nvSpPr>
        <p:spPr>
          <a:xfrm>
            <a:off x="4835278" y="3952054"/>
            <a:ext cx="2297453" cy="21768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600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1CE19B-3058-B240-B503-CE12BF4AF79C}"/>
              </a:ext>
            </a:extLst>
          </p:cNvPr>
          <p:cNvSpPr/>
          <p:nvPr/>
        </p:nvSpPr>
        <p:spPr>
          <a:xfrm>
            <a:off x="1979351" y="4306286"/>
            <a:ext cx="1566235" cy="158550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88E442-7F2F-084E-9331-2AADFF596864}"/>
              </a:ext>
            </a:extLst>
          </p:cNvPr>
          <p:cNvSpPr txBox="1"/>
          <p:nvPr/>
        </p:nvSpPr>
        <p:spPr>
          <a:xfrm>
            <a:off x="2364646" y="5927949"/>
            <a:ext cx="795647" cy="312387"/>
          </a:xfrm>
          <a:prstGeom prst="rect">
            <a:avLst/>
          </a:prstGeom>
          <a:noFill/>
        </p:spPr>
        <p:txBody>
          <a:bodyPr wrap="none" lIns="91440" tIns="45720" rIns="91440" bIns="45720" rtlCol="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HOTSPOTS</a:t>
            </a:r>
            <a:endParaRPr lang="en-US" sz="12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0D4D75-3A25-3044-889D-11D05D862A82}"/>
              </a:ext>
            </a:extLst>
          </p:cNvPr>
          <p:cNvSpPr/>
          <p:nvPr/>
        </p:nvSpPr>
        <p:spPr>
          <a:xfrm>
            <a:off x="4104341" y="4301277"/>
            <a:ext cx="1566235" cy="158550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75A395-1B9F-1F4C-865D-F68BDB9367FC}"/>
              </a:ext>
            </a:extLst>
          </p:cNvPr>
          <p:cNvSpPr txBox="1"/>
          <p:nvPr/>
        </p:nvSpPr>
        <p:spPr>
          <a:xfrm>
            <a:off x="3925519" y="5907584"/>
            <a:ext cx="1955267" cy="312387"/>
          </a:xfrm>
          <a:prstGeom prst="rect">
            <a:avLst/>
          </a:prstGeom>
          <a:noFill/>
        </p:spPr>
        <p:txBody>
          <a:bodyPr wrap="none" lIns="91440" tIns="45720" rIns="91440" bIns="45720" rtlCol="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WORK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344F1E-2BD4-8748-938E-A42C99F5BF8D}"/>
              </a:ext>
            </a:extLst>
          </p:cNvPr>
          <p:cNvSpPr/>
          <p:nvPr/>
        </p:nvSpPr>
        <p:spPr>
          <a:xfrm>
            <a:off x="8479341" y="4301277"/>
            <a:ext cx="1566235" cy="158550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658897-1482-4147-BF5F-00737D157EDB}"/>
              </a:ext>
            </a:extLst>
          </p:cNvPr>
          <p:cNvSpPr txBox="1"/>
          <p:nvPr/>
        </p:nvSpPr>
        <p:spPr>
          <a:xfrm>
            <a:off x="8284824" y="5914857"/>
            <a:ext cx="1955267" cy="312387"/>
          </a:xfrm>
          <a:prstGeom prst="rect">
            <a:avLst/>
          </a:prstGeom>
          <a:noFill/>
        </p:spPr>
        <p:txBody>
          <a:bodyPr wrap="none" lIns="91440" tIns="45720" rIns="91440" bIns="45720" rtlCol="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RANKED ‘LIST’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6515FA-1B2A-4B49-8FDE-00FE20346662}"/>
              </a:ext>
            </a:extLst>
          </p:cNvPr>
          <p:cNvSpPr/>
          <p:nvPr/>
        </p:nvSpPr>
        <p:spPr>
          <a:xfrm>
            <a:off x="6276039" y="4301277"/>
            <a:ext cx="1566235" cy="158550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AA769B-EB47-DA48-9468-FC378423E047}"/>
              </a:ext>
            </a:extLst>
          </p:cNvPr>
          <p:cNvSpPr txBox="1"/>
          <p:nvPr/>
        </p:nvSpPr>
        <p:spPr>
          <a:xfrm>
            <a:off x="6097217" y="5907584"/>
            <a:ext cx="1955267" cy="312387"/>
          </a:xfrm>
          <a:prstGeom prst="rect">
            <a:avLst/>
          </a:prstGeom>
          <a:noFill/>
        </p:spPr>
        <p:txBody>
          <a:bodyPr wrap="none" lIns="91440" tIns="45720" rIns="91440" bIns="45720" rtlCol="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ROLES</a:t>
            </a:r>
          </a:p>
        </p:txBody>
      </p:sp>
      <p:pic>
        <p:nvPicPr>
          <p:cNvPr id="28" name="Picture 27" descr="A red logo i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B5866D26-B521-7A41-B949-1F94E001D99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043023" y="4374027"/>
            <a:ext cx="1440000" cy="1440000"/>
          </a:xfrm>
          <a:prstGeom prst="rect">
            <a:avLst/>
          </a:prstGeom>
        </p:spPr>
      </p:pic>
      <p:pic>
        <p:nvPicPr>
          <p:cNvPr id="29" name="Picture 28" descr="A picture containing icon&#10;&#10;Description automatically generated">
            <a:extLst>
              <a:ext uri="{FF2B5EF4-FFF2-40B4-BE49-F238E27FC236}">
                <a16:creationId xmlns:a16="http://schemas.microsoft.com/office/drawing/2014/main" id="{D1C3A16A-FBCB-7B4F-9A81-95A047E51E4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167457" y="4384307"/>
            <a:ext cx="1440000" cy="1440000"/>
          </a:xfrm>
          <a:prstGeom prst="rect">
            <a:avLst/>
          </a:prstGeom>
        </p:spPr>
      </p:pic>
      <p:pic>
        <p:nvPicPr>
          <p:cNvPr id="30" name="Picture 29" descr="Icon&#10;&#10;Description automatically generated">
            <a:extLst>
              <a:ext uri="{FF2B5EF4-FFF2-40B4-BE49-F238E27FC236}">
                <a16:creationId xmlns:a16="http://schemas.microsoft.com/office/drawing/2014/main" id="{D60D8325-4E30-9643-8550-601B2EF8951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339155" y="4351407"/>
            <a:ext cx="1440000" cy="1440000"/>
          </a:xfrm>
          <a:prstGeom prst="rect">
            <a:avLst/>
          </a:prstGeom>
        </p:spPr>
      </p:pic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76D9A0CE-2386-F84D-8252-EA961E09825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542457" y="4351407"/>
            <a:ext cx="1440000" cy="14400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5316A804-C6BB-4FBA-B249-9F117B10DF10}"/>
              </a:ext>
            </a:extLst>
          </p:cNvPr>
          <p:cNvGrpSpPr/>
          <p:nvPr/>
        </p:nvGrpSpPr>
        <p:grpSpPr>
          <a:xfrm>
            <a:off x="5735846" y="1206574"/>
            <a:ext cx="461823" cy="2338087"/>
            <a:chOff x="5735845" y="1206574"/>
            <a:chExt cx="461822" cy="233808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C3DAD2-323E-4EC0-AEC2-8CD7F35A4B3C}"/>
                </a:ext>
              </a:extLst>
            </p:cNvPr>
            <p:cNvCxnSpPr>
              <a:cxnSpLocks/>
            </p:cNvCxnSpPr>
            <p:nvPr/>
          </p:nvCxnSpPr>
          <p:spPr>
            <a:xfrm>
              <a:off x="5966756" y="1206574"/>
              <a:ext cx="0" cy="2338086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3AB5D87-3C7C-4C0E-AE0D-0C6E2BDF940D}"/>
                </a:ext>
              </a:extLst>
            </p:cNvPr>
            <p:cNvSpPr/>
            <p:nvPr/>
          </p:nvSpPr>
          <p:spPr>
            <a:xfrm>
              <a:off x="5735845" y="2144706"/>
              <a:ext cx="461822" cy="461822"/>
            </a:xfrm>
            <a:prstGeom prst="ellipse">
              <a:avLst/>
            </a:prstGeom>
            <a:solidFill>
              <a:srgbClr val="B2BBCA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3A97006-A9DE-4F91-9788-69D6340F5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481" y="2891637"/>
            <a:ext cx="4393095" cy="1015663"/>
          </a:xfrm>
          <a:prstGeom prst="rect">
            <a:avLst/>
          </a:prstGeom>
          <a:noFill/>
          <a:ln w="25400"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TRADITIONAL APPROACH</a:t>
            </a:r>
          </a:p>
          <a:p>
            <a:pPr marL="285744" indent="-285744">
              <a:spcAft>
                <a:spcPts val="600"/>
              </a:spcAft>
              <a:buBlip>
                <a:blip r:embed="rId2"/>
              </a:buBlip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Important roles are defined by their position in the hierarchy</a:t>
            </a:r>
          </a:p>
          <a:p>
            <a:pPr marL="285744" indent="-285744">
              <a:spcAft>
                <a:spcPts val="600"/>
              </a:spcAft>
              <a:buBlip>
                <a:blip r:embed="rId2"/>
              </a:buBlip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within the same level are equal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B93C6E6-8762-45D6-985C-0E1DA928097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srgbClr val="765FFF"/>
              <a:srgbClr val="FFFFFF"/>
            </a:duotone>
          </a:blip>
          <a:srcRect t="9339" b="19535"/>
          <a:stretch/>
        </p:blipFill>
        <p:spPr>
          <a:xfrm>
            <a:off x="1889151" y="728514"/>
            <a:ext cx="3048000" cy="216790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737159D-5148-FE27-41D9-6C524ECCF34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BA7979DC-496E-7774-6DBE-3B3BB78B0E94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46C20985-F27C-F7B1-793A-70B492E84C4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37617A99-A291-831D-4D93-5816E66C9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35B24F-A1BB-50D9-5221-D92A2983731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EA8EB4-B259-E20F-BBE1-C26C1040AFC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625055B2-C418-C667-D851-756C204BE64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ECEFB4BF-BC0E-7A41-FFBE-259E50E695F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129AA74-F8EB-0B4C-A9F1-9226F7B58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CAD394-7AB7-B7BD-CD5D-A66E53820A2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91E3609-309F-A03C-F2CB-455AE704FBC3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D801EFFF-CBC0-8607-8D0C-A0F8012E863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80B88921-02A3-3147-39E0-C45A3BCD024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E99C3C7-91A0-0B05-2CB5-79A00DDD6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302E9E6-7CFB-0824-01A1-84D3CA3E6353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247352-5829-C6A0-A271-28E91CBDC20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23">
              <a:extLst>
                <a:ext uri="{FF2B5EF4-FFF2-40B4-BE49-F238E27FC236}">
                  <a16:creationId xmlns:a16="http://schemas.microsoft.com/office/drawing/2014/main" id="{BE8D63C7-A0EE-B29E-81F3-4CA52865346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24">
              <a:extLst>
                <a:ext uri="{FF2B5EF4-FFF2-40B4-BE49-F238E27FC236}">
                  <a16:creationId xmlns:a16="http://schemas.microsoft.com/office/drawing/2014/main" id="{F548C41C-830D-15FE-EF10-56CFB6E2376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Choose">
              <a:extLst>
                <a:ext uri="{FF2B5EF4-FFF2-40B4-BE49-F238E27FC236}">
                  <a16:creationId xmlns:a16="http://schemas.microsoft.com/office/drawing/2014/main" id="{E102FAD9-D3B1-50B2-F1A3-708EA967D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3400C86-322D-8FB6-110F-EDD944D7A8EF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81E4274-43F5-113A-0F90-339B3B83662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28">
              <a:extLst>
                <a:ext uri="{FF2B5EF4-FFF2-40B4-BE49-F238E27FC236}">
                  <a16:creationId xmlns:a16="http://schemas.microsoft.com/office/drawing/2014/main" id="{F82DCDA0-AA2D-AF7C-A08E-5570F54C411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29">
              <a:extLst>
                <a:ext uri="{FF2B5EF4-FFF2-40B4-BE49-F238E27FC236}">
                  <a16:creationId xmlns:a16="http://schemas.microsoft.com/office/drawing/2014/main" id="{456244D0-C878-F425-D866-542D9496853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9BCFEDC-8DC5-A4D8-DE87-855271FF1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C85AD7-04C2-4C68-D54E-B125A1E358E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5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97B0B83F-2214-4AF0-BF92-F434B967A631}" type="slidenum"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2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the Roles That Deliver the Work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DEEF95A-BA48-C692-3DDD-8EE5DD32D65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E0772772-2453-A3D0-6D3A-25E44A09896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3990C2C1-F255-EB4C-63C9-16B669C03C2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Bend the Curve">
              <a:extLst>
                <a:ext uri="{FF2B5EF4-FFF2-40B4-BE49-F238E27FC236}">
                  <a16:creationId xmlns:a16="http://schemas.microsoft.com/office/drawing/2014/main" id="{37883271-53A8-4366-CA94-E43F7EB03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ED3181-5044-5310-96D2-8C878D34D23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2913B82-5551-9B78-3F58-D838F32510E6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13">
              <a:extLst>
                <a:ext uri="{FF2B5EF4-FFF2-40B4-BE49-F238E27FC236}">
                  <a16:creationId xmlns:a16="http://schemas.microsoft.com/office/drawing/2014/main" id="{669FA776-646A-28B2-8E82-09EF0A0E1C1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14">
              <a:extLst>
                <a:ext uri="{FF2B5EF4-FFF2-40B4-BE49-F238E27FC236}">
                  <a16:creationId xmlns:a16="http://schemas.microsoft.com/office/drawing/2014/main" id="{896B692B-6058-4580-795C-1B70D479D82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05E3B27-80E3-A4DA-6512-11DBB3293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8CA4775-7CB1-4243-C214-C9C17027D80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C64A92-36A3-E2FF-1DBC-8DD9C548A59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5" name="Rectangle: Rounded Corners 18">
              <a:extLst>
                <a:ext uri="{FF2B5EF4-FFF2-40B4-BE49-F238E27FC236}">
                  <a16:creationId xmlns:a16="http://schemas.microsoft.com/office/drawing/2014/main" id="{CC6A71B1-5CE4-B608-6E7E-C49EE787F6A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: Rounded Corners 19">
              <a:extLst>
                <a:ext uri="{FF2B5EF4-FFF2-40B4-BE49-F238E27FC236}">
                  <a16:creationId xmlns:a16="http://schemas.microsoft.com/office/drawing/2014/main" id="{C7917812-306E-6B52-97E2-98FC359C041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DE51074-E000-8C00-4F07-8311F88F7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1BD3297-FFB6-3893-33CA-558DDF33316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AB5BAFC-F2BE-ADBD-AD9B-816CF7B271C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23">
              <a:extLst>
                <a:ext uri="{FF2B5EF4-FFF2-40B4-BE49-F238E27FC236}">
                  <a16:creationId xmlns:a16="http://schemas.microsoft.com/office/drawing/2014/main" id="{74844CD8-F515-21A6-5AD0-E03F9CCDE2F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24">
              <a:extLst>
                <a:ext uri="{FF2B5EF4-FFF2-40B4-BE49-F238E27FC236}">
                  <a16:creationId xmlns:a16="http://schemas.microsoft.com/office/drawing/2014/main" id="{1B8AF3FD-C432-D663-E4A2-B7F4EBC399A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Choose">
              <a:extLst>
                <a:ext uri="{FF2B5EF4-FFF2-40B4-BE49-F238E27FC236}">
                  <a16:creationId xmlns:a16="http://schemas.microsoft.com/office/drawing/2014/main" id="{8D42165B-3818-702E-4C7F-77597D174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4BAF2BD-98CA-AB51-F5B6-EA68EA92F92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1DCF0F7-1AFE-DED5-7FA5-7518612B3E48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7" name="Rectangle: Rounded Corners 28">
              <a:extLst>
                <a:ext uri="{FF2B5EF4-FFF2-40B4-BE49-F238E27FC236}">
                  <a16:creationId xmlns:a16="http://schemas.microsoft.com/office/drawing/2014/main" id="{2EC6E4D1-57FF-746C-4567-A76BB12F61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: Rounded Corners 29">
              <a:extLst>
                <a:ext uri="{FF2B5EF4-FFF2-40B4-BE49-F238E27FC236}">
                  <a16:creationId xmlns:a16="http://schemas.microsoft.com/office/drawing/2014/main" id="{28EECEE2-FC63-0728-25A8-1120391DC7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4D3421F-9EA5-B149-A513-8667E3561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73A7FFE-2186-3D85-A42A-146F5052D65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9012AA64-8E6D-F3BC-7EA7-8CB679A96295}"/>
              </a:ext>
            </a:extLst>
          </p:cNvPr>
          <p:cNvSpPr/>
          <p:nvPr/>
        </p:nvSpPr>
        <p:spPr>
          <a:xfrm>
            <a:off x="7525274" y="2603896"/>
            <a:ext cx="2605661" cy="2642427"/>
          </a:xfrm>
          <a:prstGeom prst="ellipse">
            <a:avLst/>
          </a:prstGeom>
          <a:solidFill>
            <a:srgbClr val="281A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0A57BE-CD9F-500C-A72E-D031C1C53A85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719233" y="1353081"/>
            <a:chExt cx="4512335" cy="506283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23EA2D9-BA99-C6A9-83F8-92496E41043C}"/>
                </a:ext>
              </a:extLst>
            </p:cNvPr>
            <p:cNvGrpSpPr/>
            <p:nvPr/>
          </p:nvGrpSpPr>
          <p:grpSpPr>
            <a:xfrm>
              <a:off x="719233" y="1353081"/>
              <a:ext cx="4512335" cy="5062831"/>
              <a:chOff x="845127" y="1203443"/>
              <a:chExt cx="3990109" cy="483546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22D297B-682C-5CC6-41B1-2A5E2B57C221}"/>
                  </a:ext>
                </a:extLst>
              </p:cNvPr>
              <p:cNvSpPr/>
              <p:nvPr/>
            </p:nvSpPr>
            <p:spPr>
              <a:xfrm>
                <a:off x="845127" y="1203443"/>
                <a:ext cx="3990109" cy="4835465"/>
              </a:xfrm>
              <a:prstGeom prst="rect">
                <a:avLst/>
              </a:prstGeom>
              <a:solidFill>
                <a:srgbClr val="D0D7DF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EEDD611-7135-B38B-9397-FD82325DC3F5}"/>
                  </a:ext>
                </a:extLst>
              </p:cNvPr>
              <p:cNvGrpSpPr/>
              <p:nvPr/>
            </p:nvGrpSpPr>
            <p:grpSpPr>
              <a:xfrm>
                <a:off x="1153340" y="1421477"/>
                <a:ext cx="3373682" cy="895007"/>
                <a:chOff x="1777903" y="2433470"/>
                <a:chExt cx="6748145" cy="1790222"/>
              </a:xfrm>
            </p:grpSpPr>
            <p:sp>
              <p:nvSpPr>
                <p:cNvPr id="22" name="Rectangle: Rounded Corners 22">
                  <a:extLst>
                    <a:ext uri="{FF2B5EF4-FFF2-40B4-BE49-F238E27FC236}">
                      <a16:creationId xmlns:a16="http://schemas.microsoft.com/office/drawing/2014/main" id="{16FDEF1F-CEA2-66EB-3C59-42C940B279B6}"/>
                    </a:ext>
                  </a:extLst>
                </p:cNvPr>
                <p:cNvSpPr/>
                <p:nvPr/>
              </p:nvSpPr>
              <p:spPr>
                <a:xfrm>
                  <a:off x="1777903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rgbClr val="5858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rgbClr val="F2F2F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D5575D8A-42FF-AAF9-5D59-49ACF59F5F69}"/>
                    </a:ext>
                  </a:extLst>
                </p:cNvPr>
                <p:cNvSpPr/>
                <p:nvPr/>
              </p:nvSpPr>
              <p:spPr>
                <a:xfrm>
                  <a:off x="2394955" y="2788581"/>
                  <a:ext cx="1080000" cy="1080000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2A2FC28-123F-25A2-3808-843BFA95EB31}"/>
                    </a:ext>
                  </a:extLst>
                </p:cNvPr>
                <p:cNvSpPr txBox="1"/>
                <p:nvPr/>
              </p:nvSpPr>
              <p:spPr>
                <a:xfrm>
                  <a:off x="3474955" y="2647284"/>
                  <a:ext cx="4582688" cy="93659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M&amp;A</a:t>
                  </a:r>
                </a:p>
              </p:txBody>
            </p:sp>
            <p:sp>
              <p:nvSpPr>
                <p:cNvPr id="65" name="Freeform 73">
                  <a:extLst>
                    <a:ext uri="{FF2B5EF4-FFF2-40B4-BE49-F238E27FC236}">
                      <a16:creationId xmlns:a16="http://schemas.microsoft.com/office/drawing/2014/main" id="{CFC87139-4F24-54D9-E735-AE80531D572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36996" y="3141290"/>
                  <a:ext cx="405177" cy="407581"/>
                </a:xfrm>
                <a:custGeom>
                  <a:avLst/>
                  <a:gdLst>
                    <a:gd name="T0" fmla="*/ 38 w 185"/>
                    <a:gd name="T1" fmla="*/ 51 h 186"/>
                    <a:gd name="T2" fmla="*/ 88 w 185"/>
                    <a:gd name="T3" fmla="*/ 51 h 186"/>
                    <a:gd name="T4" fmla="*/ 92 w 185"/>
                    <a:gd name="T5" fmla="*/ 46 h 186"/>
                    <a:gd name="T6" fmla="*/ 88 w 185"/>
                    <a:gd name="T7" fmla="*/ 42 h 186"/>
                    <a:gd name="T8" fmla="*/ 38 w 185"/>
                    <a:gd name="T9" fmla="*/ 42 h 186"/>
                    <a:gd name="T10" fmla="*/ 33 w 185"/>
                    <a:gd name="T11" fmla="*/ 46 h 186"/>
                    <a:gd name="T12" fmla="*/ 38 w 185"/>
                    <a:gd name="T13" fmla="*/ 51 h 186"/>
                    <a:gd name="T14" fmla="*/ 38 w 185"/>
                    <a:gd name="T15" fmla="*/ 76 h 186"/>
                    <a:gd name="T16" fmla="*/ 147 w 185"/>
                    <a:gd name="T17" fmla="*/ 76 h 186"/>
                    <a:gd name="T18" fmla="*/ 151 w 185"/>
                    <a:gd name="T19" fmla="*/ 72 h 186"/>
                    <a:gd name="T20" fmla="*/ 147 w 185"/>
                    <a:gd name="T21" fmla="*/ 67 h 186"/>
                    <a:gd name="T22" fmla="*/ 38 w 185"/>
                    <a:gd name="T23" fmla="*/ 67 h 186"/>
                    <a:gd name="T24" fmla="*/ 33 w 185"/>
                    <a:gd name="T25" fmla="*/ 72 h 186"/>
                    <a:gd name="T26" fmla="*/ 38 w 185"/>
                    <a:gd name="T27" fmla="*/ 76 h 186"/>
                    <a:gd name="T28" fmla="*/ 177 w 185"/>
                    <a:gd name="T29" fmla="*/ 0 h 186"/>
                    <a:gd name="T30" fmla="*/ 8 w 185"/>
                    <a:gd name="T31" fmla="*/ 0 h 186"/>
                    <a:gd name="T32" fmla="*/ 0 w 185"/>
                    <a:gd name="T33" fmla="*/ 8 h 186"/>
                    <a:gd name="T34" fmla="*/ 0 w 185"/>
                    <a:gd name="T35" fmla="*/ 143 h 186"/>
                    <a:gd name="T36" fmla="*/ 33 w 185"/>
                    <a:gd name="T37" fmla="*/ 177 h 186"/>
                    <a:gd name="T38" fmla="*/ 42 w 185"/>
                    <a:gd name="T39" fmla="*/ 186 h 186"/>
                    <a:gd name="T40" fmla="*/ 177 w 185"/>
                    <a:gd name="T41" fmla="*/ 186 h 186"/>
                    <a:gd name="T42" fmla="*/ 185 w 185"/>
                    <a:gd name="T43" fmla="*/ 177 h 186"/>
                    <a:gd name="T44" fmla="*/ 185 w 185"/>
                    <a:gd name="T45" fmla="*/ 8 h 186"/>
                    <a:gd name="T46" fmla="*/ 177 w 185"/>
                    <a:gd name="T47" fmla="*/ 0 h 186"/>
                    <a:gd name="T48" fmla="*/ 42 w 185"/>
                    <a:gd name="T49" fmla="*/ 173 h 186"/>
                    <a:gd name="T50" fmla="*/ 12 w 185"/>
                    <a:gd name="T51" fmla="*/ 143 h 186"/>
                    <a:gd name="T52" fmla="*/ 42 w 185"/>
                    <a:gd name="T53" fmla="*/ 143 h 186"/>
                    <a:gd name="T54" fmla="*/ 42 w 185"/>
                    <a:gd name="T55" fmla="*/ 173 h 186"/>
                    <a:gd name="T56" fmla="*/ 177 w 185"/>
                    <a:gd name="T57" fmla="*/ 177 h 186"/>
                    <a:gd name="T58" fmla="*/ 50 w 185"/>
                    <a:gd name="T59" fmla="*/ 177 h 186"/>
                    <a:gd name="T60" fmla="*/ 50 w 185"/>
                    <a:gd name="T61" fmla="*/ 139 h 186"/>
                    <a:gd name="T62" fmla="*/ 46 w 185"/>
                    <a:gd name="T63" fmla="*/ 135 h 186"/>
                    <a:gd name="T64" fmla="*/ 8 w 185"/>
                    <a:gd name="T65" fmla="*/ 135 h 186"/>
                    <a:gd name="T66" fmla="*/ 8 w 185"/>
                    <a:gd name="T67" fmla="*/ 8 h 186"/>
                    <a:gd name="T68" fmla="*/ 177 w 185"/>
                    <a:gd name="T69" fmla="*/ 8 h 186"/>
                    <a:gd name="T70" fmla="*/ 177 w 185"/>
                    <a:gd name="T71" fmla="*/ 177 h 186"/>
                    <a:gd name="T72" fmla="*/ 38 w 185"/>
                    <a:gd name="T73" fmla="*/ 101 h 186"/>
                    <a:gd name="T74" fmla="*/ 122 w 185"/>
                    <a:gd name="T75" fmla="*/ 101 h 186"/>
                    <a:gd name="T76" fmla="*/ 126 w 185"/>
                    <a:gd name="T77" fmla="*/ 97 h 186"/>
                    <a:gd name="T78" fmla="*/ 122 w 185"/>
                    <a:gd name="T79" fmla="*/ 93 h 186"/>
                    <a:gd name="T80" fmla="*/ 38 w 185"/>
                    <a:gd name="T81" fmla="*/ 93 h 186"/>
                    <a:gd name="T82" fmla="*/ 33 w 185"/>
                    <a:gd name="T83" fmla="*/ 97 h 186"/>
                    <a:gd name="T84" fmla="*/ 38 w 185"/>
                    <a:gd name="T85" fmla="*/ 101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85" h="186">
                      <a:moveTo>
                        <a:pt x="38" y="51"/>
                      </a:moveTo>
                      <a:cubicBezTo>
                        <a:pt x="88" y="51"/>
                        <a:pt x="88" y="51"/>
                        <a:pt x="88" y="51"/>
                      </a:cubicBezTo>
                      <a:cubicBezTo>
                        <a:pt x="90" y="51"/>
                        <a:pt x="92" y="49"/>
                        <a:pt x="92" y="46"/>
                      </a:cubicBezTo>
                      <a:cubicBezTo>
                        <a:pt x="92" y="44"/>
                        <a:pt x="90" y="42"/>
                        <a:pt x="88" y="42"/>
                      </a:cubicBezTo>
                      <a:cubicBezTo>
                        <a:pt x="38" y="42"/>
                        <a:pt x="38" y="42"/>
                        <a:pt x="38" y="42"/>
                      </a:cubicBezTo>
                      <a:cubicBezTo>
                        <a:pt x="35" y="42"/>
                        <a:pt x="33" y="44"/>
                        <a:pt x="33" y="46"/>
                      </a:cubicBezTo>
                      <a:cubicBezTo>
                        <a:pt x="33" y="49"/>
                        <a:pt x="35" y="51"/>
                        <a:pt x="38" y="51"/>
                      </a:cubicBezTo>
                      <a:close/>
                      <a:moveTo>
                        <a:pt x="38" y="76"/>
                      </a:moveTo>
                      <a:cubicBezTo>
                        <a:pt x="147" y="76"/>
                        <a:pt x="147" y="76"/>
                        <a:pt x="147" y="76"/>
                      </a:cubicBezTo>
                      <a:cubicBezTo>
                        <a:pt x="150" y="76"/>
                        <a:pt x="151" y="74"/>
                        <a:pt x="151" y="72"/>
                      </a:cubicBezTo>
                      <a:cubicBezTo>
                        <a:pt x="151" y="69"/>
                        <a:pt x="150" y="67"/>
                        <a:pt x="147" y="67"/>
                      </a:cubicBezTo>
                      <a:cubicBezTo>
                        <a:pt x="38" y="67"/>
                        <a:pt x="38" y="67"/>
                        <a:pt x="38" y="67"/>
                      </a:cubicBezTo>
                      <a:cubicBezTo>
                        <a:pt x="35" y="67"/>
                        <a:pt x="33" y="69"/>
                        <a:pt x="33" y="72"/>
                      </a:cubicBezTo>
                      <a:cubicBezTo>
                        <a:pt x="33" y="74"/>
                        <a:pt x="35" y="76"/>
                        <a:pt x="38" y="76"/>
                      </a:cubicBezTo>
                      <a:close/>
                      <a:moveTo>
                        <a:pt x="177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3" y="0"/>
                        <a:pt x="0" y="4"/>
                        <a:pt x="0" y="8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33" y="177"/>
                        <a:pt x="33" y="177"/>
                        <a:pt x="33" y="177"/>
                      </a:cubicBezTo>
                      <a:cubicBezTo>
                        <a:pt x="42" y="186"/>
                        <a:pt x="42" y="186"/>
                        <a:pt x="42" y="186"/>
                      </a:cubicBezTo>
                      <a:cubicBezTo>
                        <a:pt x="177" y="186"/>
                        <a:pt x="177" y="186"/>
                        <a:pt x="177" y="186"/>
                      </a:cubicBezTo>
                      <a:cubicBezTo>
                        <a:pt x="181" y="186"/>
                        <a:pt x="185" y="182"/>
                        <a:pt x="185" y="177"/>
                      </a:cubicBezTo>
                      <a:cubicBezTo>
                        <a:pt x="185" y="8"/>
                        <a:pt x="185" y="8"/>
                        <a:pt x="185" y="8"/>
                      </a:cubicBezTo>
                      <a:cubicBezTo>
                        <a:pt x="185" y="4"/>
                        <a:pt x="181" y="0"/>
                        <a:pt x="177" y="0"/>
                      </a:cubicBezTo>
                      <a:close/>
                      <a:moveTo>
                        <a:pt x="42" y="173"/>
                      </a:moveTo>
                      <a:cubicBezTo>
                        <a:pt x="12" y="143"/>
                        <a:pt x="12" y="143"/>
                        <a:pt x="12" y="143"/>
                      </a:cubicBezTo>
                      <a:cubicBezTo>
                        <a:pt x="42" y="143"/>
                        <a:pt x="42" y="143"/>
                        <a:pt x="42" y="143"/>
                      </a:cubicBezTo>
                      <a:lnTo>
                        <a:pt x="42" y="173"/>
                      </a:lnTo>
                      <a:close/>
                      <a:moveTo>
                        <a:pt x="177" y="177"/>
                      </a:moveTo>
                      <a:cubicBezTo>
                        <a:pt x="50" y="177"/>
                        <a:pt x="50" y="177"/>
                        <a:pt x="50" y="177"/>
                      </a:cubicBezTo>
                      <a:cubicBezTo>
                        <a:pt x="50" y="139"/>
                        <a:pt x="50" y="139"/>
                        <a:pt x="50" y="139"/>
                      </a:cubicBezTo>
                      <a:cubicBezTo>
                        <a:pt x="50" y="137"/>
                        <a:pt x="48" y="135"/>
                        <a:pt x="46" y="135"/>
                      </a:cubicBezTo>
                      <a:cubicBezTo>
                        <a:pt x="8" y="135"/>
                        <a:pt x="8" y="135"/>
                        <a:pt x="8" y="135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77" y="8"/>
                        <a:pt x="177" y="8"/>
                        <a:pt x="177" y="8"/>
                      </a:cubicBezTo>
                      <a:lnTo>
                        <a:pt x="177" y="177"/>
                      </a:lnTo>
                      <a:close/>
                      <a:moveTo>
                        <a:pt x="38" y="101"/>
                      </a:moveTo>
                      <a:cubicBezTo>
                        <a:pt x="122" y="101"/>
                        <a:pt x="122" y="101"/>
                        <a:pt x="122" y="101"/>
                      </a:cubicBezTo>
                      <a:cubicBezTo>
                        <a:pt x="124" y="101"/>
                        <a:pt x="126" y="99"/>
                        <a:pt x="126" y="97"/>
                      </a:cubicBezTo>
                      <a:cubicBezTo>
                        <a:pt x="126" y="95"/>
                        <a:pt x="124" y="93"/>
                        <a:pt x="122" y="93"/>
                      </a:cubicBezTo>
                      <a:cubicBezTo>
                        <a:pt x="38" y="93"/>
                        <a:pt x="38" y="93"/>
                        <a:pt x="38" y="93"/>
                      </a:cubicBezTo>
                      <a:cubicBezTo>
                        <a:pt x="35" y="93"/>
                        <a:pt x="33" y="95"/>
                        <a:pt x="33" y="97"/>
                      </a:cubicBezTo>
                      <a:cubicBezTo>
                        <a:pt x="33" y="99"/>
                        <a:pt x="35" y="101"/>
                        <a:pt x="38" y="101"/>
                      </a:cubicBezTo>
                      <a:close/>
                    </a:path>
                  </a:pathLst>
                </a:custGeom>
                <a:solidFill>
                  <a:srgbClr val="B2BBCA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89937C7-2CB7-5FEF-3242-8491B55F514B}"/>
                  </a:ext>
                </a:extLst>
              </p:cNvPr>
              <p:cNvGrpSpPr/>
              <p:nvPr/>
            </p:nvGrpSpPr>
            <p:grpSpPr>
              <a:xfrm>
                <a:off x="1153340" y="2437649"/>
                <a:ext cx="3373682" cy="895007"/>
                <a:chOff x="8841640" y="2433470"/>
                <a:chExt cx="6748145" cy="1790222"/>
              </a:xfrm>
            </p:grpSpPr>
            <p:sp>
              <p:nvSpPr>
                <p:cNvPr id="17" name="Rectangle: Rounded Corners 4">
                  <a:extLst>
                    <a:ext uri="{FF2B5EF4-FFF2-40B4-BE49-F238E27FC236}">
                      <a16:creationId xmlns:a16="http://schemas.microsoft.com/office/drawing/2014/main" id="{380B2AB1-85B4-C641-7937-EA4C452E620D}"/>
                    </a:ext>
                  </a:extLst>
                </p:cNvPr>
                <p:cNvSpPr/>
                <p:nvPr/>
              </p:nvSpPr>
              <p:spPr>
                <a:xfrm>
                  <a:off x="8841640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rgbClr val="5858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rgbClr val="F2F2F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0AEA980-AE6B-4698-9883-EC08E586443B}"/>
                    </a:ext>
                  </a:extLst>
                </p:cNvPr>
                <p:cNvSpPr/>
                <p:nvPr/>
              </p:nvSpPr>
              <p:spPr>
                <a:xfrm>
                  <a:off x="9458692" y="2788581"/>
                  <a:ext cx="1080000" cy="1080000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BB502BF-A2A3-CFA4-5C43-09144021C407}"/>
                    </a:ext>
                  </a:extLst>
                </p:cNvPr>
                <p:cNvSpPr txBox="1"/>
                <p:nvPr/>
              </p:nvSpPr>
              <p:spPr>
                <a:xfrm>
                  <a:off x="11302889" y="3485256"/>
                  <a:ext cx="3818489" cy="47038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/>
                  <a:r>
                    <a:rPr lang="en-US" sz="1000" b="1" spc="-10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EBITDA $53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4650BBB-A905-2CA9-A7AF-11CDEEC42BE5}"/>
                    </a:ext>
                  </a:extLst>
                </p:cNvPr>
                <p:cNvSpPr txBox="1"/>
                <p:nvPr/>
              </p:nvSpPr>
              <p:spPr>
                <a:xfrm>
                  <a:off x="11535780" y="2768331"/>
                  <a:ext cx="3585598" cy="93659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EV $750</a:t>
                  </a:r>
                </a:p>
              </p:txBody>
            </p:sp>
            <p:sp>
              <p:nvSpPr>
                <p:cNvPr id="21" name="Freeform 245">
                  <a:extLst>
                    <a:ext uri="{FF2B5EF4-FFF2-40B4-BE49-F238E27FC236}">
                      <a16:creationId xmlns:a16="http://schemas.microsoft.com/office/drawing/2014/main" id="{F44E181E-640D-1A2A-FB74-97E44705095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824" y="3089258"/>
                  <a:ext cx="510504" cy="508993"/>
                </a:xfrm>
                <a:custGeom>
                  <a:avLst/>
                  <a:gdLst>
                    <a:gd name="T0" fmla="*/ 103 w 186"/>
                    <a:gd name="T1" fmla="*/ 88 h 185"/>
                    <a:gd name="T2" fmla="*/ 95 w 186"/>
                    <a:gd name="T3" fmla="*/ 65 h 185"/>
                    <a:gd name="T4" fmla="*/ 104 w 186"/>
                    <a:gd name="T5" fmla="*/ 75 h 185"/>
                    <a:gd name="T6" fmla="*/ 113 w 186"/>
                    <a:gd name="T7" fmla="*/ 67 h 185"/>
                    <a:gd name="T8" fmla="*/ 102 w 186"/>
                    <a:gd name="T9" fmla="*/ 58 h 185"/>
                    <a:gd name="T10" fmla="*/ 95 w 186"/>
                    <a:gd name="T11" fmla="*/ 50 h 185"/>
                    <a:gd name="T12" fmla="*/ 90 w 186"/>
                    <a:gd name="T13" fmla="*/ 56 h 185"/>
                    <a:gd name="T14" fmla="*/ 76 w 186"/>
                    <a:gd name="T15" fmla="*/ 61 h 185"/>
                    <a:gd name="T16" fmla="*/ 69 w 186"/>
                    <a:gd name="T17" fmla="*/ 75 h 185"/>
                    <a:gd name="T18" fmla="*/ 76 w 186"/>
                    <a:gd name="T19" fmla="*/ 90 h 185"/>
                    <a:gd name="T20" fmla="*/ 90 w 186"/>
                    <a:gd name="T21" fmla="*/ 96 h 185"/>
                    <a:gd name="T22" fmla="*/ 81 w 186"/>
                    <a:gd name="T23" fmla="*/ 116 h 185"/>
                    <a:gd name="T24" fmla="*/ 68 w 186"/>
                    <a:gd name="T25" fmla="*/ 106 h 185"/>
                    <a:gd name="T26" fmla="*/ 74 w 186"/>
                    <a:gd name="T27" fmla="*/ 122 h 185"/>
                    <a:gd name="T28" fmla="*/ 90 w 186"/>
                    <a:gd name="T29" fmla="*/ 128 h 185"/>
                    <a:gd name="T30" fmla="*/ 95 w 186"/>
                    <a:gd name="T31" fmla="*/ 134 h 185"/>
                    <a:gd name="T32" fmla="*/ 103 w 186"/>
                    <a:gd name="T33" fmla="*/ 126 h 185"/>
                    <a:gd name="T34" fmla="*/ 115 w 186"/>
                    <a:gd name="T35" fmla="*/ 116 h 185"/>
                    <a:gd name="T36" fmla="*/ 115 w 186"/>
                    <a:gd name="T37" fmla="*/ 98 h 185"/>
                    <a:gd name="T38" fmla="*/ 90 w 186"/>
                    <a:gd name="T39" fmla="*/ 84 h 185"/>
                    <a:gd name="T40" fmla="*/ 83 w 186"/>
                    <a:gd name="T41" fmla="*/ 81 h 185"/>
                    <a:gd name="T42" fmla="*/ 80 w 186"/>
                    <a:gd name="T43" fmla="*/ 74 h 185"/>
                    <a:gd name="T44" fmla="*/ 90 w 186"/>
                    <a:gd name="T45" fmla="*/ 65 h 185"/>
                    <a:gd name="T46" fmla="*/ 103 w 186"/>
                    <a:gd name="T47" fmla="*/ 116 h 185"/>
                    <a:gd name="T48" fmla="*/ 95 w 186"/>
                    <a:gd name="T49" fmla="*/ 97 h 185"/>
                    <a:gd name="T50" fmla="*/ 102 w 186"/>
                    <a:gd name="T51" fmla="*/ 100 h 185"/>
                    <a:gd name="T52" fmla="*/ 106 w 186"/>
                    <a:gd name="T53" fmla="*/ 108 h 185"/>
                    <a:gd name="T54" fmla="*/ 93 w 186"/>
                    <a:gd name="T55" fmla="*/ 0 h 185"/>
                    <a:gd name="T56" fmla="*/ 93 w 186"/>
                    <a:gd name="T57" fmla="*/ 185 h 185"/>
                    <a:gd name="T58" fmla="*/ 93 w 186"/>
                    <a:gd name="T59" fmla="*/ 0 h 185"/>
                    <a:gd name="T60" fmla="*/ 8 w 186"/>
                    <a:gd name="T61" fmla="*/ 92 h 185"/>
                    <a:gd name="T62" fmla="*/ 177 w 186"/>
                    <a:gd name="T63" fmla="*/ 92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86" h="185">
                      <a:moveTo>
                        <a:pt x="110" y="92"/>
                      </a:moveTo>
                      <a:cubicBezTo>
                        <a:pt x="108" y="90"/>
                        <a:pt x="105" y="89"/>
                        <a:pt x="103" y="88"/>
                      </a:cubicBezTo>
                      <a:cubicBezTo>
                        <a:pt x="100" y="87"/>
                        <a:pt x="98" y="86"/>
                        <a:pt x="95" y="85"/>
                      </a:cubicBezTo>
                      <a:cubicBezTo>
                        <a:pt x="95" y="65"/>
                        <a:pt x="95" y="65"/>
                        <a:pt x="95" y="65"/>
                      </a:cubicBezTo>
                      <a:cubicBezTo>
                        <a:pt x="99" y="65"/>
                        <a:pt x="100" y="66"/>
                        <a:pt x="102" y="68"/>
                      </a:cubicBezTo>
                      <a:cubicBezTo>
                        <a:pt x="103" y="69"/>
                        <a:pt x="104" y="72"/>
                        <a:pt x="104" y="75"/>
                      </a:cubicBezTo>
                      <a:cubicBezTo>
                        <a:pt x="115" y="75"/>
                        <a:pt x="115" y="75"/>
                        <a:pt x="115" y="75"/>
                      </a:cubicBezTo>
                      <a:cubicBezTo>
                        <a:pt x="115" y="72"/>
                        <a:pt x="114" y="69"/>
                        <a:pt x="113" y="67"/>
                      </a:cubicBezTo>
                      <a:cubicBezTo>
                        <a:pt x="112" y="64"/>
                        <a:pt x="111" y="63"/>
                        <a:pt x="109" y="61"/>
                      </a:cubicBezTo>
                      <a:cubicBezTo>
                        <a:pt x="107" y="59"/>
                        <a:pt x="105" y="58"/>
                        <a:pt x="102" y="58"/>
                      </a:cubicBezTo>
                      <a:cubicBezTo>
                        <a:pt x="100" y="57"/>
                        <a:pt x="98" y="56"/>
                        <a:pt x="95" y="56"/>
                      </a:cubicBezTo>
                      <a:cubicBezTo>
                        <a:pt x="95" y="50"/>
                        <a:pt x="95" y="50"/>
                        <a:pt x="95" y="50"/>
                      </a:cubicBezTo>
                      <a:cubicBezTo>
                        <a:pt x="90" y="50"/>
                        <a:pt x="90" y="50"/>
                        <a:pt x="90" y="50"/>
                      </a:cubicBezTo>
                      <a:cubicBezTo>
                        <a:pt x="90" y="56"/>
                        <a:pt x="90" y="56"/>
                        <a:pt x="90" y="56"/>
                      </a:cubicBezTo>
                      <a:cubicBezTo>
                        <a:pt x="87" y="56"/>
                        <a:pt x="85" y="57"/>
                        <a:pt x="82" y="58"/>
                      </a:cubicBezTo>
                      <a:cubicBezTo>
                        <a:pt x="80" y="58"/>
                        <a:pt x="78" y="60"/>
                        <a:pt x="76" y="61"/>
                      </a:cubicBezTo>
                      <a:cubicBezTo>
                        <a:pt x="74" y="63"/>
                        <a:pt x="72" y="65"/>
                        <a:pt x="71" y="67"/>
                      </a:cubicBezTo>
                      <a:cubicBezTo>
                        <a:pt x="70" y="69"/>
                        <a:pt x="69" y="72"/>
                        <a:pt x="69" y="75"/>
                      </a:cubicBezTo>
                      <a:cubicBezTo>
                        <a:pt x="69" y="79"/>
                        <a:pt x="70" y="82"/>
                        <a:pt x="71" y="84"/>
                      </a:cubicBezTo>
                      <a:cubicBezTo>
                        <a:pt x="72" y="86"/>
                        <a:pt x="74" y="88"/>
                        <a:pt x="76" y="90"/>
                      </a:cubicBezTo>
                      <a:cubicBezTo>
                        <a:pt x="78" y="91"/>
                        <a:pt x="80" y="93"/>
                        <a:pt x="83" y="94"/>
                      </a:cubicBezTo>
                      <a:cubicBezTo>
                        <a:pt x="85" y="95"/>
                        <a:pt x="87" y="95"/>
                        <a:pt x="90" y="96"/>
                      </a:cubicBez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5" y="119"/>
                        <a:pt x="83" y="118"/>
                        <a:pt x="81" y="116"/>
                      </a:cubicBezTo>
                      <a:cubicBezTo>
                        <a:pt x="79" y="113"/>
                        <a:pt x="78" y="110"/>
                        <a:pt x="79" y="106"/>
                      </a:cubicBezTo>
                      <a:cubicBezTo>
                        <a:pt x="68" y="106"/>
                        <a:pt x="68" y="106"/>
                        <a:pt x="68" y="106"/>
                      </a:cubicBezTo>
                      <a:cubicBezTo>
                        <a:pt x="68" y="109"/>
                        <a:pt x="68" y="112"/>
                        <a:pt x="69" y="115"/>
                      </a:cubicBezTo>
                      <a:cubicBezTo>
                        <a:pt x="71" y="118"/>
                        <a:pt x="72" y="120"/>
                        <a:pt x="74" y="122"/>
                      </a:cubicBezTo>
                      <a:cubicBezTo>
                        <a:pt x="76" y="124"/>
                        <a:pt x="78" y="125"/>
                        <a:pt x="81" y="126"/>
                      </a:cubicBezTo>
                      <a:cubicBezTo>
                        <a:pt x="84" y="127"/>
                        <a:pt x="86" y="128"/>
                        <a:pt x="90" y="128"/>
                      </a:cubicBezTo>
                      <a:cubicBezTo>
                        <a:pt x="90" y="134"/>
                        <a:pt x="90" y="134"/>
                        <a:pt x="90" y="134"/>
                      </a:cubicBezTo>
                      <a:cubicBezTo>
                        <a:pt x="95" y="134"/>
                        <a:pt x="95" y="134"/>
                        <a:pt x="95" y="134"/>
                      </a:cubicBezTo>
                      <a:cubicBezTo>
                        <a:pt x="95" y="128"/>
                        <a:pt x="95" y="128"/>
                        <a:pt x="95" y="128"/>
                      </a:cubicBezTo>
                      <a:cubicBezTo>
                        <a:pt x="98" y="128"/>
                        <a:pt x="100" y="127"/>
                        <a:pt x="103" y="126"/>
                      </a:cubicBezTo>
                      <a:cubicBezTo>
                        <a:pt x="106" y="125"/>
                        <a:pt x="108" y="124"/>
                        <a:pt x="110" y="122"/>
                      </a:cubicBezTo>
                      <a:cubicBezTo>
                        <a:pt x="112" y="121"/>
                        <a:pt x="114" y="118"/>
                        <a:pt x="115" y="116"/>
                      </a:cubicBezTo>
                      <a:cubicBezTo>
                        <a:pt x="116" y="113"/>
                        <a:pt x="116" y="110"/>
                        <a:pt x="116" y="106"/>
                      </a:cubicBezTo>
                      <a:cubicBezTo>
                        <a:pt x="116" y="103"/>
                        <a:pt x="116" y="100"/>
                        <a:pt x="115" y="98"/>
                      </a:cubicBezTo>
                      <a:cubicBezTo>
                        <a:pt x="113" y="95"/>
                        <a:pt x="112" y="93"/>
                        <a:pt x="110" y="92"/>
                      </a:cubicBezTo>
                      <a:close/>
                      <a:moveTo>
                        <a:pt x="90" y="84"/>
                      </a:moveTo>
                      <a:cubicBezTo>
                        <a:pt x="88" y="84"/>
                        <a:pt x="88" y="83"/>
                        <a:pt x="87" y="83"/>
                      </a:cubicBezTo>
                      <a:cubicBezTo>
                        <a:pt x="85" y="82"/>
                        <a:pt x="84" y="82"/>
                        <a:pt x="83" y="81"/>
                      </a:cubicBezTo>
                      <a:cubicBezTo>
                        <a:pt x="82" y="80"/>
                        <a:pt x="81" y="79"/>
                        <a:pt x="81" y="78"/>
                      </a:cubicBezTo>
                      <a:cubicBezTo>
                        <a:pt x="80" y="77"/>
                        <a:pt x="80" y="76"/>
                        <a:pt x="80" y="74"/>
                      </a:cubicBezTo>
                      <a:cubicBezTo>
                        <a:pt x="80" y="71"/>
                        <a:pt x="81" y="69"/>
                        <a:pt x="83" y="67"/>
                      </a:cubicBezTo>
                      <a:cubicBezTo>
                        <a:pt x="84" y="66"/>
                        <a:pt x="86" y="65"/>
                        <a:pt x="90" y="65"/>
                      </a:cubicBezTo>
                      <a:lnTo>
                        <a:pt x="90" y="84"/>
                      </a:lnTo>
                      <a:close/>
                      <a:moveTo>
                        <a:pt x="103" y="116"/>
                      </a:moveTo>
                      <a:cubicBezTo>
                        <a:pt x="100" y="118"/>
                        <a:pt x="99" y="119"/>
                        <a:pt x="95" y="119"/>
                      </a:cubicBezTo>
                      <a:cubicBezTo>
                        <a:pt x="95" y="97"/>
                        <a:pt x="95" y="97"/>
                        <a:pt x="95" y="97"/>
                      </a:cubicBezTo>
                      <a:cubicBezTo>
                        <a:pt x="97" y="97"/>
                        <a:pt x="97" y="98"/>
                        <a:pt x="99" y="98"/>
                      </a:cubicBezTo>
                      <a:cubicBezTo>
                        <a:pt x="100" y="99"/>
                        <a:pt x="101" y="100"/>
                        <a:pt x="102" y="100"/>
                      </a:cubicBezTo>
                      <a:cubicBezTo>
                        <a:pt x="103" y="101"/>
                        <a:pt x="104" y="102"/>
                        <a:pt x="105" y="103"/>
                      </a:cubicBezTo>
                      <a:cubicBezTo>
                        <a:pt x="105" y="105"/>
                        <a:pt x="106" y="106"/>
                        <a:pt x="106" y="108"/>
                      </a:cubicBezTo>
                      <a:cubicBezTo>
                        <a:pt x="106" y="112"/>
                        <a:pt x="105" y="115"/>
                        <a:pt x="103" y="116"/>
                      </a:cubicBezTo>
                      <a:close/>
                      <a:moveTo>
                        <a:pt x="93" y="0"/>
                      </a:moveTo>
                      <a:cubicBezTo>
                        <a:pt x="41" y="0"/>
                        <a:pt x="0" y="41"/>
                        <a:pt x="0" y="92"/>
                      </a:cubicBezTo>
                      <a:cubicBezTo>
                        <a:pt x="0" y="144"/>
                        <a:pt x="41" y="185"/>
                        <a:pt x="93" y="185"/>
                      </a:cubicBezTo>
                      <a:cubicBezTo>
                        <a:pt x="144" y="185"/>
                        <a:pt x="186" y="144"/>
                        <a:pt x="186" y="92"/>
                      </a:cubicBezTo>
                      <a:cubicBezTo>
                        <a:pt x="186" y="41"/>
                        <a:pt x="144" y="0"/>
                        <a:pt x="93" y="0"/>
                      </a:cubicBezTo>
                      <a:close/>
                      <a:moveTo>
                        <a:pt x="93" y="177"/>
                      </a:moveTo>
                      <a:cubicBezTo>
                        <a:pt x="46" y="177"/>
                        <a:pt x="8" y="139"/>
                        <a:pt x="8" y="92"/>
                      </a:cubicBezTo>
                      <a:cubicBezTo>
                        <a:pt x="8" y="46"/>
                        <a:pt x="46" y="8"/>
                        <a:pt x="93" y="8"/>
                      </a:cubicBezTo>
                      <a:cubicBezTo>
                        <a:pt x="139" y="8"/>
                        <a:pt x="177" y="46"/>
                        <a:pt x="177" y="92"/>
                      </a:cubicBezTo>
                      <a:cubicBezTo>
                        <a:pt x="177" y="139"/>
                        <a:pt x="139" y="177"/>
                        <a:pt x="93" y="177"/>
                      </a:cubicBezTo>
                      <a:close/>
                    </a:path>
                  </a:pathLst>
                </a:custGeom>
                <a:solidFill>
                  <a:srgbClr val="B2BBCA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1B8E9D6-0432-1922-3F25-08EB31551F64}"/>
                </a:ext>
              </a:extLst>
            </p:cNvPr>
            <p:cNvSpPr/>
            <p:nvPr/>
          </p:nvSpPr>
          <p:spPr>
            <a:xfrm>
              <a:off x="1059073" y="3768292"/>
              <a:ext cx="3391703" cy="313637"/>
            </a:xfrm>
            <a:prstGeom prst="rect">
              <a:avLst/>
            </a:prstGeom>
            <a:noFill/>
            <a:ln w="190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999" tIns="0" rIns="0" bIns="0" rtlCol="0" anchor="ctr"/>
            <a:lstStyle/>
            <a:p>
              <a:r>
                <a:rPr lang="en-GB" sz="1351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IDENTIFY THE WORK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B16FFB-1F36-BBBA-6763-4EF3787A5544}"/>
                </a:ext>
              </a:extLst>
            </p:cNvPr>
            <p:cNvSpPr txBox="1"/>
            <p:nvPr/>
          </p:nvSpPr>
          <p:spPr>
            <a:xfrm>
              <a:off x="955250" y="4163836"/>
              <a:ext cx="4129421" cy="169934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Double the deal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volume from 3 to 6 deals p.a.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Build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three-team approach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Outbound – Insource the team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Diligence &amp; Deal Making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Integration &amp; Synergy Extraction</a:t>
              </a:r>
            </a:p>
            <a:p>
              <a:pPr lvl="1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Rigorous,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repeatable processes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for executing 2X deal volume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3F0E15D-EDDC-C6B8-9E39-EC34F3D800C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434404" y="1834300"/>
            <a:ext cx="787400" cy="698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5ADD5E-8AB6-9090-3D59-A803690EB8B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18192073">
            <a:off x="6856376" y="2720800"/>
            <a:ext cx="787400" cy="69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7CE59-A2B0-1ED5-3FCC-B6D5B718A15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3415690">
            <a:off x="10001815" y="2720625"/>
            <a:ext cx="787400" cy="698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128552-696E-3F40-1E07-B48DE0677CC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8134658">
            <a:off x="9755186" y="4897073"/>
            <a:ext cx="787400" cy="6985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677928-BEFA-5625-362B-F3F5A67DB7D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13678301">
            <a:off x="7164695" y="4895808"/>
            <a:ext cx="787400" cy="6985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49415F4-1961-B19B-9C39-9E0B7A42B40E}"/>
              </a:ext>
            </a:extLst>
          </p:cNvPr>
          <p:cNvSpPr txBox="1"/>
          <p:nvPr/>
        </p:nvSpPr>
        <p:spPr>
          <a:xfrm>
            <a:off x="7802471" y="1222018"/>
            <a:ext cx="2051265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M&amp;A and Deal Execution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8AF2B5-D761-344E-520D-D865DD0C84A4}"/>
              </a:ext>
            </a:extLst>
          </p:cNvPr>
          <p:cNvSpPr txBox="1"/>
          <p:nvPr/>
        </p:nvSpPr>
        <p:spPr>
          <a:xfrm>
            <a:off x="5667971" y="2672656"/>
            <a:ext cx="1429274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 &amp; Marketing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44C2BF-5DE1-6E49-C5FF-88AA9E816822}"/>
              </a:ext>
            </a:extLst>
          </p:cNvPr>
          <p:cNvSpPr txBox="1"/>
          <p:nvPr/>
        </p:nvSpPr>
        <p:spPr>
          <a:xfrm>
            <a:off x="5983824" y="5245058"/>
            <a:ext cx="1429274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Integration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24108C-B57C-6A7D-BA91-67802DE2A90C}"/>
              </a:ext>
            </a:extLst>
          </p:cNvPr>
          <p:cNvSpPr txBox="1"/>
          <p:nvPr/>
        </p:nvSpPr>
        <p:spPr>
          <a:xfrm>
            <a:off x="10422250" y="5245058"/>
            <a:ext cx="1429274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Director of Outbound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61B1EA-F6BD-25F4-3120-11B49665F616}"/>
              </a:ext>
            </a:extLst>
          </p:cNvPr>
          <p:cNvSpPr txBox="1"/>
          <p:nvPr/>
        </p:nvSpPr>
        <p:spPr>
          <a:xfrm>
            <a:off x="10395515" y="2752476"/>
            <a:ext cx="14292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CFO</a:t>
            </a:r>
          </a:p>
        </p:txBody>
      </p:sp>
      <p:sp>
        <p:nvSpPr>
          <p:cNvPr id="6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3D24A933-A49E-4F2F-B2B3-490254813C75}" type="slidenum">
              <a:r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0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C28537D-041D-8CE8-4290-215E9B6D786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- Golden Triangle Lens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101CB3-E1AB-E3DE-1D3B-9A061DB11F2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6" name="Rectangle: Rounded Corners 7">
              <a:extLst>
                <a:ext uri="{FF2B5EF4-FFF2-40B4-BE49-F238E27FC236}">
                  <a16:creationId xmlns:a16="http://schemas.microsoft.com/office/drawing/2014/main" id="{F941A1B3-A627-B774-987B-66612FD7CDA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9">
              <a:extLst>
                <a:ext uri="{FF2B5EF4-FFF2-40B4-BE49-F238E27FC236}">
                  <a16:creationId xmlns:a16="http://schemas.microsoft.com/office/drawing/2014/main" id="{A6E9D0D6-AAD8-9804-AAA5-A28486C11E6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 descr="Bend the Curve">
              <a:extLst>
                <a:ext uri="{FF2B5EF4-FFF2-40B4-BE49-F238E27FC236}">
                  <a16:creationId xmlns:a16="http://schemas.microsoft.com/office/drawing/2014/main" id="{80DEE344-C746-6BDC-F8D7-71E0A1464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B99053-734D-95BD-B88B-C42E7F190E5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D7567F-518A-863E-C6C7-7D2E53852F4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13">
              <a:extLst>
                <a:ext uri="{FF2B5EF4-FFF2-40B4-BE49-F238E27FC236}">
                  <a16:creationId xmlns:a16="http://schemas.microsoft.com/office/drawing/2014/main" id="{48EA769A-D885-108D-CEC5-FF2938908DB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4">
              <a:extLst>
                <a:ext uri="{FF2B5EF4-FFF2-40B4-BE49-F238E27FC236}">
                  <a16:creationId xmlns:a16="http://schemas.microsoft.com/office/drawing/2014/main" id="{4DC9F9B5-8AD7-79C5-CFFB-7DB301948D9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4FDF36B-CD63-248B-5958-160AC7B9C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DB479A-954D-E2AE-9815-ACF688FC61D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C188AA-0224-C3D8-EE00-1BA435ECD19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7" name="Rectangle: Rounded Corners 18">
              <a:extLst>
                <a:ext uri="{FF2B5EF4-FFF2-40B4-BE49-F238E27FC236}">
                  <a16:creationId xmlns:a16="http://schemas.microsoft.com/office/drawing/2014/main" id="{D1A40574-A439-6BDB-BCB7-CFAF6C87F319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: Rounded Corners 19">
              <a:extLst>
                <a:ext uri="{FF2B5EF4-FFF2-40B4-BE49-F238E27FC236}">
                  <a16:creationId xmlns:a16="http://schemas.microsoft.com/office/drawing/2014/main" id="{61114B6C-0858-3E1B-B6CC-5889D035736D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F61EDDD-657F-F1E6-18D2-83748093E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F758B04-93DD-A833-5437-CFF7A42A2A0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604E4C2-D995-3AA4-7DDF-93BA082A3D93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3">
              <a:extLst>
                <a:ext uri="{FF2B5EF4-FFF2-40B4-BE49-F238E27FC236}">
                  <a16:creationId xmlns:a16="http://schemas.microsoft.com/office/drawing/2014/main" id="{6117AB6B-D798-0764-00EC-5B5C756400F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3" name="Rectangle: Rounded Corners 24">
              <a:extLst>
                <a:ext uri="{FF2B5EF4-FFF2-40B4-BE49-F238E27FC236}">
                  <a16:creationId xmlns:a16="http://schemas.microsoft.com/office/drawing/2014/main" id="{19934D93-D557-1B43-CF6E-AE9F6132EA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4" name="Picture 33" descr="Choose">
              <a:extLst>
                <a:ext uri="{FF2B5EF4-FFF2-40B4-BE49-F238E27FC236}">
                  <a16:creationId xmlns:a16="http://schemas.microsoft.com/office/drawing/2014/main" id="{80A20DD8-82FB-00A7-582D-F5590070C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ED9B7EC-1743-094A-5324-45BA01EAA59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1C52007-109E-565D-844D-54272C2D4FD9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7" name="Rectangle: Rounded Corners 28">
              <a:extLst>
                <a:ext uri="{FF2B5EF4-FFF2-40B4-BE49-F238E27FC236}">
                  <a16:creationId xmlns:a16="http://schemas.microsoft.com/office/drawing/2014/main" id="{E07D5751-08B1-A1CB-1982-67D9EBB5EF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Rectangle: Rounded Corners 29">
              <a:extLst>
                <a:ext uri="{FF2B5EF4-FFF2-40B4-BE49-F238E27FC236}">
                  <a16:creationId xmlns:a16="http://schemas.microsoft.com/office/drawing/2014/main" id="{E152D18F-10D7-5205-3B4B-C95F4C22664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885F909-61D2-4E5F-CF2D-0FDBFA6DB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6ED9D50-FA7E-E3DA-02CA-B7C0DF38EE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E81468C-0C54-3D0C-3137-6E8D91AB1C2E}"/>
              </a:ext>
            </a:extLst>
          </p:cNvPr>
          <p:cNvGrpSpPr/>
          <p:nvPr/>
        </p:nvGrpSpPr>
        <p:grpSpPr>
          <a:xfrm>
            <a:off x="533401" y="1567144"/>
            <a:ext cx="3269807" cy="4673891"/>
            <a:chOff x="533400" y="1220097"/>
            <a:chExt cx="3269806" cy="467389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16CD4C1-9C7F-FC0B-FDFD-2436DA41AE54}"/>
                </a:ext>
              </a:extLst>
            </p:cNvPr>
            <p:cNvGrpSpPr/>
            <p:nvPr/>
          </p:nvGrpSpPr>
          <p:grpSpPr>
            <a:xfrm>
              <a:off x="533400" y="1220097"/>
              <a:ext cx="3269806" cy="4145467"/>
              <a:chOff x="533400" y="1220097"/>
              <a:chExt cx="3269806" cy="4145467"/>
            </a:xfrm>
          </p:grpSpPr>
          <p:sp>
            <p:nvSpPr>
              <p:cNvPr id="54" name="Title 1">
                <a:extLst>
                  <a:ext uri="{FF2B5EF4-FFF2-40B4-BE49-F238E27FC236}">
                    <a16:creationId xmlns:a16="http://schemas.microsoft.com/office/drawing/2014/main" id="{D881A6A2-6416-9983-9FE3-431C3D7393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1220097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b="1" i="0" spc="-25">
                    <a:solidFill>
                      <a:srgbClr val="FFFFFF"/>
                    </a:solidFill>
                    <a:latin typeface="Segoe UI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b="1" kern="0" spc="-25" dirty="0">
                    <a:solidFill>
                      <a:schemeClr val="tx1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Arial" panose="020B0604020202020204" pitchFamily="34" charset="0"/>
                  </a:rPr>
                  <a:t>TOP DOWN</a:t>
                </a:r>
              </a:p>
            </p:txBody>
          </p:sp>
          <p:sp>
            <p:nvSpPr>
              <p:cNvPr id="52" name="Arrow: Down 3">
                <a:extLst>
                  <a:ext uri="{FF2B5EF4-FFF2-40B4-BE49-F238E27FC236}">
                    <a16:creationId xmlns:a16="http://schemas.microsoft.com/office/drawing/2014/main" id="{B457D041-14E0-F437-6B4B-8DFDCA2461D6}"/>
                  </a:ext>
                </a:extLst>
              </p:cNvPr>
              <p:cNvSpPr/>
              <p:nvPr/>
            </p:nvSpPr>
            <p:spPr>
              <a:xfrm>
                <a:off x="533400" y="1616450"/>
                <a:ext cx="3269806" cy="2237223"/>
              </a:xfrm>
              <a:prstGeom prst="downArrow">
                <a:avLst/>
              </a:prstGeom>
              <a:noFill/>
              <a:ln w="28575">
                <a:solidFill>
                  <a:srgbClr val="281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SG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3" name="Arrow: Down 4">
                <a:extLst>
                  <a:ext uri="{FF2B5EF4-FFF2-40B4-BE49-F238E27FC236}">
                    <a16:creationId xmlns:a16="http://schemas.microsoft.com/office/drawing/2014/main" id="{2CE77FCF-D933-29B3-D7B4-93371EA63759}"/>
                  </a:ext>
                </a:extLst>
              </p:cNvPr>
              <p:cNvSpPr/>
              <p:nvPr/>
            </p:nvSpPr>
            <p:spPr>
              <a:xfrm flipV="1">
                <a:off x="533400" y="2699024"/>
                <a:ext cx="3269806" cy="2237223"/>
              </a:xfrm>
              <a:prstGeom prst="downArrow">
                <a:avLst/>
              </a:prstGeom>
              <a:noFill/>
              <a:ln w="2857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SG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5" name="Title 1">
                <a:extLst>
                  <a:ext uri="{FF2B5EF4-FFF2-40B4-BE49-F238E27FC236}">
                    <a16:creationId xmlns:a16="http://schemas.microsoft.com/office/drawing/2014/main" id="{1AB98D82-7312-1578-C594-E779591167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4962818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rgbClr val="1D1D1D"/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 spc="-10" dirty="0">
                    <a:solidFill>
                      <a:srgbClr val="F2F2F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BOTTOM UP</a:t>
                </a:r>
              </a:p>
            </p:txBody>
          </p:sp>
          <p:sp>
            <p:nvSpPr>
              <p:cNvPr id="56" name="Title 1">
                <a:extLst>
                  <a:ext uri="{FF2B5EF4-FFF2-40B4-BE49-F238E27FC236}">
                    <a16:creationId xmlns:a16="http://schemas.microsoft.com/office/drawing/2014/main" id="{2D032A09-FE21-D150-B6F4-10FC0D818A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4156901"/>
                <a:ext cx="2014504" cy="6888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rgbClr val="1D1D1D"/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b="1" kern="0" spc="-10" dirty="0">
                    <a:solidFill>
                      <a:srgbClr val="F2F2F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80-90</a:t>
                </a:r>
              </a:p>
              <a:p>
                <a:pPr algn="ctr"/>
                <a:r>
                  <a:rPr lang="en-US" sz="1600" kern="0" spc="-10" dirty="0">
                    <a:solidFill>
                      <a:srgbClr val="F2F2F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ROLES</a:t>
                </a:r>
              </a:p>
            </p:txBody>
          </p:sp>
          <p:sp>
            <p:nvSpPr>
              <p:cNvPr id="57" name="Title 1">
                <a:extLst>
                  <a:ext uri="{FF2B5EF4-FFF2-40B4-BE49-F238E27FC236}">
                    <a16:creationId xmlns:a16="http://schemas.microsoft.com/office/drawing/2014/main" id="{9F9B7B6A-6F11-31B9-FEF3-6E8636F399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2415" y="2945454"/>
                <a:ext cx="2014504" cy="6888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rgbClr val="1D1D1D"/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b="1" kern="0" spc="-10">
                    <a:solidFill>
                      <a:srgbClr val="281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45 - 50</a:t>
                </a:r>
              </a:p>
              <a:p>
                <a:pPr algn="ctr"/>
                <a:r>
                  <a:rPr lang="en-US" sz="1600" kern="0" spc="-10">
                    <a:solidFill>
                      <a:srgbClr val="281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ROLES</a:t>
                </a:r>
              </a:p>
            </p:txBody>
          </p:sp>
          <p:sp>
            <p:nvSpPr>
              <p:cNvPr id="58" name="Title 1">
                <a:extLst>
                  <a:ext uri="{FF2B5EF4-FFF2-40B4-BE49-F238E27FC236}">
                    <a16:creationId xmlns:a16="http://schemas.microsoft.com/office/drawing/2014/main" id="{0749509E-267B-FF5F-BD93-9E9B30BBFC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1971690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rgbClr val="1D1D1D"/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 spc="-10" dirty="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DISTILL</a:t>
                </a:r>
                <a:br>
                  <a:rPr lang="en-US" sz="1600" kern="0" spc="-10" dirty="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600" kern="0" spc="-10" dirty="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LIST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7AB169A-DEAF-994E-FC76-D5A46A16460B}"/>
                </a:ext>
              </a:extLst>
            </p:cNvPr>
            <p:cNvSpPr txBox="1"/>
            <p:nvPr/>
          </p:nvSpPr>
          <p:spPr>
            <a:xfrm>
              <a:off x="708956" y="5352778"/>
              <a:ext cx="2937102" cy="541210"/>
            </a:xfrm>
            <a:prstGeom prst="rect">
              <a:avLst/>
            </a:prstGeom>
            <a:solidFill>
              <a:srgbClr val="585858"/>
            </a:solidFill>
            <a:ln w="12700">
              <a:solidFill>
                <a:srgbClr val="1D1D1D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sz="1600" b="1" spc="-10" dirty="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 SPOT OWNER LIST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B74490A-1465-6CA9-1F0B-17721F699B63}"/>
              </a:ext>
            </a:extLst>
          </p:cNvPr>
          <p:cNvSpPr txBox="1"/>
          <p:nvPr/>
        </p:nvSpPr>
        <p:spPr>
          <a:xfrm>
            <a:off x="699753" y="1051733"/>
            <a:ext cx="2937103" cy="541211"/>
          </a:xfrm>
          <a:prstGeom prst="rect">
            <a:avLst/>
          </a:prstGeom>
          <a:solidFill>
            <a:srgbClr val="585858"/>
          </a:solidFill>
          <a:ln w="12700">
            <a:solidFill>
              <a:srgbClr val="1D1D1D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CEO Priority List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F646963-8D68-6A2A-EA2F-3EE06CB679DE}"/>
              </a:ext>
            </a:extLst>
          </p:cNvPr>
          <p:cNvGrpSpPr/>
          <p:nvPr/>
        </p:nvGrpSpPr>
        <p:grpSpPr>
          <a:xfrm>
            <a:off x="3982566" y="2715915"/>
            <a:ext cx="2395913" cy="1844792"/>
            <a:chOff x="3982566" y="2715915"/>
            <a:chExt cx="2395913" cy="1844792"/>
          </a:xfrm>
        </p:grpSpPr>
        <p:sp>
          <p:nvSpPr>
            <p:cNvPr id="143" name="Rounded Rectangle 142">
              <a:extLst>
                <a:ext uri="{FF2B5EF4-FFF2-40B4-BE49-F238E27FC236}">
                  <a16:creationId xmlns:a16="http://schemas.microsoft.com/office/drawing/2014/main" id="{C67AF64B-D996-2787-7966-6C28D9226CF8}"/>
                </a:ext>
              </a:extLst>
            </p:cNvPr>
            <p:cNvSpPr/>
            <p:nvPr/>
          </p:nvSpPr>
          <p:spPr>
            <a:xfrm>
              <a:off x="3982566" y="2775290"/>
              <a:ext cx="2395913" cy="1728658"/>
            </a:xfrm>
            <a:prstGeom prst="roundRect">
              <a:avLst>
                <a:gd name="adj" fmla="val 10873"/>
              </a:avLst>
            </a:prstGeom>
            <a:solidFill>
              <a:srgbClr val="F2F2F2"/>
            </a:solidFill>
            <a:ln>
              <a:solidFill>
                <a:srgbClr val="281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144" name="Title 1">
              <a:extLst>
                <a:ext uri="{FF2B5EF4-FFF2-40B4-BE49-F238E27FC236}">
                  <a16:creationId xmlns:a16="http://schemas.microsoft.com/office/drawing/2014/main" id="{B1050BC9-4F0F-55E8-1DC4-1C55DA13CE9E}"/>
                </a:ext>
              </a:extLst>
            </p:cNvPr>
            <p:cNvSpPr txBox="1">
              <a:spLocks/>
            </p:cNvSpPr>
            <p:nvPr/>
          </p:nvSpPr>
          <p:spPr>
            <a:xfrm>
              <a:off x="4184687" y="2715915"/>
              <a:ext cx="2085309" cy="184479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>
                <a:defRPr sz="2400" i="0" spc="-10">
                  <a:solidFill>
                    <a:srgbClr val="1D1D1D"/>
                  </a:solidFill>
                  <a:latin typeface="Arial" pitchFamily="34" charset="0"/>
                  <a:ea typeface="+mj-ea"/>
                  <a:cs typeface="Lato Light" panose="020F0402020204030203" pitchFamily="34" charset="0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sz="1600" kern="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Assign </a:t>
              </a:r>
              <a:r>
                <a:rPr lang="en-US" sz="1600" b="1" kern="0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“CHIPS” </a:t>
              </a:r>
              <a:r>
                <a:rPr lang="en-US" sz="1600" kern="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each role to allocate contribution to overall hotspot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BE79B3C-0500-7809-35E1-9E49749A51B4}"/>
              </a:ext>
            </a:extLst>
          </p:cNvPr>
          <p:cNvGrpSpPr/>
          <p:nvPr/>
        </p:nvGrpSpPr>
        <p:grpSpPr>
          <a:xfrm>
            <a:off x="6477210" y="1302432"/>
            <a:ext cx="5475431" cy="4925908"/>
            <a:chOff x="6399157" y="1152836"/>
            <a:chExt cx="5475431" cy="4925908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ED7DBC1-50AA-7157-BCDB-31FE2D929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8790737" y="1767121"/>
              <a:ext cx="660400" cy="6096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921264A-5864-F54F-82E2-44722EF86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18208374">
              <a:off x="7296623" y="2692439"/>
              <a:ext cx="660400" cy="609600"/>
            </a:xfrm>
            <a:prstGeom prst="rect">
              <a:avLst/>
            </a:prstGeom>
          </p:spPr>
        </p:pic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3778BF4-FC8D-B8F9-5F27-FF716A1F1492}"/>
                </a:ext>
              </a:extLst>
            </p:cNvPr>
            <p:cNvSpPr/>
            <p:nvPr/>
          </p:nvSpPr>
          <p:spPr>
            <a:xfrm>
              <a:off x="7818107" y="2463988"/>
              <a:ext cx="2605661" cy="2642427"/>
            </a:xfrm>
            <a:prstGeom prst="ellipse">
              <a:avLst/>
            </a:prstGeom>
            <a:solidFill>
              <a:srgbClr val="281A4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M&amp;A</a:t>
              </a:r>
            </a:p>
            <a:p>
              <a:pPr algn="ctr"/>
              <a:r>
                <a:rPr lang="en-US" sz="2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750M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4548328-B601-70FE-B0B0-960052D8B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3548039">
              <a:off x="10308940" y="2689521"/>
              <a:ext cx="660400" cy="60960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8D3F6827-0A7B-BF4F-AA13-DF786D834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7701020">
              <a:off x="10174077" y="4452357"/>
              <a:ext cx="660400" cy="60960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7C00D3F-CC93-C8DC-61E5-5C14A8B9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14051794">
              <a:off x="7379424" y="4451339"/>
              <a:ext cx="660400" cy="6096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863138-17FA-87BF-7013-85416203E167}"/>
                </a:ext>
              </a:extLst>
            </p:cNvPr>
            <p:cNvSpPr txBox="1"/>
            <p:nvPr/>
          </p:nvSpPr>
          <p:spPr>
            <a:xfrm>
              <a:off x="7947684" y="1152836"/>
              <a:ext cx="2051265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VP M&amp;A and Deal Execution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91AC791-5BD5-C653-7BA1-3DF7164C0A89}"/>
                </a:ext>
              </a:extLst>
            </p:cNvPr>
            <p:cNvSpPr txBox="1"/>
            <p:nvPr/>
          </p:nvSpPr>
          <p:spPr>
            <a:xfrm>
              <a:off x="6527092" y="2071921"/>
              <a:ext cx="1429274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VP Sales &amp; Marketing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127B586-6FE5-224F-FB24-68614954B295}"/>
                </a:ext>
              </a:extLst>
            </p:cNvPr>
            <p:cNvSpPr txBox="1"/>
            <p:nvPr/>
          </p:nvSpPr>
          <p:spPr>
            <a:xfrm>
              <a:off x="6399157" y="5022439"/>
              <a:ext cx="1429274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Integration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26C3F6B-D9B6-6460-E1D3-AF5676B73989}"/>
                </a:ext>
              </a:extLst>
            </p:cNvPr>
            <p:cNvSpPr txBox="1"/>
            <p:nvPr/>
          </p:nvSpPr>
          <p:spPr>
            <a:xfrm>
              <a:off x="10320451" y="5022439"/>
              <a:ext cx="1429274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Director of Outbound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CB8EE8F-BB63-091D-B2A6-DD7658981148}"/>
                </a:ext>
              </a:extLst>
            </p:cNvPr>
            <p:cNvSpPr txBox="1"/>
            <p:nvPr/>
          </p:nvSpPr>
          <p:spPr>
            <a:xfrm>
              <a:off x="10216426" y="2223139"/>
              <a:ext cx="1429274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CFO</a:t>
              </a:r>
            </a:p>
          </p:txBody>
        </p:sp>
        <p:pic>
          <p:nvPicPr>
            <p:cNvPr id="141" name="Graphic 140" descr="Gambling Chips with solid fill">
              <a:extLst>
                <a:ext uri="{FF2B5EF4-FFF2-40B4-BE49-F238E27FC236}">
                  <a16:creationId xmlns:a16="http://schemas.microsoft.com/office/drawing/2014/main" id="{BF85587F-B25A-E41E-0DC9-C40789C63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460563" y="2718252"/>
              <a:ext cx="437116" cy="437116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D8E18FD-D468-B356-CDB2-62A096AAC187}"/>
                </a:ext>
              </a:extLst>
            </p:cNvPr>
            <p:cNvSpPr txBox="1"/>
            <p:nvPr/>
          </p:nvSpPr>
          <p:spPr>
            <a:xfrm>
              <a:off x="6799941" y="2752853"/>
              <a:ext cx="583814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b="1">
                  <a:solidFill>
                    <a:srgbClr val="765FFF"/>
                  </a:solidFill>
                </a:rPr>
                <a:t>10%</a:t>
              </a:r>
            </a:p>
          </p:txBody>
        </p:sp>
        <p:pic>
          <p:nvPicPr>
            <p:cNvPr id="146" name="Graphic 145" descr="Gambling Chips with solid fill">
              <a:extLst>
                <a:ext uri="{FF2B5EF4-FFF2-40B4-BE49-F238E27FC236}">
                  <a16:creationId xmlns:a16="http://schemas.microsoft.com/office/drawing/2014/main" id="{F19683DC-C590-2244-D9DE-845037475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707673" y="5641628"/>
              <a:ext cx="437116" cy="437116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81B86B3-0A3F-1237-F294-196547C7672B}"/>
                </a:ext>
              </a:extLst>
            </p:cNvPr>
            <p:cNvSpPr txBox="1"/>
            <p:nvPr/>
          </p:nvSpPr>
          <p:spPr>
            <a:xfrm>
              <a:off x="7047051" y="5676229"/>
              <a:ext cx="587020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b="1">
                  <a:solidFill>
                    <a:srgbClr val="765FFF"/>
                  </a:solidFill>
                </a:rPr>
                <a:t>25%</a:t>
              </a:r>
            </a:p>
          </p:txBody>
        </p:sp>
        <p:pic>
          <p:nvPicPr>
            <p:cNvPr id="148" name="Graphic 147" descr="Gambling Chips with solid fill">
              <a:extLst>
                <a:ext uri="{FF2B5EF4-FFF2-40B4-BE49-F238E27FC236}">
                  <a16:creationId xmlns:a16="http://schemas.microsoft.com/office/drawing/2014/main" id="{C9B790AD-F700-E15F-CA6F-0F92C97BA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669836" y="5641628"/>
              <a:ext cx="437116" cy="437116"/>
            </a:xfrm>
            <a:prstGeom prst="rect">
              <a:avLst/>
            </a:prstGeom>
          </p:spPr>
        </p:pic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3F6307B-F3B3-C4DB-AC6A-59F4C15BDF48}"/>
                </a:ext>
              </a:extLst>
            </p:cNvPr>
            <p:cNvSpPr txBox="1"/>
            <p:nvPr/>
          </p:nvSpPr>
          <p:spPr>
            <a:xfrm>
              <a:off x="11009214" y="5676229"/>
              <a:ext cx="587020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b="1">
                  <a:solidFill>
                    <a:srgbClr val="765FFF"/>
                  </a:solidFill>
                </a:rPr>
                <a:t>25%</a:t>
              </a:r>
            </a:p>
          </p:txBody>
        </p:sp>
        <p:pic>
          <p:nvPicPr>
            <p:cNvPr id="150" name="Graphic 149" descr="Gambling Chips with solid fill">
              <a:extLst>
                <a:ext uri="{FF2B5EF4-FFF2-40B4-BE49-F238E27FC236}">
                  <a16:creationId xmlns:a16="http://schemas.microsoft.com/office/drawing/2014/main" id="{7BF88470-0AD3-D365-BBCA-495911289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948190" y="2591754"/>
              <a:ext cx="437116" cy="437116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1FA2183-BFEB-4CAA-9D7E-DCF5B5B6FE13}"/>
                </a:ext>
              </a:extLst>
            </p:cNvPr>
            <p:cNvSpPr txBox="1"/>
            <p:nvPr/>
          </p:nvSpPr>
          <p:spPr>
            <a:xfrm>
              <a:off x="11287568" y="2626355"/>
              <a:ext cx="587020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b="1">
                  <a:solidFill>
                    <a:srgbClr val="765FFF"/>
                  </a:solidFill>
                </a:rPr>
                <a:t>10%</a:t>
              </a:r>
            </a:p>
          </p:txBody>
        </p:sp>
        <p:pic>
          <p:nvPicPr>
            <p:cNvPr id="152" name="Graphic 151" descr="Gambling Chips with solid fill">
              <a:extLst>
                <a:ext uri="{FF2B5EF4-FFF2-40B4-BE49-F238E27FC236}">
                  <a16:creationId xmlns:a16="http://schemas.microsoft.com/office/drawing/2014/main" id="{A1D55CFD-791D-2F8F-418B-F40C78DB7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762627" y="1434960"/>
              <a:ext cx="437116" cy="437116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D52A42E-7170-9662-44DC-1850E961593A}"/>
                </a:ext>
              </a:extLst>
            </p:cNvPr>
            <p:cNvSpPr txBox="1"/>
            <p:nvPr/>
          </p:nvSpPr>
          <p:spPr>
            <a:xfrm>
              <a:off x="10102005" y="1469561"/>
              <a:ext cx="587020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b="1">
                  <a:solidFill>
                    <a:srgbClr val="765FFF"/>
                  </a:solidFill>
                </a:rPr>
                <a:t>30%</a:t>
              </a:r>
            </a:p>
          </p:txBody>
        </p:sp>
      </p:grpSp>
      <p:sp>
        <p:nvSpPr>
          <p:cNvPr id="15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224D20E9-413F-427A-B2A8-F1C08B68759D}" type="slidenum">
              <a:r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8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54C0EC-C9ED-793F-F448-F041A30B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</p:spPr>
        <p:txBody>
          <a:bodyPr lIns="121920" tIns="60960" rIns="121920" bIns="60960" anchor="t"/>
          <a:lstStyle/>
          <a:p>
            <a:r>
              <a:rPr lang="en-US"/>
              <a:t>Example: What Are the Roles Critical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828EB-44E7-77BC-87E4-54F5BBEC32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pc="-10" dirty="0">
                <a:ea typeface="Helvetica Neue" panose="02000503000000020004" pitchFamily="2" charset="0"/>
                <a:cs typeface="Helvetica Neue" panose="02000503000000020004" pitchFamily="2" charset="0"/>
              </a:rPr>
              <a:t>To delivering the work?</a:t>
            </a:r>
            <a:endParaRPr lang="en-US" spc="-1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02C0EC-E50B-3275-A1B4-B7B2F2DF67E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2" name="SlideNumber"/>
          <p:cNvSpPr>
            <a:spLocks noGrp="1"/>
          </p:cNvSpPr>
          <p:nvPr>
            <p:ph type="sldNum" idx="4294967295"/>
          </p:nvPr>
        </p:nvSpPr>
        <p:spPr>
          <a:xfrm>
            <a:off x="0" y="6564313"/>
            <a:ext cx="457200" cy="128587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4728D94F-87B0-4F0E-B505-A50E9EEB4292}" type="slidenum">
              <a:rPr/>
              <a:t>39</a:t>
            </a:fld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119CD73-C820-F3DE-5458-7A9762AB9D20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2" name="Rectangle: Rounded Corners 7">
              <a:extLst>
                <a:ext uri="{FF2B5EF4-FFF2-40B4-BE49-F238E27FC236}">
                  <a16:creationId xmlns:a16="http://schemas.microsoft.com/office/drawing/2014/main" id="{28DAA4A4-1A7C-B757-1326-FC56EA6789F3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3" name="Rectangle: Rounded Corners 9">
              <a:extLst>
                <a:ext uri="{FF2B5EF4-FFF2-40B4-BE49-F238E27FC236}">
                  <a16:creationId xmlns:a16="http://schemas.microsoft.com/office/drawing/2014/main" id="{988C2E4C-3590-91DF-4770-862DD6DD204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4" name="Picture 93" descr="Bend the Curve">
              <a:extLst>
                <a:ext uri="{FF2B5EF4-FFF2-40B4-BE49-F238E27FC236}">
                  <a16:creationId xmlns:a16="http://schemas.microsoft.com/office/drawing/2014/main" id="{B4F065BD-DA6E-95EE-3F2A-84BB40E10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2E80DF1-CCBE-B854-55BC-85B03885655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FB8DA34-5054-D194-5DC2-B332AD62ACC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7" name="Rectangle: Rounded Corners 13">
              <a:extLst>
                <a:ext uri="{FF2B5EF4-FFF2-40B4-BE49-F238E27FC236}">
                  <a16:creationId xmlns:a16="http://schemas.microsoft.com/office/drawing/2014/main" id="{7CE9580A-D0E7-7C3F-C5D5-5180A2B7352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Rectangle: Rounded Corners 14">
              <a:extLst>
                <a:ext uri="{FF2B5EF4-FFF2-40B4-BE49-F238E27FC236}">
                  <a16:creationId xmlns:a16="http://schemas.microsoft.com/office/drawing/2014/main" id="{AD7DB9F4-8C81-32BA-4444-615CCC63FBA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DDAA378B-0C12-C86B-9EDF-4A8FE7FD3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D4CF195-741F-7E87-66CA-E4816B6AA39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9654E-88DA-E8BC-DEB2-7A41ECF294A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02" name="Rectangle: Rounded Corners 18">
              <a:extLst>
                <a:ext uri="{FF2B5EF4-FFF2-40B4-BE49-F238E27FC236}">
                  <a16:creationId xmlns:a16="http://schemas.microsoft.com/office/drawing/2014/main" id="{368FD89C-C7AA-D2CD-8DEF-7E720FA2882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Rectangle: Rounded Corners 19">
              <a:extLst>
                <a:ext uri="{FF2B5EF4-FFF2-40B4-BE49-F238E27FC236}">
                  <a16:creationId xmlns:a16="http://schemas.microsoft.com/office/drawing/2014/main" id="{BCBE0B89-B02D-CD40-52F8-0BCAAC159BD7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95017A1C-1E7C-9028-C92C-A7178BDF4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12972B9-9746-2B46-2A86-EA9D9F4B3A52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FF072D9-9147-25AC-1DDF-09A2F35D395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07" name="Rectangle: Rounded Corners 23">
              <a:extLst>
                <a:ext uri="{FF2B5EF4-FFF2-40B4-BE49-F238E27FC236}">
                  <a16:creationId xmlns:a16="http://schemas.microsoft.com/office/drawing/2014/main" id="{1B86CAD7-4807-51FA-DFA2-310128801F5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8" name="Rectangle: Rounded Corners 24">
              <a:extLst>
                <a:ext uri="{FF2B5EF4-FFF2-40B4-BE49-F238E27FC236}">
                  <a16:creationId xmlns:a16="http://schemas.microsoft.com/office/drawing/2014/main" id="{BE0DB072-1998-8AE2-7F75-A96E21375AB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9" name="Picture 108" descr="Choose">
              <a:extLst>
                <a:ext uri="{FF2B5EF4-FFF2-40B4-BE49-F238E27FC236}">
                  <a16:creationId xmlns:a16="http://schemas.microsoft.com/office/drawing/2014/main" id="{A4C3B5D4-05E0-C47D-258B-784787ED0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6664C85-45A2-C46A-A92E-CD70BE65F8E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515F99E-12E7-B17B-65A0-66333EFFCBB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112" name="Rectangle: Rounded Corners 28">
              <a:extLst>
                <a:ext uri="{FF2B5EF4-FFF2-40B4-BE49-F238E27FC236}">
                  <a16:creationId xmlns:a16="http://schemas.microsoft.com/office/drawing/2014/main" id="{10F6B00B-72B4-C48A-E19B-B97A03EFE5B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3" name="Rectangle: Rounded Corners 29">
              <a:extLst>
                <a:ext uri="{FF2B5EF4-FFF2-40B4-BE49-F238E27FC236}">
                  <a16:creationId xmlns:a16="http://schemas.microsoft.com/office/drawing/2014/main" id="{A47A7561-3D84-D83B-3EF7-54996F4E853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1321C5FC-3ABF-4ACB-0544-72B629D78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3AC91EC-43EB-9D0C-6367-62632A0420A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289ED30-761C-8E05-006F-E9A208542FC7}"/>
              </a:ext>
            </a:extLst>
          </p:cNvPr>
          <p:cNvGrpSpPr/>
          <p:nvPr/>
        </p:nvGrpSpPr>
        <p:grpSpPr>
          <a:xfrm>
            <a:off x="7212190" y="2722962"/>
            <a:ext cx="2533978" cy="3004651"/>
            <a:chOff x="21764087" y="4761570"/>
            <a:chExt cx="7647334" cy="9146356"/>
          </a:xfrm>
        </p:grpSpPr>
        <p:sp>
          <p:nvSpPr>
            <p:cNvPr id="66" name="Rectangle: Rounded Corners 3">
              <a:extLst>
                <a:ext uri="{FF2B5EF4-FFF2-40B4-BE49-F238E27FC236}">
                  <a16:creationId xmlns:a16="http://schemas.microsoft.com/office/drawing/2014/main" id="{8C2BB20F-520E-88EE-B13F-68EDDC1A54B9}"/>
                </a:ext>
              </a:extLst>
            </p:cNvPr>
            <p:cNvSpPr/>
            <p:nvPr/>
          </p:nvSpPr>
          <p:spPr>
            <a:xfrm>
              <a:off x="23252409" y="5913038"/>
              <a:ext cx="4620897" cy="7994888"/>
            </a:xfrm>
            <a:prstGeom prst="roundRect">
              <a:avLst>
                <a:gd name="adj" fmla="val 9789"/>
              </a:avLst>
            </a:prstGeom>
            <a:solidFill>
              <a:srgbClr val="7A82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>
                  <a:solidFill>
                    <a:srgbClr val="1D1D1D"/>
                  </a:solidFill>
                </a:defRPr>
              </a:pPr>
              <a:r>
                <a:rPr lang="en-US" sz="1067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Critical Role Table:</a:t>
              </a:r>
            </a:p>
            <a:p>
              <a:pPr algn="ctr" defTabSz="914354">
                <a:defRPr>
                  <a:solidFill>
                    <a:srgbClr val="1D1D1D"/>
                  </a:solidFill>
                </a:defRPr>
              </a:pPr>
              <a:endParaRPr lang="en-US" sz="1067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 defTabSz="914354">
                <a:defRPr>
                  <a:solidFill>
                    <a:srgbClr val="1D1D1D"/>
                  </a:solidFill>
                </a:defRPr>
              </a:pPr>
              <a:r>
                <a:rPr lang="en-US" sz="1067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Hair Care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D03907A-3AEC-AC57-299A-26C6B6571821}"/>
                </a:ext>
              </a:extLst>
            </p:cNvPr>
            <p:cNvGrpSpPr/>
            <p:nvPr/>
          </p:nvGrpSpPr>
          <p:grpSpPr>
            <a:xfrm>
              <a:off x="21764087" y="6793746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A239DA76-AEE8-5B70-8BD6-8FFE0CAEF3CC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A5AD1996-ABF8-00E3-8B86-4F991E138E23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94BC214-1F4E-3886-061A-F812D347F079}"/>
                </a:ext>
              </a:extLst>
            </p:cNvPr>
            <p:cNvGrpSpPr/>
            <p:nvPr/>
          </p:nvGrpSpPr>
          <p:grpSpPr>
            <a:xfrm>
              <a:off x="21764087" y="10132084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90" name="Freeform: Shape 30">
                <a:extLst>
                  <a:ext uri="{FF2B5EF4-FFF2-40B4-BE49-F238E27FC236}">
                    <a16:creationId xmlns:a16="http://schemas.microsoft.com/office/drawing/2014/main" id="{6DE80887-80C0-053B-24B9-0E42CC2C0930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D46F083C-A204-5EC8-C257-F4AABB9D5E0A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E0145F0-1F4D-5A32-FA77-27780A507196}"/>
                </a:ext>
              </a:extLst>
            </p:cNvPr>
            <p:cNvGrpSpPr/>
            <p:nvPr/>
          </p:nvGrpSpPr>
          <p:grpSpPr>
            <a:xfrm>
              <a:off x="21764087" y="11801253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8" name="Freeform: Shape 28">
                <a:extLst>
                  <a:ext uri="{FF2B5EF4-FFF2-40B4-BE49-F238E27FC236}">
                    <a16:creationId xmlns:a16="http://schemas.microsoft.com/office/drawing/2014/main" id="{315651A7-EA93-C136-F91E-AFF298680B1C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9" name="Freeform: Shape 29">
                <a:extLst>
                  <a:ext uri="{FF2B5EF4-FFF2-40B4-BE49-F238E27FC236}">
                    <a16:creationId xmlns:a16="http://schemas.microsoft.com/office/drawing/2014/main" id="{86F9880C-A958-9A04-ABA2-C0AD086EE7E6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B76EA1F-20A2-0639-63BE-D0C64B1699C5}"/>
                </a:ext>
              </a:extLst>
            </p:cNvPr>
            <p:cNvGrpSpPr/>
            <p:nvPr/>
          </p:nvGrpSpPr>
          <p:grpSpPr>
            <a:xfrm flipH="1">
              <a:off x="28615122" y="6793746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6" name="Freeform: Shape 26">
                <a:extLst>
                  <a:ext uri="{FF2B5EF4-FFF2-40B4-BE49-F238E27FC236}">
                    <a16:creationId xmlns:a16="http://schemas.microsoft.com/office/drawing/2014/main" id="{F4632FF2-81DD-AD4C-EF3B-C58126E0134D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7" name="Freeform: Shape 27">
                <a:extLst>
                  <a:ext uri="{FF2B5EF4-FFF2-40B4-BE49-F238E27FC236}">
                    <a16:creationId xmlns:a16="http://schemas.microsoft.com/office/drawing/2014/main" id="{5918F4E8-CAAD-D0C6-352F-40AA430AD7D1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9C75CB3-1151-21E0-52F3-0E78AFD9033A}"/>
                </a:ext>
              </a:extLst>
            </p:cNvPr>
            <p:cNvGrpSpPr/>
            <p:nvPr/>
          </p:nvGrpSpPr>
          <p:grpSpPr>
            <a:xfrm flipH="1">
              <a:off x="28615122" y="10132084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4" name="Freeform: Shape 24">
                <a:extLst>
                  <a:ext uri="{FF2B5EF4-FFF2-40B4-BE49-F238E27FC236}">
                    <a16:creationId xmlns:a16="http://schemas.microsoft.com/office/drawing/2014/main" id="{4103CB57-A378-8895-24EC-9D7AB5E72094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5" name="Freeform: Shape 25">
                <a:extLst>
                  <a:ext uri="{FF2B5EF4-FFF2-40B4-BE49-F238E27FC236}">
                    <a16:creationId xmlns:a16="http://schemas.microsoft.com/office/drawing/2014/main" id="{89812A7C-E1C0-2AA5-580C-5E94EE8CD579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177AECF-371E-7B79-8D38-F0F8D56FDAE7}"/>
                </a:ext>
              </a:extLst>
            </p:cNvPr>
            <p:cNvGrpSpPr/>
            <p:nvPr/>
          </p:nvGrpSpPr>
          <p:grpSpPr>
            <a:xfrm flipH="1">
              <a:off x="28615122" y="11801253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2" name="Freeform: Shape 22">
                <a:extLst>
                  <a:ext uri="{FF2B5EF4-FFF2-40B4-BE49-F238E27FC236}">
                    <a16:creationId xmlns:a16="http://schemas.microsoft.com/office/drawing/2014/main" id="{474F5337-F104-2F54-9639-A810E337869B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3" name="Freeform: Shape 23">
                <a:extLst>
                  <a:ext uri="{FF2B5EF4-FFF2-40B4-BE49-F238E27FC236}">
                    <a16:creationId xmlns:a16="http://schemas.microsoft.com/office/drawing/2014/main" id="{824082D9-16C2-629D-47CF-3FD17CFA3FB1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533EE83C-0116-0156-3EDA-A08525610307}"/>
                </a:ext>
              </a:extLst>
            </p:cNvPr>
            <p:cNvGrpSpPr/>
            <p:nvPr/>
          </p:nvGrpSpPr>
          <p:grpSpPr>
            <a:xfrm>
              <a:off x="21764087" y="8462915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0" name="Freeform: Shape 20">
                <a:extLst>
                  <a:ext uri="{FF2B5EF4-FFF2-40B4-BE49-F238E27FC236}">
                    <a16:creationId xmlns:a16="http://schemas.microsoft.com/office/drawing/2014/main" id="{DB9A7BDE-24BC-4C13-17A0-C7A330789E52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1" name="Freeform: Shape 21">
                <a:extLst>
                  <a:ext uri="{FF2B5EF4-FFF2-40B4-BE49-F238E27FC236}">
                    <a16:creationId xmlns:a16="http://schemas.microsoft.com/office/drawing/2014/main" id="{5EC01365-71F4-17B1-374B-EA66D1BC5560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53ABBA1-7C22-3C0B-6C72-41B4D782C8DE}"/>
                </a:ext>
              </a:extLst>
            </p:cNvPr>
            <p:cNvGrpSpPr/>
            <p:nvPr/>
          </p:nvGrpSpPr>
          <p:grpSpPr>
            <a:xfrm flipH="1">
              <a:off x="28615122" y="8462915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78" name="Freeform: Shape 18">
                <a:extLst>
                  <a:ext uri="{FF2B5EF4-FFF2-40B4-BE49-F238E27FC236}">
                    <a16:creationId xmlns:a16="http://schemas.microsoft.com/office/drawing/2014/main" id="{04FEF7C2-04A2-393C-0FBF-7FC7838280B2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9" name="Freeform: Shape 19">
                <a:extLst>
                  <a:ext uri="{FF2B5EF4-FFF2-40B4-BE49-F238E27FC236}">
                    <a16:creationId xmlns:a16="http://schemas.microsoft.com/office/drawing/2014/main" id="{0D4AB933-4DD4-15C5-AC17-B39FC14B9197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4DEEC4B-7EF7-8B32-D3C1-E9C214F57A4F}"/>
                </a:ext>
              </a:extLst>
            </p:cNvPr>
            <p:cNvGrpSpPr/>
            <p:nvPr/>
          </p:nvGrpSpPr>
          <p:grpSpPr>
            <a:xfrm rot="16200000" flipH="1">
              <a:off x="25165191" y="4644469"/>
              <a:ext cx="796302" cy="1030504"/>
              <a:chOff x="21821113" y="6839472"/>
              <a:chExt cx="1059878" cy="1371600"/>
            </a:xfrm>
            <a:solidFill>
              <a:srgbClr val="B2BBCA"/>
            </a:solidFill>
          </p:grpSpPr>
          <p:sp>
            <p:nvSpPr>
              <p:cNvPr id="76" name="Freeform: Shape 16">
                <a:extLst>
                  <a:ext uri="{FF2B5EF4-FFF2-40B4-BE49-F238E27FC236}">
                    <a16:creationId xmlns:a16="http://schemas.microsoft.com/office/drawing/2014/main" id="{BCCBE62D-5840-C064-0A19-2237BE888D2E}"/>
                  </a:ext>
                </a:extLst>
              </p:cNvPr>
              <p:cNvSpPr/>
              <p:nvPr/>
            </p:nvSpPr>
            <p:spPr>
              <a:xfrm>
                <a:off x="22125290" y="7148532"/>
                <a:ext cx="755701" cy="753484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7" name="Freeform: Shape 17">
                <a:extLst>
                  <a:ext uri="{FF2B5EF4-FFF2-40B4-BE49-F238E27FC236}">
                    <a16:creationId xmlns:a16="http://schemas.microsoft.com/office/drawing/2014/main" id="{473055AF-FBC3-451E-31B1-65F63C71FD64}"/>
                  </a:ext>
                </a:extLst>
              </p:cNvPr>
              <p:cNvSpPr/>
              <p:nvPr/>
            </p:nvSpPr>
            <p:spPr>
              <a:xfrm>
                <a:off x="21821113" y="6839472"/>
                <a:ext cx="753887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981F7FBF-5654-5374-E660-2230D7D4CB03}"/>
              </a:ext>
            </a:extLst>
          </p:cNvPr>
          <p:cNvSpPr txBox="1"/>
          <p:nvPr/>
        </p:nvSpPr>
        <p:spPr>
          <a:xfrm>
            <a:off x="7657557" y="2305304"/>
            <a:ext cx="1626753" cy="256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President, Intl Growth</a:t>
            </a:r>
            <a:endParaRPr lang="en-US"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8CF579C-C24B-269D-3F5E-74DD84E3BD66}"/>
              </a:ext>
            </a:extLst>
          </p:cNvPr>
          <p:cNvSpPr txBox="1"/>
          <p:nvPr/>
        </p:nvSpPr>
        <p:spPr>
          <a:xfrm>
            <a:off x="9983679" y="3431791"/>
            <a:ext cx="1866484" cy="256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Sales, Hair Care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4241C23-70A7-121A-9D80-9382D44D702B}"/>
              </a:ext>
            </a:extLst>
          </p:cNvPr>
          <p:cNvSpPr txBox="1"/>
          <p:nvPr/>
        </p:nvSpPr>
        <p:spPr>
          <a:xfrm>
            <a:off x="5278668" y="3344523"/>
            <a:ext cx="1842516" cy="564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Global Hair Care Capabilities</a:t>
            </a:r>
          </a:p>
          <a:p>
            <a:pPr algn="ctr" defTabSz="914354">
              <a:defRPr/>
            </a:pPr>
            <a:r>
              <a:rPr lang="pt-BR" sz="933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8D0063E-C9B3-9967-8454-B36B576505CF}"/>
              </a:ext>
            </a:extLst>
          </p:cNvPr>
          <p:cNvSpPr txBox="1"/>
          <p:nvPr/>
        </p:nvSpPr>
        <p:spPr>
          <a:xfrm>
            <a:off x="9779498" y="3913768"/>
            <a:ext cx="1874379" cy="4207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China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E27C46-25B4-6E92-6C92-8D7013318A3B}"/>
              </a:ext>
            </a:extLst>
          </p:cNvPr>
          <p:cNvSpPr txBox="1"/>
          <p:nvPr/>
        </p:nvSpPr>
        <p:spPr>
          <a:xfrm>
            <a:off x="5227630" y="3911021"/>
            <a:ext cx="2007492" cy="564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pt-BR" sz="1067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Supplier Value </a:t>
            </a:r>
          </a:p>
          <a:p>
            <a:pPr algn="ctr" defTabSz="914354">
              <a:defRPr/>
            </a:pPr>
            <a:r>
              <a:rPr lang="pt-BR" sz="1067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Creation</a:t>
            </a:r>
          </a:p>
          <a:p>
            <a:pPr algn="ctr" defTabSz="914354">
              <a:defRPr/>
            </a:pPr>
            <a:r>
              <a:rPr lang="pt-BR" sz="933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0D6E06D-F245-27A5-90F9-DED2E2D645EF}"/>
              </a:ext>
            </a:extLst>
          </p:cNvPr>
          <p:cNvSpPr txBox="1"/>
          <p:nvPr/>
        </p:nvSpPr>
        <p:spPr>
          <a:xfrm>
            <a:off x="5412983" y="4558471"/>
            <a:ext cx="160391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HC. Bus. Dev.</a:t>
            </a:r>
            <a:br>
              <a:rPr lang="en-US" sz="1067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pt-BR" sz="933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2886191-CADA-A920-E422-27408F168ACD}"/>
              </a:ext>
            </a:extLst>
          </p:cNvPr>
          <p:cNvSpPr txBox="1"/>
          <p:nvPr/>
        </p:nvSpPr>
        <p:spPr>
          <a:xfrm>
            <a:off x="5227630" y="5112892"/>
            <a:ext cx="197461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Commercial, EU</a:t>
            </a:r>
          </a:p>
          <a:p>
            <a:pPr algn="ctr" defTabSz="914354">
              <a:defRPr/>
            </a:pPr>
            <a:r>
              <a:rPr lang="pt-BR" sz="933" spc="-10">
                <a:solidFill>
                  <a:srgbClr val="281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2B7BEA8-F3CB-69E8-EE19-DCB4736A6A5B}"/>
              </a:ext>
            </a:extLst>
          </p:cNvPr>
          <p:cNvSpPr/>
          <p:nvPr/>
        </p:nvSpPr>
        <p:spPr>
          <a:xfrm>
            <a:off x="7097938" y="3380420"/>
            <a:ext cx="457200" cy="457200"/>
          </a:xfrm>
          <a:prstGeom prst="ellipse">
            <a:avLst/>
          </a:prstGeom>
          <a:solidFill>
            <a:srgbClr val="F2F2F2"/>
          </a:solidFill>
          <a:ln w="28575"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20%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9F5275CC-4204-5829-8FC0-BEA3CC53BC76}"/>
              </a:ext>
            </a:extLst>
          </p:cNvPr>
          <p:cNvSpPr/>
          <p:nvPr/>
        </p:nvSpPr>
        <p:spPr>
          <a:xfrm>
            <a:off x="7097938" y="3910302"/>
            <a:ext cx="457200" cy="457200"/>
          </a:xfrm>
          <a:prstGeom prst="ellipse">
            <a:avLst/>
          </a:prstGeom>
          <a:solidFill>
            <a:srgbClr val="F2F2F2"/>
          </a:solidFill>
          <a:ln w="28575"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FF84F0A5-6910-6E91-4CF0-ED446FF43048}"/>
              </a:ext>
            </a:extLst>
          </p:cNvPr>
          <p:cNvSpPr/>
          <p:nvPr/>
        </p:nvSpPr>
        <p:spPr>
          <a:xfrm>
            <a:off x="7088794" y="4467616"/>
            <a:ext cx="457200" cy="457200"/>
          </a:xfrm>
          <a:prstGeom prst="ellipse">
            <a:avLst/>
          </a:prstGeom>
          <a:solidFill>
            <a:srgbClr val="F2F2F2"/>
          </a:solidFill>
          <a:ln w="28575"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577F957C-B484-27EE-8CC4-B7617CE8E3AD}"/>
              </a:ext>
            </a:extLst>
          </p:cNvPr>
          <p:cNvSpPr/>
          <p:nvPr/>
        </p:nvSpPr>
        <p:spPr>
          <a:xfrm>
            <a:off x="7088794" y="4997498"/>
            <a:ext cx="457200" cy="457200"/>
          </a:xfrm>
          <a:prstGeom prst="ellipse">
            <a:avLst/>
          </a:prstGeom>
          <a:solidFill>
            <a:srgbClr val="F2F2F2"/>
          </a:solidFill>
          <a:ln w="28575"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A0E6CDE2-CD73-A29F-C2B5-EC138957A559}"/>
              </a:ext>
            </a:extLst>
          </p:cNvPr>
          <p:cNvSpPr/>
          <p:nvPr/>
        </p:nvSpPr>
        <p:spPr>
          <a:xfrm>
            <a:off x="9387181" y="3392187"/>
            <a:ext cx="457200" cy="457200"/>
          </a:xfrm>
          <a:prstGeom prst="ellipse">
            <a:avLst/>
          </a:prstGeom>
          <a:solidFill>
            <a:srgbClr val="F2F2F2"/>
          </a:solidFill>
          <a:ln w="28575"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E748D09-3E6D-6C25-04C4-3408601495FA}"/>
              </a:ext>
            </a:extLst>
          </p:cNvPr>
          <p:cNvSpPr/>
          <p:nvPr/>
        </p:nvSpPr>
        <p:spPr>
          <a:xfrm>
            <a:off x="9387181" y="3922068"/>
            <a:ext cx="457200" cy="457200"/>
          </a:xfrm>
          <a:prstGeom prst="ellipse">
            <a:avLst/>
          </a:prstGeom>
          <a:solidFill>
            <a:srgbClr val="F2F2F2"/>
          </a:solidFill>
          <a:ln w="28575"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BA872E7-3357-E7BA-793F-3DDF5875593B}"/>
              </a:ext>
            </a:extLst>
          </p:cNvPr>
          <p:cNvSpPr/>
          <p:nvPr/>
        </p:nvSpPr>
        <p:spPr>
          <a:xfrm>
            <a:off x="9387181" y="4451951"/>
            <a:ext cx="457200" cy="457200"/>
          </a:xfrm>
          <a:prstGeom prst="ellipse">
            <a:avLst/>
          </a:prstGeom>
          <a:solidFill>
            <a:srgbClr val="F2F2F2"/>
          </a:solidFill>
          <a:ln w="28575"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C1291F85-1559-39C1-3B93-622694A8BB02}"/>
              </a:ext>
            </a:extLst>
          </p:cNvPr>
          <p:cNvSpPr/>
          <p:nvPr/>
        </p:nvSpPr>
        <p:spPr>
          <a:xfrm>
            <a:off x="9378037" y="5018408"/>
            <a:ext cx="457200" cy="457200"/>
          </a:xfrm>
          <a:prstGeom prst="ellipse">
            <a:avLst/>
          </a:prstGeom>
          <a:solidFill>
            <a:srgbClr val="F2F2F2"/>
          </a:solidFill>
          <a:ln w="28575"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A9CF32E-7953-E5CC-6B58-768719950308}"/>
              </a:ext>
            </a:extLst>
          </p:cNvPr>
          <p:cNvSpPr/>
          <p:nvPr/>
        </p:nvSpPr>
        <p:spPr>
          <a:xfrm>
            <a:off x="8242332" y="2559522"/>
            <a:ext cx="457200" cy="457200"/>
          </a:xfrm>
          <a:prstGeom prst="ellipse">
            <a:avLst/>
          </a:prstGeom>
          <a:solidFill>
            <a:srgbClr val="F2F2F2"/>
          </a:solidFill>
          <a:ln w="28575"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20%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1FC7941-7E10-5971-CA41-D82D41919879}"/>
              </a:ext>
            </a:extLst>
          </p:cNvPr>
          <p:cNvSpPr txBox="1"/>
          <p:nvPr/>
        </p:nvSpPr>
        <p:spPr>
          <a:xfrm>
            <a:off x="9827034" y="4440415"/>
            <a:ext cx="1874379" cy="4207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Mexico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84161DB-4D3A-C2A6-61B1-E6041159230E}"/>
              </a:ext>
            </a:extLst>
          </p:cNvPr>
          <p:cNvSpPr txBox="1"/>
          <p:nvPr/>
        </p:nvSpPr>
        <p:spPr>
          <a:xfrm>
            <a:off x="9888519" y="4988400"/>
            <a:ext cx="1874379" cy="4207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Brazil</a:t>
            </a:r>
          </a:p>
        </p:txBody>
      </p:sp>
      <p:sp>
        <p:nvSpPr>
          <p:cNvPr id="137" name="Rounded Rectangle 4">
            <a:extLst>
              <a:ext uri="{FF2B5EF4-FFF2-40B4-BE49-F238E27FC236}">
                <a16:creationId xmlns:a16="http://schemas.microsoft.com/office/drawing/2014/main" id="{35B2DC31-126E-52CD-0B04-2147CAA25948}"/>
              </a:ext>
            </a:extLst>
          </p:cNvPr>
          <p:cNvSpPr/>
          <p:nvPr/>
        </p:nvSpPr>
        <p:spPr>
          <a:xfrm>
            <a:off x="5713017" y="1663459"/>
            <a:ext cx="5277463" cy="676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1219170">
              <a:defRPr/>
            </a:pPr>
            <a:r>
              <a:rPr lang="en-US" sz="13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Reshape the Hair Care Table – Critical Roles</a:t>
            </a:r>
            <a:endParaRPr lang="en-US" sz="1333" b="1" spc="-10">
              <a:solidFill>
                <a:srgbClr val="281A42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09BEEC9-7C51-3D78-0A31-2B3BAA6E149E}"/>
              </a:ext>
            </a:extLst>
          </p:cNvPr>
          <p:cNvCxnSpPr>
            <a:cxnSpLocks/>
          </p:cNvCxnSpPr>
          <p:nvPr/>
        </p:nvCxnSpPr>
        <p:spPr>
          <a:xfrm>
            <a:off x="5713017" y="2212431"/>
            <a:ext cx="5431508" cy="0"/>
          </a:xfrm>
          <a:prstGeom prst="line">
            <a:avLst/>
          </a:prstGeom>
          <a:ln>
            <a:solidFill>
              <a:srgbClr val="1D1D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: Rounded Corners 7">
            <a:extLst>
              <a:ext uri="{FF2B5EF4-FFF2-40B4-BE49-F238E27FC236}">
                <a16:creationId xmlns:a16="http://schemas.microsoft.com/office/drawing/2014/main" id="{B5BE3DE4-9E98-404E-EBB5-D22240F0B133}"/>
              </a:ext>
            </a:extLst>
          </p:cNvPr>
          <p:cNvSpPr/>
          <p:nvPr/>
        </p:nvSpPr>
        <p:spPr>
          <a:xfrm>
            <a:off x="500375" y="1736360"/>
            <a:ext cx="4380227" cy="603375"/>
          </a:xfrm>
          <a:prstGeom prst="roundRect">
            <a:avLst/>
          </a:prstGeom>
          <a:solidFill>
            <a:srgbClr val="281A42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defRPr>
                <a:solidFill>
                  <a:srgbClr val="FFFFFF"/>
                </a:solidFill>
              </a:defRPr>
            </a:pPr>
            <a:r>
              <a:rPr lang="en-US" sz="1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for Hair Care</a:t>
            </a:r>
          </a:p>
        </p:txBody>
      </p:sp>
      <p:sp>
        <p:nvSpPr>
          <p:cNvPr id="140" name="Rectangle: Rounded Corners 7">
            <a:extLst>
              <a:ext uri="{FF2B5EF4-FFF2-40B4-BE49-F238E27FC236}">
                <a16:creationId xmlns:a16="http://schemas.microsoft.com/office/drawing/2014/main" id="{F3838B4E-8398-3F38-F37B-375F75DA0A08}"/>
              </a:ext>
            </a:extLst>
          </p:cNvPr>
          <p:cNvSpPr/>
          <p:nvPr/>
        </p:nvSpPr>
        <p:spPr>
          <a:xfrm>
            <a:off x="847615" y="2419860"/>
            <a:ext cx="4038583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Turbocharge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growth in emerging markets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20-25% while maintaining momentum in NA and Europe</a:t>
            </a:r>
          </a:p>
        </p:txBody>
      </p:sp>
      <p:sp>
        <p:nvSpPr>
          <p:cNvPr id="141" name="Rectangle: Rounded Corners 7">
            <a:extLst>
              <a:ext uri="{FF2B5EF4-FFF2-40B4-BE49-F238E27FC236}">
                <a16:creationId xmlns:a16="http://schemas.microsoft.com/office/drawing/2014/main" id="{444A34A4-9577-12E0-651B-B200B56C6DA8}"/>
              </a:ext>
            </a:extLst>
          </p:cNvPr>
          <p:cNvSpPr/>
          <p:nvPr/>
        </p:nvSpPr>
        <p:spPr>
          <a:xfrm>
            <a:off x="847614" y="3144737"/>
            <a:ext cx="4038583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global adjacencies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Hair Removal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Gel Products and Mousse</a:t>
            </a:r>
          </a:p>
        </p:txBody>
      </p:sp>
      <p:sp>
        <p:nvSpPr>
          <p:cNvPr id="142" name="Rectangle: Rounded Corners 7">
            <a:extLst>
              <a:ext uri="{FF2B5EF4-FFF2-40B4-BE49-F238E27FC236}">
                <a16:creationId xmlns:a16="http://schemas.microsoft.com/office/drawing/2014/main" id="{31E02C0B-012A-5D06-F7C3-C1163DAA7895}"/>
              </a:ext>
            </a:extLst>
          </p:cNvPr>
          <p:cNvSpPr/>
          <p:nvPr/>
        </p:nvSpPr>
        <p:spPr>
          <a:xfrm>
            <a:off x="847612" y="3869614"/>
            <a:ext cx="4038583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a SMB and Retail Only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focus on building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capabilities in Big-Box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and Non-Commercial business</a:t>
            </a:r>
          </a:p>
        </p:txBody>
      </p:sp>
      <p:sp>
        <p:nvSpPr>
          <p:cNvPr id="143" name="Rectangle: Rounded Corners 7">
            <a:extLst>
              <a:ext uri="{FF2B5EF4-FFF2-40B4-BE49-F238E27FC236}">
                <a16:creationId xmlns:a16="http://schemas.microsoft.com/office/drawing/2014/main" id="{7D457E54-CDB5-49C6-2150-694EB54E2041}"/>
              </a:ext>
            </a:extLst>
          </p:cNvPr>
          <p:cNvSpPr/>
          <p:nvPr/>
        </p:nvSpPr>
        <p:spPr>
          <a:xfrm>
            <a:off x="847612" y="4594491"/>
            <a:ext cx="4038583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Build capabilities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support an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Innovation-driven portfolio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, that can be manufactured in smaller batches, with faster turns, and an agile supply chain.</a:t>
            </a:r>
          </a:p>
        </p:txBody>
      </p:sp>
      <p:sp>
        <p:nvSpPr>
          <p:cNvPr id="144" name="Rectangle: Rounded Corners 7">
            <a:extLst>
              <a:ext uri="{FF2B5EF4-FFF2-40B4-BE49-F238E27FC236}">
                <a16:creationId xmlns:a16="http://schemas.microsoft.com/office/drawing/2014/main" id="{3F6857AD-87A3-FBBC-79C2-C9DB8331EC58}"/>
              </a:ext>
            </a:extLst>
          </p:cNvPr>
          <p:cNvSpPr/>
          <p:nvPr/>
        </p:nvSpPr>
        <p:spPr>
          <a:xfrm>
            <a:off x="847611" y="5319366"/>
            <a:ext cx="4038583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Scale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with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North American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customers (e.g., </a:t>
            </a:r>
            <a:r>
              <a:rPr lang="en-US" sz="1200" spc="-10" err="1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WholeFoods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as they grow globally</a:t>
            </a:r>
          </a:p>
        </p:txBody>
      </p:sp>
      <p:sp>
        <p:nvSpPr>
          <p:cNvPr id="145" name="Rectangle: Rounded Corners 7">
            <a:extLst>
              <a:ext uri="{FF2B5EF4-FFF2-40B4-BE49-F238E27FC236}">
                <a16:creationId xmlns:a16="http://schemas.microsoft.com/office/drawing/2014/main" id="{BED44F35-3633-F43E-2E2E-18DBA66577A0}"/>
              </a:ext>
            </a:extLst>
          </p:cNvPr>
          <p:cNvSpPr/>
          <p:nvPr/>
        </p:nvSpPr>
        <p:spPr>
          <a:xfrm>
            <a:off x="500375" y="2419860"/>
            <a:ext cx="298814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6" name="Rectangle: Rounded Corners 7">
            <a:extLst>
              <a:ext uri="{FF2B5EF4-FFF2-40B4-BE49-F238E27FC236}">
                <a16:creationId xmlns:a16="http://schemas.microsoft.com/office/drawing/2014/main" id="{E6A3D95C-9B4D-1002-03E6-53AA3E8E70F6}"/>
              </a:ext>
            </a:extLst>
          </p:cNvPr>
          <p:cNvSpPr/>
          <p:nvPr/>
        </p:nvSpPr>
        <p:spPr>
          <a:xfrm>
            <a:off x="500375" y="3144737"/>
            <a:ext cx="298814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47" name="Rectangle: Rounded Corners 7">
            <a:extLst>
              <a:ext uri="{FF2B5EF4-FFF2-40B4-BE49-F238E27FC236}">
                <a16:creationId xmlns:a16="http://schemas.microsoft.com/office/drawing/2014/main" id="{F469A7B7-1AE7-C5BC-BFC3-7C20B4B0C24A}"/>
              </a:ext>
            </a:extLst>
          </p:cNvPr>
          <p:cNvSpPr/>
          <p:nvPr/>
        </p:nvSpPr>
        <p:spPr>
          <a:xfrm>
            <a:off x="500732" y="3869614"/>
            <a:ext cx="298814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48" name="Rectangle: Rounded Corners 7">
            <a:extLst>
              <a:ext uri="{FF2B5EF4-FFF2-40B4-BE49-F238E27FC236}">
                <a16:creationId xmlns:a16="http://schemas.microsoft.com/office/drawing/2014/main" id="{D6E6EC8E-9C47-8882-D18D-68DE2F33952B}"/>
              </a:ext>
            </a:extLst>
          </p:cNvPr>
          <p:cNvSpPr/>
          <p:nvPr/>
        </p:nvSpPr>
        <p:spPr>
          <a:xfrm>
            <a:off x="500732" y="4594491"/>
            <a:ext cx="298814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49" name="Rectangle: Rounded Corners 7">
            <a:extLst>
              <a:ext uri="{FF2B5EF4-FFF2-40B4-BE49-F238E27FC236}">
                <a16:creationId xmlns:a16="http://schemas.microsoft.com/office/drawing/2014/main" id="{DA569716-6F31-4CD8-F9BA-BCC01622F083}"/>
              </a:ext>
            </a:extLst>
          </p:cNvPr>
          <p:cNvSpPr/>
          <p:nvPr/>
        </p:nvSpPr>
        <p:spPr>
          <a:xfrm>
            <a:off x="500375" y="5319366"/>
            <a:ext cx="298814" cy="640080"/>
          </a:xfrm>
          <a:prstGeom prst="roundRect">
            <a:avLst/>
          </a:prstGeom>
          <a:noFill/>
          <a:ln>
            <a:solidFill>
              <a:srgbClr val="281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4573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2A5C15-AB67-E7FA-9F5E-A3E009E568E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39DA62-CA26-76B8-8200-CBDAC69F3CBF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0208704F-98E2-4903-7ED1-53C9D26C57D7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9">
              <a:extLst>
                <a:ext uri="{FF2B5EF4-FFF2-40B4-BE49-F238E27FC236}">
                  <a16:creationId xmlns:a16="http://schemas.microsoft.com/office/drawing/2014/main" id="{F3AD5343-D4EE-8190-1C01-A1A4D16675F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Bend the Curve">
              <a:extLst>
                <a:ext uri="{FF2B5EF4-FFF2-40B4-BE49-F238E27FC236}">
                  <a16:creationId xmlns:a16="http://schemas.microsoft.com/office/drawing/2014/main" id="{A5177603-DD26-8220-CEF8-1B6635A82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F185164-879D-EDFF-33F0-3D2EED1347B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2F6E65-5C1E-7292-FB7F-0822833D9E33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13">
              <a:extLst>
                <a:ext uri="{FF2B5EF4-FFF2-40B4-BE49-F238E27FC236}">
                  <a16:creationId xmlns:a16="http://schemas.microsoft.com/office/drawing/2014/main" id="{C0192C1B-B7BB-DB97-9F5B-163FF568FD3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Rectangle: Rounded Corners 14">
              <a:extLst>
                <a:ext uri="{FF2B5EF4-FFF2-40B4-BE49-F238E27FC236}">
                  <a16:creationId xmlns:a16="http://schemas.microsoft.com/office/drawing/2014/main" id="{AE4C4753-5043-0C76-8FCF-C7D9D96FEBF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B6851D7-73CC-80E8-6EA5-DA111E0C2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39BAEB-115C-3060-3684-586EC59B9F6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D2D826C-72A2-D783-0581-5E53429B609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0" name="Rectangle: Rounded Corners 18">
              <a:extLst>
                <a:ext uri="{FF2B5EF4-FFF2-40B4-BE49-F238E27FC236}">
                  <a16:creationId xmlns:a16="http://schemas.microsoft.com/office/drawing/2014/main" id="{B5008B86-C754-C1C7-5B1C-F22B6BF9A6F3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Rectangle: Rounded Corners 19">
              <a:extLst>
                <a:ext uri="{FF2B5EF4-FFF2-40B4-BE49-F238E27FC236}">
                  <a16:creationId xmlns:a16="http://schemas.microsoft.com/office/drawing/2014/main" id="{B475E2D9-62A1-3CEA-3E1B-934ACF8C936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D9451C0-E5D3-4EC9-56B5-C427D9AED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AEAE9D-EACD-C4D7-AA6A-229F291961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A862825-E5CB-7169-C472-D99284F4692B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5" name="Rectangle: Rounded Corners 23">
              <a:extLst>
                <a:ext uri="{FF2B5EF4-FFF2-40B4-BE49-F238E27FC236}">
                  <a16:creationId xmlns:a16="http://schemas.microsoft.com/office/drawing/2014/main" id="{B350719E-A48F-8D7B-92DB-3FAF68984D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: Rounded Corners 24">
              <a:extLst>
                <a:ext uri="{FF2B5EF4-FFF2-40B4-BE49-F238E27FC236}">
                  <a16:creationId xmlns:a16="http://schemas.microsoft.com/office/drawing/2014/main" id="{C07F47B4-1654-3042-147D-3D815E6F92F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 descr="Choose">
              <a:extLst>
                <a:ext uri="{FF2B5EF4-FFF2-40B4-BE49-F238E27FC236}">
                  <a16:creationId xmlns:a16="http://schemas.microsoft.com/office/drawing/2014/main" id="{DF5AC7BE-C2B1-D474-6F84-CA1DCE30C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1FBEC7-4420-2676-A4DB-82FA9EAAD97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7D7222-26DE-D2DF-AA74-C45685F3E54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0" name="Rectangle: Rounded Corners 28">
              <a:extLst>
                <a:ext uri="{FF2B5EF4-FFF2-40B4-BE49-F238E27FC236}">
                  <a16:creationId xmlns:a16="http://schemas.microsoft.com/office/drawing/2014/main" id="{EA1439FD-A98A-1B1B-409E-C589DECC6BC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Rectangle: Rounded Corners 29">
              <a:extLst>
                <a:ext uri="{FF2B5EF4-FFF2-40B4-BE49-F238E27FC236}">
                  <a16:creationId xmlns:a16="http://schemas.microsoft.com/office/drawing/2014/main" id="{E228204A-C968-7FE1-78EE-F2776888F9B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D5A525B-088C-64F2-0925-BCB69BA2A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FEFA61D-CDBB-8308-4A5B-5FA5C2E97C2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E314E8E-1985-52DD-5F06-2EC8E0A72A7A}"/>
              </a:ext>
            </a:extLst>
          </p:cNvPr>
          <p:cNvSpPr/>
          <p:nvPr/>
        </p:nvSpPr>
        <p:spPr>
          <a:xfrm>
            <a:off x="503893" y="2119745"/>
            <a:ext cx="5299363" cy="2109355"/>
          </a:xfrm>
          <a:prstGeom prst="rect">
            <a:avLst/>
          </a:prstGeom>
          <a:solidFill>
            <a:srgbClr val="585858"/>
          </a:solidFill>
          <a:ln w="9525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44" indent="-285744" algn="ctr">
              <a:buFont typeface="Arial" panose="020B0604020202020204" pitchFamily="34" charset="0"/>
              <a:buChar char="•"/>
            </a:pPr>
            <a:endParaRPr lang="en-US" sz="16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304C2E88-D9AA-4C7D-A4CD-5D57F6753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091287"/>
              </p:ext>
            </p:extLst>
          </p:nvPr>
        </p:nvGraphicFramePr>
        <p:xfrm>
          <a:off x="5024510" y="811848"/>
          <a:ext cx="4818125" cy="5669280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3758966689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964745472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2182357384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C27A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</a:t>
                      </a: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8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M&amp;A / Deal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$472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4959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IT - Head of Transformative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$245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23531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VP of Talent Acquisition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$162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1126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$154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4437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Process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$149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58985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$128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137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$126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265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$113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226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 - BD Enterprise Accounts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$112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18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$93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7139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Procurement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$65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1036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of Outbound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$63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899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Learning and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945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 - Account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$56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1505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Financial Planning &amp;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$51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67127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2941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Division President – BU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$37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5082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Division President – BU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$37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5533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of Sales &amp; 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2165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0720C18D-4170-3549-A582-33CCDE143951}"/>
              </a:ext>
            </a:extLst>
          </p:cNvPr>
          <p:cNvSpPr txBox="1"/>
          <p:nvPr/>
        </p:nvSpPr>
        <p:spPr>
          <a:xfrm>
            <a:off x="759860" y="2335157"/>
            <a:ext cx="4080229" cy="114859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LIST </a:t>
            </a:r>
            <a:r>
              <a:rPr lang="en-US" sz="1600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derived from understanding the work and the responsible roles - </a:t>
            </a:r>
            <a:r>
              <a:rPr lang="en-US" sz="1600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it cannot be derived solely from an org chart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38C885-B23E-9BC8-44EF-23C3D8D414FC}"/>
              </a:ext>
            </a:extLst>
          </p:cNvPr>
          <p:cNvSpPr txBox="1"/>
          <p:nvPr/>
        </p:nvSpPr>
        <p:spPr>
          <a:xfrm>
            <a:off x="759861" y="3699165"/>
            <a:ext cx="1947905" cy="1454729"/>
          </a:xfrm>
          <a:prstGeom prst="rect">
            <a:avLst/>
          </a:prstGeom>
          <a:solidFill>
            <a:srgbClr val="281A42"/>
          </a:solidFill>
          <a:ln>
            <a:solidFill>
              <a:srgbClr val="281A42"/>
            </a:solidFill>
          </a:ln>
        </p:spPr>
        <p:txBody>
          <a:bodyPr wrap="square" lIns="121920" tIns="60960" rIns="121920" bIns="60960" rtlCol="0" anchor="ctr">
            <a:noAutofit/>
          </a:bodyPr>
          <a:lstStyle/>
          <a:p>
            <a:pPr>
              <a:spcAft>
                <a:spcPts val="300"/>
              </a:spcAft>
            </a:pPr>
            <a:r>
              <a:rPr lang="en-US" sz="1400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BY LEVEL</a:t>
            </a:r>
            <a:endParaRPr lang="en-US" sz="2400" spc="-10">
              <a:solidFill>
                <a:srgbClr val="F2F2F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Aft>
                <a:spcPts val="300"/>
              </a:spcAft>
            </a:pPr>
            <a:endParaRPr lang="en-US" sz="1200" spc="-10">
              <a:solidFill>
                <a:srgbClr val="F2F2F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Aft>
                <a:spcPts val="300"/>
              </a:spcAft>
            </a:pPr>
            <a:r>
              <a:rPr lang="en-US" sz="1200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N-1  26% of roles</a:t>
            </a:r>
          </a:p>
          <a:p>
            <a:pPr>
              <a:spcAft>
                <a:spcPts val="300"/>
              </a:spcAft>
            </a:pPr>
            <a:r>
              <a:rPr lang="en-US" sz="1200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N-2  53% of roles</a:t>
            </a:r>
          </a:p>
          <a:p>
            <a:pPr>
              <a:spcAft>
                <a:spcPts val="300"/>
              </a:spcAft>
            </a:pPr>
            <a:r>
              <a:rPr lang="en-US" sz="1200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N-3  21 % of roles</a:t>
            </a:r>
          </a:p>
          <a:p>
            <a:pPr>
              <a:spcAft>
                <a:spcPts val="300"/>
              </a:spcAft>
            </a:pPr>
            <a:endParaRPr lang="en-US" sz="1200" spc="-10">
              <a:solidFill>
                <a:srgbClr val="F2F2F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2208D1-846D-4EF4-01DC-5256A4BCB07C}"/>
              </a:ext>
            </a:extLst>
          </p:cNvPr>
          <p:cNvSpPr txBox="1"/>
          <p:nvPr/>
        </p:nvSpPr>
        <p:spPr>
          <a:xfrm>
            <a:off x="2892185" y="3699164"/>
            <a:ext cx="1947905" cy="1454729"/>
          </a:xfrm>
          <a:prstGeom prst="rect">
            <a:avLst/>
          </a:prstGeom>
          <a:solidFill>
            <a:srgbClr val="281A42"/>
          </a:solidFill>
          <a:ln>
            <a:solidFill>
              <a:srgbClr val="281A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Aft>
                <a:spcPts val="300"/>
              </a:spcAft>
            </a:pPr>
            <a:endParaRPr lang="en-US" sz="1200" spc="-10">
              <a:solidFill>
                <a:srgbClr val="F2F2F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spcAft>
                <a:spcPts val="300"/>
              </a:spcAft>
            </a:pPr>
            <a:r>
              <a:rPr lang="en-US" sz="4000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  <a:r>
              <a:rPr lang="en-US" sz="1200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br>
              <a:rPr lang="en-US" sz="1200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 </a:t>
            </a:r>
            <a:r>
              <a:rPr lang="en-US" sz="1200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IDENTIFIED</a:t>
            </a:r>
          </a:p>
          <a:p>
            <a:pPr algn="ctr">
              <a:spcAft>
                <a:spcPts val="300"/>
              </a:spcAft>
            </a:pPr>
            <a:endParaRPr lang="en-US" sz="1200" spc="-10">
              <a:solidFill>
                <a:srgbClr val="F2F2F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0" name="Freeform: Shape 14">
            <a:extLst>
              <a:ext uri="{FF2B5EF4-FFF2-40B4-BE49-F238E27FC236}">
                <a16:creationId xmlns:a16="http://schemas.microsoft.com/office/drawing/2014/main" id="{0CE17A9C-6F30-A5E5-A267-445B69E577B6}"/>
              </a:ext>
            </a:extLst>
          </p:cNvPr>
          <p:cNvSpPr/>
          <p:nvPr/>
        </p:nvSpPr>
        <p:spPr>
          <a:xfrm>
            <a:off x="5037353" y="821587"/>
            <a:ext cx="4818123" cy="5486400"/>
          </a:xfrm>
          <a:custGeom>
            <a:avLst/>
            <a:gdLst>
              <a:gd name="connsiteX0" fmla="*/ 153663 w 4818123"/>
              <a:gd name="connsiteY0" fmla="*/ 4424881 h 5577840"/>
              <a:gd name="connsiteX1" fmla="*/ 153663 w 4818123"/>
              <a:gd name="connsiteY1" fmla="*/ 4752671 h 5577840"/>
              <a:gd name="connsiteX2" fmla="*/ 4581825 w 4818123"/>
              <a:gd name="connsiteY2" fmla="*/ 4752671 h 5577840"/>
              <a:gd name="connsiteX3" fmla="*/ 4581825 w 4818123"/>
              <a:gd name="connsiteY3" fmla="*/ 4424881 h 5577840"/>
              <a:gd name="connsiteX4" fmla="*/ 153663 w 4818123"/>
              <a:gd name="connsiteY4" fmla="*/ 3577662 h 5577840"/>
              <a:gd name="connsiteX5" fmla="*/ 153663 w 4818123"/>
              <a:gd name="connsiteY5" fmla="*/ 3905452 h 5577840"/>
              <a:gd name="connsiteX6" fmla="*/ 4581825 w 4818123"/>
              <a:gd name="connsiteY6" fmla="*/ 3905452 h 5577840"/>
              <a:gd name="connsiteX7" fmla="*/ 4581825 w 4818123"/>
              <a:gd name="connsiteY7" fmla="*/ 3577662 h 5577840"/>
              <a:gd name="connsiteX8" fmla="*/ 153663 w 4818123"/>
              <a:gd name="connsiteY8" fmla="*/ 809423 h 5577840"/>
              <a:gd name="connsiteX9" fmla="*/ 153663 w 4818123"/>
              <a:gd name="connsiteY9" fmla="*/ 1137213 h 5577840"/>
              <a:gd name="connsiteX10" fmla="*/ 4581825 w 4818123"/>
              <a:gd name="connsiteY10" fmla="*/ 1137213 h 5577840"/>
              <a:gd name="connsiteX11" fmla="*/ 4581825 w 4818123"/>
              <a:gd name="connsiteY11" fmla="*/ 809423 h 5577840"/>
              <a:gd name="connsiteX12" fmla="*/ 0 w 4818123"/>
              <a:gd name="connsiteY12" fmla="*/ 0 h 5577840"/>
              <a:gd name="connsiteX13" fmla="*/ 4818123 w 4818123"/>
              <a:gd name="connsiteY13" fmla="*/ 0 h 5577840"/>
              <a:gd name="connsiteX14" fmla="*/ 4818123 w 4818123"/>
              <a:gd name="connsiteY14" fmla="*/ 5577840 h 5577840"/>
              <a:gd name="connsiteX15" fmla="*/ 0 w 4818123"/>
              <a:gd name="connsiteY15" fmla="*/ 5577840 h 557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18123" h="5577840">
                <a:moveTo>
                  <a:pt x="153663" y="4424881"/>
                </a:moveTo>
                <a:lnTo>
                  <a:pt x="153663" y="4752671"/>
                </a:lnTo>
                <a:lnTo>
                  <a:pt x="4581825" y="4752671"/>
                </a:lnTo>
                <a:lnTo>
                  <a:pt x="4581825" y="4424881"/>
                </a:lnTo>
                <a:close/>
                <a:moveTo>
                  <a:pt x="153663" y="3577662"/>
                </a:moveTo>
                <a:lnTo>
                  <a:pt x="153663" y="3905452"/>
                </a:lnTo>
                <a:lnTo>
                  <a:pt x="4581825" y="3905452"/>
                </a:lnTo>
                <a:lnTo>
                  <a:pt x="4581825" y="3577662"/>
                </a:lnTo>
                <a:close/>
                <a:moveTo>
                  <a:pt x="153663" y="809423"/>
                </a:moveTo>
                <a:lnTo>
                  <a:pt x="153663" y="1137213"/>
                </a:lnTo>
                <a:lnTo>
                  <a:pt x="4581825" y="1137213"/>
                </a:lnTo>
                <a:lnTo>
                  <a:pt x="4581825" y="809423"/>
                </a:lnTo>
                <a:close/>
                <a:moveTo>
                  <a:pt x="0" y="0"/>
                </a:moveTo>
                <a:lnTo>
                  <a:pt x="4818123" y="0"/>
                </a:lnTo>
                <a:lnTo>
                  <a:pt x="4818123" y="5577840"/>
                </a:lnTo>
                <a:lnTo>
                  <a:pt x="0" y="5577840"/>
                </a:lnTo>
                <a:close/>
              </a:path>
            </a:pathLst>
          </a:custGeom>
          <a:solidFill>
            <a:srgbClr val="1D1D1D"/>
          </a:solidFill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en-US" sz="1351" b="1" spc="-25">
              <a:solidFill>
                <a:srgbClr val="FFFFFF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3030740-659E-C09D-8CA3-D7EEED02CA64}"/>
              </a:ext>
            </a:extLst>
          </p:cNvPr>
          <p:cNvGrpSpPr/>
          <p:nvPr/>
        </p:nvGrpSpPr>
        <p:grpSpPr>
          <a:xfrm>
            <a:off x="9868317" y="1778541"/>
            <a:ext cx="2034791" cy="3564023"/>
            <a:chOff x="10207368" y="1778539"/>
            <a:chExt cx="2034790" cy="356402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D81CA05-6E10-D367-B308-8DF1079A87D4}"/>
                </a:ext>
              </a:extLst>
            </p:cNvPr>
            <p:cNvGrpSpPr/>
            <p:nvPr/>
          </p:nvGrpSpPr>
          <p:grpSpPr>
            <a:xfrm>
              <a:off x="10207368" y="1778539"/>
              <a:ext cx="313369" cy="3564023"/>
              <a:chOff x="10207368" y="1778539"/>
              <a:chExt cx="313369" cy="3564023"/>
            </a:xfrm>
          </p:grpSpPr>
          <p:sp>
            <p:nvSpPr>
              <p:cNvPr id="57" name="Right Bracket 56">
                <a:extLst>
                  <a:ext uri="{FF2B5EF4-FFF2-40B4-BE49-F238E27FC236}">
                    <a16:creationId xmlns:a16="http://schemas.microsoft.com/office/drawing/2014/main" id="{89FC80AA-63D4-EB80-2F7F-167A5823E9B1}"/>
                  </a:ext>
                </a:extLst>
              </p:cNvPr>
              <p:cNvSpPr/>
              <p:nvPr/>
            </p:nvSpPr>
            <p:spPr>
              <a:xfrm>
                <a:off x="10207368" y="1778539"/>
                <a:ext cx="129368" cy="3564023"/>
              </a:xfrm>
              <a:prstGeom prst="rightBracket">
                <a:avLst>
                  <a:gd name="adj" fmla="val 0"/>
                </a:avLst>
              </a:prstGeom>
              <a:ln w="25400">
                <a:solidFill>
                  <a:srgbClr val="281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A3020F6-A36E-904D-2433-3E9E018B5E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36737" y="3483752"/>
                <a:ext cx="184000" cy="0"/>
              </a:xfrm>
              <a:prstGeom prst="line">
                <a:avLst/>
              </a:prstGeom>
              <a:ln w="19050">
                <a:solidFill>
                  <a:srgbClr val="281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E129631-B0BC-235A-BCB1-CBA13F133ECA}"/>
                </a:ext>
              </a:extLst>
            </p:cNvPr>
            <p:cNvSpPr txBox="1"/>
            <p:nvPr/>
          </p:nvSpPr>
          <p:spPr>
            <a:xfrm>
              <a:off x="10435407" y="3220138"/>
              <a:ext cx="1806751" cy="733384"/>
            </a:xfrm>
            <a:prstGeom prst="rect">
              <a:avLst/>
            </a:prstGeom>
            <a:solidFill>
              <a:srgbClr val="281A42"/>
            </a:solidFill>
            <a:ln>
              <a:solidFill>
                <a:srgbClr val="281A42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$220M OF VALUE UNDER THE CHRO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1D3B69-E19A-AA9E-EB7B-194793EE4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26270"/>
              </p:ext>
            </p:extLst>
          </p:nvPr>
        </p:nvGraphicFramePr>
        <p:xfrm>
          <a:off x="5023544" y="1611316"/>
          <a:ext cx="4818125" cy="333058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484745008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3054469056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2079640664"/>
                    </a:ext>
                  </a:extLst>
                </a:gridCol>
              </a:tblGrid>
              <a:tr h="333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VP of Talent Acquisition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$162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12988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E58FA3-86CB-F2A3-1385-6D6AF07BD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732229"/>
              </p:ext>
            </p:extLst>
          </p:nvPr>
        </p:nvGraphicFramePr>
        <p:xfrm>
          <a:off x="5024509" y="4328586"/>
          <a:ext cx="4818125" cy="333059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2558761997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36904969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972508407"/>
                    </a:ext>
                  </a:extLst>
                </a:gridCol>
              </a:tblGrid>
              <a:tr h="333059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Learning and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2957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072E64-4D67-8E1A-5487-9A313778F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30709"/>
              </p:ext>
            </p:extLst>
          </p:nvPr>
        </p:nvGraphicFramePr>
        <p:xfrm>
          <a:off x="5037351" y="5170074"/>
          <a:ext cx="4805283" cy="333059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6102">
                  <a:extLst>
                    <a:ext uri="{9D8B030D-6E8A-4147-A177-3AD203B41FA5}">
                      <a16:colId xmlns:a16="http://schemas.microsoft.com/office/drawing/2014/main" val="2268682043"/>
                    </a:ext>
                  </a:extLst>
                </a:gridCol>
                <a:gridCol w="3101790">
                  <a:extLst>
                    <a:ext uri="{9D8B030D-6E8A-4147-A177-3AD203B41FA5}">
                      <a16:colId xmlns:a16="http://schemas.microsoft.com/office/drawing/2014/main" val="3214224544"/>
                    </a:ext>
                  </a:extLst>
                </a:gridCol>
                <a:gridCol w="1137391">
                  <a:extLst>
                    <a:ext uri="{9D8B030D-6E8A-4147-A177-3AD203B41FA5}">
                      <a16:colId xmlns:a16="http://schemas.microsoft.com/office/drawing/2014/main" val="992249737"/>
                    </a:ext>
                  </a:extLst>
                </a:gridCol>
              </a:tblGrid>
              <a:tr h="333059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2319"/>
                  </a:ext>
                </a:extLst>
              </a:tr>
            </a:tbl>
          </a:graphicData>
        </a:graphic>
      </p:graphicFrame>
      <p:sp>
        <p:nvSpPr>
          <p:cNvPr id="5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B83FCCD5-CB57-400A-8E0C-5737039F764F}" type="slidenum">
              <a:r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3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16B895-85AE-F952-C2D1-AA63050494E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List of Critical Roles Is Rank Ordered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BF48C-7861-92CA-C3C5-A925BB6CA620}"/>
              </a:ext>
            </a:extLst>
          </p:cNvPr>
          <p:cNvSpPr txBox="1"/>
          <p:nvPr/>
        </p:nvSpPr>
        <p:spPr>
          <a:xfrm>
            <a:off x="726540" y="739668"/>
            <a:ext cx="8020144" cy="37965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1867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a Manageable, Prioritized List of Roles to Deliver the 5-year Strategy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CD7B88-F3EB-0699-59EB-4BA3E431FE3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3" name="Rectangle: Rounded Corners 7">
              <a:extLst>
                <a:ext uri="{FF2B5EF4-FFF2-40B4-BE49-F238E27FC236}">
                  <a16:creationId xmlns:a16="http://schemas.microsoft.com/office/drawing/2014/main" id="{166A8F87-EA77-8702-1D11-E921620B014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Rectangle: Rounded Corners 9">
              <a:extLst>
                <a:ext uri="{FF2B5EF4-FFF2-40B4-BE49-F238E27FC236}">
                  <a16:creationId xmlns:a16="http://schemas.microsoft.com/office/drawing/2014/main" id="{859810B9-D798-4788-A567-74B53441CF3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5" name="Picture 14" descr="Bend the Curve">
              <a:extLst>
                <a:ext uri="{FF2B5EF4-FFF2-40B4-BE49-F238E27FC236}">
                  <a16:creationId xmlns:a16="http://schemas.microsoft.com/office/drawing/2014/main" id="{7CB46DFD-FD15-2D10-8A7F-E259B99C7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0B2C271-7D60-5BF3-8650-049BD84DAB5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383EDA-E8C0-8F5C-7A3D-BFBFC2689EB3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8" name="Rectangle: Rounded Corners 13">
              <a:extLst>
                <a:ext uri="{FF2B5EF4-FFF2-40B4-BE49-F238E27FC236}">
                  <a16:creationId xmlns:a16="http://schemas.microsoft.com/office/drawing/2014/main" id="{FA327E4F-4E19-845D-700A-A9A121A602B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: Rounded Corners 14">
              <a:extLst>
                <a:ext uri="{FF2B5EF4-FFF2-40B4-BE49-F238E27FC236}">
                  <a16:creationId xmlns:a16="http://schemas.microsoft.com/office/drawing/2014/main" id="{87E38055-31AC-D42B-FB7C-AB6BE8322C3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B18E9B5-0DE5-84D1-BDCF-137BEDEA6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2EFD61-F455-6781-3A3C-F28B5DE72F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F7A91E-508E-42E7-3724-0AF9ED2B20F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3" name="Rectangle: Rounded Corners 18">
              <a:extLst>
                <a:ext uri="{FF2B5EF4-FFF2-40B4-BE49-F238E27FC236}">
                  <a16:creationId xmlns:a16="http://schemas.microsoft.com/office/drawing/2014/main" id="{0398C0DE-C41E-4F84-540E-B4C7852C3B1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9">
              <a:extLst>
                <a:ext uri="{FF2B5EF4-FFF2-40B4-BE49-F238E27FC236}">
                  <a16:creationId xmlns:a16="http://schemas.microsoft.com/office/drawing/2014/main" id="{42621793-12AE-134E-D07B-2887C7ACA64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111DE9E-7776-F078-6AE9-1F5D907A6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6A5018-E1A9-D2B2-1DDE-735F7EFAB09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77FD8E-3917-755C-EFF6-DEE355B7867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23">
              <a:extLst>
                <a:ext uri="{FF2B5EF4-FFF2-40B4-BE49-F238E27FC236}">
                  <a16:creationId xmlns:a16="http://schemas.microsoft.com/office/drawing/2014/main" id="{067854F0-26B9-E469-EAE9-06872CD6496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4">
              <a:extLst>
                <a:ext uri="{FF2B5EF4-FFF2-40B4-BE49-F238E27FC236}">
                  <a16:creationId xmlns:a16="http://schemas.microsoft.com/office/drawing/2014/main" id="{578DA93A-D98C-9A50-7794-A33D7B3D979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 descr="Choose">
              <a:extLst>
                <a:ext uri="{FF2B5EF4-FFF2-40B4-BE49-F238E27FC236}">
                  <a16:creationId xmlns:a16="http://schemas.microsoft.com/office/drawing/2014/main" id="{D437CA77-3CDC-394E-EEA7-663FAFA09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E6118B-9B13-AFB6-E296-1A90DF87B80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F1AF1F0-DD1D-9AC9-FDF9-73698848EB65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8">
              <a:extLst>
                <a:ext uri="{FF2B5EF4-FFF2-40B4-BE49-F238E27FC236}">
                  <a16:creationId xmlns:a16="http://schemas.microsoft.com/office/drawing/2014/main" id="{A1FD581A-C34B-4F8E-E2C1-B16A71CF4BB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285694F0-F1A4-1FFB-7764-B94D13514EC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B2326D7-C028-05E5-E4AE-4818345E4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BC43BC1-3A2D-1021-290E-F31B2FA6949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E2E0F0CF-7B35-408E-C17E-3137A68919E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srgbClr val="765FFF"/>
              <a:srgbClr val="FFFFFF"/>
            </a:duotone>
          </a:blip>
          <a:srcRect b="5048"/>
          <a:stretch/>
        </p:blipFill>
        <p:spPr>
          <a:xfrm>
            <a:off x="623109" y="1682636"/>
            <a:ext cx="7884923" cy="3762841"/>
          </a:xfrm>
          <a:prstGeom prst="rect">
            <a:avLst/>
          </a:prstGeom>
        </p:spPr>
      </p:pic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7CAA2D1-CC96-20EB-CC3D-44412F373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735432"/>
              </p:ext>
            </p:extLst>
          </p:nvPr>
        </p:nvGraphicFramePr>
        <p:xfrm>
          <a:off x="8935076" y="2002502"/>
          <a:ext cx="2828569" cy="3162130"/>
        </p:xfrm>
        <a:graphic>
          <a:graphicData uri="http://schemas.openxmlformats.org/drawingml/2006/table">
            <a:tbl>
              <a:tblPr/>
              <a:tblGrid>
                <a:gridCol w="317667">
                  <a:extLst>
                    <a:ext uri="{9D8B030D-6E8A-4147-A177-3AD203B41FA5}">
                      <a16:colId xmlns:a16="http://schemas.microsoft.com/office/drawing/2014/main" val="3958659132"/>
                    </a:ext>
                  </a:extLst>
                </a:gridCol>
                <a:gridCol w="1668841">
                  <a:extLst>
                    <a:ext uri="{9D8B030D-6E8A-4147-A177-3AD203B41FA5}">
                      <a16:colId xmlns:a16="http://schemas.microsoft.com/office/drawing/2014/main" val="2332027592"/>
                    </a:ext>
                  </a:extLst>
                </a:gridCol>
                <a:gridCol w="842061">
                  <a:extLst>
                    <a:ext uri="{9D8B030D-6E8A-4147-A177-3AD203B41FA5}">
                      <a16:colId xmlns:a16="http://schemas.microsoft.com/office/drawing/2014/main" val="735848009"/>
                    </a:ext>
                  </a:extLst>
                </a:gridCol>
              </a:tblGrid>
              <a:tr h="2113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#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Talent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150555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IGS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Peter Jackson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087390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US Growth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Liam Novak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2651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AVP </a:t>
                      </a:r>
                      <a:r>
                        <a:rPr lang="en-US" sz="700" b="0" i="0" u="none" strike="noStrike" err="1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WalWorld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Emma Fitzpatrick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82104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AVP of Strategic Accounts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Ethan Choi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771899"/>
                  </a:ext>
                </a:extLst>
              </a:tr>
              <a:tr h="1833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Sauce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Vacant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84309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Global Supplier Value Creation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Olivia Larsson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43047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Head of Operations, 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Noah Patel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2359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Snack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Vacant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31079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M&amp;A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Ava Rossi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77709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Sales, IGS US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Mason Nakamura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476481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Marketing Director, Platform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Sophia Köhler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2722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Meals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William </a:t>
                      </a:r>
                      <a:r>
                        <a:rPr lang="en-US" sz="700" err="1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Traoré</a:t>
                      </a:r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542049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Revenue Management 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Isabella Silva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01403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Bacon and Eggs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James Petrov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61495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Dimes Global Brand Lead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rgbClr val="1D1D1D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Benjamin Gupta </a:t>
                      </a:r>
                      <a:endParaRPr lang="en-US" sz="7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513454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555581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473991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69D9D5D-0C63-FDE4-99F5-A5493AA26CD3}"/>
              </a:ext>
            </a:extLst>
          </p:cNvPr>
          <p:cNvSpPr txBox="1"/>
          <p:nvPr/>
        </p:nvSpPr>
        <p:spPr>
          <a:xfrm>
            <a:off x="9036966" y="1661961"/>
            <a:ext cx="2544286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914354">
              <a:defRPr/>
            </a:pPr>
            <a:r>
              <a:rPr lang="en-US" sz="1200" b="1" i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46 Enterprise Critical Roles </a:t>
            </a:r>
          </a:p>
        </p:txBody>
      </p:sp>
      <p:sp>
        <p:nvSpPr>
          <p:cNvPr id="41" name="Rectangle: Rounded Corners 5">
            <a:extLst>
              <a:ext uri="{FF2B5EF4-FFF2-40B4-BE49-F238E27FC236}">
                <a16:creationId xmlns:a16="http://schemas.microsoft.com/office/drawing/2014/main" id="{99E2A499-4FFB-B715-AB21-D030F86E9D02}"/>
              </a:ext>
            </a:extLst>
          </p:cNvPr>
          <p:cNvSpPr/>
          <p:nvPr/>
        </p:nvSpPr>
        <p:spPr>
          <a:xfrm>
            <a:off x="1418866" y="5784074"/>
            <a:ext cx="8634369" cy="614549"/>
          </a:xfrm>
          <a:prstGeom prst="roundRect">
            <a:avLst/>
          </a:prstGeom>
          <a:solidFill>
            <a:srgbClr val="1D1D1D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</a:pPr>
            <a:r>
              <a:rPr lang="en-US" sz="1467" b="1" i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Point of Departure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400EC-295A-A39C-4361-7C3B8265760C}"/>
              </a:ext>
            </a:extLst>
          </p:cNvPr>
          <p:cNvSpPr txBox="1"/>
          <p:nvPr/>
        </p:nvSpPr>
        <p:spPr>
          <a:xfrm>
            <a:off x="3634174" y="5792923"/>
            <a:ext cx="625259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i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On average 25 critical roles or less deliver ~50% of the value; 50 critical roles or less deliver 80% of the value</a:t>
            </a:r>
            <a:endParaRPr lang="en-US" sz="16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0A6713F-3A60-CD41-5CE7-81194C2091C8}"/>
              </a:ext>
            </a:extLst>
          </p:cNvPr>
          <p:cNvCxnSpPr/>
          <p:nvPr/>
        </p:nvCxnSpPr>
        <p:spPr>
          <a:xfrm>
            <a:off x="3389152" y="5859149"/>
            <a:ext cx="0" cy="444660"/>
          </a:xfrm>
          <a:prstGeom prst="line">
            <a:avLst/>
          </a:prstGeom>
          <a:ln w="28575">
            <a:solidFill>
              <a:srgbClr val="F2F2F2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E29E040C-46DC-4B1D-8E4E-31ED4B37DC98}" type="slidenum"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4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0FB469-2FF7-94CE-AB91-3BD26328DE0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 -</a:t>
            </a:r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Duplicates &amp; New Roles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D7BE0AE-40B2-5BA9-2F46-5DE2789CE44C}"/>
              </a:ext>
            </a:extLst>
          </p:cNvPr>
          <p:cNvSpPr txBox="1">
            <a:spLocks/>
          </p:cNvSpPr>
          <p:nvPr/>
        </p:nvSpPr>
        <p:spPr>
          <a:xfrm flipH="1">
            <a:off x="1" y="1"/>
            <a:ext cx="833887" cy="71887"/>
          </a:xfrm>
        </p:spPr>
        <p:txBody>
          <a:bodyPr lIns="121920" tIns="60960" rIns="121920" bIns="60960" anchor="t"/>
          <a:lstStyle>
            <a:defPPr>
              <a:defRPr lang="en-US" b="1" spc="-25">
                <a:latin typeface="Segoe UI" pitchFamily="34" charset="0"/>
              </a:defRPr>
            </a:defPPr>
            <a:lvl1pPr marL="0" algn="l" defTabSz="914400" rtl="0" eaLnBrk="1" latinLnBrk="0" hangingPunct="1"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1D1D1D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CFB0134-B20F-4233-E199-5540E99531E6}"/>
              </a:ext>
            </a:extLst>
          </p:cNvPr>
          <p:cNvGrpSpPr/>
          <p:nvPr/>
        </p:nvGrpSpPr>
        <p:grpSpPr>
          <a:xfrm>
            <a:off x="10128798" y="214706"/>
            <a:ext cx="388476" cy="448367"/>
            <a:chOff x="7016521" y="108565"/>
            <a:chExt cx="387795" cy="447581"/>
          </a:xfrm>
        </p:grpSpPr>
        <p:sp>
          <p:nvSpPr>
            <p:cNvPr id="57" name="Rectangle: Rounded Corners 7">
              <a:extLst>
                <a:ext uri="{FF2B5EF4-FFF2-40B4-BE49-F238E27FC236}">
                  <a16:creationId xmlns:a16="http://schemas.microsoft.com/office/drawing/2014/main" id="{EEECEBF0-9FDF-E9F4-7B65-A6FE2449D97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9">
              <a:extLst>
                <a:ext uri="{FF2B5EF4-FFF2-40B4-BE49-F238E27FC236}">
                  <a16:creationId xmlns:a16="http://schemas.microsoft.com/office/drawing/2014/main" id="{62AD134F-E61A-468D-10B6-F4EC70489F28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 descr="Bend the Curve">
              <a:extLst>
                <a:ext uri="{FF2B5EF4-FFF2-40B4-BE49-F238E27FC236}">
                  <a16:creationId xmlns:a16="http://schemas.microsoft.com/office/drawing/2014/main" id="{EFF81308-C88C-7DBD-EAF8-92FAE1790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A98169-B830-0985-B08D-B1EC2539B05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465BD2D-16A7-7989-0159-E9A5533CF223}"/>
              </a:ext>
            </a:extLst>
          </p:cNvPr>
          <p:cNvGrpSpPr/>
          <p:nvPr/>
        </p:nvGrpSpPr>
        <p:grpSpPr>
          <a:xfrm>
            <a:off x="10528863" y="214706"/>
            <a:ext cx="388476" cy="452415"/>
            <a:chOff x="7836412" y="108565"/>
            <a:chExt cx="387795" cy="451621"/>
          </a:xfrm>
        </p:grpSpPr>
        <p:sp>
          <p:nvSpPr>
            <p:cNvPr id="62" name="Rectangle: Rounded Corners 13">
              <a:extLst>
                <a:ext uri="{FF2B5EF4-FFF2-40B4-BE49-F238E27FC236}">
                  <a16:creationId xmlns:a16="http://schemas.microsoft.com/office/drawing/2014/main" id="{047F2E14-A0D0-C9E7-5344-90727ED951C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: Rounded Corners 14">
              <a:extLst>
                <a:ext uri="{FF2B5EF4-FFF2-40B4-BE49-F238E27FC236}">
                  <a16:creationId xmlns:a16="http://schemas.microsoft.com/office/drawing/2014/main" id="{CCCDD434-D01C-AE93-84F2-CF0CDECAAC1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8361666C-DED3-0A78-7E4C-DC7503243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5E46478-5E19-6B83-5A3B-064DB0C54A9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8B58773-3F8E-723F-ABD7-0EDD4FD3FD03}"/>
              </a:ext>
            </a:extLst>
          </p:cNvPr>
          <p:cNvGrpSpPr/>
          <p:nvPr/>
        </p:nvGrpSpPr>
        <p:grpSpPr>
          <a:xfrm>
            <a:off x="11729055" y="214705"/>
            <a:ext cx="388476" cy="453984"/>
            <a:chOff x="8244177" y="109334"/>
            <a:chExt cx="387795" cy="453190"/>
          </a:xfrm>
        </p:grpSpPr>
        <p:sp>
          <p:nvSpPr>
            <p:cNvPr id="67" name="Rectangle: Rounded Corners 18">
              <a:extLst>
                <a:ext uri="{FF2B5EF4-FFF2-40B4-BE49-F238E27FC236}">
                  <a16:creationId xmlns:a16="http://schemas.microsoft.com/office/drawing/2014/main" id="{F49BB606-82D9-2B73-ED28-C5996264FEA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: Rounded Corners 19">
              <a:extLst>
                <a:ext uri="{FF2B5EF4-FFF2-40B4-BE49-F238E27FC236}">
                  <a16:creationId xmlns:a16="http://schemas.microsoft.com/office/drawing/2014/main" id="{338AD235-6AFC-C923-D9F2-17A48089246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4E3EC905-AF61-4EA6-E32F-D183037E7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FBFB4E4-1D52-693A-3802-2F7F0CC99970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D1FCAB6-24DA-7568-867F-7372F6BC5AAD}"/>
              </a:ext>
            </a:extLst>
          </p:cNvPr>
          <p:cNvGrpSpPr/>
          <p:nvPr/>
        </p:nvGrpSpPr>
        <p:grpSpPr>
          <a:xfrm>
            <a:off x="10928926" y="214706"/>
            <a:ext cx="388476" cy="452415"/>
            <a:chOff x="7836412" y="108565"/>
            <a:chExt cx="387795" cy="451621"/>
          </a:xfrm>
        </p:grpSpPr>
        <p:sp>
          <p:nvSpPr>
            <p:cNvPr id="72" name="Rectangle: Rounded Corners 23">
              <a:extLst>
                <a:ext uri="{FF2B5EF4-FFF2-40B4-BE49-F238E27FC236}">
                  <a16:creationId xmlns:a16="http://schemas.microsoft.com/office/drawing/2014/main" id="{325EE598-3B60-F821-02A1-8752624919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Rectangle: Rounded Corners 24">
              <a:extLst>
                <a:ext uri="{FF2B5EF4-FFF2-40B4-BE49-F238E27FC236}">
                  <a16:creationId xmlns:a16="http://schemas.microsoft.com/office/drawing/2014/main" id="{192D1C12-ED76-41C7-522B-64EBEB51372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4" name="Picture 73" descr="Choose">
              <a:extLst>
                <a:ext uri="{FF2B5EF4-FFF2-40B4-BE49-F238E27FC236}">
                  <a16:creationId xmlns:a16="http://schemas.microsoft.com/office/drawing/2014/main" id="{777CD39B-3038-CAD0-3FA3-EE5BAC474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59DB9A2-4717-D402-221A-747617279BA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1E10D3-2BCB-3F65-C646-8E57DE6B030B}"/>
              </a:ext>
            </a:extLst>
          </p:cNvPr>
          <p:cNvGrpSpPr/>
          <p:nvPr/>
        </p:nvGrpSpPr>
        <p:grpSpPr>
          <a:xfrm>
            <a:off x="11328989" y="214706"/>
            <a:ext cx="388476" cy="452415"/>
            <a:chOff x="7836412" y="108565"/>
            <a:chExt cx="387795" cy="451621"/>
          </a:xfrm>
        </p:grpSpPr>
        <p:sp>
          <p:nvSpPr>
            <p:cNvPr id="77" name="Rectangle: Rounded Corners 28">
              <a:extLst>
                <a:ext uri="{FF2B5EF4-FFF2-40B4-BE49-F238E27FC236}">
                  <a16:creationId xmlns:a16="http://schemas.microsoft.com/office/drawing/2014/main" id="{0C6560CD-9BA8-15A3-2C83-0BAE542BCD9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Rectangle: Rounded Corners 29">
              <a:extLst>
                <a:ext uri="{FF2B5EF4-FFF2-40B4-BE49-F238E27FC236}">
                  <a16:creationId xmlns:a16="http://schemas.microsoft.com/office/drawing/2014/main" id="{7F9C8CB1-7AA0-482C-F008-17F14EBFF2C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AB28C5B-46A8-A100-5516-E39D06F31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03F750E-14B6-37F1-A5D1-76785190772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8363210-56CE-7E87-A1CF-9A20B49522A9}"/>
              </a:ext>
            </a:extLst>
          </p:cNvPr>
          <p:cNvCxnSpPr>
            <a:cxnSpLocks/>
          </p:cNvCxnSpPr>
          <p:nvPr/>
        </p:nvCxnSpPr>
        <p:spPr>
          <a:xfrm>
            <a:off x="4748999" y="1287197"/>
            <a:ext cx="0" cy="4819903"/>
          </a:xfrm>
          <a:prstGeom prst="line">
            <a:avLst/>
          </a:prstGeom>
          <a:ln>
            <a:solidFill>
              <a:srgbClr val="1D1D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itle 1">
            <a:extLst>
              <a:ext uri="{FF2B5EF4-FFF2-40B4-BE49-F238E27FC236}">
                <a16:creationId xmlns:a16="http://schemas.microsoft.com/office/drawing/2014/main" id="{12C23B20-0CD5-984F-938F-4153012CDA8C}"/>
              </a:ext>
            </a:extLst>
          </p:cNvPr>
          <p:cNvSpPr txBox="1">
            <a:spLocks/>
          </p:cNvSpPr>
          <p:nvPr/>
        </p:nvSpPr>
        <p:spPr>
          <a:xfrm>
            <a:off x="4779821" y="1326474"/>
            <a:ext cx="4068035" cy="6862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1" i="0" spc="-25">
                <a:solidFill>
                  <a:srgbClr val="1D1D1D"/>
                </a:solidFill>
                <a:latin typeface="Segoe UI" pitchFamily="34" charset="0"/>
                <a:ea typeface="+mj-ea"/>
                <a:cs typeface="Lato Light" panose="020F0402020204030203" pitchFamily="34" charset="0"/>
              </a:defRPr>
            </a:lvl1pPr>
          </a:lstStyle>
          <a:p>
            <a:pPr algn="ctr"/>
            <a:r>
              <a:rPr lang="en-US" sz="1800" b="1" kern="0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in Multiple Hotspots</a:t>
            </a:r>
          </a:p>
          <a:p>
            <a:pPr algn="ctr"/>
            <a:r>
              <a:rPr lang="en-US" sz="1800" b="1" kern="0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“execution Risk”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D12CA7D-5260-5031-C582-14085AA25893}"/>
              </a:ext>
            </a:extLst>
          </p:cNvPr>
          <p:cNvGrpSpPr/>
          <p:nvPr/>
        </p:nvGrpSpPr>
        <p:grpSpPr>
          <a:xfrm>
            <a:off x="4718177" y="2756737"/>
            <a:ext cx="4260080" cy="1672479"/>
            <a:chOff x="3549175" y="4437067"/>
            <a:chExt cx="4032514" cy="158313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27CDD27-AB08-AC42-EBCB-7983B6AA2542}"/>
                </a:ext>
              </a:extLst>
            </p:cNvPr>
            <p:cNvGrpSpPr/>
            <p:nvPr/>
          </p:nvGrpSpPr>
          <p:grpSpPr>
            <a:xfrm>
              <a:off x="3779352" y="4437067"/>
              <a:ext cx="3572157" cy="869725"/>
              <a:chOff x="4033650" y="4725049"/>
              <a:chExt cx="2631222" cy="640632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808DCE7E-B5A4-B405-57EA-F9B94620AD28}"/>
                  </a:ext>
                </a:extLst>
              </p:cNvPr>
              <p:cNvSpPr/>
              <p:nvPr/>
            </p:nvSpPr>
            <p:spPr>
              <a:xfrm>
                <a:off x="4033650" y="4725049"/>
                <a:ext cx="616232" cy="634482"/>
              </a:xfrm>
              <a:prstGeom prst="ellips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1628686-5308-7F7F-2D6A-46676148D99F}"/>
                  </a:ext>
                </a:extLst>
              </p:cNvPr>
              <p:cNvSpPr/>
              <p:nvPr/>
            </p:nvSpPr>
            <p:spPr>
              <a:xfrm>
                <a:off x="5041145" y="4731199"/>
                <a:ext cx="616232" cy="634482"/>
              </a:xfrm>
              <a:prstGeom prst="ellips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5EA93B37-7A09-D17E-5CA3-09E6640CE611}"/>
                  </a:ext>
                </a:extLst>
              </p:cNvPr>
              <p:cNvSpPr/>
              <p:nvPr/>
            </p:nvSpPr>
            <p:spPr>
              <a:xfrm>
                <a:off x="6048640" y="4731199"/>
                <a:ext cx="616232" cy="634482"/>
              </a:xfrm>
              <a:prstGeom prst="ellips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974390A-9681-23A3-D409-B035FADA313D}"/>
                </a:ext>
              </a:extLst>
            </p:cNvPr>
            <p:cNvSpPr txBox="1"/>
            <p:nvPr/>
          </p:nvSpPr>
          <p:spPr>
            <a:xfrm>
              <a:off x="3549175" y="5459788"/>
              <a:ext cx="1296954" cy="56041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2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Chief Customer Officer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68C6380-9103-B8CA-4C8A-FFEB7D088ED2}"/>
                </a:ext>
              </a:extLst>
            </p:cNvPr>
            <p:cNvSpPr txBox="1"/>
            <p:nvPr/>
          </p:nvSpPr>
          <p:spPr>
            <a:xfrm>
              <a:off x="4916955" y="5459788"/>
              <a:ext cx="1296954" cy="56041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2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Sales- Europe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405FB3D-F0FF-2A81-5F38-F8AD283F35B4}"/>
                </a:ext>
              </a:extLst>
            </p:cNvPr>
            <p:cNvSpPr txBox="1"/>
            <p:nvPr/>
          </p:nvSpPr>
          <p:spPr>
            <a:xfrm>
              <a:off x="6284735" y="5459788"/>
              <a:ext cx="1296954" cy="56041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2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Product Strategy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DCF8E37-440D-6573-FDDD-1CEBF2CC0B28}"/>
                </a:ext>
              </a:extLst>
            </p:cNvPr>
            <p:cNvSpPr txBox="1"/>
            <p:nvPr/>
          </p:nvSpPr>
          <p:spPr>
            <a:xfrm>
              <a:off x="4062673" y="4550246"/>
              <a:ext cx="279968" cy="3738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281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449D24C-B60C-5466-A34B-1E574F7254B6}"/>
                </a:ext>
              </a:extLst>
            </p:cNvPr>
            <p:cNvSpPr txBox="1"/>
            <p:nvPr/>
          </p:nvSpPr>
          <p:spPr>
            <a:xfrm>
              <a:off x="3769753" y="4905387"/>
              <a:ext cx="874268" cy="2487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BC6246B-2C76-FFBA-BD00-E8C9C831BE96}"/>
                </a:ext>
              </a:extLst>
            </p:cNvPr>
            <p:cNvSpPr txBox="1"/>
            <p:nvPr/>
          </p:nvSpPr>
          <p:spPr>
            <a:xfrm>
              <a:off x="5418519" y="4550246"/>
              <a:ext cx="279968" cy="3738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281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E997DC3-602C-AAD5-42BD-06F0CAEA4654}"/>
                </a:ext>
              </a:extLst>
            </p:cNvPr>
            <p:cNvSpPr txBox="1"/>
            <p:nvPr/>
          </p:nvSpPr>
          <p:spPr>
            <a:xfrm>
              <a:off x="5125599" y="4905387"/>
              <a:ext cx="874268" cy="2487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F074571-53C2-9ED3-2CF1-251D82231852}"/>
                </a:ext>
              </a:extLst>
            </p:cNvPr>
            <p:cNvSpPr txBox="1"/>
            <p:nvPr/>
          </p:nvSpPr>
          <p:spPr>
            <a:xfrm>
              <a:off x="6793586" y="4550246"/>
              <a:ext cx="279968" cy="3738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281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71BFE42-F01C-9BD9-4DC6-3E18A9806945}"/>
                </a:ext>
              </a:extLst>
            </p:cNvPr>
            <p:cNvSpPr txBox="1"/>
            <p:nvPr/>
          </p:nvSpPr>
          <p:spPr>
            <a:xfrm>
              <a:off x="6500666" y="4905387"/>
              <a:ext cx="874268" cy="2487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45CE660-503D-A436-56AC-3B2AE375CC50}"/>
              </a:ext>
            </a:extLst>
          </p:cNvPr>
          <p:cNvCxnSpPr>
            <a:cxnSpLocks/>
          </p:cNvCxnSpPr>
          <p:nvPr/>
        </p:nvCxnSpPr>
        <p:spPr>
          <a:xfrm>
            <a:off x="8877681" y="1287195"/>
            <a:ext cx="0" cy="4819903"/>
          </a:xfrm>
          <a:prstGeom prst="line">
            <a:avLst/>
          </a:prstGeom>
          <a:ln>
            <a:solidFill>
              <a:srgbClr val="1D1D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 Placeholder 4">
            <a:extLst>
              <a:ext uri="{FF2B5EF4-FFF2-40B4-BE49-F238E27FC236}">
                <a16:creationId xmlns:a16="http://schemas.microsoft.com/office/drawing/2014/main" id="{E1387089-310B-64EE-3870-04F680AAF658}"/>
              </a:ext>
            </a:extLst>
          </p:cNvPr>
          <p:cNvSpPr txBox="1">
            <a:spLocks/>
          </p:cNvSpPr>
          <p:nvPr/>
        </p:nvSpPr>
        <p:spPr>
          <a:xfrm>
            <a:off x="3719253" y="5750756"/>
            <a:ext cx="698007" cy="266664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>
              <a:defRPr sz="1400" i="0" spc="-10">
                <a:latin typeface="Arial" pitchFamily="34" charset="0"/>
                <a:ea typeface="+mn-ea"/>
                <a:cs typeface="Lato Light" panose="020F0402020204030203" pitchFamily="34" charset="0"/>
              </a:defRPr>
            </a:lvl1pPr>
            <a:lvl2pPr marL="277246">
              <a:defRPr>
                <a:latin typeface="+mn-lt"/>
                <a:ea typeface="+mn-ea"/>
                <a:cs typeface="+mn-cs"/>
              </a:defRPr>
            </a:lvl2pPr>
            <a:lvl3pPr marL="554492">
              <a:defRPr>
                <a:latin typeface="+mn-lt"/>
                <a:ea typeface="+mn-ea"/>
                <a:cs typeface="+mn-cs"/>
              </a:defRPr>
            </a:lvl3pPr>
            <a:lvl4pPr marL="831738">
              <a:defRPr>
                <a:latin typeface="+mn-lt"/>
                <a:ea typeface="+mn-ea"/>
                <a:cs typeface="+mn-cs"/>
              </a:defRPr>
            </a:lvl4pPr>
            <a:lvl5pPr marL="1108984">
              <a:defRPr>
                <a:latin typeface="+mn-lt"/>
                <a:ea typeface="+mn-ea"/>
                <a:cs typeface="+mn-cs"/>
              </a:defRPr>
            </a:lvl5pPr>
            <a:lvl6pPr marL="1386230">
              <a:defRPr>
                <a:latin typeface="+mn-lt"/>
                <a:ea typeface="+mn-ea"/>
                <a:cs typeface="+mn-cs"/>
              </a:defRPr>
            </a:lvl6pPr>
            <a:lvl7pPr marL="1663476">
              <a:defRPr>
                <a:latin typeface="+mn-lt"/>
                <a:ea typeface="+mn-ea"/>
                <a:cs typeface="+mn-cs"/>
              </a:defRPr>
            </a:lvl7pPr>
            <a:lvl8pPr marL="1940723">
              <a:defRPr>
                <a:latin typeface="+mn-lt"/>
                <a:ea typeface="+mn-ea"/>
                <a:cs typeface="+mn-cs"/>
              </a:defRPr>
            </a:lvl8pPr>
            <a:lvl9pPr marL="2217969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0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(23%)</a:t>
            </a:r>
          </a:p>
        </p:txBody>
      </p: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F35BE9F4-892E-10C3-06FD-E4C80107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543874"/>
              </p:ext>
            </p:extLst>
          </p:nvPr>
        </p:nvGraphicFramePr>
        <p:xfrm>
          <a:off x="391886" y="1362340"/>
          <a:ext cx="4208249" cy="4585811"/>
        </p:xfrm>
        <a:graphic>
          <a:graphicData uri="http://schemas.openxmlformats.org/drawingml/2006/table">
            <a:tbl>
              <a:tblPr/>
              <a:tblGrid>
                <a:gridCol w="523141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939521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5587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675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£ 123.20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Strategy &amp;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£ 116.00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Growth &amp; Innovation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91.20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Customer Officer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88.00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Strategy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84.00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Market Intelligence &amp; Foresight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69.60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Sales- Banking &amp; Finance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68.80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Product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Sales, Pensions &amp; Endowments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Strategic Relationships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Asia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sp>
        <p:nvSpPr>
          <p:cNvPr id="100" name="Title 1">
            <a:extLst>
              <a:ext uri="{FF2B5EF4-FFF2-40B4-BE49-F238E27FC236}">
                <a16:creationId xmlns:a16="http://schemas.microsoft.com/office/drawing/2014/main" id="{B20E6BA7-87A2-76CC-3968-153530E0E0D5}"/>
              </a:ext>
            </a:extLst>
          </p:cNvPr>
          <p:cNvSpPr txBox="1">
            <a:spLocks/>
          </p:cNvSpPr>
          <p:nvPr/>
        </p:nvSpPr>
        <p:spPr>
          <a:xfrm>
            <a:off x="8440500" y="1365072"/>
            <a:ext cx="4068035" cy="6862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1" i="0" spc="-25">
                <a:solidFill>
                  <a:srgbClr val="1D1D1D"/>
                </a:solidFill>
                <a:latin typeface="Segoe UI" pitchFamily="34" charset="0"/>
                <a:ea typeface="+mj-ea"/>
                <a:cs typeface="Lato Light" panose="020F0402020204030203" pitchFamily="34" charset="0"/>
              </a:defRPr>
            </a:lvl1pPr>
          </a:lstStyle>
          <a:p>
            <a:pPr algn="ctr"/>
            <a:r>
              <a:rPr lang="en-US" sz="1800" b="1" kern="0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</a:t>
            </a:r>
          </a:p>
          <a:p>
            <a:pPr algn="ctr"/>
            <a:r>
              <a:rPr lang="en-US" sz="1800" b="1" kern="0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“bend the Curve”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341A405-7571-5B5F-EAFB-9CD013F47694}"/>
              </a:ext>
            </a:extLst>
          </p:cNvPr>
          <p:cNvGrpSpPr/>
          <p:nvPr/>
        </p:nvGrpSpPr>
        <p:grpSpPr>
          <a:xfrm>
            <a:off x="9511737" y="2160458"/>
            <a:ext cx="1924115" cy="1751511"/>
            <a:chOff x="9511737" y="2160458"/>
            <a:chExt cx="1924114" cy="175151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A297A69-D808-65B1-770C-96B240FD58D8}"/>
                </a:ext>
              </a:extLst>
            </p:cNvPr>
            <p:cNvGrpSpPr/>
            <p:nvPr/>
          </p:nvGrpSpPr>
          <p:grpSpPr>
            <a:xfrm>
              <a:off x="9511737" y="2160458"/>
              <a:ext cx="1924114" cy="1751510"/>
              <a:chOff x="-1679546" y="2779417"/>
              <a:chExt cx="903896" cy="911900"/>
            </a:xfrm>
            <a:solidFill>
              <a:srgbClr val="1D1D1D"/>
            </a:solidFill>
          </p:grpSpPr>
          <p:sp>
            <p:nvSpPr>
              <p:cNvPr id="104" name="Rounded Rectangle 1095">
                <a:extLst>
                  <a:ext uri="{FF2B5EF4-FFF2-40B4-BE49-F238E27FC236}">
                    <a16:creationId xmlns:a16="http://schemas.microsoft.com/office/drawing/2014/main" id="{8C25851A-0DBC-A890-009D-A24DFEE7C84A}"/>
                  </a:ext>
                </a:extLst>
              </p:cNvPr>
              <p:cNvSpPr/>
              <p:nvPr/>
            </p:nvSpPr>
            <p:spPr>
              <a:xfrm>
                <a:off x="-1312632" y="2881391"/>
                <a:ext cx="163813" cy="120934"/>
              </a:xfrm>
              <a:prstGeom prst="roundRect">
                <a:avLst/>
              </a:prstGeom>
              <a:solidFill>
                <a:srgbClr val="281A42"/>
              </a:solidFill>
              <a:ln w="9525">
                <a:solidFill>
                  <a:srgbClr val="281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5" name="Isosceles Triangle 33">
                <a:extLst>
                  <a:ext uri="{FF2B5EF4-FFF2-40B4-BE49-F238E27FC236}">
                    <a16:creationId xmlns:a16="http://schemas.microsoft.com/office/drawing/2014/main" id="{C5B0BE47-7BEC-C83A-F442-8CF2EBDC5984}"/>
                  </a:ext>
                </a:extLst>
              </p:cNvPr>
              <p:cNvSpPr/>
              <p:nvPr/>
            </p:nvSpPr>
            <p:spPr>
              <a:xfrm rot="10800000">
                <a:off x="-1255343" y="2881391"/>
                <a:ext cx="49236" cy="73858"/>
              </a:xfrm>
              <a:prstGeom prst="triangle">
                <a:avLst/>
              </a:prstGeom>
              <a:solidFill>
                <a:srgbClr val="281A42"/>
              </a:solidFill>
              <a:ln w="9525">
                <a:solidFill>
                  <a:srgbClr val="281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36680763-12B4-0CBB-1CA9-B3F42037ACE1}"/>
                  </a:ext>
                </a:extLst>
              </p:cNvPr>
              <p:cNvSpPr/>
              <p:nvPr/>
            </p:nvSpPr>
            <p:spPr>
              <a:xfrm>
                <a:off x="-1282367" y="2779417"/>
                <a:ext cx="103607" cy="103607"/>
              </a:xfrm>
              <a:prstGeom prst="ellipse">
                <a:avLst/>
              </a:prstGeom>
              <a:solidFill>
                <a:srgbClr val="281A42"/>
              </a:solidFill>
              <a:ln w="9525">
                <a:solidFill>
                  <a:srgbClr val="281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FBF0FDB-E96B-C996-655A-13AA91DF87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1435113" y="3034252"/>
                <a:ext cx="408775" cy="410234"/>
              </a:xfrm>
              <a:prstGeom prst="ellipse">
                <a:avLst/>
              </a:prstGeom>
              <a:solidFill>
                <a:srgbClr val="B2BBCA"/>
              </a:solidFill>
              <a:ln w="2857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>
                <a:noAutofit/>
              </a:bodyPr>
              <a:lstStyle/>
              <a:p>
                <a:pPr algn="ctr"/>
                <a:endParaRPr lang="de-DE" sz="1837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8" name="Rounded Rectangle 1099">
                <a:extLst>
                  <a:ext uri="{FF2B5EF4-FFF2-40B4-BE49-F238E27FC236}">
                    <a16:creationId xmlns:a16="http://schemas.microsoft.com/office/drawing/2014/main" id="{825AF6E3-0263-16A0-69F1-1D0EE37DABA6}"/>
                  </a:ext>
                </a:extLst>
              </p:cNvPr>
              <p:cNvSpPr/>
              <p:nvPr/>
            </p:nvSpPr>
            <p:spPr>
              <a:xfrm flipV="1">
                <a:off x="-1312632" y="3476413"/>
                <a:ext cx="163813" cy="120934"/>
              </a:xfrm>
              <a:prstGeom prst="roundRect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9" name="Isosceles Triangle 37">
                <a:extLst>
                  <a:ext uri="{FF2B5EF4-FFF2-40B4-BE49-F238E27FC236}">
                    <a16:creationId xmlns:a16="http://schemas.microsoft.com/office/drawing/2014/main" id="{97056FCD-08A4-C0EF-613E-3FDD7819D45D}"/>
                  </a:ext>
                </a:extLst>
              </p:cNvPr>
              <p:cNvSpPr/>
              <p:nvPr/>
            </p:nvSpPr>
            <p:spPr>
              <a:xfrm rot="10800000" flipV="1">
                <a:off x="-1255343" y="3523489"/>
                <a:ext cx="49236" cy="73858"/>
              </a:xfrm>
              <a:prstGeom prst="triangl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586F212-4832-B2F8-F331-D4E9A555B9A6}"/>
                  </a:ext>
                </a:extLst>
              </p:cNvPr>
              <p:cNvSpPr/>
              <p:nvPr/>
            </p:nvSpPr>
            <p:spPr>
              <a:xfrm flipV="1">
                <a:off x="-1282367" y="3587710"/>
                <a:ext cx="103607" cy="103607"/>
              </a:xfrm>
              <a:prstGeom prst="ellips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1" name="Rounded Rectangle 1102">
                <a:extLst>
                  <a:ext uri="{FF2B5EF4-FFF2-40B4-BE49-F238E27FC236}">
                    <a16:creationId xmlns:a16="http://schemas.microsoft.com/office/drawing/2014/main" id="{E635D6C8-2050-A70C-410D-FDA5E2FA1301}"/>
                  </a:ext>
                </a:extLst>
              </p:cNvPr>
              <p:cNvSpPr/>
              <p:nvPr/>
            </p:nvSpPr>
            <p:spPr>
              <a:xfrm rot="16200000">
                <a:off x="-1607015" y="3178902"/>
                <a:ext cx="163812" cy="120934"/>
              </a:xfrm>
              <a:prstGeom prst="roundRect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2" name="Isosceles Triangle 40">
                <a:extLst>
                  <a:ext uri="{FF2B5EF4-FFF2-40B4-BE49-F238E27FC236}">
                    <a16:creationId xmlns:a16="http://schemas.microsoft.com/office/drawing/2014/main" id="{240CAEC5-CE93-A5D1-B05F-A4AF3A457CFA}"/>
                  </a:ext>
                </a:extLst>
              </p:cNvPr>
              <p:cNvSpPr/>
              <p:nvPr/>
            </p:nvSpPr>
            <p:spPr>
              <a:xfrm rot="5400000">
                <a:off x="-1573265" y="3202439"/>
                <a:ext cx="49236" cy="73858"/>
              </a:xfrm>
              <a:prstGeom prst="triangl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412D6C0F-FDDF-789B-3D60-ECEE558458A9}"/>
                  </a:ext>
                </a:extLst>
              </p:cNvPr>
              <p:cNvSpPr/>
              <p:nvPr/>
            </p:nvSpPr>
            <p:spPr>
              <a:xfrm rot="16200000">
                <a:off x="-1679546" y="3187403"/>
                <a:ext cx="103607" cy="103607"/>
              </a:xfrm>
              <a:prstGeom prst="ellips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4" name="Rounded Rectangle 1105">
                <a:extLst>
                  <a:ext uri="{FF2B5EF4-FFF2-40B4-BE49-F238E27FC236}">
                    <a16:creationId xmlns:a16="http://schemas.microsoft.com/office/drawing/2014/main" id="{0ABF3AF7-7CBB-C873-C28C-46EC081ACD84}"/>
                  </a:ext>
                </a:extLst>
              </p:cNvPr>
              <p:cNvSpPr/>
              <p:nvPr/>
            </p:nvSpPr>
            <p:spPr>
              <a:xfrm rot="16200000" flipV="1">
                <a:off x="-1011993" y="3178902"/>
                <a:ext cx="163812" cy="120934"/>
              </a:xfrm>
              <a:prstGeom prst="roundRect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5" name="Isosceles Triangle 44">
                <a:extLst>
                  <a:ext uri="{FF2B5EF4-FFF2-40B4-BE49-F238E27FC236}">
                    <a16:creationId xmlns:a16="http://schemas.microsoft.com/office/drawing/2014/main" id="{842BA838-0C8E-FDD1-7728-BBB24F126407}"/>
                  </a:ext>
                </a:extLst>
              </p:cNvPr>
              <p:cNvSpPr/>
              <p:nvPr/>
            </p:nvSpPr>
            <p:spPr>
              <a:xfrm rot="5400000" flipV="1">
                <a:off x="-931167" y="3202439"/>
                <a:ext cx="49236" cy="73858"/>
              </a:xfrm>
              <a:prstGeom prst="triangl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29A684D5-121B-CA2E-38E7-ED9EE4020503}"/>
                  </a:ext>
                </a:extLst>
              </p:cNvPr>
              <p:cNvSpPr/>
              <p:nvPr/>
            </p:nvSpPr>
            <p:spPr>
              <a:xfrm rot="16200000" flipV="1">
                <a:off x="-879257" y="3187403"/>
                <a:ext cx="103607" cy="103607"/>
              </a:xfrm>
              <a:prstGeom prst="ellips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7" name="Rounded Rectangle 1108">
                <a:extLst>
                  <a:ext uri="{FF2B5EF4-FFF2-40B4-BE49-F238E27FC236}">
                    <a16:creationId xmlns:a16="http://schemas.microsoft.com/office/drawing/2014/main" id="{1BDAB13F-2293-B4A9-E018-DBF824BC7C13}"/>
                  </a:ext>
                </a:extLst>
              </p:cNvPr>
              <p:cNvSpPr/>
              <p:nvPr/>
            </p:nvSpPr>
            <p:spPr>
              <a:xfrm rot="18900000">
                <a:off x="-1526353" y="2975132"/>
                <a:ext cx="163813" cy="120934"/>
              </a:xfrm>
              <a:prstGeom prst="roundRect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8" name="Isosceles Triangle 48">
                <a:extLst>
                  <a:ext uri="{FF2B5EF4-FFF2-40B4-BE49-F238E27FC236}">
                    <a16:creationId xmlns:a16="http://schemas.microsoft.com/office/drawing/2014/main" id="{1C4487E1-D5C9-7654-F0B7-86008CF15057}"/>
                  </a:ext>
                </a:extLst>
              </p:cNvPr>
              <p:cNvSpPr/>
              <p:nvPr/>
            </p:nvSpPr>
            <p:spPr>
              <a:xfrm rot="8100000">
                <a:off x="-1485708" y="2982026"/>
                <a:ext cx="49236" cy="73858"/>
              </a:xfrm>
              <a:prstGeom prst="triangl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B5593835-3B9E-ABBF-DD02-EDA92E24FE4A}"/>
                  </a:ext>
                </a:extLst>
              </p:cNvPr>
              <p:cNvSpPr/>
              <p:nvPr/>
            </p:nvSpPr>
            <p:spPr>
              <a:xfrm rot="18900000">
                <a:off x="-1568708" y="2911108"/>
                <a:ext cx="103607" cy="103607"/>
              </a:xfrm>
              <a:prstGeom prst="ellips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0" name="Rounded Rectangle 1111">
                <a:extLst>
                  <a:ext uri="{FF2B5EF4-FFF2-40B4-BE49-F238E27FC236}">
                    <a16:creationId xmlns:a16="http://schemas.microsoft.com/office/drawing/2014/main" id="{FAB48894-F84D-CFAC-B583-19A5A46A3F54}"/>
                  </a:ext>
                </a:extLst>
              </p:cNvPr>
              <p:cNvSpPr/>
              <p:nvPr/>
            </p:nvSpPr>
            <p:spPr>
              <a:xfrm rot="18900000" flipV="1">
                <a:off x="-1105609" y="3395876"/>
                <a:ext cx="163813" cy="120934"/>
              </a:xfrm>
              <a:prstGeom prst="roundRect">
                <a:avLst/>
              </a:prstGeom>
              <a:solidFill>
                <a:srgbClr val="281A42"/>
              </a:solidFill>
              <a:ln w="9525">
                <a:solidFill>
                  <a:srgbClr val="281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1" name="Isosceles Triangle 52">
                <a:extLst>
                  <a:ext uri="{FF2B5EF4-FFF2-40B4-BE49-F238E27FC236}">
                    <a16:creationId xmlns:a16="http://schemas.microsoft.com/office/drawing/2014/main" id="{80EED6EB-F5CE-AF48-C241-9865925DD6BE}"/>
                  </a:ext>
                </a:extLst>
              </p:cNvPr>
              <p:cNvSpPr/>
              <p:nvPr/>
            </p:nvSpPr>
            <p:spPr>
              <a:xfrm rot="8100000" flipV="1">
                <a:off x="-1031677" y="3436057"/>
                <a:ext cx="49236" cy="73858"/>
              </a:xfrm>
              <a:prstGeom prst="triangle">
                <a:avLst/>
              </a:prstGeom>
              <a:solidFill>
                <a:srgbClr val="281A42"/>
              </a:solidFill>
              <a:ln w="9525">
                <a:solidFill>
                  <a:srgbClr val="281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C57121C4-EE79-EECB-D752-33091B342C67}"/>
                  </a:ext>
                </a:extLst>
              </p:cNvPr>
              <p:cNvSpPr/>
              <p:nvPr/>
            </p:nvSpPr>
            <p:spPr>
              <a:xfrm rot="18900000" flipV="1">
                <a:off x="-1006607" y="3485077"/>
                <a:ext cx="103607" cy="103607"/>
              </a:xfrm>
              <a:prstGeom prst="ellipse">
                <a:avLst/>
              </a:prstGeom>
              <a:solidFill>
                <a:srgbClr val="281A42"/>
              </a:solidFill>
              <a:ln w="9525">
                <a:solidFill>
                  <a:srgbClr val="281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3" name="Rounded Rectangle 1114">
                <a:extLst>
                  <a:ext uri="{FF2B5EF4-FFF2-40B4-BE49-F238E27FC236}">
                    <a16:creationId xmlns:a16="http://schemas.microsoft.com/office/drawing/2014/main" id="{EA096E71-A729-54BF-0AF7-22FE071F9F78}"/>
                  </a:ext>
                </a:extLst>
              </p:cNvPr>
              <p:cNvSpPr/>
              <p:nvPr/>
            </p:nvSpPr>
            <p:spPr>
              <a:xfrm rot="13500000">
                <a:off x="-1526353" y="3377295"/>
                <a:ext cx="163812" cy="120934"/>
              </a:xfrm>
              <a:prstGeom prst="roundRect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4" name="Isosceles Triangle 55">
                <a:extLst>
                  <a:ext uri="{FF2B5EF4-FFF2-40B4-BE49-F238E27FC236}">
                    <a16:creationId xmlns:a16="http://schemas.microsoft.com/office/drawing/2014/main" id="{28D0FC8E-6046-DE87-5407-E7FF5815E239}"/>
                  </a:ext>
                </a:extLst>
              </p:cNvPr>
              <p:cNvSpPr/>
              <p:nvPr/>
            </p:nvSpPr>
            <p:spPr>
              <a:xfrm rot="2700000">
                <a:off x="-1485709" y="3417476"/>
                <a:ext cx="49236" cy="73858"/>
              </a:xfrm>
              <a:prstGeom prst="triangl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BF9382C5-D8F2-25C4-C686-2F0505102C59}"/>
                  </a:ext>
                </a:extLst>
              </p:cNvPr>
              <p:cNvSpPr/>
              <p:nvPr/>
            </p:nvSpPr>
            <p:spPr>
              <a:xfrm rot="13500000">
                <a:off x="-1568938" y="3458416"/>
                <a:ext cx="103607" cy="103607"/>
              </a:xfrm>
              <a:prstGeom prst="ellips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6" name="Rounded Rectangle 1117">
                <a:extLst>
                  <a:ext uri="{FF2B5EF4-FFF2-40B4-BE49-F238E27FC236}">
                    <a16:creationId xmlns:a16="http://schemas.microsoft.com/office/drawing/2014/main" id="{2F6356BD-04F9-194D-8AD9-6C9C52B4CE03}"/>
                  </a:ext>
                </a:extLst>
              </p:cNvPr>
              <p:cNvSpPr/>
              <p:nvPr/>
            </p:nvSpPr>
            <p:spPr>
              <a:xfrm rot="13500000" flipV="1">
                <a:off x="-1105607" y="2956550"/>
                <a:ext cx="163812" cy="120934"/>
              </a:xfrm>
              <a:prstGeom prst="roundRect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7" name="Isosceles Triangle 61">
                <a:extLst>
                  <a:ext uri="{FF2B5EF4-FFF2-40B4-BE49-F238E27FC236}">
                    <a16:creationId xmlns:a16="http://schemas.microsoft.com/office/drawing/2014/main" id="{EB4FDFE7-F81C-F5D3-83A1-B6B6515C8B8D}"/>
                  </a:ext>
                </a:extLst>
              </p:cNvPr>
              <p:cNvSpPr/>
              <p:nvPr/>
            </p:nvSpPr>
            <p:spPr>
              <a:xfrm rot="2700000" flipV="1">
                <a:off x="-1031676" y="2963444"/>
                <a:ext cx="49236" cy="73858"/>
              </a:xfrm>
              <a:prstGeom prst="triangl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F8C534DE-ED88-8C1C-C6D5-AF882B7A7232}"/>
                  </a:ext>
                </a:extLst>
              </p:cNvPr>
              <p:cNvSpPr/>
              <p:nvPr/>
            </p:nvSpPr>
            <p:spPr>
              <a:xfrm rot="13500000" flipV="1">
                <a:off x="-1003047" y="2892526"/>
                <a:ext cx="103607" cy="103607"/>
              </a:xfrm>
              <a:prstGeom prst="ellipse">
                <a:avLst/>
              </a:prstGeom>
              <a:solidFill>
                <a:srgbClr val="B2BBCA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BDBDF49-B926-7EC6-FC15-FC5B6F832A9D}"/>
                </a:ext>
              </a:extLst>
            </p:cNvPr>
            <p:cNvSpPr txBox="1"/>
            <p:nvPr/>
          </p:nvSpPr>
          <p:spPr>
            <a:xfrm>
              <a:off x="10061219" y="2761768"/>
              <a:ext cx="793010" cy="57298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3000" b="1" spc="-10">
                  <a:solidFill>
                    <a:srgbClr val="281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</a:t>
              </a:r>
            </a:p>
          </p:txBody>
        </p:sp>
      </p:grpSp>
      <p:pic>
        <p:nvPicPr>
          <p:cNvPr id="129" name="Picture 128">
            <a:extLst>
              <a:ext uri="{FF2B5EF4-FFF2-40B4-BE49-F238E27FC236}">
                <a16:creationId xmlns:a16="http://schemas.microsoft.com/office/drawing/2014/main" id="{C9038349-C67C-8DB5-3CC2-E5A2241539B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duotone>
              <a:srgbClr val="765FFF"/>
              <a:srgbClr val="FFFFFF"/>
            </a:duotone>
          </a:blip>
          <a:srcRect/>
          <a:stretch/>
        </p:blipFill>
        <p:spPr>
          <a:xfrm>
            <a:off x="9513064" y="4348863"/>
            <a:ext cx="1911525" cy="1911524"/>
          </a:xfrm>
          <a:prstGeom prst="rect">
            <a:avLst/>
          </a:prstGeom>
        </p:spPr>
      </p:pic>
      <p:sp>
        <p:nvSpPr>
          <p:cNvPr id="13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888D8C1C-F6E9-498F-9192-35FDC9255C1C}" type="slidenum"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96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26D63-F494-0FAC-CD46-2CA2410FAC3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 -</a:t>
            </a:r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Strategy in Action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DE152-B614-BE4F-B5A8-E622ACB233AB}"/>
              </a:ext>
            </a:extLst>
          </p:cNvPr>
          <p:cNvSpPr/>
          <p:nvPr/>
        </p:nvSpPr>
        <p:spPr>
          <a:xfrm>
            <a:off x="10215001" y="783067"/>
            <a:ext cx="1555929" cy="5403978"/>
          </a:xfrm>
          <a:prstGeom prst="rect">
            <a:avLst/>
          </a:prstGeom>
          <a:solidFill>
            <a:srgbClr val="F2F2F2"/>
          </a:solidFill>
          <a:ln w="9525">
            <a:solidFill>
              <a:srgbClr val="281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19F59-BE6B-4199-0787-9C171AA2605D}"/>
              </a:ext>
            </a:extLst>
          </p:cNvPr>
          <p:cNvSpPr txBox="1"/>
          <p:nvPr/>
        </p:nvSpPr>
        <p:spPr>
          <a:xfrm>
            <a:off x="9002979" y="1082202"/>
            <a:ext cx="2302885" cy="1286492"/>
          </a:xfrm>
          <a:prstGeom prst="rect">
            <a:avLst/>
          </a:prstGeom>
          <a:solidFill>
            <a:srgbClr val="281A42"/>
          </a:solidFill>
          <a:ln>
            <a:solidFill>
              <a:srgbClr val="281A42"/>
            </a:solidFill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351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Top 20 Roles</a:t>
            </a:r>
            <a:endParaRPr lang="en-US" sz="1400" b="1" spc="-25">
              <a:solidFill>
                <a:srgbClr val="F2F2F2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20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80% </a:t>
            </a:r>
            <a:r>
              <a:rPr lang="en-US" sz="14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F0D66-6E13-B0D4-59F2-46AD997C3392}"/>
              </a:ext>
            </a:extLst>
          </p:cNvPr>
          <p:cNvSpPr txBox="1"/>
          <p:nvPr/>
        </p:nvSpPr>
        <p:spPr>
          <a:xfrm>
            <a:off x="9002980" y="2789980"/>
            <a:ext cx="2302885" cy="1286492"/>
          </a:xfrm>
          <a:prstGeom prst="rect">
            <a:avLst/>
          </a:prstGeom>
          <a:solidFill>
            <a:srgbClr val="281A42"/>
          </a:solidFill>
          <a:ln>
            <a:solidFill>
              <a:srgbClr val="281A42"/>
            </a:solidFill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351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16 New Roles</a:t>
            </a:r>
          </a:p>
          <a:p>
            <a:pPr algn="ctr"/>
            <a:r>
              <a:rPr lang="en-US" sz="2000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50% </a:t>
            </a:r>
            <a:r>
              <a:rPr lang="en-US" sz="1400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0A761-AE97-B562-47AD-725E125685F2}"/>
              </a:ext>
            </a:extLst>
          </p:cNvPr>
          <p:cNvSpPr txBox="1"/>
          <p:nvPr/>
        </p:nvSpPr>
        <p:spPr>
          <a:xfrm>
            <a:off x="9002980" y="4497758"/>
            <a:ext cx="2302885" cy="1286492"/>
          </a:xfrm>
          <a:prstGeom prst="rect">
            <a:avLst/>
          </a:prstGeom>
          <a:solidFill>
            <a:srgbClr val="281A42"/>
          </a:solidFill>
          <a:ln>
            <a:solidFill>
              <a:srgbClr val="281A42"/>
            </a:solidFill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351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22 Roles</a:t>
            </a:r>
            <a:br>
              <a:rPr lang="en-US" sz="1351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351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Cross-Platform</a:t>
            </a:r>
          </a:p>
          <a:p>
            <a:pPr algn="ctr"/>
            <a:r>
              <a:rPr lang="en-US" sz="2000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75% </a:t>
            </a:r>
            <a:r>
              <a:rPr lang="en-US" sz="1400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CAE45A-BA24-9F69-363D-77A883990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763150"/>
              </p:ext>
            </p:extLst>
          </p:nvPr>
        </p:nvGraphicFramePr>
        <p:xfrm>
          <a:off x="332509" y="999076"/>
          <a:ext cx="4107291" cy="4763008"/>
        </p:xfrm>
        <a:graphic>
          <a:graphicData uri="http://schemas.openxmlformats.org/drawingml/2006/table">
            <a:tbl>
              <a:tblPr/>
              <a:tblGrid>
                <a:gridCol w="527949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836459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2883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£ 123.20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Strategy &amp;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£ 116.00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Growth &amp; Innovation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91.20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Customer Officer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88.00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Strategy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84.00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Market Intelligence &amp; Foresight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69.60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Sales- Banking &amp; Finance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Product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Sales, Pensions &amp; Endowments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Strategic Relationships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Asia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Enterprise Architect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0F7CCD-62DF-E0AF-E337-3CF8F3C6A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967594"/>
              </p:ext>
            </p:extLst>
          </p:nvPr>
        </p:nvGraphicFramePr>
        <p:xfrm>
          <a:off x="4621923" y="999076"/>
          <a:ext cx="4014565" cy="4763008"/>
        </p:xfrm>
        <a:graphic>
          <a:graphicData uri="http://schemas.openxmlformats.org/drawingml/2006/table">
            <a:tbl>
              <a:tblPr/>
              <a:tblGrid>
                <a:gridCol w="435223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836459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2883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Content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D9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CFO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GM, Sales- Asset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GM, Sales- Supra Sovereigns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Science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32.80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Talent Acquisition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32.00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Portfolio Strategist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29.60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Integration-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Dev. Ops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Data Ops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27.20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Specialist/SME Sales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20.80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Pricing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16.00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Content Partnerships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Integration- Business Systems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Operations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4A642A37-C4E9-ED80-14D0-C03BB4B5778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6" name="Rectangle: Rounded Corners 7">
              <a:extLst>
                <a:ext uri="{FF2B5EF4-FFF2-40B4-BE49-F238E27FC236}">
                  <a16:creationId xmlns:a16="http://schemas.microsoft.com/office/drawing/2014/main" id="{CEDA8DF5-5D8E-F185-DBF8-6E2FAD005A0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: Rounded Corners 9">
              <a:extLst>
                <a:ext uri="{FF2B5EF4-FFF2-40B4-BE49-F238E27FC236}">
                  <a16:creationId xmlns:a16="http://schemas.microsoft.com/office/drawing/2014/main" id="{FA4F3240-178E-C65B-02C6-141DA209C18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8" name="Picture 37" descr="Bend the Curve">
              <a:extLst>
                <a:ext uri="{FF2B5EF4-FFF2-40B4-BE49-F238E27FC236}">
                  <a16:creationId xmlns:a16="http://schemas.microsoft.com/office/drawing/2014/main" id="{69127710-045E-CD02-9D5C-D539DDE93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A3763A-06E1-AEA6-FB6D-88271EF84B6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8303E67-CBC3-BA3E-74C0-73795E799F4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13">
              <a:extLst>
                <a:ext uri="{FF2B5EF4-FFF2-40B4-BE49-F238E27FC236}">
                  <a16:creationId xmlns:a16="http://schemas.microsoft.com/office/drawing/2014/main" id="{FFBFDB77-AB02-4146-E46F-095288D6CA5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14">
              <a:extLst>
                <a:ext uri="{FF2B5EF4-FFF2-40B4-BE49-F238E27FC236}">
                  <a16:creationId xmlns:a16="http://schemas.microsoft.com/office/drawing/2014/main" id="{A6A8C6A3-0CC8-D6C3-52DE-BD7599375CC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B38368D-2818-6649-ED1E-DAA235F1A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87ACC4C-2E49-2871-0B52-7A7910539AE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D345287-EED4-7FF6-54B4-0FD2C18F14E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6" name="Rectangle: Rounded Corners 18">
              <a:extLst>
                <a:ext uri="{FF2B5EF4-FFF2-40B4-BE49-F238E27FC236}">
                  <a16:creationId xmlns:a16="http://schemas.microsoft.com/office/drawing/2014/main" id="{D92F9564-176D-7190-5208-1FCA43DA427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9">
              <a:extLst>
                <a:ext uri="{FF2B5EF4-FFF2-40B4-BE49-F238E27FC236}">
                  <a16:creationId xmlns:a16="http://schemas.microsoft.com/office/drawing/2014/main" id="{133B5B8A-6405-0E11-6128-C6FA3B8C17E7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DF21F73-1A33-85C5-D4B4-F8845C91B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F046DC4-9D90-923B-C674-5C03C44E0C9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29B8C97-21E8-1C12-C4CE-109EA33DBDF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3">
              <a:extLst>
                <a:ext uri="{FF2B5EF4-FFF2-40B4-BE49-F238E27FC236}">
                  <a16:creationId xmlns:a16="http://schemas.microsoft.com/office/drawing/2014/main" id="{60796AFB-DADC-3E8A-9D67-3FBF6C0E096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4">
              <a:extLst>
                <a:ext uri="{FF2B5EF4-FFF2-40B4-BE49-F238E27FC236}">
                  <a16:creationId xmlns:a16="http://schemas.microsoft.com/office/drawing/2014/main" id="{3E56FA51-D297-7778-A450-A97786BD04D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 descr="Choose">
              <a:extLst>
                <a:ext uri="{FF2B5EF4-FFF2-40B4-BE49-F238E27FC236}">
                  <a16:creationId xmlns:a16="http://schemas.microsoft.com/office/drawing/2014/main" id="{8FD61E41-5B1E-D9C6-CB87-4DCB4E9B3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9AD5C0B-901E-B661-7DF7-9611B18E19A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5ABB167-AE80-0D8D-1A0D-4C930D3F966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6" name="Rectangle: Rounded Corners 28">
              <a:extLst>
                <a:ext uri="{FF2B5EF4-FFF2-40B4-BE49-F238E27FC236}">
                  <a16:creationId xmlns:a16="http://schemas.microsoft.com/office/drawing/2014/main" id="{533FEDE7-9146-8993-35AE-658F7BCAB17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Rectangle: Rounded Corners 29">
              <a:extLst>
                <a:ext uri="{FF2B5EF4-FFF2-40B4-BE49-F238E27FC236}">
                  <a16:creationId xmlns:a16="http://schemas.microsoft.com/office/drawing/2014/main" id="{9CDC8109-E645-6F31-1BF4-935FAADFC37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E568238-5FA3-D61A-42F2-BA01193F6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FDDC284-D2EF-3A9E-07F9-C8E06EFDA46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6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F05D4CC7-6C8E-4C42-BC7B-04D8D192AE64}" type="slidenum"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8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EB9050-F4FB-BE66-0606-CD5AA5066C8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Work @ Hotspot to Critical Roles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668996-5952-3110-ACB8-B6C3462C20CC}"/>
              </a:ext>
            </a:extLst>
          </p:cNvPr>
          <p:cNvGrpSpPr/>
          <p:nvPr/>
        </p:nvGrpSpPr>
        <p:grpSpPr>
          <a:xfrm>
            <a:off x="10140339" y="214705"/>
            <a:ext cx="2045444" cy="453985"/>
            <a:chOff x="9936697" y="214705"/>
            <a:chExt cx="1988733" cy="45398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C26AF51-3F47-5CA0-B8FF-7AE5B0060E2C}"/>
                </a:ext>
              </a:extLst>
            </p:cNvPr>
            <p:cNvGrpSpPr/>
            <p:nvPr/>
          </p:nvGrpSpPr>
          <p:grpSpPr>
            <a:xfrm>
              <a:off x="9936697" y="214706"/>
              <a:ext cx="388476" cy="448368"/>
              <a:chOff x="7016521" y="108565"/>
              <a:chExt cx="387795" cy="447581"/>
            </a:xfrm>
          </p:grpSpPr>
          <p:sp>
            <p:nvSpPr>
              <p:cNvPr id="100" name="Rectangle: Rounded Corners 7">
                <a:extLst>
                  <a:ext uri="{FF2B5EF4-FFF2-40B4-BE49-F238E27FC236}">
                    <a16:creationId xmlns:a16="http://schemas.microsoft.com/office/drawing/2014/main" id="{156BA02F-DA9A-1EA5-AB7A-A4A12F8615DF}"/>
                  </a:ext>
                </a:extLst>
              </p:cNvPr>
              <p:cNvSpPr/>
              <p:nvPr/>
            </p:nvSpPr>
            <p:spPr>
              <a:xfrm>
                <a:off x="7071510" y="108565"/>
                <a:ext cx="285672" cy="285673"/>
              </a:xfrm>
              <a:prstGeom prst="roundRect">
                <a:avLst/>
              </a:prstGeom>
              <a:ln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 b="1" spc="-25">
                    <a:latin typeface="Segoe UI" pitchFamily="34" charset="0"/>
                  </a:defRPr>
                </a:pPr>
                <a:endParaRPr lang="en-US" sz="1600" b="1" spc="-25">
                  <a:solidFill>
                    <a:srgbClr val="F2F2F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1" name="Rectangle: Rounded Corners 9">
                <a:extLst>
                  <a:ext uri="{FF2B5EF4-FFF2-40B4-BE49-F238E27FC236}">
                    <a16:creationId xmlns:a16="http://schemas.microsoft.com/office/drawing/2014/main" id="{4435ACEB-E42A-7796-683F-5CFF8AE7E0E5}"/>
                  </a:ext>
                </a:extLst>
              </p:cNvPr>
              <p:cNvSpPr/>
              <p:nvPr/>
            </p:nvSpPr>
            <p:spPr>
              <a:xfrm>
                <a:off x="7078664" y="115719"/>
                <a:ext cx="271364" cy="271365"/>
              </a:xfrm>
              <a:prstGeom prst="roundRect">
                <a:avLst/>
              </a:prstGeom>
              <a:solidFill>
                <a:srgbClr val="F2F2F2"/>
              </a:solidFill>
              <a:ln w="38100">
                <a:solidFill>
                  <a:srgbClr val="D0D7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 b="1" spc="-25">
                    <a:latin typeface="Segoe UI" pitchFamily="34" charset="0"/>
                  </a:defRPr>
                </a:pPr>
                <a:endParaRPr lang="en-US" sz="16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02" name="Picture 101" descr="Bend the Curve">
                <a:extLst>
                  <a:ext uri="{FF2B5EF4-FFF2-40B4-BE49-F238E27FC236}">
                    <a16:creationId xmlns:a16="http://schemas.microsoft.com/office/drawing/2014/main" id="{20C62359-AECC-C7A8-3D64-9C62E6F29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132856" y="170705"/>
                <a:ext cx="155126" cy="155127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1EF8DC3-7A22-0863-B171-915948A1A576}"/>
                  </a:ext>
                </a:extLst>
              </p:cNvPr>
              <p:cNvSpPr txBox="1"/>
              <p:nvPr/>
            </p:nvSpPr>
            <p:spPr>
              <a:xfrm>
                <a:off x="7016521" y="435055"/>
                <a:ext cx="387795" cy="121091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Value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FD2DE76-2D10-7325-1A18-39228C0FE29D}"/>
                </a:ext>
              </a:extLst>
            </p:cNvPr>
            <p:cNvGrpSpPr/>
            <p:nvPr/>
          </p:nvGrpSpPr>
          <p:grpSpPr>
            <a:xfrm>
              <a:off x="10336762" y="214706"/>
              <a:ext cx="388476" cy="452415"/>
              <a:chOff x="7836412" y="108565"/>
              <a:chExt cx="387795" cy="451621"/>
            </a:xfrm>
          </p:grpSpPr>
          <p:sp>
            <p:nvSpPr>
              <p:cNvPr id="105" name="Rectangle: Rounded Corners 13">
                <a:extLst>
                  <a:ext uri="{FF2B5EF4-FFF2-40B4-BE49-F238E27FC236}">
                    <a16:creationId xmlns:a16="http://schemas.microsoft.com/office/drawing/2014/main" id="{41FF8A05-7B2F-4E6F-9863-E74E8304BDB7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 b="1" spc="-25">
                    <a:latin typeface="Segoe UI" pitchFamily="34" charset="0"/>
                  </a:defRPr>
                </a:pPr>
                <a:endParaRPr lang="en-US" sz="16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Rectangle: Rounded Corners 14">
                <a:extLst>
                  <a:ext uri="{FF2B5EF4-FFF2-40B4-BE49-F238E27FC236}">
                    <a16:creationId xmlns:a16="http://schemas.microsoft.com/office/drawing/2014/main" id="{68A520A1-38FF-111E-73E6-597024B56DF7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rgbClr val="F2F2F2"/>
              </a:solidFill>
              <a:ln w="38100"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 b="1" spc="-25">
                    <a:latin typeface="Segoe UI" pitchFamily="34" charset="0"/>
                  </a:defRPr>
                </a:pPr>
                <a:endParaRPr lang="en-US" sz="16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56B5C7ED-91EE-4940-2F47-57AA466DB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rgbClr val="765FFF"/>
                  <a:srgbClr val="FFFFFF"/>
                </a:duotone>
              </a:blip>
              <a:srcRect/>
              <a:stretch/>
            </p:blipFill>
            <p:spPr>
              <a:xfrm>
                <a:off x="7923265" y="146673"/>
                <a:ext cx="214090" cy="215454"/>
              </a:xfrm>
              <a:prstGeom prst="rect">
                <a:avLst/>
              </a:prstGeom>
            </p:spPr>
          </p:pic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9EC329B-FCB0-9AFC-B6F8-246D55600619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Work</a:t>
                </a: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D030EAC-A56C-F8D5-3799-40C81C78EBEB}"/>
                </a:ext>
              </a:extLst>
            </p:cNvPr>
            <p:cNvGrpSpPr/>
            <p:nvPr/>
          </p:nvGrpSpPr>
          <p:grpSpPr>
            <a:xfrm>
              <a:off x="11536954" y="214705"/>
              <a:ext cx="388476" cy="453985"/>
              <a:chOff x="8244177" y="109334"/>
              <a:chExt cx="387795" cy="453190"/>
            </a:xfrm>
          </p:grpSpPr>
          <p:sp>
            <p:nvSpPr>
              <p:cNvPr id="110" name="Rectangle: Rounded Corners 18">
                <a:extLst>
                  <a:ext uri="{FF2B5EF4-FFF2-40B4-BE49-F238E27FC236}">
                    <a16:creationId xmlns:a16="http://schemas.microsoft.com/office/drawing/2014/main" id="{4DB885DA-05CE-7E94-079B-BBCAED0CA579}"/>
                  </a:ext>
                </a:extLst>
              </p:cNvPr>
              <p:cNvSpPr/>
              <p:nvPr/>
            </p:nvSpPr>
            <p:spPr>
              <a:xfrm>
                <a:off x="8296107" y="109334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 b="1" spc="-25">
                    <a:latin typeface="Segoe UI" pitchFamily="34" charset="0"/>
                  </a:defRPr>
                </a:pPr>
                <a:endParaRPr lang="en-US" sz="1600" b="1" spc="-25">
                  <a:solidFill>
                    <a:srgbClr val="F2F2F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1" name="Rectangle: Rounded Corners 19">
                <a:extLst>
                  <a:ext uri="{FF2B5EF4-FFF2-40B4-BE49-F238E27FC236}">
                    <a16:creationId xmlns:a16="http://schemas.microsoft.com/office/drawing/2014/main" id="{9800E344-75F6-7C1E-1788-82103EB1F3C2}"/>
                  </a:ext>
                </a:extLst>
              </p:cNvPr>
              <p:cNvSpPr/>
              <p:nvPr/>
            </p:nvSpPr>
            <p:spPr>
              <a:xfrm>
                <a:off x="8303261" y="116488"/>
                <a:ext cx="271364" cy="271365"/>
              </a:xfrm>
              <a:prstGeom prst="roundRect">
                <a:avLst/>
              </a:prstGeom>
              <a:solidFill>
                <a:srgbClr val="F2F2F2"/>
              </a:solidFill>
              <a:ln w="38100">
                <a:solidFill>
                  <a:srgbClr val="D0D7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 b="1" spc="-25">
                    <a:latin typeface="Segoe UI" pitchFamily="34" charset="0"/>
                  </a:defRPr>
                </a:pPr>
                <a:endParaRPr lang="en-US" sz="16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7FC04D4E-A2F2-D8B9-F5D0-426278B9D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rgbClr val="765FFF"/>
                  <a:srgbClr val="FFFFFF"/>
                </a:duotone>
              </a:blip>
              <a:srcRect/>
              <a:stretch/>
            </p:blipFill>
            <p:spPr>
              <a:xfrm>
                <a:off x="8345092" y="155206"/>
                <a:ext cx="187702" cy="186123"/>
              </a:xfrm>
              <a:prstGeom prst="rect">
                <a:avLst/>
              </a:prstGeom>
            </p:spPr>
          </p:pic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D9A4AAB-0D6A-AAB6-AE87-A7B25C92F3FE}"/>
                  </a:ext>
                </a:extLst>
              </p:cNvPr>
              <p:cNvSpPr txBox="1"/>
              <p:nvPr/>
            </p:nvSpPr>
            <p:spPr>
              <a:xfrm>
                <a:off x="8244177" y="441433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Move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ED6D898-F1F1-3918-695B-1F0E8D55CF8F}"/>
                </a:ext>
              </a:extLst>
            </p:cNvPr>
            <p:cNvGrpSpPr/>
            <p:nvPr/>
          </p:nvGrpSpPr>
          <p:grpSpPr>
            <a:xfrm>
              <a:off x="10736825" y="214706"/>
              <a:ext cx="388476" cy="452415"/>
              <a:chOff x="7836412" y="108565"/>
              <a:chExt cx="387795" cy="451621"/>
            </a:xfrm>
          </p:grpSpPr>
          <p:sp>
            <p:nvSpPr>
              <p:cNvPr id="115" name="Rectangle: Rounded Corners 23">
                <a:extLst>
                  <a:ext uri="{FF2B5EF4-FFF2-40B4-BE49-F238E27FC236}">
                    <a16:creationId xmlns:a16="http://schemas.microsoft.com/office/drawing/2014/main" id="{84F7DC75-F393-3801-3E47-45EC69C8C75B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 b="1" spc="-25">
                    <a:latin typeface="Segoe UI" pitchFamily="34" charset="0"/>
                  </a:defRPr>
                </a:pPr>
                <a:endParaRPr lang="en-US" sz="1600" b="1" spc="-25">
                  <a:solidFill>
                    <a:srgbClr val="F2F2F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Rectangle: Rounded Corners 24">
                <a:extLst>
                  <a:ext uri="{FF2B5EF4-FFF2-40B4-BE49-F238E27FC236}">
                    <a16:creationId xmlns:a16="http://schemas.microsoft.com/office/drawing/2014/main" id="{AC5ECBD9-ED64-12F8-1CD6-A1835C8A1C28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rgbClr val="F2F2F2"/>
              </a:solidFill>
              <a:ln w="38100"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 b="1" spc="-25">
                    <a:latin typeface="Segoe UI" pitchFamily="34" charset="0"/>
                  </a:defRPr>
                </a:pPr>
                <a:endParaRPr lang="en-US" sz="16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17" name="Picture 116" descr="Choose">
                <a:extLst>
                  <a:ext uri="{FF2B5EF4-FFF2-40B4-BE49-F238E27FC236}">
                    <a16:creationId xmlns:a16="http://schemas.microsoft.com/office/drawing/2014/main" id="{2BA1E1DC-8059-8B9F-D1EC-4B4F219752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922584" y="146673"/>
                <a:ext cx="215453" cy="215454"/>
              </a:xfrm>
              <a:prstGeom prst="rect">
                <a:avLst/>
              </a:prstGeom>
            </p:spPr>
          </p:pic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3005872-7DFE-9FD4-F872-A7A6CD7D2F13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List</a:t>
                </a: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208F47DF-DD1B-D431-4762-B31C7E878307}"/>
                </a:ext>
              </a:extLst>
            </p:cNvPr>
            <p:cNvGrpSpPr/>
            <p:nvPr/>
          </p:nvGrpSpPr>
          <p:grpSpPr>
            <a:xfrm>
              <a:off x="11136887" y="214706"/>
              <a:ext cx="388476" cy="452415"/>
              <a:chOff x="7836412" y="108565"/>
              <a:chExt cx="387795" cy="451621"/>
            </a:xfrm>
          </p:grpSpPr>
          <p:sp>
            <p:nvSpPr>
              <p:cNvPr id="120" name="Rectangle: Rounded Corners 28">
                <a:extLst>
                  <a:ext uri="{FF2B5EF4-FFF2-40B4-BE49-F238E27FC236}">
                    <a16:creationId xmlns:a16="http://schemas.microsoft.com/office/drawing/2014/main" id="{6ACF621C-58B3-2E41-A61F-F56652A30750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 b="1" spc="-25">
                    <a:latin typeface="Segoe UI" pitchFamily="34" charset="0"/>
                  </a:defRPr>
                </a:pPr>
                <a:endParaRPr lang="en-US" sz="1600" b="1" spc="-25">
                  <a:solidFill>
                    <a:srgbClr val="F2F2F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1" name="Rectangle: Rounded Corners 29">
                <a:extLst>
                  <a:ext uri="{FF2B5EF4-FFF2-40B4-BE49-F238E27FC236}">
                    <a16:creationId xmlns:a16="http://schemas.microsoft.com/office/drawing/2014/main" id="{58BACBC3-7E6E-8409-8F67-581F4B820752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rgbClr val="F2F2F2"/>
              </a:solidFill>
              <a:ln w="38100">
                <a:solidFill>
                  <a:srgbClr val="D0D7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 b="1" spc="-25">
                    <a:latin typeface="Segoe UI" pitchFamily="34" charset="0"/>
                  </a:defRPr>
                </a:pPr>
                <a:endParaRPr lang="en-US" sz="16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E4CDAF3A-57D8-505D-8826-96F074CAE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rgbClr val="765FFF"/>
                  <a:srgbClr val="FFFFFF"/>
                </a:duotone>
              </a:blip>
              <a:srcRect/>
              <a:stretch/>
            </p:blipFill>
            <p:spPr>
              <a:xfrm>
                <a:off x="7922584" y="146673"/>
                <a:ext cx="215453" cy="215453"/>
              </a:xfrm>
              <a:prstGeom prst="rect">
                <a:avLst/>
              </a:prstGeom>
            </p:spPr>
          </p:pic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5A4F15-ABA9-6510-6F18-394C3322E920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Click</a:t>
                </a: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4B3DAFE-3841-783F-38C3-5D22C11B7E0A}"/>
              </a:ext>
            </a:extLst>
          </p:cNvPr>
          <p:cNvGrpSpPr/>
          <p:nvPr/>
        </p:nvGrpSpPr>
        <p:grpSpPr>
          <a:xfrm>
            <a:off x="7088675" y="1506641"/>
            <a:ext cx="4732576" cy="4401419"/>
            <a:chOff x="24679082" y="5428850"/>
            <a:chExt cx="3234130" cy="3007824"/>
          </a:xfrm>
        </p:grpSpPr>
        <p:sp>
          <p:nvSpPr>
            <p:cNvPr id="7" name="object 39">
              <a:extLst>
                <a:ext uri="{FF2B5EF4-FFF2-40B4-BE49-F238E27FC236}">
                  <a16:creationId xmlns:a16="http://schemas.microsoft.com/office/drawing/2014/main" id="{CDF72F05-1501-133A-F864-89ABDD636671}"/>
                </a:ext>
              </a:extLst>
            </p:cNvPr>
            <p:cNvSpPr txBox="1"/>
            <p:nvPr/>
          </p:nvSpPr>
          <p:spPr>
            <a:xfrm>
              <a:off x="24679082" y="6311046"/>
              <a:ext cx="921981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Group Manager, Retail Technology &amp; Digital </a:t>
              </a:r>
            </a:p>
          </p:txBody>
        </p:sp>
        <p:sp>
          <p:nvSpPr>
            <p:cNvPr id="8" name="object 27">
              <a:extLst>
                <a:ext uri="{FF2B5EF4-FFF2-40B4-BE49-F238E27FC236}">
                  <a16:creationId xmlns:a16="http://schemas.microsoft.com/office/drawing/2014/main" id="{0BD6A03E-9B81-302F-ABF1-993E4FF924F2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" name="object 28">
              <a:extLst>
                <a:ext uri="{FF2B5EF4-FFF2-40B4-BE49-F238E27FC236}">
                  <a16:creationId xmlns:a16="http://schemas.microsoft.com/office/drawing/2014/main" id="{E942DE48-B062-EA6A-D45C-B96A44E12E02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bject 50">
              <a:extLst>
                <a:ext uri="{FF2B5EF4-FFF2-40B4-BE49-F238E27FC236}">
                  <a16:creationId xmlns:a16="http://schemas.microsoft.com/office/drawing/2014/main" id="{D5A7F905-3193-0B45-2E19-32F136122D1D}"/>
                </a:ext>
              </a:extLst>
            </p:cNvPr>
            <p:cNvSpPr/>
            <p:nvPr/>
          </p:nvSpPr>
          <p:spPr>
            <a:xfrm>
              <a:off x="26918044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" name="object 51">
              <a:extLst>
                <a:ext uri="{FF2B5EF4-FFF2-40B4-BE49-F238E27FC236}">
                  <a16:creationId xmlns:a16="http://schemas.microsoft.com/office/drawing/2014/main" id="{F926226F-2262-3C59-8B5E-17C95039EE53}"/>
                </a:ext>
              </a:extLst>
            </p:cNvPr>
            <p:cNvSpPr/>
            <p:nvPr/>
          </p:nvSpPr>
          <p:spPr>
            <a:xfrm>
              <a:off x="26913991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object 29">
              <a:extLst>
                <a:ext uri="{FF2B5EF4-FFF2-40B4-BE49-F238E27FC236}">
                  <a16:creationId xmlns:a16="http://schemas.microsoft.com/office/drawing/2014/main" id="{66411264-E741-8AB2-DC5A-1679F2A42739}"/>
                </a:ext>
              </a:extLst>
            </p:cNvPr>
            <p:cNvSpPr/>
            <p:nvPr/>
          </p:nvSpPr>
          <p:spPr>
            <a:xfrm>
              <a:off x="25713727" y="5629382"/>
              <a:ext cx="115670" cy="115670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sz="1067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object 52">
              <a:extLst>
                <a:ext uri="{FF2B5EF4-FFF2-40B4-BE49-F238E27FC236}">
                  <a16:creationId xmlns:a16="http://schemas.microsoft.com/office/drawing/2014/main" id="{B3693BD7-9112-AC13-99B0-EBFCAB53E3F2}"/>
                </a:ext>
              </a:extLst>
            </p:cNvPr>
            <p:cNvSpPr/>
            <p:nvPr/>
          </p:nvSpPr>
          <p:spPr>
            <a:xfrm>
              <a:off x="26918044" y="562659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object 54">
              <a:extLst>
                <a:ext uri="{FF2B5EF4-FFF2-40B4-BE49-F238E27FC236}">
                  <a16:creationId xmlns:a16="http://schemas.microsoft.com/office/drawing/2014/main" id="{DAD29ACA-6180-C9F0-E552-EAA732650ACE}"/>
                </a:ext>
              </a:extLst>
            </p:cNvPr>
            <p:cNvSpPr/>
            <p:nvPr/>
          </p:nvSpPr>
          <p:spPr>
            <a:xfrm>
              <a:off x="26918044" y="5952139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object 55">
              <a:extLst>
                <a:ext uri="{FF2B5EF4-FFF2-40B4-BE49-F238E27FC236}">
                  <a16:creationId xmlns:a16="http://schemas.microsoft.com/office/drawing/2014/main" id="{24F69408-8E2D-CC73-ECB0-6CFD809195DA}"/>
                </a:ext>
              </a:extLst>
            </p:cNvPr>
            <p:cNvSpPr/>
            <p:nvPr/>
          </p:nvSpPr>
          <p:spPr>
            <a:xfrm>
              <a:off x="26913991" y="593786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object 32">
              <a:extLst>
                <a:ext uri="{FF2B5EF4-FFF2-40B4-BE49-F238E27FC236}">
                  <a16:creationId xmlns:a16="http://schemas.microsoft.com/office/drawing/2014/main" id="{53F92414-BCFE-236F-593D-CEAC7C52B8FE}"/>
                </a:ext>
              </a:extLst>
            </p:cNvPr>
            <p:cNvSpPr/>
            <p:nvPr/>
          </p:nvSpPr>
          <p:spPr>
            <a:xfrm>
              <a:off x="25652937" y="595204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D0D7DF"/>
            </a:solidFill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object 33">
              <a:extLst>
                <a:ext uri="{FF2B5EF4-FFF2-40B4-BE49-F238E27FC236}">
                  <a16:creationId xmlns:a16="http://schemas.microsoft.com/office/drawing/2014/main" id="{C8B63271-76A8-C13D-ACF7-1EFCF7382B7B}"/>
                </a:ext>
              </a:extLst>
            </p:cNvPr>
            <p:cNvSpPr/>
            <p:nvPr/>
          </p:nvSpPr>
          <p:spPr>
            <a:xfrm>
              <a:off x="25713727" y="600453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>
                  <a:solidFill>
                    <a:srgbClr val="1D1D1D"/>
                  </a:solidFill>
                </a:defRPr>
              </a:pPr>
              <a:r>
                <a:rPr lang="en-US" sz="500" kern="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4%</a:t>
              </a:r>
              <a:endParaRPr sz="500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object 56">
              <a:extLst>
                <a:ext uri="{FF2B5EF4-FFF2-40B4-BE49-F238E27FC236}">
                  <a16:creationId xmlns:a16="http://schemas.microsoft.com/office/drawing/2014/main" id="{D5275AAD-1001-B3CD-014B-6F9628F09054}"/>
                </a:ext>
              </a:extLst>
            </p:cNvPr>
            <p:cNvSpPr/>
            <p:nvPr/>
          </p:nvSpPr>
          <p:spPr>
            <a:xfrm>
              <a:off x="26918044" y="600253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object 35">
              <a:extLst>
                <a:ext uri="{FF2B5EF4-FFF2-40B4-BE49-F238E27FC236}">
                  <a16:creationId xmlns:a16="http://schemas.microsoft.com/office/drawing/2014/main" id="{D45FFC3A-7984-CD1A-9102-4E07513706F3}"/>
                </a:ext>
              </a:extLst>
            </p:cNvPr>
            <p:cNvSpPr/>
            <p:nvPr/>
          </p:nvSpPr>
          <p:spPr>
            <a:xfrm>
              <a:off x="25652937" y="632663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object 58">
              <a:extLst>
                <a:ext uri="{FF2B5EF4-FFF2-40B4-BE49-F238E27FC236}">
                  <a16:creationId xmlns:a16="http://schemas.microsoft.com/office/drawing/2014/main" id="{F406A009-A3F1-6978-D5DA-1734DE883D3F}"/>
                </a:ext>
              </a:extLst>
            </p:cNvPr>
            <p:cNvSpPr/>
            <p:nvPr/>
          </p:nvSpPr>
          <p:spPr>
            <a:xfrm>
              <a:off x="26918044" y="632682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object 37">
              <a:extLst>
                <a:ext uri="{FF2B5EF4-FFF2-40B4-BE49-F238E27FC236}">
                  <a16:creationId xmlns:a16="http://schemas.microsoft.com/office/drawing/2014/main" id="{BDEAF100-3B77-38D7-6463-C8FD79083411}"/>
                </a:ext>
              </a:extLst>
            </p:cNvPr>
            <p:cNvSpPr/>
            <p:nvPr/>
          </p:nvSpPr>
          <p:spPr>
            <a:xfrm>
              <a:off x="25713727" y="637883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5" name="object 60">
              <a:extLst>
                <a:ext uri="{FF2B5EF4-FFF2-40B4-BE49-F238E27FC236}">
                  <a16:creationId xmlns:a16="http://schemas.microsoft.com/office/drawing/2014/main" id="{7BACB474-F924-B00E-9E87-299BE818148B}"/>
                </a:ext>
              </a:extLst>
            </p:cNvPr>
            <p:cNvSpPr/>
            <p:nvPr/>
          </p:nvSpPr>
          <p:spPr>
            <a:xfrm>
              <a:off x="26918044" y="6378473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" name="object 16">
              <a:extLst>
                <a:ext uri="{FF2B5EF4-FFF2-40B4-BE49-F238E27FC236}">
                  <a16:creationId xmlns:a16="http://schemas.microsoft.com/office/drawing/2014/main" id="{99EBF9A8-ABA4-0AF2-6ADA-64E9D28B5234}"/>
                </a:ext>
              </a:extLst>
            </p:cNvPr>
            <p:cNvSpPr/>
            <p:nvPr/>
          </p:nvSpPr>
          <p:spPr>
            <a:xfrm>
              <a:off x="25919737" y="5428850"/>
              <a:ext cx="921981" cy="3007824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281A42"/>
            </a:solidFill>
          </p:spPr>
          <p:txBody>
            <a:bodyPr wrap="square" lIns="0" tIns="0" rIns="0" bIns="0" rtlCol="0" anchor="ctr" anchorCtr="0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rPr lang="en-US" sz="20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Bundled Customer Solutions</a:t>
              </a:r>
            </a:p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133" kern="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rPr lang="en-US" sz="2133" kern="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$250M</a:t>
              </a:r>
              <a:endParaRPr lang="en-GB" sz="2133" kern="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object 39">
              <a:extLst>
                <a:ext uri="{FF2B5EF4-FFF2-40B4-BE49-F238E27FC236}">
                  <a16:creationId xmlns:a16="http://schemas.microsoft.com/office/drawing/2014/main" id="{0E0415C2-AE87-5134-FD8F-6D5E12439CA5}"/>
                </a:ext>
              </a:extLst>
            </p:cNvPr>
            <p:cNvSpPr txBox="1"/>
            <p:nvPr/>
          </p:nvSpPr>
          <p:spPr>
            <a:xfrm>
              <a:off x="24755418" y="5501377"/>
              <a:ext cx="835998" cy="403536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Centralised Energy Services &amp; New Property</a:t>
              </a:r>
            </a:p>
          </p:txBody>
        </p:sp>
        <p:sp>
          <p:nvSpPr>
            <p:cNvPr id="68" name="object 39">
              <a:extLst>
                <a:ext uri="{FF2B5EF4-FFF2-40B4-BE49-F238E27FC236}">
                  <a16:creationId xmlns:a16="http://schemas.microsoft.com/office/drawing/2014/main" id="{18B291EB-D1CF-2C36-E45D-F95A02C2BA29}"/>
                </a:ext>
              </a:extLst>
            </p:cNvPr>
            <p:cNvSpPr txBox="1"/>
            <p:nvPr/>
          </p:nvSpPr>
          <p:spPr>
            <a:xfrm>
              <a:off x="24755418" y="5960531"/>
              <a:ext cx="849900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Broadband</a:t>
              </a:r>
            </a:p>
          </p:txBody>
        </p:sp>
        <p:sp>
          <p:nvSpPr>
            <p:cNvPr id="69" name="object 39">
              <a:extLst>
                <a:ext uri="{FF2B5EF4-FFF2-40B4-BE49-F238E27FC236}">
                  <a16:creationId xmlns:a16="http://schemas.microsoft.com/office/drawing/2014/main" id="{D5BA3CCB-B7AD-62CD-440D-5038A3442060}"/>
                </a:ext>
              </a:extLst>
            </p:cNvPr>
            <p:cNvSpPr txBox="1"/>
            <p:nvPr/>
          </p:nvSpPr>
          <p:spPr>
            <a:xfrm>
              <a:off x="27174769" y="5558742"/>
              <a:ext cx="710124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Group Manager Retail Strategy &amp; Pricing </a:t>
              </a:r>
            </a:p>
          </p:txBody>
        </p:sp>
        <p:sp>
          <p:nvSpPr>
            <p:cNvPr id="70" name="object 39">
              <a:extLst>
                <a:ext uri="{FF2B5EF4-FFF2-40B4-BE49-F238E27FC236}">
                  <a16:creationId xmlns:a16="http://schemas.microsoft.com/office/drawing/2014/main" id="{85B1AAEF-4D97-5642-35F6-E2105020560C}"/>
                </a:ext>
              </a:extLst>
            </p:cNvPr>
            <p:cNvSpPr txBox="1"/>
            <p:nvPr/>
          </p:nvSpPr>
          <p:spPr>
            <a:xfrm>
              <a:off x="27174769" y="598972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Chief Marketing Officer</a:t>
              </a:r>
            </a:p>
          </p:txBody>
        </p:sp>
        <p:sp>
          <p:nvSpPr>
            <p:cNvPr id="71" name="object 39">
              <a:extLst>
                <a:ext uri="{FF2B5EF4-FFF2-40B4-BE49-F238E27FC236}">
                  <a16:creationId xmlns:a16="http://schemas.microsoft.com/office/drawing/2014/main" id="{928E8BF4-5A49-EF18-1A08-8BA84E6F3CBC}"/>
                </a:ext>
              </a:extLst>
            </p:cNvPr>
            <p:cNvSpPr txBox="1"/>
            <p:nvPr/>
          </p:nvSpPr>
          <p:spPr>
            <a:xfrm>
              <a:off x="27174769" y="6323158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AI Analytics and Implementation</a:t>
              </a:r>
            </a:p>
          </p:txBody>
        </p:sp>
        <p:sp>
          <p:nvSpPr>
            <p:cNvPr id="72" name="object 35">
              <a:extLst>
                <a:ext uri="{FF2B5EF4-FFF2-40B4-BE49-F238E27FC236}">
                  <a16:creationId xmlns:a16="http://schemas.microsoft.com/office/drawing/2014/main" id="{A45D0AB0-9318-BA86-68D4-054FA3E0A845}"/>
                </a:ext>
              </a:extLst>
            </p:cNvPr>
            <p:cNvSpPr/>
            <p:nvPr/>
          </p:nvSpPr>
          <p:spPr>
            <a:xfrm>
              <a:off x="25655483" y="6764586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bject 37">
              <a:extLst>
                <a:ext uri="{FF2B5EF4-FFF2-40B4-BE49-F238E27FC236}">
                  <a16:creationId xmlns:a16="http://schemas.microsoft.com/office/drawing/2014/main" id="{47B5D568-0FC6-B7B5-F583-676964B6C48B}"/>
                </a:ext>
              </a:extLst>
            </p:cNvPr>
            <p:cNvSpPr/>
            <p:nvPr/>
          </p:nvSpPr>
          <p:spPr>
            <a:xfrm>
              <a:off x="25716273" y="681679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bject 39">
              <a:extLst>
                <a:ext uri="{FF2B5EF4-FFF2-40B4-BE49-F238E27FC236}">
                  <a16:creationId xmlns:a16="http://schemas.microsoft.com/office/drawing/2014/main" id="{BC02A43D-CE66-43F6-C7C5-8312EB85ED0E}"/>
                </a:ext>
              </a:extLst>
            </p:cNvPr>
            <p:cNvSpPr txBox="1"/>
            <p:nvPr/>
          </p:nvSpPr>
          <p:spPr>
            <a:xfrm>
              <a:off x="24822806" y="6767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Legal &amp; Compliance</a:t>
              </a:r>
            </a:p>
          </p:txBody>
        </p:sp>
        <p:sp>
          <p:nvSpPr>
            <p:cNvPr id="75" name="object 58">
              <a:extLst>
                <a:ext uri="{FF2B5EF4-FFF2-40B4-BE49-F238E27FC236}">
                  <a16:creationId xmlns:a16="http://schemas.microsoft.com/office/drawing/2014/main" id="{B416711F-5605-0BE8-6DD3-DC755F011E91}"/>
                </a:ext>
              </a:extLst>
            </p:cNvPr>
            <p:cNvSpPr/>
            <p:nvPr/>
          </p:nvSpPr>
          <p:spPr>
            <a:xfrm>
              <a:off x="26913918" y="673159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bject 60">
              <a:extLst>
                <a:ext uri="{FF2B5EF4-FFF2-40B4-BE49-F238E27FC236}">
                  <a16:creationId xmlns:a16="http://schemas.microsoft.com/office/drawing/2014/main" id="{6216DDE6-11C2-D6D9-BFD0-FB3A19E13D6A}"/>
                </a:ext>
              </a:extLst>
            </p:cNvPr>
            <p:cNvSpPr/>
            <p:nvPr/>
          </p:nvSpPr>
          <p:spPr>
            <a:xfrm>
              <a:off x="26913918" y="6783244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7" name="object 39">
              <a:extLst>
                <a:ext uri="{FF2B5EF4-FFF2-40B4-BE49-F238E27FC236}">
                  <a16:creationId xmlns:a16="http://schemas.microsoft.com/office/drawing/2014/main" id="{90FEE2DE-488F-88A6-CE10-89B464AEBBB5}"/>
                </a:ext>
              </a:extLst>
            </p:cNvPr>
            <p:cNvSpPr txBox="1"/>
            <p:nvPr/>
          </p:nvSpPr>
          <p:spPr>
            <a:xfrm>
              <a:off x="27174769" y="674535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Next-Gen Product Development</a:t>
              </a:r>
            </a:p>
          </p:txBody>
        </p:sp>
        <p:sp>
          <p:nvSpPr>
            <p:cNvPr id="78" name="object 39">
              <a:extLst>
                <a:ext uri="{FF2B5EF4-FFF2-40B4-BE49-F238E27FC236}">
                  <a16:creationId xmlns:a16="http://schemas.microsoft.com/office/drawing/2014/main" id="{0771DDEC-3169-1032-32D6-C506DAFC0385}"/>
                </a:ext>
              </a:extLst>
            </p:cNvPr>
            <p:cNvSpPr txBox="1"/>
            <p:nvPr/>
          </p:nvSpPr>
          <p:spPr>
            <a:xfrm>
              <a:off x="27189051" y="7165877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Operations</a:t>
              </a:r>
            </a:p>
          </p:txBody>
        </p:sp>
        <p:sp>
          <p:nvSpPr>
            <p:cNvPr id="79" name="object 35">
              <a:extLst>
                <a:ext uri="{FF2B5EF4-FFF2-40B4-BE49-F238E27FC236}">
                  <a16:creationId xmlns:a16="http://schemas.microsoft.com/office/drawing/2014/main" id="{DE34245C-73EB-0FA1-943E-90C0334F7E38}"/>
                </a:ext>
              </a:extLst>
            </p:cNvPr>
            <p:cNvSpPr/>
            <p:nvPr/>
          </p:nvSpPr>
          <p:spPr>
            <a:xfrm>
              <a:off x="25651986" y="718646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" name="object 37">
              <a:extLst>
                <a:ext uri="{FF2B5EF4-FFF2-40B4-BE49-F238E27FC236}">
                  <a16:creationId xmlns:a16="http://schemas.microsoft.com/office/drawing/2014/main" id="{858E59B9-879C-5E4D-7830-9827F771E0BE}"/>
                </a:ext>
              </a:extLst>
            </p:cNvPr>
            <p:cNvSpPr/>
            <p:nvPr/>
          </p:nvSpPr>
          <p:spPr>
            <a:xfrm>
              <a:off x="25712776" y="7238674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1" name="object 39">
              <a:extLst>
                <a:ext uri="{FF2B5EF4-FFF2-40B4-BE49-F238E27FC236}">
                  <a16:creationId xmlns:a16="http://schemas.microsoft.com/office/drawing/2014/main" id="{3E7B7ED9-C8EE-3B61-3BC1-700956838C71}"/>
                </a:ext>
              </a:extLst>
            </p:cNvPr>
            <p:cNvSpPr txBox="1"/>
            <p:nvPr/>
          </p:nvSpPr>
          <p:spPr>
            <a:xfrm>
              <a:off x="24834090" y="7123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Finance &amp; Commercial</a:t>
              </a:r>
            </a:p>
          </p:txBody>
        </p:sp>
        <p:sp>
          <p:nvSpPr>
            <p:cNvPr id="82" name="object 54">
              <a:extLst>
                <a:ext uri="{FF2B5EF4-FFF2-40B4-BE49-F238E27FC236}">
                  <a16:creationId xmlns:a16="http://schemas.microsoft.com/office/drawing/2014/main" id="{7DC5CAFF-31A1-05A5-C632-84A52E0D462C}"/>
                </a:ext>
              </a:extLst>
            </p:cNvPr>
            <p:cNvSpPr/>
            <p:nvPr/>
          </p:nvSpPr>
          <p:spPr>
            <a:xfrm>
              <a:off x="26900129" y="7165143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" name="object 55">
              <a:extLst>
                <a:ext uri="{FF2B5EF4-FFF2-40B4-BE49-F238E27FC236}">
                  <a16:creationId xmlns:a16="http://schemas.microsoft.com/office/drawing/2014/main" id="{5B9AA8E1-3FD8-E8BC-28DF-BB5E9F03E8B6}"/>
                </a:ext>
              </a:extLst>
            </p:cNvPr>
            <p:cNvSpPr/>
            <p:nvPr/>
          </p:nvSpPr>
          <p:spPr>
            <a:xfrm>
              <a:off x="26896076" y="715086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" name="object 56">
              <a:extLst>
                <a:ext uri="{FF2B5EF4-FFF2-40B4-BE49-F238E27FC236}">
                  <a16:creationId xmlns:a16="http://schemas.microsoft.com/office/drawing/2014/main" id="{E471DF5F-1BD1-D924-3D61-EA4C5109B009}"/>
                </a:ext>
              </a:extLst>
            </p:cNvPr>
            <p:cNvSpPr/>
            <p:nvPr/>
          </p:nvSpPr>
          <p:spPr>
            <a:xfrm>
              <a:off x="26900129" y="7215538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5" name="object 39">
              <a:extLst>
                <a:ext uri="{FF2B5EF4-FFF2-40B4-BE49-F238E27FC236}">
                  <a16:creationId xmlns:a16="http://schemas.microsoft.com/office/drawing/2014/main" id="{28FBC768-0E22-E402-EE1B-FDF1466C219F}"/>
                </a:ext>
              </a:extLst>
            </p:cNvPr>
            <p:cNvSpPr txBox="1"/>
            <p:nvPr/>
          </p:nvSpPr>
          <p:spPr>
            <a:xfrm>
              <a:off x="27188211" y="7545726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Credit and Collection</a:t>
              </a:r>
            </a:p>
          </p:txBody>
        </p:sp>
        <p:sp>
          <p:nvSpPr>
            <p:cNvPr id="86" name="object 35">
              <a:extLst>
                <a:ext uri="{FF2B5EF4-FFF2-40B4-BE49-F238E27FC236}">
                  <a16:creationId xmlns:a16="http://schemas.microsoft.com/office/drawing/2014/main" id="{F1521D6B-6838-1076-B513-9536CFC646BB}"/>
                </a:ext>
              </a:extLst>
            </p:cNvPr>
            <p:cNvSpPr/>
            <p:nvPr/>
          </p:nvSpPr>
          <p:spPr>
            <a:xfrm>
              <a:off x="25655308" y="756999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7" name="object 37">
              <a:extLst>
                <a:ext uri="{FF2B5EF4-FFF2-40B4-BE49-F238E27FC236}">
                  <a16:creationId xmlns:a16="http://schemas.microsoft.com/office/drawing/2014/main" id="{E4BCC22C-C373-0E42-2094-62E5237F3CF8}"/>
                </a:ext>
              </a:extLst>
            </p:cNvPr>
            <p:cNvSpPr/>
            <p:nvPr/>
          </p:nvSpPr>
          <p:spPr>
            <a:xfrm>
              <a:off x="25716098" y="762219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" name="object 39">
              <a:extLst>
                <a:ext uri="{FF2B5EF4-FFF2-40B4-BE49-F238E27FC236}">
                  <a16:creationId xmlns:a16="http://schemas.microsoft.com/office/drawing/2014/main" id="{1C9C3CD6-7D0B-07F1-8550-7C43B84F3488}"/>
                </a:ext>
              </a:extLst>
            </p:cNvPr>
            <p:cNvSpPr txBox="1"/>
            <p:nvPr/>
          </p:nvSpPr>
          <p:spPr>
            <a:xfrm>
              <a:off x="24810569" y="7556055"/>
              <a:ext cx="796577" cy="403536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Electrify and New Connections</a:t>
              </a:r>
            </a:p>
          </p:txBody>
        </p:sp>
        <p:sp>
          <p:nvSpPr>
            <p:cNvPr id="89" name="object 54">
              <a:extLst>
                <a:ext uri="{FF2B5EF4-FFF2-40B4-BE49-F238E27FC236}">
                  <a16:creationId xmlns:a16="http://schemas.microsoft.com/office/drawing/2014/main" id="{6453588A-3AF7-EEF1-DEA1-FEC91DD7CD22}"/>
                </a:ext>
              </a:extLst>
            </p:cNvPr>
            <p:cNvSpPr/>
            <p:nvPr/>
          </p:nvSpPr>
          <p:spPr>
            <a:xfrm>
              <a:off x="26903451" y="7548668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0" name="object 55">
              <a:extLst>
                <a:ext uri="{FF2B5EF4-FFF2-40B4-BE49-F238E27FC236}">
                  <a16:creationId xmlns:a16="http://schemas.microsoft.com/office/drawing/2014/main" id="{0D286A21-8B80-5BBD-34A3-50851B42070B}"/>
                </a:ext>
              </a:extLst>
            </p:cNvPr>
            <p:cNvSpPr/>
            <p:nvPr/>
          </p:nvSpPr>
          <p:spPr>
            <a:xfrm>
              <a:off x="26899398" y="753439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1" name="object 56">
              <a:extLst>
                <a:ext uri="{FF2B5EF4-FFF2-40B4-BE49-F238E27FC236}">
                  <a16:creationId xmlns:a16="http://schemas.microsoft.com/office/drawing/2014/main" id="{FD95CC14-1C76-43A5-E4BD-039D6FDD194E}"/>
                </a:ext>
              </a:extLst>
            </p:cNvPr>
            <p:cNvSpPr/>
            <p:nvPr/>
          </p:nvSpPr>
          <p:spPr>
            <a:xfrm>
              <a:off x="26903451" y="7599063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28154425-3962-4B47-750B-C265E2AB96CB}"/>
              </a:ext>
            </a:extLst>
          </p:cNvPr>
          <p:cNvSpPr txBox="1"/>
          <p:nvPr/>
        </p:nvSpPr>
        <p:spPr>
          <a:xfrm>
            <a:off x="10938620" y="5631062"/>
            <a:ext cx="926857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1200" spc="-10">
                <a:solidFill>
                  <a:srgbClr val="60BDBC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68C637-A22A-0B20-3272-4B982AFBB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53" y="1345668"/>
            <a:ext cx="641342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Accelerate Customer Growth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Segmentation and Personalized Offerings: Tailor offerings to specific segments to improve profitability, retention, and reduce churn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Growth in the existing and new market 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CES Growth: Aiming for 20K annual customer growth. Continue to grow market share in new residential development and product expansion into CES. 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Broadband Services Growth: Grow customer accounts from 150K to 500K+ through organic and strategic investments in broadband businesses or partnerships.</a:t>
            </a:r>
          </a:p>
          <a:p>
            <a:pPr marL="285750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 in Lower Cost to Serve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Improve Cost-to-Serve Efficiency: </a:t>
            </a:r>
          </a:p>
          <a:p>
            <a:pPr marL="8069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Unlock AI and automation opportunities</a:t>
            </a:r>
          </a:p>
          <a:p>
            <a:pPr marL="8069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Optimize the cost-to-serve by embedding Hulk and Retail Z operating models to achieve a $100M reduction by FYXX</a:t>
            </a:r>
          </a:p>
          <a:p>
            <a:pPr marL="8069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Reduce bad debts while maintaining compliance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Efficient labor arbitrage and labor cost reduction through AI</a:t>
            </a:r>
          </a:p>
          <a:p>
            <a:pPr marL="285750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Product Offerings / Innovations that expand Share of the Wallet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 adjacencies or new product innovations that increase revenue and customer retention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Prioritizing and flawlessly executing new product introductions to existing and new customers</a:t>
            </a:r>
          </a:p>
          <a:p>
            <a:pPr marL="1211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Experience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outrageously great experiences for customers</a:t>
            </a:r>
          </a:p>
          <a:p>
            <a:pPr marL="742950" lvl="1" indent="-285750"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Marketing and customer awareness of potential new products (bundling, special pricing)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5A94B63-0DAD-43D4-C983-B1E06C3D87E1}"/>
              </a:ext>
            </a:extLst>
          </p:cNvPr>
          <p:cNvSpPr txBox="1"/>
          <p:nvPr/>
        </p:nvSpPr>
        <p:spPr>
          <a:xfrm>
            <a:off x="852253" y="827493"/>
            <a:ext cx="1178528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000" b="1" i="1" u="sng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</a:t>
            </a:r>
          </a:p>
        </p:txBody>
      </p:sp>
      <p:sp>
        <p:nvSpPr>
          <p:cNvPr id="12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3AC0A83C-06B3-4D54-89C3-2F33F2E31F73}" type="slidenum"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3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380AB-4D07-C1C3-3DCA-8CCB9586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7D5951-932F-206A-1725-BF9BF39EDEFD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Refined Critical Roles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DEEA1C-A4F6-DADE-3BEA-FB8B1DAF266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07B97891-0F75-76B1-69DB-09F42A79535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E5B252CB-404C-DC53-E72D-4F20952A510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47C16269-00FC-FB13-47E8-24FC8383C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42AE4B-24EE-7B14-D2C7-8D5CA75998B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77ABA22-731D-D951-54C9-849F2747BDA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3" name="Rectangle: Rounded Corners 13">
              <a:extLst>
                <a:ext uri="{FF2B5EF4-FFF2-40B4-BE49-F238E27FC236}">
                  <a16:creationId xmlns:a16="http://schemas.microsoft.com/office/drawing/2014/main" id="{145A524B-052C-D1DD-49F8-44B6CC0210A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Rectangle: Rounded Corners 14">
              <a:extLst>
                <a:ext uri="{FF2B5EF4-FFF2-40B4-BE49-F238E27FC236}">
                  <a16:creationId xmlns:a16="http://schemas.microsoft.com/office/drawing/2014/main" id="{A4F2BA8D-35E4-9C26-F799-07A06A7719A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482A3D0-476C-489A-ECBF-57416B326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0E3E42F-0BC5-7FFB-F702-09FA8CB6D41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E01BC13-395E-C99B-C4D8-36F181B1C997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85" name="Rectangle: Rounded Corners 18">
              <a:extLst>
                <a:ext uri="{FF2B5EF4-FFF2-40B4-BE49-F238E27FC236}">
                  <a16:creationId xmlns:a16="http://schemas.microsoft.com/office/drawing/2014/main" id="{104651E1-121A-9D4D-C765-74870A608CA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6" name="Rectangle: Rounded Corners 19">
              <a:extLst>
                <a:ext uri="{FF2B5EF4-FFF2-40B4-BE49-F238E27FC236}">
                  <a16:creationId xmlns:a16="http://schemas.microsoft.com/office/drawing/2014/main" id="{A75D86DA-EB2B-BCD5-A564-0E69B9A81F5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AADAF3A-1174-62AF-96D4-4E88A5CB7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B356147-0646-03B1-9C79-389F06A467B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60D8637-387B-FBCE-08F2-EA2DB9984265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91" name="Rectangle: Rounded Corners 23">
              <a:extLst>
                <a:ext uri="{FF2B5EF4-FFF2-40B4-BE49-F238E27FC236}">
                  <a16:creationId xmlns:a16="http://schemas.microsoft.com/office/drawing/2014/main" id="{D3A47FC0-3374-42DD-C137-E49F996B346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Rectangle: Rounded Corners 24">
              <a:extLst>
                <a:ext uri="{FF2B5EF4-FFF2-40B4-BE49-F238E27FC236}">
                  <a16:creationId xmlns:a16="http://schemas.microsoft.com/office/drawing/2014/main" id="{217EFCCD-2E66-375B-D6E0-E0D4E93FA69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3" name="Picture 92" descr="Choose">
              <a:extLst>
                <a:ext uri="{FF2B5EF4-FFF2-40B4-BE49-F238E27FC236}">
                  <a16:creationId xmlns:a16="http://schemas.microsoft.com/office/drawing/2014/main" id="{DAE9C5D4-E408-27B8-6E07-570BE678F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56827FE-88A3-6EEB-2037-2ED7C3013A0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C67BD3B-482D-3C87-7DB8-BCB9D02E1F9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98" name="Rectangle: Rounded Corners 28">
              <a:extLst>
                <a:ext uri="{FF2B5EF4-FFF2-40B4-BE49-F238E27FC236}">
                  <a16:creationId xmlns:a16="http://schemas.microsoft.com/office/drawing/2014/main" id="{91E87897-3FA0-3622-7DC4-F8C8E78C04D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Rectangle: Rounded Corners 29">
              <a:extLst>
                <a:ext uri="{FF2B5EF4-FFF2-40B4-BE49-F238E27FC236}">
                  <a16:creationId xmlns:a16="http://schemas.microsoft.com/office/drawing/2014/main" id="{BA55E97F-892E-48E9-EFA2-A6290357C14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6194A1BB-8D01-9680-6AE7-10EC5380A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B5C84C3-F841-0276-EF55-9CE989C759D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06960E3-692E-9645-A043-06AE089DDF44}"/>
              </a:ext>
            </a:extLst>
          </p:cNvPr>
          <p:cNvSpPr txBox="1"/>
          <p:nvPr/>
        </p:nvSpPr>
        <p:spPr>
          <a:xfrm>
            <a:off x="852253" y="827493"/>
            <a:ext cx="1178528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000" b="1" i="1" u="sng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38B4D9-FBD9-4B11-FE7E-D8309855968F}"/>
              </a:ext>
            </a:extLst>
          </p:cNvPr>
          <p:cNvGrpSpPr/>
          <p:nvPr/>
        </p:nvGrpSpPr>
        <p:grpSpPr>
          <a:xfrm>
            <a:off x="6774327" y="2380883"/>
            <a:ext cx="4732573" cy="2519859"/>
            <a:chOff x="6774327" y="2380883"/>
            <a:chExt cx="4732573" cy="2519859"/>
          </a:xfrm>
        </p:grpSpPr>
        <p:sp>
          <p:nvSpPr>
            <p:cNvPr id="58" name="object 39">
              <a:extLst>
                <a:ext uri="{FF2B5EF4-FFF2-40B4-BE49-F238E27FC236}">
                  <a16:creationId xmlns:a16="http://schemas.microsoft.com/office/drawing/2014/main" id="{C8233A03-39FA-37E3-9698-912CFB818067}"/>
                </a:ext>
              </a:extLst>
            </p:cNvPr>
            <p:cNvSpPr txBox="1"/>
            <p:nvPr/>
          </p:nvSpPr>
          <p:spPr>
            <a:xfrm>
              <a:off x="6774327" y="3708578"/>
              <a:ext cx="1349156" cy="303374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Head of Marketing, Retail</a:t>
              </a:r>
            </a:p>
          </p:txBody>
        </p:sp>
        <p:sp>
          <p:nvSpPr>
            <p:cNvPr id="60" name="object 27">
              <a:extLst>
                <a:ext uri="{FF2B5EF4-FFF2-40B4-BE49-F238E27FC236}">
                  <a16:creationId xmlns:a16="http://schemas.microsoft.com/office/drawing/2014/main" id="{FE5CF3AC-C772-DC1F-F184-35CBA8E39C70}"/>
                </a:ext>
              </a:extLst>
            </p:cNvPr>
            <p:cNvSpPr/>
            <p:nvPr/>
          </p:nvSpPr>
          <p:spPr>
            <a:xfrm>
              <a:off x="8199389" y="259834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73" name="object 28">
              <a:extLst>
                <a:ext uri="{FF2B5EF4-FFF2-40B4-BE49-F238E27FC236}">
                  <a16:creationId xmlns:a16="http://schemas.microsoft.com/office/drawing/2014/main" id="{D9305EB5-7121-C6AA-C4BF-254CFC1D4111}"/>
                </a:ext>
              </a:extLst>
            </p:cNvPr>
            <p:cNvSpPr/>
            <p:nvPr/>
          </p:nvSpPr>
          <p:spPr>
            <a:xfrm>
              <a:off x="8199389" y="259834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96" name="object 29">
              <a:extLst>
                <a:ext uri="{FF2B5EF4-FFF2-40B4-BE49-F238E27FC236}">
                  <a16:creationId xmlns:a16="http://schemas.microsoft.com/office/drawing/2014/main" id="{1178615C-8665-4F3E-6F6F-B693FB6EDCA5}"/>
                </a:ext>
              </a:extLst>
            </p:cNvPr>
            <p:cNvSpPr/>
            <p:nvPr/>
          </p:nvSpPr>
          <p:spPr>
            <a:xfrm>
              <a:off x="8288345" y="2674324"/>
              <a:ext cx="169263" cy="169262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03" name="object 54">
              <a:extLst>
                <a:ext uri="{FF2B5EF4-FFF2-40B4-BE49-F238E27FC236}">
                  <a16:creationId xmlns:a16="http://schemas.microsoft.com/office/drawing/2014/main" id="{EF867F54-7A2A-B945-76B5-EC2A5F90E2A4}"/>
                </a:ext>
              </a:extLst>
            </p:cNvPr>
            <p:cNvSpPr/>
            <p:nvPr/>
          </p:nvSpPr>
          <p:spPr>
            <a:xfrm>
              <a:off x="10050649" y="267706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04" name="object 55">
              <a:extLst>
                <a:ext uri="{FF2B5EF4-FFF2-40B4-BE49-F238E27FC236}">
                  <a16:creationId xmlns:a16="http://schemas.microsoft.com/office/drawing/2014/main" id="{D4CA0E49-BB9D-2F75-EC2B-A486C5DBA618}"/>
                </a:ext>
              </a:extLst>
            </p:cNvPr>
            <p:cNvSpPr/>
            <p:nvPr/>
          </p:nvSpPr>
          <p:spPr>
            <a:xfrm>
              <a:off x="10044718" y="2656169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6" name="object 32">
              <a:extLst>
                <a:ext uri="{FF2B5EF4-FFF2-40B4-BE49-F238E27FC236}">
                  <a16:creationId xmlns:a16="http://schemas.microsoft.com/office/drawing/2014/main" id="{E254E319-FAA8-9CFA-853D-E11E43276BB4}"/>
                </a:ext>
              </a:extLst>
            </p:cNvPr>
            <p:cNvSpPr/>
            <p:nvPr/>
          </p:nvSpPr>
          <p:spPr>
            <a:xfrm>
              <a:off x="8199389" y="3146483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D0D7DF"/>
            </a:solidFill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07" name="object 33">
              <a:extLst>
                <a:ext uri="{FF2B5EF4-FFF2-40B4-BE49-F238E27FC236}">
                  <a16:creationId xmlns:a16="http://schemas.microsoft.com/office/drawing/2014/main" id="{06CAC073-5A7D-B5F5-B4EE-7782CF8E0B28}"/>
                </a:ext>
              </a:extLst>
            </p:cNvPr>
            <p:cNvSpPr/>
            <p:nvPr/>
          </p:nvSpPr>
          <p:spPr>
            <a:xfrm>
              <a:off x="8288345" y="3223291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sz="9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08" name="object 56">
              <a:extLst>
                <a:ext uri="{FF2B5EF4-FFF2-40B4-BE49-F238E27FC236}">
                  <a16:creationId xmlns:a16="http://schemas.microsoft.com/office/drawing/2014/main" id="{C1A3A03B-E983-FDB2-4191-FCD8B475A925}"/>
                </a:ext>
              </a:extLst>
            </p:cNvPr>
            <p:cNvSpPr/>
            <p:nvPr/>
          </p:nvSpPr>
          <p:spPr>
            <a:xfrm>
              <a:off x="10050649" y="2750806"/>
              <a:ext cx="168027" cy="169262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09" name="object 35">
              <a:extLst>
                <a:ext uri="{FF2B5EF4-FFF2-40B4-BE49-F238E27FC236}">
                  <a16:creationId xmlns:a16="http://schemas.microsoft.com/office/drawing/2014/main" id="{0538622D-CBAE-68A7-7ACC-99B2DE97F2B2}"/>
                </a:ext>
              </a:extLst>
            </p:cNvPr>
            <p:cNvSpPr/>
            <p:nvPr/>
          </p:nvSpPr>
          <p:spPr>
            <a:xfrm>
              <a:off x="8199389" y="3694625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10" name="object 58">
              <a:extLst>
                <a:ext uri="{FF2B5EF4-FFF2-40B4-BE49-F238E27FC236}">
                  <a16:creationId xmlns:a16="http://schemas.microsoft.com/office/drawing/2014/main" id="{1A49E8CC-413C-B871-9C2C-FA023FCA51D1}"/>
                </a:ext>
              </a:extLst>
            </p:cNvPr>
            <p:cNvSpPr/>
            <p:nvPr/>
          </p:nvSpPr>
          <p:spPr>
            <a:xfrm>
              <a:off x="10050649" y="3410693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11" name="object 37">
              <a:extLst>
                <a:ext uri="{FF2B5EF4-FFF2-40B4-BE49-F238E27FC236}">
                  <a16:creationId xmlns:a16="http://schemas.microsoft.com/office/drawing/2014/main" id="{85DF1BB1-AE89-959D-DA68-EB0DBB01F964}"/>
                </a:ext>
              </a:extLst>
            </p:cNvPr>
            <p:cNvSpPr/>
            <p:nvPr/>
          </p:nvSpPr>
          <p:spPr>
            <a:xfrm>
              <a:off x="8288345" y="3771020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12" name="object 60">
              <a:extLst>
                <a:ext uri="{FF2B5EF4-FFF2-40B4-BE49-F238E27FC236}">
                  <a16:creationId xmlns:a16="http://schemas.microsoft.com/office/drawing/2014/main" id="{0624AA12-D526-6674-00B8-5EFF5952A164}"/>
                </a:ext>
              </a:extLst>
            </p:cNvPr>
            <p:cNvSpPr/>
            <p:nvPr/>
          </p:nvSpPr>
          <p:spPr>
            <a:xfrm>
              <a:off x="10050649" y="3486278"/>
              <a:ext cx="168027" cy="168026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13" name="object 16">
              <a:extLst>
                <a:ext uri="{FF2B5EF4-FFF2-40B4-BE49-F238E27FC236}">
                  <a16:creationId xmlns:a16="http://schemas.microsoft.com/office/drawing/2014/main" id="{1AA656B0-2449-8888-49ED-4FD3DDC0E2FB}"/>
                </a:ext>
              </a:extLst>
            </p:cNvPr>
            <p:cNvSpPr/>
            <p:nvPr/>
          </p:nvSpPr>
          <p:spPr>
            <a:xfrm>
              <a:off x="8589804" y="2380883"/>
              <a:ext cx="1349156" cy="2519859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281A42"/>
            </a:solidFill>
          </p:spPr>
          <p:txBody>
            <a:bodyPr wrap="square" lIns="0" tIns="0" rIns="0" bIns="0" rtlCol="0" anchor="ctr" anchorCtr="0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rPr lang="en-US" sz="2000">
                  <a:solidFill>
                    <a:srgbClr val="FFFFFF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Bundled Customer Solutions</a:t>
              </a:r>
            </a:p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133" kern="0">
                <a:solidFill>
                  <a:srgbClr val="FFFFFF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rPr lang="en-US" sz="2133" kern="0">
                  <a:solidFill>
                    <a:srgbClr val="FFFFFF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$250M</a:t>
              </a:r>
              <a:endParaRPr lang="en-GB" sz="2133" kern="0">
                <a:solidFill>
                  <a:srgbClr val="FFFFFF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4" name="object 39">
              <a:extLst>
                <a:ext uri="{FF2B5EF4-FFF2-40B4-BE49-F238E27FC236}">
                  <a16:creationId xmlns:a16="http://schemas.microsoft.com/office/drawing/2014/main" id="{5A175B70-7D0D-C189-B19F-547C28104A6A}"/>
                </a:ext>
              </a:extLst>
            </p:cNvPr>
            <p:cNvSpPr txBox="1"/>
            <p:nvPr/>
          </p:nvSpPr>
          <p:spPr>
            <a:xfrm>
              <a:off x="6886030" y="2487012"/>
              <a:ext cx="1223334" cy="59050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General Manager Centralised Energy Services &amp; New Property</a:t>
              </a:r>
            </a:p>
          </p:txBody>
        </p:sp>
        <p:sp>
          <p:nvSpPr>
            <p:cNvPr id="115" name="object 39">
              <a:extLst>
                <a:ext uri="{FF2B5EF4-FFF2-40B4-BE49-F238E27FC236}">
                  <a16:creationId xmlns:a16="http://schemas.microsoft.com/office/drawing/2014/main" id="{5EAFC232-88A0-D141-6794-C9B7CD4454D8}"/>
                </a:ext>
              </a:extLst>
            </p:cNvPr>
            <p:cNvSpPr txBox="1"/>
            <p:nvPr/>
          </p:nvSpPr>
          <p:spPr>
            <a:xfrm>
              <a:off x="6886030" y="3158902"/>
              <a:ext cx="1243678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General Manager, Broadband</a:t>
              </a:r>
            </a:p>
          </p:txBody>
        </p:sp>
        <p:sp>
          <p:nvSpPr>
            <p:cNvPr id="116" name="object 39">
              <a:extLst>
                <a:ext uri="{FF2B5EF4-FFF2-40B4-BE49-F238E27FC236}">
                  <a16:creationId xmlns:a16="http://schemas.microsoft.com/office/drawing/2014/main" id="{B5966A26-CF18-2E97-2C84-80F7266B3B89}"/>
                </a:ext>
              </a:extLst>
            </p:cNvPr>
            <p:cNvSpPr txBox="1"/>
            <p:nvPr/>
          </p:nvSpPr>
          <p:spPr>
            <a:xfrm>
              <a:off x="10426320" y="2644075"/>
              <a:ext cx="1039140" cy="446938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Group Manager, Retail Strategy and Pricing</a:t>
              </a:r>
            </a:p>
          </p:txBody>
        </p:sp>
        <p:sp>
          <p:nvSpPr>
            <p:cNvPr id="117" name="object 35">
              <a:extLst>
                <a:ext uri="{FF2B5EF4-FFF2-40B4-BE49-F238E27FC236}">
                  <a16:creationId xmlns:a16="http://schemas.microsoft.com/office/drawing/2014/main" id="{6BE2D184-5FF4-F94D-1A92-A2CFAF0A9471}"/>
                </a:ext>
              </a:extLst>
            </p:cNvPr>
            <p:cNvSpPr/>
            <p:nvPr/>
          </p:nvSpPr>
          <p:spPr>
            <a:xfrm>
              <a:off x="8203114" y="4335492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18" name="object 37">
              <a:extLst>
                <a:ext uri="{FF2B5EF4-FFF2-40B4-BE49-F238E27FC236}">
                  <a16:creationId xmlns:a16="http://schemas.microsoft.com/office/drawing/2014/main" id="{802A6D44-C5D1-65E1-AA3E-A8CC7281CDC3}"/>
                </a:ext>
              </a:extLst>
            </p:cNvPr>
            <p:cNvSpPr/>
            <p:nvPr/>
          </p:nvSpPr>
          <p:spPr>
            <a:xfrm>
              <a:off x="8292070" y="4411888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19" name="object 58">
              <a:extLst>
                <a:ext uri="{FF2B5EF4-FFF2-40B4-BE49-F238E27FC236}">
                  <a16:creationId xmlns:a16="http://schemas.microsoft.com/office/drawing/2014/main" id="{57B97286-8E8E-A93E-F4F8-B2CD4429DD1C}"/>
                </a:ext>
              </a:extLst>
            </p:cNvPr>
            <p:cNvSpPr/>
            <p:nvPr/>
          </p:nvSpPr>
          <p:spPr>
            <a:xfrm>
              <a:off x="10044611" y="4089500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20" name="object 60">
              <a:extLst>
                <a:ext uri="{FF2B5EF4-FFF2-40B4-BE49-F238E27FC236}">
                  <a16:creationId xmlns:a16="http://schemas.microsoft.com/office/drawing/2014/main" id="{A3EEE07A-D11C-4C07-6DD9-C5F93301D00B}"/>
                </a:ext>
              </a:extLst>
            </p:cNvPr>
            <p:cNvSpPr/>
            <p:nvPr/>
          </p:nvSpPr>
          <p:spPr>
            <a:xfrm>
              <a:off x="10044611" y="4165085"/>
              <a:ext cx="168027" cy="168026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21" name="object 39">
              <a:extLst>
                <a:ext uri="{FF2B5EF4-FFF2-40B4-BE49-F238E27FC236}">
                  <a16:creationId xmlns:a16="http://schemas.microsoft.com/office/drawing/2014/main" id="{DC34AB3B-109E-D2DC-17C8-93E68FAD43A4}"/>
                </a:ext>
              </a:extLst>
            </p:cNvPr>
            <p:cNvSpPr txBox="1"/>
            <p:nvPr/>
          </p:nvSpPr>
          <p:spPr>
            <a:xfrm>
              <a:off x="10426320" y="4109641"/>
              <a:ext cx="1039140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Next-Gen Product Development</a:t>
              </a:r>
            </a:p>
          </p:txBody>
        </p:sp>
        <p:sp>
          <p:nvSpPr>
            <p:cNvPr id="122" name="object 39">
              <a:extLst>
                <a:ext uri="{FF2B5EF4-FFF2-40B4-BE49-F238E27FC236}">
                  <a16:creationId xmlns:a16="http://schemas.microsoft.com/office/drawing/2014/main" id="{E036BDAF-3937-4F48-4649-A450165A7041}"/>
                </a:ext>
              </a:extLst>
            </p:cNvPr>
            <p:cNvSpPr txBox="1"/>
            <p:nvPr/>
          </p:nvSpPr>
          <p:spPr>
            <a:xfrm>
              <a:off x="10447219" y="3416547"/>
              <a:ext cx="1059681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General Manager, Operations</a:t>
              </a:r>
            </a:p>
          </p:txBody>
        </p:sp>
        <p:sp>
          <p:nvSpPr>
            <p:cNvPr id="123" name="object 39">
              <a:extLst>
                <a:ext uri="{FF2B5EF4-FFF2-40B4-BE49-F238E27FC236}">
                  <a16:creationId xmlns:a16="http://schemas.microsoft.com/office/drawing/2014/main" id="{504042A8-84CD-8AE3-9B81-C03B30CD3B55}"/>
                </a:ext>
              </a:extLst>
            </p:cNvPr>
            <p:cNvSpPr txBox="1"/>
            <p:nvPr/>
          </p:nvSpPr>
          <p:spPr>
            <a:xfrm>
              <a:off x="7077479" y="4350224"/>
              <a:ext cx="1059681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Head of Credit and Collection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B6CE276-55D9-ABC4-1C84-30BECC466DC6}"/>
              </a:ext>
            </a:extLst>
          </p:cNvPr>
          <p:cNvGrpSpPr/>
          <p:nvPr/>
        </p:nvGrpSpPr>
        <p:grpSpPr>
          <a:xfrm>
            <a:off x="726540" y="1869384"/>
            <a:ext cx="4732576" cy="4404084"/>
            <a:chOff x="24679082" y="5428851"/>
            <a:chExt cx="3234130" cy="3009648"/>
          </a:xfrm>
        </p:grpSpPr>
        <p:sp>
          <p:nvSpPr>
            <p:cNvPr id="125" name="object 39">
              <a:extLst>
                <a:ext uri="{FF2B5EF4-FFF2-40B4-BE49-F238E27FC236}">
                  <a16:creationId xmlns:a16="http://schemas.microsoft.com/office/drawing/2014/main" id="{EF420E6D-2A89-5B81-4861-5B22CDAD407C}"/>
                </a:ext>
              </a:extLst>
            </p:cNvPr>
            <p:cNvSpPr txBox="1"/>
            <p:nvPr/>
          </p:nvSpPr>
          <p:spPr>
            <a:xfrm>
              <a:off x="24679082" y="6311046"/>
              <a:ext cx="921981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Group Manager, Retail Technology &amp; Digital </a:t>
              </a:r>
            </a:p>
          </p:txBody>
        </p:sp>
        <p:sp>
          <p:nvSpPr>
            <p:cNvPr id="126" name="object 27">
              <a:extLst>
                <a:ext uri="{FF2B5EF4-FFF2-40B4-BE49-F238E27FC236}">
                  <a16:creationId xmlns:a16="http://schemas.microsoft.com/office/drawing/2014/main" id="{9FBEADF3-6CED-60EF-2CC3-99656F8390A7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27" name="object 28">
              <a:extLst>
                <a:ext uri="{FF2B5EF4-FFF2-40B4-BE49-F238E27FC236}">
                  <a16:creationId xmlns:a16="http://schemas.microsoft.com/office/drawing/2014/main" id="{D5EDE8D9-08A5-834E-2F10-5135DF0D048B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8" name="object 50">
              <a:extLst>
                <a:ext uri="{FF2B5EF4-FFF2-40B4-BE49-F238E27FC236}">
                  <a16:creationId xmlns:a16="http://schemas.microsoft.com/office/drawing/2014/main" id="{54BCA1B7-CB1D-F19D-D91B-0E657C4C8DC7}"/>
                </a:ext>
              </a:extLst>
            </p:cNvPr>
            <p:cNvSpPr/>
            <p:nvPr/>
          </p:nvSpPr>
          <p:spPr>
            <a:xfrm>
              <a:off x="26918044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29" name="object 51">
              <a:extLst>
                <a:ext uri="{FF2B5EF4-FFF2-40B4-BE49-F238E27FC236}">
                  <a16:creationId xmlns:a16="http://schemas.microsoft.com/office/drawing/2014/main" id="{02D8DD46-0852-A291-198C-00E4EB47556A}"/>
                </a:ext>
              </a:extLst>
            </p:cNvPr>
            <p:cNvSpPr/>
            <p:nvPr/>
          </p:nvSpPr>
          <p:spPr>
            <a:xfrm>
              <a:off x="26913991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0" name="object 29">
              <a:extLst>
                <a:ext uri="{FF2B5EF4-FFF2-40B4-BE49-F238E27FC236}">
                  <a16:creationId xmlns:a16="http://schemas.microsoft.com/office/drawing/2014/main" id="{240AC0FD-10FC-7253-D99E-C8A0A01CCE82}"/>
                </a:ext>
              </a:extLst>
            </p:cNvPr>
            <p:cNvSpPr/>
            <p:nvPr/>
          </p:nvSpPr>
          <p:spPr>
            <a:xfrm>
              <a:off x="25713727" y="5629382"/>
              <a:ext cx="115670" cy="115670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31" name="object 52">
              <a:extLst>
                <a:ext uri="{FF2B5EF4-FFF2-40B4-BE49-F238E27FC236}">
                  <a16:creationId xmlns:a16="http://schemas.microsoft.com/office/drawing/2014/main" id="{9F4755F0-D12C-0123-5CB2-DB69DA0FC652}"/>
                </a:ext>
              </a:extLst>
            </p:cNvPr>
            <p:cNvSpPr/>
            <p:nvPr/>
          </p:nvSpPr>
          <p:spPr>
            <a:xfrm>
              <a:off x="26918044" y="562659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32" name="object 54">
              <a:extLst>
                <a:ext uri="{FF2B5EF4-FFF2-40B4-BE49-F238E27FC236}">
                  <a16:creationId xmlns:a16="http://schemas.microsoft.com/office/drawing/2014/main" id="{6FEDAE36-93EC-06B3-B61D-7E52AEB1914C}"/>
                </a:ext>
              </a:extLst>
            </p:cNvPr>
            <p:cNvSpPr/>
            <p:nvPr/>
          </p:nvSpPr>
          <p:spPr>
            <a:xfrm>
              <a:off x="26918044" y="5952139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33" name="object 55">
              <a:extLst>
                <a:ext uri="{FF2B5EF4-FFF2-40B4-BE49-F238E27FC236}">
                  <a16:creationId xmlns:a16="http://schemas.microsoft.com/office/drawing/2014/main" id="{6401098A-8DF9-CD39-C1A5-F9CF293C848D}"/>
                </a:ext>
              </a:extLst>
            </p:cNvPr>
            <p:cNvSpPr/>
            <p:nvPr/>
          </p:nvSpPr>
          <p:spPr>
            <a:xfrm>
              <a:off x="26913991" y="593786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4" name="object 32">
              <a:extLst>
                <a:ext uri="{FF2B5EF4-FFF2-40B4-BE49-F238E27FC236}">
                  <a16:creationId xmlns:a16="http://schemas.microsoft.com/office/drawing/2014/main" id="{78A49A32-099B-7EDD-2B5D-FB1A03B1E373}"/>
                </a:ext>
              </a:extLst>
            </p:cNvPr>
            <p:cNvSpPr/>
            <p:nvPr/>
          </p:nvSpPr>
          <p:spPr>
            <a:xfrm>
              <a:off x="25652937" y="595204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D0D7DF"/>
            </a:solidFill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35" name="object 33">
              <a:extLst>
                <a:ext uri="{FF2B5EF4-FFF2-40B4-BE49-F238E27FC236}">
                  <a16:creationId xmlns:a16="http://schemas.microsoft.com/office/drawing/2014/main" id="{126CB2F8-2470-E2C1-64DF-850A462B7491}"/>
                </a:ext>
              </a:extLst>
            </p:cNvPr>
            <p:cNvSpPr/>
            <p:nvPr/>
          </p:nvSpPr>
          <p:spPr>
            <a:xfrm>
              <a:off x="25713727" y="600453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sz="9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36" name="object 56">
              <a:extLst>
                <a:ext uri="{FF2B5EF4-FFF2-40B4-BE49-F238E27FC236}">
                  <a16:creationId xmlns:a16="http://schemas.microsoft.com/office/drawing/2014/main" id="{300E8CA3-DB32-F14F-B974-1B3A3F115EEF}"/>
                </a:ext>
              </a:extLst>
            </p:cNvPr>
            <p:cNvSpPr/>
            <p:nvPr/>
          </p:nvSpPr>
          <p:spPr>
            <a:xfrm>
              <a:off x="26918044" y="600253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37" name="object 35">
              <a:extLst>
                <a:ext uri="{FF2B5EF4-FFF2-40B4-BE49-F238E27FC236}">
                  <a16:creationId xmlns:a16="http://schemas.microsoft.com/office/drawing/2014/main" id="{F9E9F538-5F3A-1779-8921-C399B8CEB3C5}"/>
                </a:ext>
              </a:extLst>
            </p:cNvPr>
            <p:cNvSpPr/>
            <p:nvPr/>
          </p:nvSpPr>
          <p:spPr>
            <a:xfrm>
              <a:off x="25652937" y="632663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38" name="object 58">
              <a:extLst>
                <a:ext uri="{FF2B5EF4-FFF2-40B4-BE49-F238E27FC236}">
                  <a16:creationId xmlns:a16="http://schemas.microsoft.com/office/drawing/2014/main" id="{1C6A6E60-ECF9-C70D-7C97-52471E727031}"/>
                </a:ext>
              </a:extLst>
            </p:cNvPr>
            <p:cNvSpPr/>
            <p:nvPr/>
          </p:nvSpPr>
          <p:spPr>
            <a:xfrm>
              <a:off x="26918044" y="632682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39" name="object 37">
              <a:extLst>
                <a:ext uri="{FF2B5EF4-FFF2-40B4-BE49-F238E27FC236}">
                  <a16:creationId xmlns:a16="http://schemas.microsoft.com/office/drawing/2014/main" id="{968167CD-B4CB-FD48-EB46-404F9F5DBE89}"/>
                </a:ext>
              </a:extLst>
            </p:cNvPr>
            <p:cNvSpPr/>
            <p:nvPr/>
          </p:nvSpPr>
          <p:spPr>
            <a:xfrm>
              <a:off x="25713727" y="637883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40" name="object 60">
              <a:extLst>
                <a:ext uri="{FF2B5EF4-FFF2-40B4-BE49-F238E27FC236}">
                  <a16:creationId xmlns:a16="http://schemas.microsoft.com/office/drawing/2014/main" id="{199A4934-A4B3-B5B6-6881-D6E7D7DFBED1}"/>
                </a:ext>
              </a:extLst>
            </p:cNvPr>
            <p:cNvSpPr/>
            <p:nvPr/>
          </p:nvSpPr>
          <p:spPr>
            <a:xfrm>
              <a:off x="26918044" y="6378473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41" name="object 16">
              <a:extLst>
                <a:ext uri="{FF2B5EF4-FFF2-40B4-BE49-F238E27FC236}">
                  <a16:creationId xmlns:a16="http://schemas.microsoft.com/office/drawing/2014/main" id="{4E52EF1D-FAA9-81BF-F3CB-3684CB2981A2}"/>
                </a:ext>
              </a:extLst>
            </p:cNvPr>
            <p:cNvSpPr/>
            <p:nvPr/>
          </p:nvSpPr>
          <p:spPr>
            <a:xfrm>
              <a:off x="25919737" y="5428851"/>
              <a:ext cx="921981" cy="3009648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281A42"/>
            </a:solidFill>
          </p:spPr>
          <p:txBody>
            <a:bodyPr wrap="square" lIns="0" tIns="0" rIns="0" bIns="0" rtlCol="0" anchor="ctr" anchorCtr="0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rPr lang="en-US" sz="2000">
                  <a:solidFill>
                    <a:srgbClr val="FFFFFF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Bundled Customer Solutions</a:t>
              </a:r>
            </a:p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133" kern="0">
                <a:solidFill>
                  <a:srgbClr val="FFFFFF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rPr lang="en-US" sz="2133" kern="0">
                  <a:solidFill>
                    <a:srgbClr val="FFFFFF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$250M</a:t>
              </a:r>
              <a:endParaRPr lang="en-GB" sz="2133" kern="0">
                <a:solidFill>
                  <a:srgbClr val="FFFFFF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2" name="object 39">
              <a:extLst>
                <a:ext uri="{FF2B5EF4-FFF2-40B4-BE49-F238E27FC236}">
                  <a16:creationId xmlns:a16="http://schemas.microsoft.com/office/drawing/2014/main" id="{7F8B0A05-CB0F-C709-09AB-681D06FF1F84}"/>
                </a:ext>
              </a:extLst>
            </p:cNvPr>
            <p:cNvSpPr txBox="1"/>
            <p:nvPr/>
          </p:nvSpPr>
          <p:spPr>
            <a:xfrm>
              <a:off x="24755418" y="5501377"/>
              <a:ext cx="835998" cy="403536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General Manager Centralised Energy Services &amp; New Property</a:t>
              </a:r>
            </a:p>
          </p:txBody>
        </p:sp>
        <p:sp>
          <p:nvSpPr>
            <p:cNvPr id="143" name="object 39">
              <a:extLst>
                <a:ext uri="{FF2B5EF4-FFF2-40B4-BE49-F238E27FC236}">
                  <a16:creationId xmlns:a16="http://schemas.microsoft.com/office/drawing/2014/main" id="{3BF16732-2717-6171-0B32-6745F3263537}"/>
                </a:ext>
              </a:extLst>
            </p:cNvPr>
            <p:cNvSpPr txBox="1"/>
            <p:nvPr/>
          </p:nvSpPr>
          <p:spPr>
            <a:xfrm>
              <a:off x="24755418" y="5960531"/>
              <a:ext cx="849900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General Manager, Broadband</a:t>
              </a:r>
            </a:p>
          </p:txBody>
        </p:sp>
        <p:sp>
          <p:nvSpPr>
            <p:cNvPr id="144" name="object 39">
              <a:extLst>
                <a:ext uri="{FF2B5EF4-FFF2-40B4-BE49-F238E27FC236}">
                  <a16:creationId xmlns:a16="http://schemas.microsoft.com/office/drawing/2014/main" id="{98D74B48-AEC9-95FE-8FB0-F30284600521}"/>
                </a:ext>
              </a:extLst>
            </p:cNvPr>
            <p:cNvSpPr txBox="1"/>
            <p:nvPr/>
          </p:nvSpPr>
          <p:spPr>
            <a:xfrm>
              <a:off x="27174769" y="5558742"/>
              <a:ext cx="710124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Group Manager Retail Strategy &amp; Pricing </a:t>
              </a:r>
            </a:p>
          </p:txBody>
        </p:sp>
        <p:sp>
          <p:nvSpPr>
            <p:cNvPr id="145" name="object 39">
              <a:extLst>
                <a:ext uri="{FF2B5EF4-FFF2-40B4-BE49-F238E27FC236}">
                  <a16:creationId xmlns:a16="http://schemas.microsoft.com/office/drawing/2014/main" id="{B6552C86-8503-598F-06DA-D4BC4A2C9002}"/>
                </a:ext>
              </a:extLst>
            </p:cNvPr>
            <p:cNvSpPr txBox="1"/>
            <p:nvPr/>
          </p:nvSpPr>
          <p:spPr>
            <a:xfrm>
              <a:off x="27174769" y="598972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Chief Marketing Officer</a:t>
              </a:r>
            </a:p>
          </p:txBody>
        </p:sp>
        <p:sp>
          <p:nvSpPr>
            <p:cNvPr id="146" name="object 39">
              <a:extLst>
                <a:ext uri="{FF2B5EF4-FFF2-40B4-BE49-F238E27FC236}">
                  <a16:creationId xmlns:a16="http://schemas.microsoft.com/office/drawing/2014/main" id="{B1276E94-2725-49B0-8B29-B7CEC49BE1B2}"/>
                </a:ext>
              </a:extLst>
            </p:cNvPr>
            <p:cNvSpPr txBox="1"/>
            <p:nvPr/>
          </p:nvSpPr>
          <p:spPr>
            <a:xfrm>
              <a:off x="27174769" y="6323158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AI Analytics and Implementation</a:t>
              </a:r>
            </a:p>
          </p:txBody>
        </p:sp>
        <p:sp>
          <p:nvSpPr>
            <p:cNvPr id="147" name="object 35">
              <a:extLst>
                <a:ext uri="{FF2B5EF4-FFF2-40B4-BE49-F238E27FC236}">
                  <a16:creationId xmlns:a16="http://schemas.microsoft.com/office/drawing/2014/main" id="{DCC0136A-311A-A167-2ACB-4ADD1B275F8B}"/>
                </a:ext>
              </a:extLst>
            </p:cNvPr>
            <p:cNvSpPr/>
            <p:nvPr/>
          </p:nvSpPr>
          <p:spPr>
            <a:xfrm>
              <a:off x="25655483" y="6764586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48" name="object 37">
              <a:extLst>
                <a:ext uri="{FF2B5EF4-FFF2-40B4-BE49-F238E27FC236}">
                  <a16:creationId xmlns:a16="http://schemas.microsoft.com/office/drawing/2014/main" id="{AA3A2A14-EA02-9911-DEE7-5F518FF5E7F3}"/>
                </a:ext>
              </a:extLst>
            </p:cNvPr>
            <p:cNvSpPr/>
            <p:nvPr/>
          </p:nvSpPr>
          <p:spPr>
            <a:xfrm>
              <a:off x="25716273" y="681679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49" name="object 39">
              <a:extLst>
                <a:ext uri="{FF2B5EF4-FFF2-40B4-BE49-F238E27FC236}">
                  <a16:creationId xmlns:a16="http://schemas.microsoft.com/office/drawing/2014/main" id="{D4857906-F7A7-F511-AB95-DE920D91DC6A}"/>
                </a:ext>
              </a:extLst>
            </p:cNvPr>
            <p:cNvSpPr txBox="1"/>
            <p:nvPr/>
          </p:nvSpPr>
          <p:spPr>
            <a:xfrm>
              <a:off x="24822806" y="6767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General Manager Legal &amp; Compliance</a:t>
              </a:r>
            </a:p>
          </p:txBody>
        </p:sp>
        <p:sp>
          <p:nvSpPr>
            <p:cNvPr id="150" name="object 58">
              <a:extLst>
                <a:ext uri="{FF2B5EF4-FFF2-40B4-BE49-F238E27FC236}">
                  <a16:creationId xmlns:a16="http://schemas.microsoft.com/office/drawing/2014/main" id="{53FD4113-37AF-7682-0C48-E23830D36531}"/>
                </a:ext>
              </a:extLst>
            </p:cNvPr>
            <p:cNvSpPr/>
            <p:nvPr/>
          </p:nvSpPr>
          <p:spPr>
            <a:xfrm>
              <a:off x="26913918" y="673159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51" name="object 60">
              <a:extLst>
                <a:ext uri="{FF2B5EF4-FFF2-40B4-BE49-F238E27FC236}">
                  <a16:creationId xmlns:a16="http://schemas.microsoft.com/office/drawing/2014/main" id="{66B3E62B-F7B7-347B-F897-049D0B322240}"/>
                </a:ext>
              </a:extLst>
            </p:cNvPr>
            <p:cNvSpPr/>
            <p:nvPr/>
          </p:nvSpPr>
          <p:spPr>
            <a:xfrm>
              <a:off x="26913918" y="6783244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52" name="object 39">
              <a:extLst>
                <a:ext uri="{FF2B5EF4-FFF2-40B4-BE49-F238E27FC236}">
                  <a16:creationId xmlns:a16="http://schemas.microsoft.com/office/drawing/2014/main" id="{65843477-04F2-71F9-0632-7441FB429DC8}"/>
                </a:ext>
              </a:extLst>
            </p:cNvPr>
            <p:cNvSpPr txBox="1"/>
            <p:nvPr/>
          </p:nvSpPr>
          <p:spPr>
            <a:xfrm>
              <a:off x="27174769" y="674535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Next-Gen Product Development</a:t>
              </a:r>
            </a:p>
          </p:txBody>
        </p:sp>
        <p:sp>
          <p:nvSpPr>
            <p:cNvPr id="153" name="object 39">
              <a:extLst>
                <a:ext uri="{FF2B5EF4-FFF2-40B4-BE49-F238E27FC236}">
                  <a16:creationId xmlns:a16="http://schemas.microsoft.com/office/drawing/2014/main" id="{5BABB6F0-6E3B-115B-F4C9-BAC1ECA53C05}"/>
                </a:ext>
              </a:extLst>
            </p:cNvPr>
            <p:cNvSpPr txBox="1"/>
            <p:nvPr/>
          </p:nvSpPr>
          <p:spPr>
            <a:xfrm>
              <a:off x="27189051" y="7165877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General Manager, Operations</a:t>
              </a:r>
            </a:p>
          </p:txBody>
        </p:sp>
        <p:sp>
          <p:nvSpPr>
            <p:cNvPr id="154" name="object 35">
              <a:extLst>
                <a:ext uri="{FF2B5EF4-FFF2-40B4-BE49-F238E27FC236}">
                  <a16:creationId xmlns:a16="http://schemas.microsoft.com/office/drawing/2014/main" id="{96B2396C-216E-5A86-179B-A0EB055CC122}"/>
                </a:ext>
              </a:extLst>
            </p:cNvPr>
            <p:cNvSpPr/>
            <p:nvPr/>
          </p:nvSpPr>
          <p:spPr>
            <a:xfrm>
              <a:off x="25651986" y="718646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55" name="object 37">
              <a:extLst>
                <a:ext uri="{FF2B5EF4-FFF2-40B4-BE49-F238E27FC236}">
                  <a16:creationId xmlns:a16="http://schemas.microsoft.com/office/drawing/2014/main" id="{C422C285-E677-C842-8B9C-F5CDCD8683E3}"/>
                </a:ext>
              </a:extLst>
            </p:cNvPr>
            <p:cNvSpPr/>
            <p:nvPr/>
          </p:nvSpPr>
          <p:spPr>
            <a:xfrm>
              <a:off x="25712776" y="7238674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56" name="object 39">
              <a:extLst>
                <a:ext uri="{FF2B5EF4-FFF2-40B4-BE49-F238E27FC236}">
                  <a16:creationId xmlns:a16="http://schemas.microsoft.com/office/drawing/2014/main" id="{17ABED33-72A2-5353-D28A-2DE2BFAFA8AC}"/>
                </a:ext>
              </a:extLst>
            </p:cNvPr>
            <p:cNvSpPr txBox="1"/>
            <p:nvPr/>
          </p:nvSpPr>
          <p:spPr>
            <a:xfrm>
              <a:off x="24834090" y="7123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General Manager Finance &amp; Commercial</a:t>
              </a:r>
            </a:p>
          </p:txBody>
        </p:sp>
        <p:sp>
          <p:nvSpPr>
            <p:cNvPr id="157" name="object 54">
              <a:extLst>
                <a:ext uri="{FF2B5EF4-FFF2-40B4-BE49-F238E27FC236}">
                  <a16:creationId xmlns:a16="http://schemas.microsoft.com/office/drawing/2014/main" id="{100DFF07-76DA-8880-B283-7858C36792FC}"/>
                </a:ext>
              </a:extLst>
            </p:cNvPr>
            <p:cNvSpPr/>
            <p:nvPr/>
          </p:nvSpPr>
          <p:spPr>
            <a:xfrm>
              <a:off x="26900129" y="7165143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58" name="object 55">
              <a:extLst>
                <a:ext uri="{FF2B5EF4-FFF2-40B4-BE49-F238E27FC236}">
                  <a16:creationId xmlns:a16="http://schemas.microsoft.com/office/drawing/2014/main" id="{D623530B-E82D-C557-9886-F61F9FAD154E}"/>
                </a:ext>
              </a:extLst>
            </p:cNvPr>
            <p:cNvSpPr/>
            <p:nvPr/>
          </p:nvSpPr>
          <p:spPr>
            <a:xfrm>
              <a:off x="26896076" y="715086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9" name="object 56">
              <a:extLst>
                <a:ext uri="{FF2B5EF4-FFF2-40B4-BE49-F238E27FC236}">
                  <a16:creationId xmlns:a16="http://schemas.microsoft.com/office/drawing/2014/main" id="{A5F1C64B-80AF-C0CE-71F2-A7998488F916}"/>
                </a:ext>
              </a:extLst>
            </p:cNvPr>
            <p:cNvSpPr/>
            <p:nvPr/>
          </p:nvSpPr>
          <p:spPr>
            <a:xfrm>
              <a:off x="26900129" y="7215538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60" name="object 39">
              <a:extLst>
                <a:ext uri="{FF2B5EF4-FFF2-40B4-BE49-F238E27FC236}">
                  <a16:creationId xmlns:a16="http://schemas.microsoft.com/office/drawing/2014/main" id="{1BE11EF5-709B-18F0-D663-5ABE9255787D}"/>
                </a:ext>
              </a:extLst>
            </p:cNvPr>
            <p:cNvSpPr txBox="1"/>
            <p:nvPr/>
          </p:nvSpPr>
          <p:spPr>
            <a:xfrm>
              <a:off x="27188211" y="7545726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Head of Credit and Collection</a:t>
              </a:r>
            </a:p>
          </p:txBody>
        </p:sp>
        <p:sp>
          <p:nvSpPr>
            <p:cNvPr id="161" name="object 35">
              <a:extLst>
                <a:ext uri="{FF2B5EF4-FFF2-40B4-BE49-F238E27FC236}">
                  <a16:creationId xmlns:a16="http://schemas.microsoft.com/office/drawing/2014/main" id="{F22BAC90-D45B-2BEC-0181-210E23851CC6}"/>
                </a:ext>
              </a:extLst>
            </p:cNvPr>
            <p:cNvSpPr/>
            <p:nvPr/>
          </p:nvSpPr>
          <p:spPr>
            <a:xfrm>
              <a:off x="25655308" y="756999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62" name="object 37">
              <a:extLst>
                <a:ext uri="{FF2B5EF4-FFF2-40B4-BE49-F238E27FC236}">
                  <a16:creationId xmlns:a16="http://schemas.microsoft.com/office/drawing/2014/main" id="{887F83BF-235A-1988-7884-41F8807A274C}"/>
                </a:ext>
              </a:extLst>
            </p:cNvPr>
            <p:cNvSpPr/>
            <p:nvPr/>
          </p:nvSpPr>
          <p:spPr>
            <a:xfrm>
              <a:off x="25716098" y="762219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63" name="object 39">
              <a:extLst>
                <a:ext uri="{FF2B5EF4-FFF2-40B4-BE49-F238E27FC236}">
                  <a16:creationId xmlns:a16="http://schemas.microsoft.com/office/drawing/2014/main" id="{0AD012F0-0066-ADD8-A29B-5E620EB52EEB}"/>
                </a:ext>
              </a:extLst>
            </p:cNvPr>
            <p:cNvSpPr txBox="1"/>
            <p:nvPr/>
          </p:nvSpPr>
          <p:spPr>
            <a:xfrm>
              <a:off x="24810569" y="7556055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>
                  <a:solidFill>
                    <a:srgbClr val="1D1D1D"/>
                  </a:solidFill>
                </a:defRPr>
              </a:pPr>
              <a:r>
                <a:rPr lang="en-IN" sz="933" b="1" kern="0" spc="-10">
                  <a:solidFill>
                    <a:srgbClr val="1D1D1D"/>
                  </a:solidFill>
                  <a:latin typeface="Arial" pitchFamily="34" charset="0"/>
                  <a:cs typeface="Arial"/>
                </a:rPr>
                <a:t>General Manager, Electrify and New Connections</a:t>
              </a:r>
            </a:p>
          </p:txBody>
        </p:sp>
        <p:sp>
          <p:nvSpPr>
            <p:cNvPr id="164" name="object 54">
              <a:extLst>
                <a:ext uri="{FF2B5EF4-FFF2-40B4-BE49-F238E27FC236}">
                  <a16:creationId xmlns:a16="http://schemas.microsoft.com/office/drawing/2014/main" id="{D8C07079-3B2D-71A4-DE1F-B91CADD21D13}"/>
                </a:ext>
              </a:extLst>
            </p:cNvPr>
            <p:cNvSpPr/>
            <p:nvPr/>
          </p:nvSpPr>
          <p:spPr>
            <a:xfrm>
              <a:off x="26903451" y="7548668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rgbClr val="D0D7DF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  <p:sp>
          <p:nvSpPr>
            <p:cNvPr id="165" name="object 55">
              <a:extLst>
                <a:ext uri="{FF2B5EF4-FFF2-40B4-BE49-F238E27FC236}">
                  <a16:creationId xmlns:a16="http://schemas.microsoft.com/office/drawing/2014/main" id="{7FEBB564-435F-AC7C-33F0-ACA1AEE3CC00}"/>
                </a:ext>
              </a:extLst>
            </p:cNvPr>
            <p:cNvSpPr/>
            <p:nvPr/>
          </p:nvSpPr>
          <p:spPr>
            <a:xfrm>
              <a:off x="26899398" y="753439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6" name="object 56">
              <a:extLst>
                <a:ext uri="{FF2B5EF4-FFF2-40B4-BE49-F238E27FC236}">
                  <a16:creationId xmlns:a16="http://schemas.microsoft.com/office/drawing/2014/main" id="{B101323E-B81F-F18E-6EFF-629E98E64552}"/>
                </a:ext>
              </a:extLst>
            </p:cNvPr>
            <p:cNvSpPr/>
            <p:nvPr/>
          </p:nvSpPr>
          <p:spPr>
            <a:xfrm>
              <a:off x="26903451" y="7599063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rgbClr val="1D1D1D"/>
                </a:solidFill>
                <a:latin typeface="Arial" pitchFamily="34" charset="0"/>
              </a:endParaRPr>
            </a:p>
          </p:txBody>
        </p:sp>
      </p:grpSp>
      <p:sp>
        <p:nvSpPr>
          <p:cNvPr id="16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8256B9A0-8EE4-43F0-93A8-6CCBCFD89FCA}" type="slidenum"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1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FD9C-48AD-0474-DAF5-A83177BF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A7595-DA81-8F4D-62E9-1B56DCD74E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  <p:sp>
        <p:nvSpPr>
          <p:cNvPr id="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DAB12EDF-16D4-42C4-BD05-70404E83E947}" type="slidenum"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01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C533-0ACB-2388-0FA3-A16393CE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63DD56-4900-B370-A629-07007C2D10A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 – An Overview</a:t>
            </a: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5147D0B3-8A12-D73D-010F-CE99950B0433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A51625-B8E6-A2B5-6820-0631F47DD20D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9F3277-C18A-4C7E-229F-EFA157311611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81777F-B217-B4EE-5512-BC51F79AC957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191B14-4663-5131-05BA-2A7E913B7868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77">
              <a:defRPr/>
            </a:pPr>
            <a:r>
              <a:rPr lang="en-US" sz="1467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</a:t>
            </a:r>
            <a:r>
              <a:rPr lang="en-US" sz="14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 err="1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551E8B-80DB-637C-1FC4-977FF64459F4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40352874-1B6A-9C51-472F-E61C019606C1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9EF25972-CC93-B93B-FB5A-86B6F76F643D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A53611E4-17D5-8BE1-1B44-41B640B98136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>
            <a:extLst>
              <a:ext uri="{FF2B5EF4-FFF2-40B4-BE49-F238E27FC236}">
                <a16:creationId xmlns:a16="http://schemas.microsoft.com/office/drawing/2014/main" id="{D04AB43F-4A81-BBDB-DEA8-CDC1832F4711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A63030E-2EFC-2B92-80D4-63A15AE172F1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03B3ABBC-3D75-7DB3-06E9-5389B8741E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D4DD261D-3FC1-1EC5-D339-4125BA9A43D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21FEB6DB-D71F-F96E-6D16-E24A4A88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59C7C6C8-C729-A570-90E5-CB960E46626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775997D1-A42E-8D0F-3B6E-6EA9DA73E8F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49BA6BD-C974-2472-128F-4CBB7BF15C59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D95269-E2F9-F442-7404-FACCC224CBED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067DBB-DF69-7063-B0F0-5DA4D9C50014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329A6D-FF84-49F8-DB6B-676D5EFA4DDC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4DB8FC-1FF9-899E-C287-8E5E89ACC02D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010FF162-F32D-4A3B-9757-72FC2E9E6A48}" type="slidenum"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7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191B8-1164-A681-7829-8F0E6107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72984-098D-39A3-7660-9021FD34A001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Value: /</a:t>
            </a:r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9FAA36-C34E-F638-A1F3-719DDE5BBF64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3C23B96C-8B89-D96A-7D78-F283F249468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82C31AB5-C88E-D29C-AAD9-98C65AB26E9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B6052F67-AF5A-4AA4-61BC-EB9F84FE5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3C5A8D-07E7-FBEF-7C8D-04732454A58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F85A61-A607-B3E4-800D-F97986DD0DC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DDD6324A-138C-67EE-DC98-BB7223D3FAB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E087D95A-E581-2517-A0F8-99F694878E5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61DA82E-4A6F-C129-8C37-00CD73DC8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8EA233-740D-D74B-3DA5-F4B11943B86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B994B1-7CA1-7B98-C5FE-D716E9B0131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748BC209-E3E3-A5C2-CB8B-774A0E3F5F0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0BE1F917-9D9E-410F-1A01-1341D0C0BB2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BD30AC1-4FC4-F998-B03F-F7D0F72E8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5000A5-8D29-124A-03D2-C804108CE84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1CFEBE-61B7-820E-4275-F0BC56C7F9CF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D726D3EF-8190-6AE7-0DB1-9E9BE9953EF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2CCB1D09-14DF-DE08-6C56-1C82FE3CBFB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3" name="Picture 22" descr="Choose">
              <a:extLst>
                <a:ext uri="{FF2B5EF4-FFF2-40B4-BE49-F238E27FC236}">
                  <a16:creationId xmlns:a16="http://schemas.microsoft.com/office/drawing/2014/main" id="{F34E3B68-DDCF-C6E2-1EBD-AD5E55E51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E096D1-D89B-49E6-A88F-9CC775ABB8B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40853-0916-23ED-49C0-E6D466FD1916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8">
              <a:extLst>
                <a:ext uri="{FF2B5EF4-FFF2-40B4-BE49-F238E27FC236}">
                  <a16:creationId xmlns:a16="http://schemas.microsoft.com/office/drawing/2014/main" id="{1B9ACD8A-42CC-52DE-C785-E534431D1AF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9">
              <a:extLst>
                <a:ext uri="{FF2B5EF4-FFF2-40B4-BE49-F238E27FC236}">
                  <a16:creationId xmlns:a16="http://schemas.microsoft.com/office/drawing/2014/main" id="{5A6F9944-0C05-A0DE-EE43-FC27E8FE1F8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EB1AEDC-5023-1C0D-FE7A-A7C0F0D17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9D03BCB-66EB-0B0E-4647-BB66DE71896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53824B1-7BAD-585D-4AEB-966401BF0711}"/>
              </a:ext>
            </a:extLst>
          </p:cNvPr>
          <p:cNvSpPr/>
          <p:nvPr/>
        </p:nvSpPr>
        <p:spPr>
          <a:xfrm>
            <a:off x="3417866" y="5615448"/>
            <a:ext cx="7725540" cy="67778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9B00B79-D812-E665-6708-CE62E8B87844}"/>
              </a:ext>
            </a:extLst>
          </p:cNvPr>
          <p:cNvSpPr txBox="1">
            <a:spLocks/>
          </p:cNvSpPr>
          <p:nvPr/>
        </p:nvSpPr>
        <p:spPr>
          <a:xfrm>
            <a:off x="1233750" y="1718150"/>
            <a:ext cx="4814063" cy="69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 spc="-10">
                <a:solidFill>
                  <a:srgbClr val="1D1D1D"/>
                </a:solidFill>
                <a:latin typeface="Arial" pitchFamily="34" charset="0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 spc="-10">
                <a:solidFill>
                  <a:srgbClr val="1D1D1D"/>
                </a:solidFill>
                <a:latin typeface="Arial" pitchFamily="34" charset="0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 spc="-10">
                <a:solidFill>
                  <a:srgbClr val="1D1D1D"/>
                </a:solidFill>
                <a:latin typeface="Arial" pitchFamily="34" charset="0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 sz="1400" b="0" i="0" u="none" strike="noStrike" cap="none" spc="-10">
                <a:solidFill>
                  <a:srgbClr val="1D1D1D"/>
                </a:solidFill>
                <a:latin typeface="Arial" pitchFamily="34" charset="0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 spc="-10">
                <a:solidFill>
                  <a:srgbClr val="1D1D1D"/>
                </a:solidFill>
                <a:latin typeface="Arial" pitchFamily="34" charset="0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 spc="-10">
                <a:solidFill>
                  <a:srgbClr val="1D1D1D"/>
                </a:solidFill>
                <a:latin typeface="Arial" pitchFamily="34" charset="0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 sz="1400" b="0" i="0" u="none" strike="noStrike" cap="none" spc="-10">
                <a:solidFill>
                  <a:srgbClr val="1D1D1D"/>
                </a:solidFill>
                <a:latin typeface="Arial" pitchFamily="34" charset="0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 spc="-10">
                <a:solidFill>
                  <a:srgbClr val="1D1D1D"/>
                </a:solidFill>
                <a:latin typeface="Arial" pitchFamily="34" charset="0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 spc="-10">
                <a:solidFill>
                  <a:srgbClr val="1D1D1D"/>
                </a:solidFill>
                <a:latin typeface="Arial" pitchFamily="34" charset="0"/>
                <a:ea typeface="Source Sans Pro"/>
                <a:cs typeface="Source Sans Pro"/>
                <a:sym typeface="Source Sans Pro"/>
              </a:defRPr>
            </a:lvl9pPr>
          </a:lstStyle>
          <a:p>
            <a:pPr marL="152392" indent="0" algn="ctr" defTabSz="1219140">
              <a:buClr>
                <a:srgbClr val="1D1D1D"/>
              </a:buClr>
              <a:buNone/>
              <a:defRPr/>
            </a:pPr>
            <a:r>
              <a:rPr lang="en-US" sz="1867" b="1" kern="0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“Click” describes the combination of the work, role and talent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B825C1-BE23-858C-D220-5987861D6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345" y="3820446"/>
            <a:ext cx="4912634" cy="138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assesses:</a:t>
            </a:r>
          </a:p>
          <a:p>
            <a:pPr marL="285744" indent="-285744">
              <a:lnSpc>
                <a:spcPct val="120000"/>
              </a:lnSpc>
              <a:buBlip>
                <a:blip r:embed="rId7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degree of difficulty in the </a:t>
            </a:r>
            <a:r>
              <a:rPr lang="en-US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endParaRPr lang="en-US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indent="-285744">
              <a:lnSpc>
                <a:spcPct val="120000"/>
              </a:lnSpc>
              <a:buBlip>
                <a:blip r:embed="rId7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design of the </a:t>
            </a:r>
            <a:r>
              <a:rPr lang="en-US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to enable delivery</a:t>
            </a:r>
          </a:p>
          <a:p>
            <a:pPr marL="285744" indent="-285744">
              <a:lnSpc>
                <a:spcPct val="120000"/>
              </a:lnSpc>
              <a:buBlip>
                <a:blip r:embed="rId7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match to the Jobs to Be Done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E084DC-7251-EE43-4B20-05F73FB8F4F5}"/>
              </a:ext>
            </a:extLst>
          </p:cNvPr>
          <p:cNvSpPr txBox="1"/>
          <p:nvPr/>
        </p:nvSpPr>
        <p:spPr>
          <a:xfrm>
            <a:off x="3417866" y="5763272"/>
            <a:ext cx="7495666" cy="379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867" spc="-10">
                <a:solidFill>
                  <a:srgbClr val="F2F2F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is only driven if WORK, ROLE and TALENT are </a:t>
            </a:r>
            <a:r>
              <a:rPr lang="en-US" sz="1867" b="1" spc="-1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“in sync”</a:t>
            </a:r>
            <a:endParaRPr lang="en-US" sz="2400" b="1" spc="-10">
              <a:solidFill>
                <a:srgbClr val="F2F2F2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0CCC6BC-00FD-E6E2-AEE4-B81E281B2DB6}"/>
              </a:ext>
            </a:extLst>
          </p:cNvPr>
          <p:cNvGrpSpPr/>
          <p:nvPr/>
        </p:nvGrpSpPr>
        <p:grpSpPr>
          <a:xfrm>
            <a:off x="2883265" y="5621215"/>
            <a:ext cx="452865" cy="672013"/>
            <a:chOff x="1003875" y="5411128"/>
            <a:chExt cx="745603" cy="97491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1A0B55E-F489-81F7-AE13-3A489C8E5DEA}"/>
                </a:ext>
              </a:extLst>
            </p:cNvPr>
            <p:cNvSpPr/>
            <p:nvPr/>
          </p:nvSpPr>
          <p:spPr>
            <a:xfrm>
              <a:off x="1003875" y="5411128"/>
              <a:ext cx="124838" cy="974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50B2FEB1-15E6-7FFD-A19E-EE7CD9AFA1B7}"/>
                </a:ext>
              </a:extLst>
            </p:cNvPr>
            <p:cNvSpPr/>
            <p:nvPr/>
          </p:nvSpPr>
          <p:spPr>
            <a:xfrm rot="5400000">
              <a:off x="1004159" y="5640719"/>
              <a:ext cx="974909" cy="515728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C2EF0F-6346-8AA6-1675-652DA05FBAC6}"/>
              </a:ext>
            </a:extLst>
          </p:cNvPr>
          <p:cNvGrpSpPr/>
          <p:nvPr/>
        </p:nvGrpSpPr>
        <p:grpSpPr>
          <a:xfrm rot="18004452">
            <a:off x="2238846" y="2441245"/>
            <a:ext cx="2194560" cy="2194558"/>
            <a:chOff x="2508163" y="2689476"/>
            <a:chExt cx="2019661" cy="2019662"/>
          </a:xfrm>
        </p:grpSpPr>
        <p:sp>
          <p:nvSpPr>
            <p:cNvPr id="42" name="Rounded Rectangle 9">
              <a:extLst>
                <a:ext uri="{FF2B5EF4-FFF2-40B4-BE49-F238E27FC236}">
                  <a16:creationId xmlns:a16="http://schemas.microsoft.com/office/drawing/2014/main" id="{DE29CD01-BA4C-0670-A5F8-05328E3905F3}"/>
                </a:ext>
              </a:extLst>
            </p:cNvPr>
            <p:cNvSpPr/>
            <p:nvPr/>
          </p:nvSpPr>
          <p:spPr>
            <a:xfrm>
              <a:off x="2508163" y="4188672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FFB547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100" b="1" spc="-10" baseline="30000">
                <a:latin typeface="Segoe UI" pitchFamily="34" charset="0"/>
                <a:ea typeface="Roboto Medium" charset="0"/>
                <a:cs typeface="Roboto Medium" charset="0"/>
              </a:endParaRPr>
            </a:p>
          </p:txBody>
        </p:sp>
        <p:sp>
          <p:nvSpPr>
            <p:cNvPr id="43" name="Rounded Rectangle 9">
              <a:extLst>
                <a:ext uri="{FF2B5EF4-FFF2-40B4-BE49-F238E27FC236}">
                  <a16:creationId xmlns:a16="http://schemas.microsoft.com/office/drawing/2014/main" id="{3EC10DD7-01EA-6C9D-48F8-3FFEC0E8FD93}"/>
                </a:ext>
              </a:extLst>
            </p:cNvPr>
            <p:cNvSpPr/>
            <p:nvPr/>
          </p:nvSpPr>
          <p:spPr>
            <a:xfrm rot="3570514">
              <a:off x="2908989" y="3497955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00C27A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100" b="1" spc="-10" baseline="30000">
                <a:solidFill>
                  <a:srgbClr val="FFFFFF"/>
                </a:solidFill>
                <a:latin typeface="Segoe UI" pitchFamily="34" charset="0"/>
                <a:ea typeface="Roboto Medium" charset="0"/>
                <a:cs typeface="Roboto Medium" charset="0"/>
              </a:endParaRPr>
            </a:p>
          </p:txBody>
        </p:sp>
        <p:sp>
          <p:nvSpPr>
            <p:cNvPr id="44" name="Rounded Rectangle 9">
              <a:extLst>
                <a:ext uri="{FF2B5EF4-FFF2-40B4-BE49-F238E27FC236}">
                  <a16:creationId xmlns:a16="http://schemas.microsoft.com/office/drawing/2014/main" id="{0AAC1F7B-889C-12C9-FB13-DD12BEB58844}"/>
                </a:ext>
              </a:extLst>
            </p:cNvPr>
            <p:cNvSpPr/>
            <p:nvPr/>
          </p:nvSpPr>
          <p:spPr>
            <a:xfrm rot="7200000">
              <a:off x="2074899" y="3497954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281A42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100" b="1" spc="-10" baseline="30000">
                <a:solidFill>
                  <a:srgbClr val="FFFFFF"/>
                </a:solidFill>
                <a:latin typeface="Segoe UI" pitchFamily="34" charset="0"/>
                <a:ea typeface="Roboto Medium" charset="0"/>
                <a:cs typeface="Roboto Medium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369C766-6113-6117-B769-B4B370C3F0A1}"/>
                </a:ext>
              </a:extLst>
            </p:cNvPr>
            <p:cNvSpPr/>
            <p:nvPr/>
          </p:nvSpPr>
          <p:spPr>
            <a:xfrm>
              <a:off x="3357307" y="2868729"/>
              <a:ext cx="274320" cy="27432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496C73C-1451-7033-6738-B10663AF195A}"/>
                </a:ext>
              </a:extLst>
            </p:cNvPr>
            <p:cNvSpPr/>
            <p:nvPr/>
          </p:nvSpPr>
          <p:spPr>
            <a:xfrm>
              <a:off x="2544856" y="4259707"/>
              <a:ext cx="274320" cy="27432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5688D6C-407B-3538-10AB-B03F920375C7}"/>
                </a:ext>
              </a:extLst>
            </p:cNvPr>
            <p:cNvSpPr/>
            <p:nvPr/>
          </p:nvSpPr>
          <p:spPr>
            <a:xfrm>
              <a:off x="4203636" y="4255049"/>
              <a:ext cx="274320" cy="27432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2837E24-139A-923D-87D9-0BB9D413BE9D}"/>
                </a:ext>
              </a:extLst>
            </p:cNvPr>
            <p:cNvSpPr txBox="1"/>
            <p:nvPr/>
          </p:nvSpPr>
          <p:spPr>
            <a:xfrm rot="3626844">
              <a:off x="3322791" y="3621048"/>
              <a:ext cx="1296200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  <a:endParaRPr lang="en-US" sz="1600" b="1">
                <a:solidFill>
                  <a:srgbClr val="1D1D1D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B8CD8C1-9046-33CD-DD31-D6431E72AC41}"/>
                </a:ext>
              </a:extLst>
            </p:cNvPr>
            <p:cNvSpPr txBox="1"/>
            <p:nvPr/>
          </p:nvSpPr>
          <p:spPr>
            <a:xfrm rot="7195548">
              <a:off x="2433653" y="3532739"/>
              <a:ext cx="1296200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  <a:endParaRPr lang="en-US" sz="1600" b="1">
                <a:solidFill>
                  <a:srgbClr val="1D1D1D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190F4B5-10B8-8D16-8C77-978A018C2D39}"/>
                </a:ext>
              </a:extLst>
            </p:cNvPr>
            <p:cNvSpPr txBox="1"/>
            <p:nvPr/>
          </p:nvSpPr>
          <p:spPr>
            <a:xfrm>
              <a:off x="2846367" y="4239187"/>
              <a:ext cx="1296200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  <a:endParaRPr lang="en-US" sz="1600" b="1">
                <a:solidFill>
                  <a:srgbClr val="1D1D1D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661E675-5058-102F-9B2A-9A7C7C30F9E7}"/>
              </a:ext>
            </a:extLst>
          </p:cNvPr>
          <p:cNvGrpSpPr/>
          <p:nvPr/>
        </p:nvGrpSpPr>
        <p:grpSpPr>
          <a:xfrm>
            <a:off x="7235064" y="1421325"/>
            <a:ext cx="2194560" cy="2194560"/>
            <a:chOff x="7868019" y="3217791"/>
            <a:chExt cx="1689983" cy="169891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F036009-2B6A-5455-BC82-8CED5E83CCA0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3" name="Freeform 61">
                <a:extLst>
                  <a:ext uri="{FF2B5EF4-FFF2-40B4-BE49-F238E27FC236}">
                    <a16:creationId xmlns:a16="http://schemas.microsoft.com/office/drawing/2014/main" id="{1D00656B-FB50-D464-B581-FA146336B01A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6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4" name="Freeform 65">
                <a:extLst>
                  <a:ext uri="{FF2B5EF4-FFF2-40B4-BE49-F238E27FC236}">
                    <a16:creationId xmlns:a16="http://schemas.microsoft.com/office/drawing/2014/main" id="{FC09A3EB-B5BA-C8C8-F782-91C189826A25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6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Freeform 66">
                <a:extLst>
                  <a:ext uri="{FF2B5EF4-FFF2-40B4-BE49-F238E27FC236}">
                    <a16:creationId xmlns:a16="http://schemas.microsoft.com/office/drawing/2014/main" id="{41451865-12DB-1FCE-9636-D6A94589CA85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6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6D8FAB7-4934-631A-F8D0-12DC49850C08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105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4C805C2-C13F-61F1-D6A4-CE1A3B74F079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105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66" name="Freeform 32">
              <a:extLst>
                <a:ext uri="{FF2B5EF4-FFF2-40B4-BE49-F238E27FC236}">
                  <a16:creationId xmlns:a16="http://schemas.microsoft.com/office/drawing/2014/main" id="{1F85295C-ABBC-A19F-FC02-C17FD2070199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Freeform 33">
              <a:extLst>
                <a:ext uri="{FF2B5EF4-FFF2-40B4-BE49-F238E27FC236}">
                  <a16:creationId xmlns:a16="http://schemas.microsoft.com/office/drawing/2014/main" id="{C99845DB-61B0-D2B2-DB1B-37BBAA003B85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8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Freeform 34">
              <a:extLst>
                <a:ext uri="{FF2B5EF4-FFF2-40B4-BE49-F238E27FC236}">
                  <a16:creationId xmlns:a16="http://schemas.microsoft.com/office/drawing/2014/main" id="{55EEF2E7-CC48-2B0D-87E7-F381F029E433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D5A3922-5EA6-70EB-09A6-AF448B63EFFA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1B04447-D080-7DBB-6737-8F6FB1A7E2E7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rgbClr val="F2F2F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2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9896817-BEF0-6DEA-EAB3-CC9B893E9B0C}"/>
                  </a:ext>
                </a:extLst>
              </p:cNvPr>
              <p:cNvSpPr txBox="1"/>
              <p:nvPr/>
            </p:nvSpPr>
            <p:spPr>
              <a:xfrm rot="3533451">
                <a:off x="6604610" y="1110351"/>
                <a:ext cx="1264194" cy="47941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600" b="1" spc="-25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F873C4A-6631-922E-9477-1BE7E2A09D0C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105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7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E6C02250-96E8-48E3-BAB6-B5C5D0E03AE6}" type="slidenum"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1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Connects </a:t>
            </a:r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A85CFB-E7BA-A661-7D41-7446BE0546C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29" name="Rectangle: Rounded Corners 7">
              <a:extLst>
                <a:ext uri="{FF2B5EF4-FFF2-40B4-BE49-F238E27FC236}">
                  <a16:creationId xmlns:a16="http://schemas.microsoft.com/office/drawing/2014/main" id="{063799FF-B83C-09A1-D452-460CD60A6941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9">
              <a:extLst>
                <a:ext uri="{FF2B5EF4-FFF2-40B4-BE49-F238E27FC236}">
                  <a16:creationId xmlns:a16="http://schemas.microsoft.com/office/drawing/2014/main" id="{68E491E8-892C-9BC2-6BB0-9E6241CCBAC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 descr="Bend the Curve">
              <a:extLst>
                <a:ext uri="{FF2B5EF4-FFF2-40B4-BE49-F238E27FC236}">
                  <a16:creationId xmlns:a16="http://schemas.microsoft.com/office/drawing/2014/main" id="{A331240C-9599-B919-5636-57750BE83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13FF39-4664-1C4D-DD0E-F461BD08D94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4E5BF6-53D2-B748-FDAB-32EAF2F6CE9E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4" name="Rectangle: Rounded Corners 13">
              <a:extLst>
                <a:ext uri="{FF2B5EF4-FFF2-40B4-BE49-F238E27FC236}">
                  <a16:creationId xmlns:a16="http://schemas.microsoft.com/office/drawing/2014/main" id="{0345229D-D88B-E513-98C5-07A11BA3340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: Rounded Corners 14">
              <a:extLst>
                <a:ext uri="{FF2B5EF4-FFF2-40B4-BE49-F238E27FC236}">
                  <a16:creationId xmlns:a16="http://schemas.microsoft.com/office/drawing/2014/main" id="{DBD0D138-C732-905C-FDA3-25C7479080C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BFFE632-B184-BCB2-3F70-F0C326E3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D4AE800-26D7-A44E-1EE1-F2514D1BFEA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98BB388-CE58-8D32-3173-58398477FAC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9" name="Rectangle: Rounded Corners 18">
              <a:extLst>
                <a:ext uri="{FF2B5EF4-FFF2-40B4-BE49-F238E27FC236}">
                  <a16:creationId xmlns:a16="http://schemas.microsoft.com/office/drawing/2014/main" id="{1F1F8E53-1695-E088-C3B5-01793A58D907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19">
              <a:extLst>
                <a:ext uri="{FF2B5EF4-FFF2-40B4-BE49-F238E27FC236}">
                  <a16:creationId xmlns:a16="http://schemas.microsoft.com/office/drawing/2014/main" id="{C4CD5F6D-DBFD-60A0-B010-44F3D432E06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E03C11A-E5DD-1B85-6E38-FE6A37E5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775ED52-83D7-A345-6123-441EB86D3A6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CA91027-9F4B-0E01-F381-67628A3DA1B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4" name="Rectangle: Rounded Corners 23">
              <a:extLst>
                <a:ext uri="{FF2B5EF4-FFF2-40B4-BE49-F238E27FC236}">
                  <a16:creationId xmlns:a16="http://schemas.microsoft.com/office/drawing/2014/main" id="{F39D9E6A-0A2A-A7AB-4AF9-FA1CA5043B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Rectangle: Rounded Corners 24">
              <a:extLst>
                <a:ext uri="{FF2B5EF4-FFF2-40B4-BE49-F238E27FC236}">
                  <a16:creationId xmlns:a16="http://schemas.microsoft.com/office/drawing/2014/main" id="{1299046B-07F0-32E6-3A64-5C499BD753C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6" name="Picture 45" descr="Choose">
              <a:extLst>
                <a:ext uri="{FF2B5EF4-FFF2-40B4-BE49-F238E27FC236}">
                  <a16:creationId xmlns:a16="http://schemas.microsoft.com/office/drawing/2014/main" id="{41604C97-F9D1-D32F-6DB5-59551B387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A77F08E-9E1E-A806-58FD-D0B55D0010C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0A2998B-9446-7106-8862-97D4FB8B7848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9" name="Rectangle: Rounded Corners 28">
              <a:extLst>
                <a:ext uri="{FF2B5EF4-FFF2-40B4-BE49-F238E27FC236}">
                  <a16:creationId xmlns:a16="http://schemas.microsoft.com/office/drawing/2014/main" id="{B3A1D0F1-8694-A2CF-B966-78614B9144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Rectangle: Rounded Corners 29">
              <a:extLst>
                <a:ext uri="{FF2B5EF4-FFF2-40B4-BE49-F238E27FC236}">
                  <a16:creationId xmlns:a16="http://schemas.microsoft.com/office/drawing/2014/main" id="{1FB57B30-9F9A-A874-7CB2-2E68855A817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DDC52E7F-757C-F2AB-F7D3-DE8857B56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D70FD83-30CC-9F98-67D4-AC6D1972E8A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020E8A7-DA48-8FC9-BD52-097B2DD23867}"/>
              </a:ext>
            </a:extLst>
          </p:cNvPr>
          <p:cNvGrpSpPr/>
          <p:nvPr/>
        </p:nvGrpSpPr>
        <p:grpSpPr>
          <a:xfrm>
            <a:off x="724052" y="1396934"/>
            <a:ext cx="10743896" cy="3385445"/>
            <a:chOff x="543039" y="1047700"/>
            <a:chExt cx="8057922" cy="2539084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1469B2E-BCC8-1847-EE65-90669638137B}"/>
                </a:ext>
              </a:extLst>
            </p:cNvPr>
            <p:cNvSpPr/>
            <p:nvPr/>
          </p:nvSpPr>
          <p:spPr>
            <a:xfrm>
              <a:off x="543039" y="2154417"/>
              <a:ext cx="8057922" cy="1432367"/>
            </a:xfrm>
            <a:prstGeom prst="rect">
              <a:avLst/>
            </a:prstGeom>
            <a:solidFill>
              <a:srgbClr val="D0D7DF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4E69D9A-FFCD-0E6C-87DB-A4804C8E8992}"/>
                </a:ext>
              </a:extLst>
            </p:cNvPr>
            <p:cNvSpPr/>
            <p:nvPr/>
          </p:nvSpPr>
          <p:spPr>
            <a:xfrm>
              <a:off x="3666219" y="1459013"/>
              <a:ext cx="1802602" cy="1935459"/>
            </a:xfrm>
            <a:prstGeom prst="rect">
              <a:avLst/>
            </a:prstGeom>
            <a:solidFill>
              <a:srgbClr val="7A828D"/>
            </a:solidFill>
            <a:ln w="9525">
              <a:solidFill>
                <a:srgbClr val="1D1D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ctr"/>
              <a:r>
                <a:rPr lang="en-US" sz="14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DONE </a:t>
              </a:r>
              <a:br>
                <a:rPr lang="en-US" sz="14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z="14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(JTBD)</a:t>
              </a:r>
            </a:p>
            <a:p>
              <a:pPr algn="ctr"/>
              <a:endPara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/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three to five key actions and outcomes that must be delivered by the ROLE•TALENT combination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32BD268-BF92-D0FB-6136-DBD995614196}"/>
                </a:ext>
              </a:extLst>
            </p:cNvPr>
            <p:cNvGrpSpPr/>
            <p:nvPr/>
          </p:nvGrpSpPr>
          <p:grpSpPr>
            <a:xfrm>
              <a:off x="5785522" y="1459015"/>
              <a:ext cx="2670395" cy="1935458"/>
              <a:chOff x="6570202" y="3050809"/>
              <a:chExt cx="3560527" cy="258061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63E2543-EE8E-B1FD-1FAC-332696FB7A72}"/>
                  </a:ext>
                </a:extLst>
              </p:cNvPr>
              <p:cNvSpPr/>
              <p:nvPr/>
            </p:nvSpPr>
            <p:spPr>
              <a:xfrm>
                <a:off x="6570202" y="3050809"/>
                <a:ext cx="3560527" cy="2580610"/>
              </a:xfrm>
              <a:prstGeom prst="rect">
                <a:avLst/>
              </a:prstGeom>
              <a:solidFill>
                <a:srgbClr val="F2F2F2"/>
              </a:solidFill>
              <a:ln w="9525" cap="rnd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4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B9E4135-B5AE-14E9-6E9C-E741976D5756}"/>
                  </a:ext>
                </a:extLst>
              </p:cNvPr>
              <p:cNvSpPr txBox="1"/>
              <p:nvPr/>
            </p:nvSpPr>
            <p:spPr>
              <a:xfrm>
                <a:off x="7490312" y="3278509"/>
                <a:ext cx="2286000" cy="212521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r>
                  <a:rPr lang="en-US" sz="1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RISKS</a:t>
                </a:r>
              </a:p>
              <a:p>
                <a:r>
                  <a:rPr lang="en-US" sz="16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Evidence collected on four talent features filtered through the lens of the Jobs to Be Done</a:t>
                </a:r>
                <a:endParaRPr lang="en-US" sz="12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AAABC4B-EA9F-7A8D-6CE6-619B77BBDB22}"/>
                </a:ext>
              </a:extLst>
            </p:cNvPr>
            <p:cNvSpPr/>
            <p:nvPr/>
          </p:nvSpPr>
          <p:spPr>
            <a:xfrm>
              <a:off x="688084" y="1459015"/>
              <a:ext cx="2670395" cy="1935459"/>
            </a:xfrm>
            <a:prstGeom prst="rect">
              <a:avLst/>
            </a:prstGeom>
            <a:solidFill>
              <a:srgbClr val="F2F2F2"/>
            </a:solidFill>
            <a:ln w="9525" cap="rnd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1E07CC9-A372-41FB-9EB0-566917FB1C28}"/>
                </a:ext>
              </a:extLst>
            </p:cNvPr>
            <p:cNvSpPr txBox="1"/>
            <p:nvPr/>
          </p:nvSpPr>
          <p:spPr>
            <a:xfrm>
              <a:off x="741167" y="1629792"/>
              <a:ext cx="1714500" cy="159390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r"/>
              <a:r>
                <a:rPr lang="en-US" sz="14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RISKS</a:t>
              </a:r>
            </a:p>
            <a:p>
              <a:pPr algn="r"/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Evidence collected on four role design features filtered through the lens of the Jobs to Be Done</a:t>
              </a:r>
              <a:endParaRPr lang="en-US"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Triangle 59">
              <a:extLst>
                <a:ext uri="{FF2B5EF4-FFF2-40B4-BE49-F238E27FC236}">
                  <a16:creationId xmlns:a16="http://schemas.microsoft.com/office/drawing/2014/main" id="{9FF6EEDC-BDDC-178B-7F9D-03DA3F6D0711}"/>
                </a:ext>
              </a:extLst>
            </p:cNvPr>
            <p:cNvSpPr/>
            <p:nvPr/>
          </p:nvSpPr>
          <p:spPr>
            <a:xfrm rot="5400000">
              <a:off x="3368462" y="2351285"/>
              <a:ext cx="324000" cy="162000"/>
            </a:xfrm>
            <a:prstGeom prst="triangle">
              <a:avLst/>
            </a:prstGeom>
            <a:solidFill>
              <a:srgbClr val="281A4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Triangle 60">
              <a:extLst>
                <a:ext uri="{FF2B5EF4-FFF2-40B4-BE49-F238E27FC236}">
                  <a16:creationId xmlns:a16="http://schemas.microsoft.com/office/drawing/2014/main" id="{9CE5603C-12A0-92A9-B18F-4EBB1CDD15B8}"/>
                </a:ext>
              </a:extLst>
            </p:cNvPr>
            <p:cNvSpPr/>
            <p:nvPr/>
          </p:nvSpPr>
          <p:spPr>
            <a:xfrm rot="16200000">
              <a:off x="5456598" y="2341431"/>
              <a:ext cx="324000" cy="172123"/>
            </a:xfrm>
            <a:prstGeom prst="triangle">
              <a:avLst/>
            </a:prstGeom>
            <a:solidFill>
              <a:srgbClr val="58585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4107B4-2933-DAD9-6837-D34C9F3727A5}"/>
                </a:ext>
              </a:extLst>
            </p:cNvPr>
            <p:cNvSpPr/>
            <p:nvPr/>
          </p:nvSpPr>
          <p:spPr>
            <a:xfrm>
              <a:off x="688084" y="1050389"/>
              <a:ext cx="2670395" cy="302060"/>
            </a:xfrm>
            <a:prstGeom prst="rect">
              <a:avLst/>
            </a:prstGeom>
            <a:solidFill>
              <a:srgbClr val="281A42"/>
            </a:solidFill>
            <a:ln w="9525">
              <a:solidFill>
                <a:srgbClr val="281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Role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6DFF01F-2458-6D2A-F0E1-CAA622CE69B6}"/>
                </a:ext>
              </a:extLst>
            </p:cNvPr>
            <p:cNvSpPr/>
            <p:nvPr/>
          </p:nvSpPr>
          <p:spPr>
            <a:xfrm>
              <a:off x="3666219" y="1047700"/>
              <a:ext cx="1802602" cy="302060"/>
            </a:xfrm>
            <a:prstGeom prst="rect">
              <a:avLst/>
            </a:prstGeom>
            <a:solidFill>
              <a:srgbClr val="7A828D"/>
            </a:solidFill>
            <a:ln w="9525">
              <a:solidFill>
                <a:srgbClr val="1D1D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Work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671426B-C6E0-682A-AC7D-D6DC9ED7EBD0}"/>
                </a:ext>
              </a:extLst>
            </p:cNvPr>
            <p:cNvSpPr/>
            <p:nvPr/>
          </p:nvSpPr>
          <p:spPr>
            <a:xfrm>
              <a:off x="5785522" y="1047700"/>
              <a:ext cx="2670395" cy="302060"/>
            </a:xfrm>
            <a:prstGeom prst="rect">
              <a:avLst/>
            </a:prstGeom>
            <a:solidFill>
              <a:srgbClr val="585858"/>
            </a:solidFill>
            <a:ln w="9525">
              <a:solidFill>
                <a:srgbClr val="1D1D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Talent</a:t>
              </a:r>
            </a:p>
          </p:txBody>
        </p:sp>
        <p:pic>
          <p:nvPicPr>
            <p:cNvPr id="65" name="Picture 64" descr="Role, talent, red">
              <a:extLst>
                <a:ext uri="{FF2B5EF4-FFF2-40B4-BE49-F238E27FC236}">
                  <a16:creationId xmlns:a16="http://schemas.microsoft.com/office/drawing/2014/main" id="{0E3660C4-4F87-3DD3-9F3C-48E84CBDD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2467526" y="2021742"/>
              <a:ext cx="810000" cy="810000"/>
            </a:xfrm>
            <a:prstGeom prst="rect">
              <a:avLst/>
            </a:prstGeom>
          </p:spPr>
        </p:pic>
        <p:pic>
          <p:nvPicPr>
            <p:cNvPr id="66" name="Picture 65" descr="Harnold, grey role">
              <a:extLst>
                <a:ext uri="{FF2B5EF4-FFF2-40B4-BE49-F238E27FC236}">
                  <a16:creationId xmlns:a16="http://schemas.microsoft.com/office/drawing/2014/main" id="{EB67E3D0-98D4-1646-543F-FC5C431BF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5823134" y="2089242"/>
              <a:ext cx="675000" cy="6750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F045DE-282F-2E94-90CB-96A2DD3A865A}"/>
              </a:ext>
            </a:extLst>
          </p:cNvPr>
          <p:cNvGrpSpPr/>
          <p:nvPr/>
        </p:nvGrpSpPr>
        <p:grpSpPr>
          <a:xfrm>
            <a:off x="1525558" y="4959280"/>
            <a:ext cx="9128935" cy="1352904"/>
            <a:chOff x="978568" y="1384422"/>
            <a:chExt cx="10245988" cy="2324947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6713C68-132A-5C90-A6C6-11428AC2C181}"/>
                </a:ext>
              </a:extLst>
            </p:cNvPr>
            <p:cNvSpPr/>
            <p:nvPr/>
          </p:nvSpPr>
          <p:spPr>
            <a:xfrm>
              <a:off x="978568" y="1384422"/>
              <a:ext cx="10245988" cy="2324947"/>
            </a:xfrm>
            <a:prstGeom prst="rect">
              <a:avLst/>
            </a:prstGeom>
            <a:solidFill>
              <a:srgbClr val="D0D7DF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3F8DB73-9693-04DF-02B0-5657E3A5D529}"/>
                </a:ext>
              </a:extLst>
            </p:cNvPr>
            <p:cNvGrpSpPr/>
            <p:nvPr/>
          </p:nvGrpSpPr>
          <p:grpSpPr>
            <a:xfrm>
              <a:off x="1226390" y="1512332"/>
              <a:ext cx="9739219" cy="2177375"/>
              <a:chOff x="1226390" y="2488645"/>
              <a:chExt cx="9739219" cy="2177375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25AAF57C-1D12-E5C9-C9A9-5CB40D31C277}"/>
                  </a:ext>
                </a:extLst>
              </p:cNvPr>
              <p:cNvGrpSpPr/>
              <p:nvPr/>
            </p:nvGrpSpPr>
            <p:grpSpPr>
              <a:xfrm>
                <a:off x="1226390" y="3256751"/>
                <a:ext cx="9739219" cy="614093"/>
                <a:chOff x="1299715" y="3544232"/>
                <a:chExt cx="2780795" cy="115333"/>
              </a:xfrm>
            </p:grpSpPr>
            <p:sp>
              <p:nvSpPr>
                <p:cNvPr id="77" name="Rectangle">
                  <a:extLst>
                    <a:ext uri="{FF2B5EF4-FFF2-40B4-BE49-F238E27FC236}">
                      <a16:creationId xmlns:a16="http://schemas.microsoft.com/office/drawing/2014/main" id="{E0CD9997-DBA0-3B27-26BA-AD8D0EFBD635}"/>
                    </a:ext>
                  </a:extLst>
                </p:cNvPr>
                <p:cNvSpPr/>
                <p:nvPr/>
              </p:nvSpPr>
              <p:spPr>
                <a:xfrm>
                  <a:off x="1299716" y="3544232"/>
                  <a:ext cx="2780794" cy="115333"/>
                </a:xfrm>
                <a:prstGeom prst="rect">
                  <a:avLst/>
                </a:prstGeom>
                <a:pattFill prst="ltUpDiag">
                  <a:fgClr>
                    <a:srgbClr val="765FFF"/>
                  </a:fgClr>
                  <a:bgClr>
                    <a:srgbClr val="F2F2F2"/>
                  </a:bgClr>
                </a:pattFill>
                <a:ln w="9525">
                  <a:solidFill>
                    <a:srgbClr val="1D1D1D"/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>
                    <a:defRPr sz="3200" b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Helvetica Neue Medium"/>
                  </a:endParaRPr>
                </a:p>
              </p:txBody>
            </p:sp>
            <p:sp>
              <p:nvSpPr>
                <p:cNvPr id="78" name="Rectangle">
                  <a:extLst>
                    <a:ext uri="{FF2B5EF4-FFF2-40B4-BE49-F238E27FC236}">
                      <a16:creationId xmlns:a16="http://schemas.microsoft.com/office/drawing/2014/main" id="{1AF224BF-0FA3-13F3-0C74-442163867B3E}"/>
                    </a:ext>
                  </a:extLst>
                </p:cNvPr>
                <p:cNvSpPr/>
                <p:nvPr/>
              </p:nvSpPr>
              <p:spPr>
                <a:xfrm>
                  <a:off x="1299715" y="3544232"/>
                  <a:ext cx="1962297" cy="115333"/>
                </a:xfrm>
                <a:prstGeom prst="rect">
                  <a:avLst/>
                </a:prstGeom>
                <a:solidFill>
                  <a:srgbClr val="281A42"/>
                </a:solidFill>
                <a:ln w="9525">
                  <a:solidFill>
                    <a:srgbClr val="281A42"/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>
                    <a:defRPr sz="3200" b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 sz="1600" spc="-10">
                    <a:solidFill>
                      <a:srgbClr val="765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Helvetica Neue Medium"/>
                  </a:endParaRPr>
                </a:p>
              </p:txBody>
            </p:sp>
          </p:grp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2F23109-07C2-A8ED-86EB-C936FA6ADE38}"/>
                  </a:ext>
                </a:extLst>
              </p:cNvPr>
              <p:cNvSpPr/>
              <p:nvPr/>
            </p:nvSpPr>
            <p:spPr>
              <a:xfrm>
                <a:off x="1235892" y="2488645"/>
                <a:ext cx="6213505" cy="72515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RISK</a:t>
                </a:r>
                <a:br>
                  <a:rPr lang="en-US" sz="1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2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- Red and Amber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B04FA793-04AF-3D06-D3BC-463FAFEAAA23}"/>
                  </a:ext>
                </a:extLst>
              </p:cNvPr>
              <p:cNvSpPr/>
              <p:nvPr/>
            </p:nvSpPr>
            <p:spPr>
              <a:xfrm>
                <a:off x="4097467" y="3337871"/>
                <a:ext cx="1130424" cy="449343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 spc="-10">
                    <a:solidFill>
                      <a:srgbClr val="F2F2F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70%</a:t>
                </a:r>
                <a:endParaRPr lang="en-US" sz="1400" b="1" spc="-10">
                  <a:solidFill>
                    <a:srgbClr val="F2F2F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100E60C-D4F4-FC88-3784-0050478569B2}"/>
                  </a:ext>
                </a:extLst>
              </p:cNvPr>
              <p:cNvSpPr/>
              <p:nvPr/>
            </p:nvSpPr>
            <p:spPr>
              <a:xfrm>
                <a:off x="4752095" y="3940862"/>
                <a:ext cx="6213505" cy="72515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r"/>
                <a:r>
                  <a:rPr lang="en-US" sz="14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  <a:r>
                  <a:rPr lang="en-US" sz="1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RISK </a:t>
                </a:r>
                <a:br>
                  <a:rPr lang="en-US" sz="1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2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- Red and Amber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697B197-ED63-0976-06E9-297EE7646502}"/>
                  </a:ext>
                </a:extLst>
              </p:cNvPr>
              <p:cNvSpPr/>
              <p:nvPr/>
            </p:nvSpPr>
            <p:spPr>
              <a:xfrm>
                <a:off x="8967078" y="3337871"/>
                <a:ext cx="1130424" cy="449343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30%</a:t>
                </a:r>
                <a:endParaRPr lang="en-US" sz="1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7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A406592F-8751-4A43-BD96-CC3C5E1BAAF5}" type="slidenum"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6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AF9B9B-C4C8-7943-B505-896C518168CB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 </a:t>
            </a:r>
            <a:r>
              <a:rPr lang="en-US" sz="2667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Descriptions</a:t>
            </a:r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Vs </a:t>
            </a:r>
            <a:r>
              <a:rPr lang="en-US" sz="2667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  <a:endParaRPr lang="en-US" b="1" spc="-25">
              <a:solidFill>
                <a:srgbClr val="765FFF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568E27-6DC7-2647-A7C3-77A63AFF231E}"/>
              </a:ext>
            </a:extLst>
          </p:cNvPr>
          <p:cNvGrpSpPr/>
          <p:nvPr/>
        </p:nvGrpSpPr>
        <p:grpSpPr>
          <a:xfrm>
            <a:off x="1361972" y="1753680"/>
            <a:ext cx="9472410" cy="3861159"/>
            <a:chOff x="1154361" y="1480964"/>
            <a:chExt cx="9472410" cy="38611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058638-7C58-EB44-9108-88FBCA0B6049}"/>
                </a:ext>
              </a:extLst>
            </p:cNvPr>
            <p:cNvSpPr/>
            <p:nvPr/>
          </p:nvSpPr>
          <p:spPr>
            <a:xfrm>
              <a:off x="1154361" y="1992882"/>
              <a:ext cx="6223000" cy="3136791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173312-0916-C947-A1C9-3991C9225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358699" y="1865354"/>
              <a:ext cx="3894667" cy="280740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86DBFD-D79A-9246-BF14-88A945CAA444}"/>
                </a:ext>
              </a:extLst>
            </p:cNvPr>
            <p:cNvSpPr txBox="1"/>
            <p:nvPr/>
          </p:nvSpPr>
          <p:spPr>
            <a:xfrm>
              <a:off x="2306439" y="1532855"/>
              <a:ext cx="2124299" cy="400110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20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 Descriptions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66A6CA-1211-0E4A-8981-4B6C700B00A8}"/>
                </a:ext>
              </a:extLst>
            </p:cNvPr>
            <p:cNvSpPr txBox="1"/>
            <p:nvPr/>
          </p:nvSpPr>
          <p:spPr>
            <a:xfrm>
              <a:off x="1158716" y="4757349"/>
              <a:ext cx="4307699" cy="58477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>
                  <a:solidFill>
                    <a:srgbClr val="1D1D1D"/>
                  </a:solidFill>
                </a:defRPr>
              </a:pPr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Describes Responsibilities</a:t>
              </a:r>
            </a:p>
            <a:p>
              <a:pPr algn="ctr">
                <a:defRPr>
                  <a:solidFill>
                    <a:srgbClr val="1D1D1D"/>
                  </a:solidFill>
                </a:defRPr>
              </a:pPr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Context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69C4E0-1968-1049-A7D6-16F163450BDD}"/>
                </a:ext>
              </a:extLst>
            </p:cNvPr>
            <p:cNvGrpSpPr/>
            <p:nvPr/>
          </p:nvGrpSpPr>
          <p:grpSpPr>
            <a:xfrm>
              <a:off x="5462059" y="1480964"/>
              <a:ext cx="5164712" cy="3848919"/>
              <a:chOff x="5462059" y="1480964"/>
              <a:chExt cx="5164712" cy="3848919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FB377E9-87C9-7748-BBEB-D694E1D3DECE}"/>
                  </a:ext>
                </a:extLst>
              </p:cNvPr>
              <p:cNvGrpSpPr/>
              <p:nvPr/>
            </p:nvGrpSpPr>
            <p:grpSpPr>
              <a:xfrm>
                <a:off x="5462059" y="1480964"/>
                <a:ext cx="5164711" cy="3831243"/>
                <a:chOff x="5145898" y="1797375"/>
                <a:chExt cx="5164711" cy="3831243"/>
              </a:xfrm>
            </p:grpSpPr>
            <p:pic>
              <p:nvPicPr>
                <p:cNvPr id="13" name="Picture 12" descr="A picture containing person, outdoor, woman, holding&#10;&#10;Description automatically generated">
                  <a:extLst>
                    <a:ext uri="{FF2B5EF4-FFF2-40B4-BE49-F238E27FC236}">
                      <a16:creationId xmlns:a16="http://schemas.microsoft.com/office/drawing/2014/main" id="{289F7116-2097-8B4B-A847-E61B2FB754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screen">
                  <a:duotone>
                    <a:srgbClr val="765FFF"/>
                    <a:srgbClr val="FFFFFF"/>
                  </a:duotone>
                </a:blip>
                <a:srcRect r="10161"/>
                <a:stretch/>
              </p:blipFill>
              <p:spPr>
                <a:xfrm>
                  <a:off x="5145898" y="1797375"/>
                  <a:ext cx="5160356" cy="3831243"/>
                </a:xfrm>
                <a:prstGeom prst="rect">
                  <a:avLst/>
                </a:prstGeom>
                <a:effectLst>
                  <a:outerShdw blurRad="88900" dist="1524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FC4A8667-FE56-C84D-B8F8-E26BB278ADEA}"/>
                    </a:ext>
                  </a:extLst>
                </p:cNvPr>
                <p:cNvSpPr/>
                <p:nvPr/>
              </p:nvSpPr>
              <p:spPr>
                <a:xfrm>
                  <a:off x="8956271" y="3451393"/>
                  <a:ext cx="222365" cy="222365"/>
                </a:xfrm>
                <a:prstGeom prst="ellipse">
                  <a:avLst/>
                </a:prstGeom>
                <a:solidFill>
                  <a:srgbClr val="281A42"/>
                </a:solidFill>
                <a:ln>
                  <a:solidFill>
                    <a:srgbClr val="281A42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D13B3BD-D3EB-B843-B273-69B6C1647B2B}"/>
                    </a:ext>
                  </a:extLst>
                </p:cNvPr>
                <p:cNvSpPr/>
                <p:nvPr/>
              </p:nvSpPr>
              <p:spPr>
                <a:xfrm>
                  <a:off x="10006881" y="3429000"/>
                  <a:ext cx="303728" cy="303728"/>
                </a:xfrm>
                <a:prstGeom prst="ellipse">
                  <a:avLst/>
                </a:prstGeom>
                <a:solidFill>
                  <a:srgbClr val="281A42"/>
                </a:solidFill>
                <a:ln>
                  <a:solidFill>
                    <a:srgbClr val="281A42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5AB5155-2A65-0B40-8219-E01D4C8A25CC}"/>
                    </a:ext>
                  </a:extLst>
                </p:cNvPr>
                <p:cNvSpPr/>
                <p:nvPr/>
              </p:nvSpPr>
              <p:spPr>
                <a:xfrm>
                  <a:off x="8090619" y="3710940"/>
                  <a:ext cx="162560" cy="162560"/>
                </a:xfrm>
                <a:prstGeom prst="ellipse">
                  <a:avLst/>
                </a:prstGeom>
                <a:solidFill>
                  <a:srgbClr val="281A42"/>
                </a:solidFill>
                <a:ln>
                  <a:solidFill>
                    <a:srgbClr val="281A42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209C525-07D4-EC41-8AAB-3929C4807F7E}"/>
                  </a:ext>
                </a:extLst>
              </p:cNvPr>
              <p:cNvSpPr/>
              <p:nvPr/>
            </p:nvSpPr>
            <p:spPr>
              <a:xfrm>
                <a:off x="5466415" y="1480964"/>
                <a:ext cx="5160356" cy="584774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BF2AF4-D644-6944-83DB-C55C8DEC9816}"/>
                  </a:ext>
                </a:extLst>
              </p:cNvPr>
              <p:cNvSpPr txBox="1"/>
              <p:nvPr/>
            </p:nvSpPr>
            <p:spPr>
              <a:xfrm>
                <a:off x="6847342" y="1588685"/>
                <a:ext cx="2536272" cy="40011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FFFFFF"/>
                    </a:solidFill>
                  </a:defRPr>
                </a:pPr>
                <a:r>
                  <a:rPr lang="en-US" sz="2000" b="1" spc="-10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JOBS TO BE DONE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2B9C1C-3427-1C48-B8B6-168CC3368425}"/>
                  </a:ext>
                </a:extLst>
              </p:cNvPr>
              <p:cNvSpPr txBox="1"/>
              <p:nvPr/>
            </p:nvSpPr>
            <p:spPr>
              <a:xfrm>
                <a:off x="5462059" y="4745108"/>
                <a:ext cx="5160356" cy="584775"/>
              </a:xfrm>
              <a:prstGeom prst="rect">
                <a:avLst/>
              </a:prstGeom>
              <a:solidFill>
                <a:srgbClr val="585858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Actions and Outcomes</a:t>
                </a:r>
              </a:p>
              <a:p>
                <a:pPr algn="ctr">
                  <a:defRPr>
                    <a:solidFill>
                      <a:srgbClr val="FFFFFF"/>
                    </a:solidFill>
                  </a:defRPr>
                </a:pPr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Linked to context and strategy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6D3D7B-6617-B84D-8330-0649A0D5828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9" name="Rectangle: Rounded Corners 7">
              <a:extLst>
                <a:ext uri="{FF2B5EF4-FFF2-40B4-BE49-F238E27FC236}">
                  <a16:creationId xmlns:a16="http://schemas.microsoft.com/office/drawing/2014/main" id="{0C4B4E80-6903-C0D4-997B-D35E14E86CA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9">
              <a:extLst>
                <a:ext uri="{FF2B5EF4-FFF2-40B4-BE49-F238E27FC236}">
                  <a16:creationId xmlns:a16="http://schemas.microsoft.com/office/drawing/2014/main" id="{4B0D58A3-4264-1B9F-23AD-0B1E2904C1A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 descr="Bend the Curve">
              <a:extLst>
                <a:ext uri="{FF2B5EF4-FFF2-40B4-BE49-F238E27FC236}">
                  <a16:creationId xmlns:a16="http://schemas.microsoft.com/office/drawing/2014/main" id="{86713946-AF70-A24A-BC6E-16C29FDE4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49ABCC-312B-90D3-B46C-B8DF8044E2D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896EB7-F36F-5ABB-1081-9217668A87D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13">
              <a:extLst>
                <a:ext uri="{FF2B5EF4-FFF2-40B4-BE49-F238E27FC236}">
                  <a16:creationId xmlns:a16="http://schemas.microsoft.com/office/drawing/2014/main" id="{5C892237-662E-AEA6-744E-1F79052E553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14">
              <a:extLst>
                <a:ext uri="{FF2B5EF4-FFF2-40B4-BE49-F238E27FC236}">
                  <a16:creationId xmlns:a16="http://schemas.microsoft.com/office/drawing/2014/main" id="{E3182A84-454A-E746-AF71-90983927235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D495D7D-861C-3FEA-AB2C-1F9C46F0F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4FCAA73-DDC1-173E-E158-C3D97DC119F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F8925C-3A0C-4BC5-3B18-B595A603C6F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9" name="Rectangle: Rounded Corners 18">
              <a:extLst>
                <a:ext uri="{FF2B5EF4-FFF2-40B4-BE49-F238E27FC236}">
                  <a16:creationId xmlns:a16="http://schemas.microsoft.com/office/drawing/2014/main" id="{C3F4B27E-C9C6-71B3-CF6B-383C015500F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19">
              <a:extLst>
                <a:ext uri="{FF2B5EF4-FFF2-40B4-BE49-F238E27FC236}">
                  <a16:creationId xmlns:a16="http://schemas.microsoft.com/office/drawing/2014/main" id="{89F6989E-E360-4AA7-8431-074589DB6A7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F1D1B40-3A59-5E14-FF80-3B5464B14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0784BD4-2631-E302-671B-5DBFAB0DD7C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D48DCB-7289-0334-51B9-58304FD6425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4" name="Rectangle: Rounded Corners 23">
              <a:extLst>
                <a:ext uri="{FF2B5EF4-FFF2-40B4-BE49-F238E27FC236}">
                  <a16:creationId xmlns:a16="http://schemas.microsoft.com/office/drawing/2014/main" id="{6C2052B3-0047-791D-D37F-689560D153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: Rounded Corners 24">
              <a:extLst>
                <a:ext uri="{FF2B5EF4-FFF2-40B4-BE49-F238E27FC236}">
                  <a16:creationId xmlns:a16="http://schemas.microsoft.com/office/drawing/2014/main" id="{B6C47797-7710-AE29-9830-5DFA2A7265F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6" name="Picture 35" descr="Choose">
              <a:extLst>
                <a:ext uri="{FF2B5EF4-FFF2-40B4-BE49-F238E27FC236}">
                  <a16:creationId xmlns:a16="http://schemas.microsoft.com/office/drawing/2014/main" id="{0FB85532-E7B3-E2DF-2C1A-87B7CE2B2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1F18F1-F141-CBF6-EA7C-E1065ACFF0A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F6EDA07-0DF0-192F-FEF5-11BCD3CC8FF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9" name="Rectangle: Rounded Corners 28">
              <a:extLst>
                <a:ext uri="{FF2B5EF4-FFF2-40B4-BE49-F238E27FC236}">
                  <a16:creationId xmlns:a16="http://schemas.microsoft.com/office/drawing/2014/main" id="{BA024835-EA9C-6508-7425-A7E5A10648A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29">
              <a:extLst>
                <a:ext uri="{FF2B5EF4-FFF2-40B4-BE49-F238E27FC236}">
                  <a16:creationId xmlns:a16="http://schemas.microsoft.com/office/drawing/2014/main" id="{D2A72787-3D41-F65F-D34F-21A01D72E34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83F9003-AD16-1EDB-7ADD-F3F1CF38E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C5806BD-3EFE-E0D8-40E4-A6D1E6E217D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C8E053C0-80EC-4991-9EDB-B4765A41367B}" type="slidenum"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3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Building Jobs to Be Done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10B0E3-C04F-A09F-6489-1BC995684DD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1" name="Rectangle: Rounded Corners 7">
              <a:extLst>
                <a:ext uri="{FF2B5EF4-FFF2-40B4-BE49-F238E27FC236}">
                  <a16:creationId xmlns:a16="http://schemas.microsoft.com/office/drawing/2014/main" id="{75F190B7-CD96-B571-6D39-6A41B589A5C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Rectangle: Rounded Corners 9">
              <a:extLst>
                <a:ext uri="{FF2B5EF4-FFF2-40B4-BE49-F238E27FC236}">
                  <a16:creationId xmlns:a16="http://schemas.microsoft.com/office/drawing/2014/main" id="{7DCEE985-79B2-FC83-2683-BC2F1BE5FE5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3" name="Picture 32" descr="Bend the Curve">
              <a:extLst>
                <a:ext uri="{FF2B5EF4-FFF2-40B4-BE49-F238E27FC236}">
                  <a16:creationId xmlns:a16="http://schemas.microsoft.com/office/drawing/2014/main" id="{BBAFF38C-93B8-0D57-CCB1-4F372528B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FB7D7C4-38D8-EA51-0577-F32204A0347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8428D8E-12CF-215C-3BA2-E95B569E4A1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6" name="Rectangle: Rounded Corners 13">
              <a:extLst>
                <a:ext uri="{FF2B5EF4-FFF2-40B4-BE49-F238E27FC236}">
                  <a16:creationId xmlns:a16="http://schemas.microsoft.com/office/drawing/2014/main" id="{5BA3A2DE-4D42-4B03-0838-71465EC1FD4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: Rounded Corners 14">
              <a:extLst>
                <a:ext uri="{FF2B5EF4-FFF2-40B4-BE49-F238E27FC236}">
                  <a16:creationId xmlns:a16="http://schemas.microsoft.com/office/drawing/2014/main" id="{60D6EC2F-DC78-C857-EEDB-C3B71382453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7C0A2FF-BC45-478E-A11D-3033966EE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8266B2F-3745-C319-7EC7-0A9FC4BD79F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31CF58-5CD9-BBF6-BF72-D834F4F64E11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1" name="Rectangle: Rounded Corners 18">
              <a:extLst>
                <a:ext uri="{FF2B5EF4-FFF2-40B4-BE49-F238E27FC236}">
                  <a16:creationId xmlns:a16="http://schemas.microsoft.com/office/drawing/2014/main" id="{2E6483EF-8224-DB61-B2C3-74BED0430C7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19">
              <a:extLst>
                <a:ext uri="{FF2B5EF4-FFF2-40B4-BE49-F238E27FC236}">
                  <a16:creationId xmlns:a16="http://schemas.microsoft.com/office/drawing/2014/main" id="{B50EE3D8-AFB5-A5EC-D06E-B0C0ACD55A25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D905634-6DAE-76EA-E39E-FBBF653F3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D48DFCE-AC81-6AB1-2766-9A93E58051F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90A2673-98C1-A3D8-C7D3-5296249FEA91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23">
              <a:extLst>
                <a:ext uri="{FF2B5EF4-FFF2-40B4-BE49-F238E27FC236}">
                  <a16:creationId xmlns:a16="http://schemas.microsoft.com/office/drawing/2014/main" id="{1783B838-FB56-214E-BE83-A21619F76A9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24">
              <a:extLst>
                <a:ext uri="{FF2B5EF4-FFF2-40B4-BE49-F238E27FC236}">
                  <a16:creationId xmlns:a16="http://schemas.microsoft.com/office/drawing/2014/main" id="{E9FEB000-CDE7-5DEF-C7C6-B651D00B2EA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 descr="Choose">
              <a:extLst>
                <a:ext uri="{FF2B5EF4-FFF2-40B4-BE49-F238E27FC236}">
                  <a16:creationId xmlns:a16="http://schemas.microsoft.com/office/drawing/2014/main" id="{F87479EE-4079-11F7-D2C6-DE8E3945E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36D591E-C3DB-2619-324F-D2E8ABEC5CC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E096039-2497-A250-8ACD-5A8382185EC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8">
              <a:extLst>
                <a:ext uri="{FF2B5EF4-FFF2-40B4-BE49-F238E27FC236}">
                  <a16:creationId xmlns:a16="http://schemas.microsoft.com/office/drawing/2014/main" id="{20A0EE5B-4CEF-4E62-F0B6-B790E03094E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9">
              <a:extLst>
                <a:ext uri="{FF2B5EF4-FFF2-40B4-BE49-F238E27FC236}">
                  <a16:creationId xmlns:a16="http://schemas.microsoft.com/office/drawing/2014/main" id="{E9A1F871-E5FA-EC5E-DAB0-8DF28E4FA389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801885E-6D0B-4EFA-2553-DE49E7845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ACD494F-9F09-3511-3B27-CF6410F3EA3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9711E7C-9B51-17B3-564E-F7A3E3D2F7A6}"/>
              </a:ext>
            </a:extLst>
          </p:cNvPr>
          <p:cNvGrpSpPr/>
          <p:nvPr/>
        </p:nvGrpSpPr>
        <p:grpSpPr>
          <a:xfrm>
            <a:off x="521930" y="1167141"/>
            <a:ext cx="11115857" cy="4285547"/>
            <a:chOff x="429462" y="1652916"/>
            <a:chExt cx="11115855" cy="428554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0EC9E4-3E68-644E-0B9C-47E53CCE85FD}"/>
                </a:ext>
              </a:extLst>
            </p:cNvPr>
            <p:cNvSpPr/>
            <p:nvPr/>
          </p:nvSpPr>
          <p:spPr>
            <a:xfrm>
              <a:off x="429462" y="1652916"/>
              <a:ext cx="2349001" cy="4285547"/>
            </a:xfrm>
            <a:prstGeom prst="rect">
              <a:avLst/>
            </a:prstGeom>
            <a:solidFill>
              <a:srgbClr val="767676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rPr lang="en-US" sz="20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DONE </a:t>
              </a:r>
              <a:b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rPr lang="en-US" sz="1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(JTBD)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0E5E528-6408-5DCD-6AF2-F31F46D79916}"/>
                </a:ext>
              </a:extLst>
            </p:cNvPr>
            <p:cNvGrpSpPr/>
            <p:nvPr/>
          </p:nvGrpSpPr>
          <p:grpSpPr>
            <a:xfrm>
              <a:off x="2880530" y="1652916"/>
              <a:ext cx="8664787" cy="3993764"/>
              <a:chOff x="2880530" y="1652916"/>
              <a:chExt cx="8664787" cy="3993764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3C58468-2694-63D6-A1C7-6D0D14EA0D84}"/>
                  </a:ext>
                </a:extLst>
              </p:cNvPr>
              <p:cNvSpPr/>
              <p:nvPr/>
            </p:nvSpPr>
            <p:spPr>
              <a:xfrm>
                <a:off x="3184659" y="4979215"/>
                <a:ext cx="1767258" cy="667465"/>
              </a:xfrm>
              <a:prstGeom prst="rect">
                <a:avLst/>
              </a:prstGeom>
              <a:solidFill>
                <a:srgbClr val="767676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 b="1" spc="-10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What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7706F4B-D003-8941-32CC-0C4B5E5AE7B9}"/>
                  </a:ext>
                </a:extLst>
              </p:cNvPr>
              <p:cNvSpPr/>
              <p:nvPr/>
            </p:nvSpPr>
            <p:spPr>
              <a:xfrm>
                <a:off x="5966756" y="4979214"/>
                <a:ext cx="1767258" cy="667465"/>
              </a:xfrm>
              <a:prstGeom prst="rect">
                <a:avLst/>
              </a:prstGeom>
              <a:solidFill>
                <a:srgbClr val="767676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 b="1" spc="-10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How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88B55B3-6A15-DD92-0957-97D714357C16}"/>
                  </a:ext>
                </a:extLst>
              </p:cNvPr>
              <p:cNvSpPr/>
              <p:nvPr/>
            </p:nvSpPr>
            <p:spPr>
              <a:xfrm>
                <a:off x="8789949" y="4979213"/>
                <a:ext cx="1767258" cy="667465"/>
              </a:xfrm>
              <a:prstGeom prst="rect">
                <a:avLst/>
              </a:prstGeom>
              <a:solidFill>
                <a:srgbClr val="767676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 b="1" spc="-10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How Much &amp;</a:t>
                </a:r>
              </a:p>
              <a:p>
                <a:pPr algn="ctr"/>
                <a:r>
                  <a:rPr lang="en-US" sz="1400" b="1" spc="-10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By When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BB87C9C4-52EE-1666-53B1-DE03EA8DC8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8288" y="4198462"/>
                <a:ext cx="0" cy="756535"/>
              </a:xfrm>
              <a:prstGeom prst="line">
                <a:avLst/>
              </a:prstGeom>
              <a:ln>
                <a:solidFill>
                  <a:srgbClr val="1D1D1D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239E0A3-A961-416A-B051-D7EF45BF46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50385" y="4198462"/>
                <a:ext cx="0" cy="756535"/>
              </a:xfrm>
              <a:prstGeom prst="line">
                <a:avLst/>
              </a:prstGeom>
              <a:ln>
                <a:solidFill>
                  <a:srgbClr val="1D1D1D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694187D-5086-80AF-1D90-6DC6F18955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73578" y="4198461"/>
                <a:ext cx="0" cy="756535"/>
              </a:xfrm>
              <a:prstGeom prst="line">
                <a:avLst/>
              </a:prstGeom>
              <a:ln>
                <a:solidFill>
                  <a:srgbClr val="1D1D1D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E9AD94E0-115B-9AC8-EA8A-FDFA0C161D41}"/>
                  </a:ext>
                </a:extLst>
              </p:cNvPr>
              <p:cNvGrpSpPr/>
              <p:nvPr/>
            </p:nvGrpSpPr>
            <p:grpSpPr>
              <a:xfrm>
                <a:off x="2880530" y="1652916"/>
                <a:ext cx="8664787" cy="2545547"/>
                <a:chOff x="2880530" y="1652916"/>
                <a:chExt cx="8664787" cy="2545547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DE76CFA-B85C-B5F2-288B-5A1515DAC4EC}"/>
                    </a:ext>
                  </a:extLst>
                </p:cNvPr>
                <p:cNvGrpSpPr/>
                <p:nvPr/>
              </p:nvGrpSpPr>
              <p:grpSpPr>
                <a:xfrm>
                  <a:off x="2880530" y="3156583"/>
                  <a:ext cx="8664787" cy="1041880"/>
                  <a:chOff x="2880530" y="3156583"/>
                  <a:chExt cx="8664787" cy="1041880"/>
                </a:xfrm>
              </p:grpSpPr>
              <p:sp>
                <p:nvSpPr>
                  <p:cNvPr id="75" name="Arrow: Pentagon 21">
                    <a:extLst>
                      <a:ext uri="{FF2B5EF4-FFF2-40B4-BE49-F238E27FC236}">
                        <a16:creationId xmlns:a16="http://schemas.microsoft.com/office/drawing/2014/main" id="{9AFACE40-3BF3-3A6E-4366-490B0A028ECC}"/>
                      </a:ext>
                    </a:extLst>
                  </p:cNvPr>
                  <p:cNvSpPr/>
                  <p:nvPr/>
                </p:nvSpPr>
                <p:spPr>
                  <a:xfrm>
                    <a:off x="2880530" y="3156583"/>
                    <a:ext cx="2875133" cy="1041879"/>
                  </a:xfrm>
                  <a:prstGeom prst="homePlate">
                    <a:avLst/>
                  </a:prstGeom>
                  <a:solidFill>
                    <a:srgbClr val="281A42"/>
                  </a:solidFill>
                  <a:ln w="9525">
                    <a:solidFill>
                      <a:srgbClr val="281A4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US" sz="2400" spc="-10">
                        <a:solidFill>
                          <a:srgbClr val="FFFFFF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OUTCOMES</a:t>
                    </a:r>
                  </a:p>
                </p:txBody>
              </p:sp>
              <p:sp>
                <p:nvSpPr>
                  <p:cNvPr id="76" name="Arrow: Chevron 22">
                    <a:extLst>
                      <a:ext uri="{FF2B5EF4-FFF2-40B4-BE49-F238E27FC236}">
                        <a16:creationId xmlns:a16="http://schemas.microsoft.com/office/drawing/2014/main" id="{B90A48EF-C207-4305-8711-292E90DE15BB}"/>
                      </a:ext>
                    </a:extLst>
                  </p:cNvPr>
                  <p:cNvSpPr/>
                  <p:nvPr/>
                </p:nvSpPr>
                <p:spPr>
                  <a:xfrm>
                    <a:off x="5413860" y="3156584"/>
                    <a:ext cx="3236518" cy="1041879"/>
                  </a:xfrm>
                  <a:prstGeom prst="chevron">
                    <a:avLst/>
                  </a:prstGeom>
                  <a:solidFill>
                    <a:srgbClr val="281A42"/>
                  </a:solidFill>
                  <a:ln w="9525">
                    <a:solidFill>
                      <a:srgbClr val="281A4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US" sz="2400" spc="-10">
                        <a:solidFill>
                          <a:srgbClr val="FFFFFF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KEY WORK</a:t>
                    </a:r>
                  </a:p>
                </p:txBody>
              </p:sp>
              <p:sp>
                <p:nvSpPr>
                  <p:cNvPr id="77" name="Arrow: Chevron 23">
                    <a:extLst>
                      <a:ext uri="{FF2B5EF4-FFF2-40B4-BE49-F238E27FC236}">
                        <a16:creationId xmlns:a16="http://schemas.microsoft.com/office/drawing/2014/main" id="{8E7B61AC-B8B1-7CC4-65E3-6509529C584C}"/>
                      </a:ext>
                    </a:extLst>
                  </p:cNvPr>
                  <p:cNvSpPr/>
                  <p:nvPr/>
                </p:nvSpPr>
                <p:spPr>
                  <a:xfrm>
                    <a:off x="8308799" y="3156584"/>
                    <a:ext cx="3236518" cy="1041879"/>
                  </a:xfrm>
                  <a:prstGeom prst="chevron">
                    <a:avLst/>
                  </a:prstGeom>
                  <a:solidFill>
                    <a:srgbClr val="281A42"/>
                  </a:solidFill>
                  <a:ln w="9525">
                    <a:solidFill>
                      <a:srgbClr val="281A4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US" sz="2400" spc="-10">
                        <a:solidFill>
                          <a:srgbClr val="FFFFFF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MEASURES</a:t>
                    </a:r>
                    <a:endParaRPr lang="en-US" sz="16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pic>
              <p:nvPicPr>
                <p:cNvPr id="66" name="Graphic 65" descr="Bullseye with solid fill">
                  <a:extLst>
                    <a:ext uri="{FF2B5EF4-FFF2-40B4-BE49-F238E27FC236}">
                      <a16:creationId xmlns:a16="http://schemas.microsoft.com/office/drawing/2014/main" id="{ECE5C85D-01E5-E6B7-A5FE-A4C5CEB6F2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srgbClr val="765FFF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3390495" y="1652916"/>
                  <a:ext cx="1226662" cy="1226662"/>
                </a:xfrm>
                <a:prstGeom prst="rect">
                  <a:avLst/>
                </a:prstGeom>
              </p:spPr>
            </p:pic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E0E98F65-64A0-EC0D-7631-1B93BBE2819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82460" y="1762499"/>
                  <a:ext cx="935849" cy="992756"/>
                </a:xfrm>
                <a:custGeom>
                  <a:avLst/>
                  <a:gdLst>
                    <a:gd name="T0" fmla="*/ 203 w 203"/>
                    <a:gd name="T1" fmla="*/ 121 h 204"/>
                    <a:gd name="T2" fmla="*/ 203 w 203"/>
                    <a:gd name="T3" fmla="*/ 83 h 204"/>
                    <a:gd name="T4" fmla="*/ 177 w 203"/>
                    <a:gd name="T5" fmla="*/ 79 h 204"/>
                    <a:gd name="T6" fmla="*/ 171 w 203"/>
                    <a:gd name="T7" fmla="*/ 66 h 204"/>
                    <a:gd name="T8" fmla="*/ 187 w 203"/>
                    <a:gd name="T9" fmla="*/ 44 h 204"/>
                    <a:gd name="T10" fmla="*/ 160 w 203"/>
                    <a:gd name="T11" fmla="*/ 17 h 204"/>
                    <a:gd name="T12" fmla="*/ 138 w 203"/>
                    <a:gd name="T13" fmla="*/ 32 h 204"/>
                    <a:gd name="T14" fmla="*/ 125 w 203"/>
                    <a:gd name="T15" fmla="*/ 27 h 204"/>
                    <a:gd name="T16" fmla="*/ 120 w 203"/>
                    <a:gd name="T17" fmla="*/ 0 h 204"/>
                    <a:gd name="T18" fmla="*/ 83 w 203"/>
                    <a:gd name="T19" fmla="*/ 0 h 204"/>
                    <a:gd name="T20" fmla="*/ 78 w 203"/>
                    <a:gd name="T21" fmla="*/ 27 h 204"/>
                    <a:gd name="T22" fmla="*/ 65 w 203"/>
                    <a:gd name="T23" fmla="*/ 32 h 204"/>
                    <a:gd name="T24" fmla="*/ 43 w 203"/>
                    <a:gd name="T25" fmla="*/ 17 h 204"/>
                    <a:gd name="T26" fmla="*/ 16 w 203"/>
                    <a:gd name="T27" fmla="*/ 44 h 204"/>
                    <a:gd name="T28" fmla="*/ 32 w 203"/>
                    <a:gd name="T29" fmla="*/ 66 h 204"/>
                    <a:gd name="T30" fmla="*/ 27 w 203"/>
                    <a:gd name="T31" fmla="*/ 79 h 204"/>
                    <a:gd name="T32" fmla="*/ 0 w 203"/>
                    <a:gd name="T33" fmla="*/ 83 h 204"/>
                    <a:gd name="T34" fmla="*/ 0 w 203"/>
                    <a:gd name="T35" fmla="*/ 121 h 204"/>
                    <a:gd name="T36" fmla="*/ 27 w 203"/>
                    <a:gd name="T37" fmla="*/ 125 h 204"/>
                    <a:gd name="T38" fmla="*/ 32 w 203"/>
                    <a:gd name="T39" fmla="*/ 139 h 204"/>
                    <a:gd name="T40" fmla="*/ 16 w 203"/>
                    <a:gd name="T41" fmla="*/ 161 h 204"/>
                    <a:gd name="T42" fmla="*/ 43 w 203"/>
                    <a:gd name="T43" fmla="*/ 187 h 204"/>
                    <a:gd name="T44" fmla="*/ 65 w 203"/>
                    <a:gd name="T45" fmla="*/ 172 h 204"/>
                    <a:gd name="T46" fmla="*/ 78 w 203"/>
                    <a:gd name="T47" fmla="*/ 177 h 204"/>
                    <a:gd name="T48" fmla="*/ 83 w 203"/>
                    <a:gd name="T49" fmla="*/ 204 h 204"/>
                    <a:gd name="T50" fmla="*/ 120 w 203"/>
                    <a:gd name="T51" fmla="*/ 204 h 204"/>
                    <a:gd name="T52" fmla="*/ 125 w 203"/>
                    <a:gd name="T53" fmla="*/ 177 h 204"/>
                    <a:gd name="T54" fmla="*/ 138 w 203"/>
                    <a:gd name="T55" fmla="*/ 172 h 204"/>
                    <a:gd name="T56" fmla="*/ 160 w 203"/>
                    <a:gd name="T57" fmla="*/ 187 h 204"/>
                    <a:gd name="T58" fmla="*/ 187 w 203"/>
                    <a:gd name="T59" fmla="*/ 161 h 204"/>
                    <a:gd name="T60" fmla="*/ 171 w 203"/>
                    <a:gd name="T61" fmla="*/ 139 h 204"/>
                    <a:gd name="T62" fmla="*/ 177 w 203"/>
                    <a:gd name="T63" fmla="*/ 125 h 204"/>
                    <a:gd name="T64" fmla="*/ 203 w 203"/>
                    <a:gd name="T65" fmla="*/ 121 h 204"/>
                    <a:gd name="T66" fmla="*/ 102 w 203"/>
                    <a:gd name="T67" fmla="*/ 136 h 204"/>
                    <a:gd name="T68" fmla="*/ 68 w 203"/>
                    <a:gd name="T69" fmla="*/ 102 h 204"/>
                    <a:gd name="T70" fmla="*/ 102 w 203"/>
                    <a:gd name="T71" fmla="*/ 69 h 204"/>
                    <a:gd name="T72" fmla="*/ 135 w 203"/>
                    <a:gd name="T73" fmla="*/ 102 h 204"/>
                    <a:gd name="T74" fmla="*/ 102 w 203"/>
                    <a:gd name="T75" fmla="*/ 136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03" h="204">
                      <a:moveTo>
                        <a:pt x="203" y="121"/>
                      </a:moveTo>
                      <a:cubicBezTo>
                        <a:pt x="203" y="83"/>
                        <a:pt x="203" y="83"/>
                        <a:pt x="203" y="83"/>
                      </a:cubicBezTo>
                      <a:cubicBezTo>
                        <a:pt x="177" y="79"/>
                        <a:pt x="177" y="79"/>
                        <a:pt x="177" y="79"/>
                      </a:cubicBezTo>
                      <a:cubicBezTo>
                        <a:pt x="175" y="74"/>
                        <a:pt x="173" y="70"/>
                        <a:pt x="171" y="66"/>
                      </a:cubicBezTo>
                      <a:cubicBezTo>
                        <a:pt x="187" y="44"/>
                        <a:pt x="187" y="44"/>
                        <a:pt x="187" y="44"/>
                      </a:cubicBezTo>
                      <a:cubicBezTo>
                        <a:pt x="160" y="17"/>
                        <a:pt x="160" y="17"/>
                        <a:pt x="160" y="17"/>
                      </a:cubicBezTo>
                      <a:cubicBezTo>
                        <a:pt x="138" y="32"/>
                        <a:pt x="138" y="32"/>
                        <a:pt x="138" y="32"/>
                      </a:cubicBezTo>
                      <a:cubicBezTo>
                        <a:pt x="134" y="30"/>
                        <a:pt x="130" y="28"/>
                        <a:pt x="125" y="27"/>
                      </a:cubicBezTo>
                      <a:cubicBezTo>
                        <a:pt x="120" y="0"/>
                        <a:pt x="120" y="0"/>
                        <a:pt x="120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78" y="27"/>
                        <a:pt x="78" y="27"/>
                        <a:pt x="78" y="27"/>
                      </a:cubicBezTo>
                      <a:cubicBezTo>
                        <a:pt x="74" y="28"/>
                        <a:pt x="69" y="30"/>
                        <a:pt x="65" y="32"/>
                      </a:cubicBezTo>
                      <a:cubicBezTo>
                        <a:pt x="43" y="17"/>
                        <a:pt x="43" y="17"/>
                        <a:pt x="43" y="17"/>
                      </a:cubicBezTo>
                      <a:cubicBezTo>
                        <a:pt x="16" y="44"/>
                        <a:pt x="16" y="44"/>
                        <a:pt x="16" y="44"/>
                      </a:cubicBezTo>
                      <a:cubicBezTo>
                        <a:pt x="32" y="66"/>
                        <a:pt x="32" y="66"/>
                        <a:pt x="32" y="66"/>
                      </a:cubicBezTo>
                      <a:cubicBezTo>
                        <a:pt x="30" y="70"/>
                        <a:pt x="28" y="74"/>
                        <a:pt x="27" y="79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121"/>
                        <a:pt x="0" y="121"/>
                        <a:pt x="0" y="121"/>
                      </a:cubicBezTo>
                      <a:cubicBezTo>
                        <a:pt x="27" y="125"/>
                        <a:pt x="27" y="125"/>
                        <a:pt x="27" y="125"/>
                      </a:cubicBezTo>
                      <a:cubicBezTo>
                        <a:pt x="28" y="130"/>
                        <a:pt x="30" y="134"/>
                        <a:pt x="32" y="139"/>
                      </a:cubicBezTo>
                      <a:cubicBezTo>
                        <a:pt x="16" y="161"/>
                        <a:pt x="16" y="161"/>
                        <a:pt x="16" y="161"/>
                      </a:cubicBezTo>
                      <a:cubicBezTo>
                        <a:pt x="43" y="187"/>
                        <a:pt x="43" y="187"/>
                        <a:pt x="43" y="187"/>
                      </a:cubicBezTo>
                      <a:cubicBezTo>
                        <a:pt x="65" y="172"/>
                        <a:pt x="65" y="172"/>
                        <a:pt x="65" y="172"/>
                      </a:cubicBezTo>
                      <a:cubicBezTo>
                        <a:pt x="69" y="174"/>
                        <a:pt x="74" y="176"/>
                        <a:pt x="78" y="177"/>
                      </a:cubicBezTo>
                      <a:cubicBezTo>
                        <a:pt x="83" y="204"/>
                        <a:pt x="83" y="204"/>
                        <a:pt x="83" y="204"/>
                      </a:cubicBezTo>
                      <a:cubicBezTo>
                        <a:pt x="120" y="204"/>
                        <a:pt x="120" y="204"/>
                        <a:pt x="120" y="204"/>
                      </a:cubicBezTo>
                      <a:cubicBezTo>
                        <a:pt x="125" y="177"/>
                        <a:pt x="125" y="177"/>
                        <a:pt x="125" y="177"/>
                      </a:cubicBezTo>
                      <a:cubicBezTo>
                        <a:pt x="130" y="176"/>
                        <a:pt x="134" y="174"/>
                        <a:pt x="138" y="172"/>
                      </a:cubicBezTo>
                      <a:cubicBezTo>
                        <a:pt x="160" y="187"/>
                        <a:pt x="160" y="187"/>
                        <a:pt x="160" y="187"/>
                      </a:cubicBezTo>
                      <a:cubicBezTo>
                        <a:pt x="187" y="161"/>
                        <a:pt x="187" y="161"/>
                        <a:pt x="187" y="161"/>
                      </a:cubicBezTo>
                      <a:cubicBezTo>
                        <a:pt x="171" y="139"/>
                        <a:pt x="171" y="139"/>
                        <a:pt x="171" y="139"/>
                      </a:cubicBezTo>
                      <a:cubicBezTo>
                        <a:pt x="173" y="134"/>
                        <a:pt x="175" y="130"/>
                        <a:pt x="177" y="125"/>
                      </a:cubicBezTo>
                      <a:lnTo>
                        <a:pt x="203" y="121"/>
                      </a:lnTo>
                      <a:close/>
                      <a:moveTo>
                        <a:pt x="102" y="136"/>
                      </a:moveTo>
                      <a:cubicBezTo>
                        <a:pt x="83" y="136"/>
                        <a:pt x="68" y="121"/>
                        <a:pt x="68" y="102"/>
                      </a:cubicBezTo>
                      <a:cubicBezTo>
                        <a:pt x="68" y="84"/>
                        <a:pt x="83" y="69"/>
                        <a:pt x="102" y="69"/>
                      </a:cubicBezTo>
                      <a:cubicBezTo>
                        <a:pt x="120" y="69"/>
                        <a:pt x="135" y="84"/>
                        <a:pt x="135" y="102"/>
                      </a:cubicBezTo>
                      <a:cubicBezTo>
                        <a:pt x="135" y="121"/>
                        <a:pt x="120" y="136"/>
                        <a:pt x="102" y="136"/>
                      </a:cubicBezTo>
                      <a:close/>
                    </a:path>
                  </a:pathLst>
                </a:custGeom>
                <a:solidFill>
                  <a:srgbClr val="3B3B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1D1D1D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297" tIns="46649" rIns="93297" bIns="46649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837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ED22FF52-984F-B59D-7E9A-49A2A8EC4DE4}"/>
                    </a:ext>
                  </a:extLst>
                </p:cNvPr>
                <p:cNvGrpSpPr/>
                <p:nvPr/>
              </p:nvGrpSpPr>
              <p:grpSpPr>
                <a:xfrm>
                  <a:off x="9083334" y="1652916"/>
                  <a:ext cx="1204334" cy="1204334"/>
                  <a:chOff x="8949772" y="1652916"/>
                  <a:chExt cx="1204334" cy="1204334"/>
                </a:xfrm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4411DAE4-A06D-26C1-7E44-917B98062221}"/>
                      </a:ext>
                    </a:extLst>
                  </p:cNvPr>
                  <p:cNvGrpSpPr/>
                  <p:nvPr/>
                </p:nvGrpSpPr>
                <p:grpSpPr>
                  <a:xfrm>
                    <a:off x="8949772" y="1652916"/>
                    <a:ext cx="1204334" cy="1204334"/>
                    <a:chOff x="8949772" y="1652916"/>
                    <a:chExt cx="1204334" cy="1204334"/>
                  </a:xfrm>
                </p:grpSpPr>
                <p:pic>
                  <p:nvPicPr>
                    <p:cNvPr id="71" name="Graphic 70" descr="Linear Graph with solid fill">
                      <a:extLst>
                        <a:ext uri="{FF2B5EF4-FFF2-40B4-BE49-F238E27FC236}">
                          <a16:creationId xmlns:a16="http://schemas.microsoft.com/office/drawing/2014/main" id="{5906B5F9-5710-D47A-EF4D-F7BF79555A6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duotone>
                        <a:srgbClr val="765FFF"/>
                        <a:srgbClr val="FFFFFF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8949772" y="1652916"/>
                      <a:ext cx="1204334" cy="120433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72" name="Group 71">
                      <a:extLst>
                        <a:ext uri="{FF2B5EF4-FFF2-40B4-BE49-F238E27FC236}">
                          <a16:creationId xmlns:a16="http://schemas.microsoft.com/office/drawing/2014/main" id="{19677A3E-8E16-9CDE-7645-EC90467AE4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54769" y="1762499"/>
                      <a:ext cx="881284" cy="525513"/>
                      <a:chOff x="9154769" y="1762499"/>
                      <a:chExt cx="881284" cy="525513"/>
                    </a:xfrm>
                  </p:grpSpPr>
                  <p:sp>
                    <p:nvSpPr>
                      <p:cNvPr id="73" name="TextBox 72">
                        <a:extLst>
                          <a:ext uri="{FF2B5EF4-FFF2-40B4-BE49-F238E27FC236}">
                            <a16:creationId xmlns:a16="http://schemas.microsoft.com/office/drawing/2014/main" id="{4459E72C-1692-F50D-F5B6-A2A762323161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926376">
                        <a:off x="9154769" y="2169027"/>
                        <a:ext cx="881284" cy="118985"/>
                      </a:xfrm>
                      <a:prstGeom prst="rect">
                        <a:avLst/>
                      </a:prstGeom>
                      <a:solidFill>
                        <a:srgbClr val="F2F2F2"/>
                      </a:solidFill>
                    </p:spPr>
                    <p:txBody>
                      <a:bodyPr wrap="none" lIns="91440" tIns="45720" rIns="91440" bIns="45720" rtlCol="0">
                        <a:noAutofit/>
                      </a:bodyPr>
                      <a:lstStyle/>
                      <a:p>
                        <a:pPr algn="l"/>
                        <a:endParaRPr lang="en-US" sz="1600" spc="-1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  <p:sp>
                    <p:nvSpPr>
                      <p:cNvPr id="74" name="TextBox 73">
                        <a:extLst>
                          <a:ext uri="{FF2B5EF4-FFF2-40B4-BE49-F238E27FC236}">
                            <a16:creationId xmlns:a16="http://schemas.microsoft.com/office/drawing/2014/main" id="{5186B621-5295-1FB0-A8B9-EF4E092C32E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73578" y="1762499"/>
                        <a:ext cx="277539" cy="312881"/>
                      </a:xfrm>
                      <a:prstGeom prst="rect">
                        <a:avLst/>
                      </a:prstGeom>
                      <a:solidFill>
                        <a:srgbClr val="F2F2F2"/>
                      </a:solidFill>
                    </p:spPr>
                    <p:txBody>
                      <a:bodyPr wrap="none" lIns="91440" tIns="45720" rIns="91440" bIns="45720" rtlCol="0">
                        <a:noAutofit/>
                      </a:bodyPr>
                      <a:lstStyle/>
                      <a:p>
                        <a:pPr algn="l"/>
                        <a:endParaRPr lang="en-US" sz="1600" spc="-1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</p:grpSp>
              </p:grpSp>
              <p:pic>
                <p:nvPicPr>
                  <p:cNvPr id="70" name="Graphic 69" descr="Ruler outline">
                    <a:extLst>
                      <a:ext uri="{FF2B5EF4-FFF2-40B4-BE49-F238E27FC236}">
                        <a16:creationId xmlns:a16="http://schemas.microsoft.com/office/drawing/2014/main" id="{87C496D6-D608-F08D-6C56-50F4B8429A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duotone>
                      <a:srgbClr val="765FFF"/>
                      <a:srgbClr val="FFFFFF"/>
                    </a:duotone>
                  </a:blip>
                  <a:stretch>
                    <a:fillRect/>
                  </a:stretch>
                </p:blipFill>
                <p:spPr>
                  <a:xfrm>
                    <a:off x="9192161" y="1868483"/>
                    <a:ext cx="758956" cy="758956"/>
                  </a:xfrm>
                  <a:prstGeom prst="rect">
                    <a:avLst/>
                  </a:prstGeom>
                </p:spPr>
              </p:pic>
            </p:grpSp>
          </p:grp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1AC90A96-865C-F957-086F-2F0ADD3DB222}"/>
              </a:ext>
            </a:extLst>
          </p:cNvPr>
          <p:cNvSpPr txBox="1"/>
          <p:nvPr/>
        </p:nvSpPr>
        <p:spPr>
          <a:xfrm>
            <a:off x="2934840" y="5305303"/>
            <a:ext cx="2845224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5-7 things that would </a:t>
            </a: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have to be true for the value to arrive?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D3013D-EA1F-AF11-D4E3-AEDCA74904E0}"/>
              </a:ext>
            </a:extLst>
          </p:cNvPr>
          <p:cNvSpPr txBox="1"/>
          <p:nvPr/>
        </p:nvSpPr>
        <p:spPr>
          <a:xfrm>
            <a:off x="5848130" y="5305303"/>
            <a:ext cx="2678828" cy="677108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actions for each JTBD to answer, “Did it get done?”</a:t>
            </a:r>
            <a:endParaRPr lang="en-US" sz="24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6845D5-D71E-325F-A5CA-4B96E275A647}"/>
              </a:ext>
            </a:extLst>
          </p:cNvPr>
          <p:cNvSpPr txBox="1"/>
          <p:nvPr/>
        </p:nvSpPr>
        <p:spPr>
          <a:xfrm>
            <a:off x="8629561" y="5305302"/>
            <a:ext cx="335906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outcomes for each JTBD </a:t>
            </a: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answer, “Did it get done well?” </a:t>
            </a:r>
          </a:p>
          <a:p>
            <a:pPr>
              <a:defRPr/>
            </a:pPr>
            <a:endParaRPr lang="en-US" sz="1200" spc="-10">
              <a:solidFill>
                <a:srgbClr val="1D1D1D">
                  <a:lumMod val="75000"/>
                  <a:lumOff val="25000"/>
                </a:srgb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When must the JTBD be achieved for </a:t>
            </a: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value to arrive?</a:t>
            </a:r>
          </a:p>
          <a:p>
            <a:pPr>
              <a:defRPr/>
            </a:pPr>
            <a:endParaRPr lang="en-US" sz="1200" spc="-10">
              <a:solidFill>
                <a:srgbClr val="1D1D1D">
                  <a:lumMod val="75000"/>
                  <a:lumOff val="25000"/>
                </a:srgb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19B1D927-552C-4C09-A6FA-950A717647DC}" type="slidenum"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2ABA6ED-9B7D-412F-9135-6A3262E64465}"/>
              </a:ext>
            </a:extLst>
          </p:cNvPr>
          <p:cNvSpPr/>
          <p:nvPr/>
        </p:nvSpPr>
        <p:spPr>
          <a:xfrm>
            <a:off x="0" y="3059092"/>
            <a:ext cx="12192000" cy="578189"/>
          </a:xfrm>
          <a:prstGeom prst="rect">
            <a:avLst/>
          </a:prstGeom>
          <a:solidFill>
            <a:srgbClr val="281A42"/>
          </a:solidFill>
          <a:ln w="9525">
            <a:solidFill>
              <a:srgbClr val="FFB5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pPr>
              <a:defRPr b="1" spc="-25">
                <a:latin typeface="Segoe UI" pitchFamily="34" charset="0"/>
              </a:defRPr>
            </a:pPr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Jobs to Be Done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3831B0-7AAA-1124-BE15-E53B8596662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44E6F560-5B17-2A59-CE83-8019A0E3C6CD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39DB5007-DEF1-C22A-627E-D02115D65B3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69ADE90C-A3AC-F3DF-1A64-48B4F5CD7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8E20D7-8781-0C0B-1E06-B55FA84650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F54FA3-4C62-F3FC-EDE4-F71957EBB06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3F051A93-8629-3325-F087-C31F1DEAD22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D8B70664-EE51-8339-78EF-45D809716FA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91EC1E-9A69-F943-CB40-D3EBDB8CC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60CC96-D1BC-3F0E-E5CD-70BC2AF6B01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BD44BE-92B5-1571-4A07-F3937AD93161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0047360E-2C73-9CA3-8214-325141EC330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659942BD-8A48-6841-E791-556B7F7DFA16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905CD92-94DA-F409-5EB6-11E652AB1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FBA70B-2EFE-FC55-039C-601022D521E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A057F2-ECBE-A8BC-4E6A-CE3866AAB53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9" name="Rectangle: Rounded Corners 23">
              <a:extLst>
                <a:ext uri="{FF2B5EF4-FFF2-40B4-BE49-F238E27FC236}">
                  <a16:creationId xmlns:a16="http://schemas.microsoft.com/office/drawing/2014/main" id="{37327971-E7FE-8FA2-E696-A1E70E4942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24">
              <a:extLst>
                <a:ext uri="{FF2B5EF4-FFF2-40B4-BE49-F238E27FC236}">
                  <a16:creationId xmlns:a16="http://schemas.microsoft.com/office/drawing/2014/main" id="{60CC8B29-6F33-C0AC-3AE6-4D85C0D1F45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 descr="Choose">
              <a:extLst>
                <a:ext uri="{FF2B5EF4-FFF2-40B4-BE49-F238E27FC236}">
                  <a16:creationId xmlns:a16="http://schemas.microsoft.com/office/drawing/2014/main" id="{82E0D9FC-2603-3DF7-5727-6121F033F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E0570C-AE95-6B38-7147-3A76DA011C3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A0311B-DE25-77A7-AA5F-C661785A07A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8">
              <a:extLst>
                <a:ext uri="{FF2B5EF4-FFF2-40B4-BE49-F238E27FC236}">
                  <a16:creationId xmlns:a16="http://schemas.microsoft.com/office/drawing/2014/main" id="{CA49CD70-F613-7D34-9D2E-DC56FCC5279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9">
              <a:extLst>
                <a:ext uri="{FF2B5EF4-FFF2-40B4-BE49-F238E27FC236}">
                  <a16:creationId xmlns:a16="http://schemas.microsoft.com/office/drawing/2014/main" id="{DCA65B89-0CF3-BF87-CBF1-8934FEE8B4D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ED55D9D-230F-122E-FDAA-372D204E9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C58782-CA1D-C250-BF0C-1A64D9035C5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45C032D-B7B1-6F7B-F04F-1B48C77987BC}"/>
              </a:ext>
            </a:extLst>
          </p:cNvPr>
          <p:cNvGrpSpPr/>
          <p:nvPr/>
        </p:nvGrpSpPr>
        <p:grpSpPr>
          <a:xfrm>
            <a:off x="173038" y="2066103"/>
            <a:ext cx="11857380" cy="2725793"/>
            <a:chOff x="167310" y="3103507"/>
            <a:chExt cx="11857380" cy="272579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823411F-F48C-267B-4593-89C1A471153F}"/>
                </a:ext>
              </a:extLst>
            </p:cNvPr>
            <p:cNvSpPr/>
            <p:nvPr/>
          </p:nvSpPr>
          <p:spPr>
            <a:xfrm>
              <a:off x="167310" y="3103507"/>
              <a:ext cx="11857380" cy="2725793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7FC3D28-DCA4-4343-3672-CCC2EAD247E0}"/>
                </a:ext>
              </a:extLst>
            </p:cNvPr>
            <p:cNvSpPr txBox="1"/>
            <p:nvPr/>
          </p:nvSpPr>
          <p:spPr>
            <a:xfrm>
              <a:off x="284729" y="3892448"/>
              <a:ext cx="11739961" cy="99912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Create four additional mega brands through better therapeutic insights and product lifecycle management of ACME brands. Double the number of $50M+ brands by Q4 2026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31108A4-AA49-2F41-BF6B-4CE18E87D33F}"/>
                </a:ext>
              </a:extLst>
            </p:cNvPr>
            <p:cNvSpPr/>
            <p:nvPr/>
          </p:nvSpPr>
          <p:spPr>
            <a:xfrm>
              <a:off x="513338" y="4066080"/>
              <a:ext cx="3287145" cy="332509"/>
            </a:xfrm>
            <a:prstGeom prst="roundRect">
              <a:avLst/>
            </a:prstGeom>
            <a:noFill/>
            <a:ln w="28575">
              <a:solidFill>
                <a:srgbClr val="281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E2F530A4-6674-EF17-9273-88E85D72F236}"/>
                </a:ext>
              </a:extLst>
            </p:cNvPr>
            <p:cNvSpPr/>
            <p:nvPr/>
          </p:nvSpPr>
          <p:spPr>
            <a:xfrm>
              <a:off x="4526064" y="4073208"/>
              <a:ext cx="7212954" cy="325381"/>
            </a:xfrm>
            <a:prstGeom prst="roundRect">
              <a:avLst/>
            </a:prstGeom>
            <a:noFill/>
            <a:ln w="28575">
              <a:solidFill>
                <a:srgbClr val="281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16472CC7-EB2F-9E26-C5F4-61A2956A220C}"/>
                </a:ext>
              </a:extLst>
            </p:cNvPr>
            <p:cNvSpPr/>
            <p:nvPr/>
          </p:nvSpPr>
          <p:spPr>
            <a:xfrm>
              <a:off x="3870894" y="4553055"/>
              <a:ext cx="1815531" cy="332509"/>
            </a:xfrm>
            <a:prstGeom prst="roundRect">
              <a:avLst/>
            </a:prstGeom>
            <a:noFill/>
            <a:ln w="28575">
              <a:solidFill>
                <a:srgbClr val="281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F878CECD-A0A0-40FC-894E-A87E3DB3D370}"/>
                </a:ext>
              </a:extLst>
            </p:cNvPr>
            <p:cNvSpPr/>
            <p:nvPr/>
          </p:nvSpPr>
          <p:spPr>
            <a:xfrm>
              <a:off x="7314695" y="4553054"/>
              <a:ext cx="1097280" cy="332509"/>
            </a:xfrm>
            <a:prstGeom prst="roundRect">
              <a:avLst/>
            </a:prstGeom>
            <a:noFill/>
            <a:ln w="28575">
              <a:solidFill>
                <a:srgbClr val="281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EA9A110-547E-AF77-6869-93F9857D3222}"/>
                </a:ext>
              </a:extLst>
            </p:cNvPr>
            <p:cNvSpPr txBox="1"/>
            <p:nvPr/>
          </p:nvSpPr>
          <p:spPr>
            <a:xfrm>
              <a:off x="1704789" y="3384429"/>
              <a:ext cx="761362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>
                  <a:solidFill>
                    <a:srgbClr val="1D1D1D"/>
                  </a:solidFill>
                </a:rPr>
                <a:t>WHAT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5EB9E90-8C3F-3065-17FB-4EEF6C215240}"/>
                </a:ext>
              </a:extLst>
            </p:cNvPr>
            <p:cNvSpPr txBox="1"/>
            <p:nvPr/>
          </p:nvSpPr>
          <p:spPr>
            <a:xfrm>
              <a:off x="7790588" y="3432736"/>
              <a:ext cx="683905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>
                  <a:solidFill>
                    <a:srgbClr val="1D1D1D"/>
                  </a:solidFill>
                </a:rPr>
                <a:t>HOW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D13A9E4-49CC-9AA5-B50E-FAA5DEDC37B1}"/>
                </a:ext>
              </a:extLst>
            </p:cNvPr>
            <p:cNvSpPr txBox="1"/>
            <p:nvPr/>
          </p:nvSpPr>
          <p:spPr>
            <a:xfrm>
              <a:off x="4112675" y="5203887"/>
              <a:ext cx="1349152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>
                  <a:solidFill>
                    <a:srgbClr val="1D1D1D"/>
                  </a:solidFill>
                </a:rPr>
                <a:t>HOW MUCH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FE1ACA-0C5D-F7B1-AB15-EC5F32A8EE48}"/>
                </a:ext>
              </a:extLst>
            </p:cNvPr>
            <p:cNvSpPr txBox="1"/>
            <p:nvPr/>
          </p:nvSpPr>
          <p:spPr>
            <a:xfrm>
              <a:off x="7321495" y="5203887"/>
              <a:ext cx="1079142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>
                  <a:solidFill>
                    <a:srgbClr val="1D1D1D"/>
                  </a:solidFill>
                </a:rPr>
                <a:t>BY WHEN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4C85DA3-E2DE-017A-B277-9A068D734598}"/>
                </a:ext>
              </a:extLst>
            </p:cNvPr>
            <p:cNvCxnSpPr>
              <a:cxnSpLocks/>
            </p:cNvCxnSpPr>
            <p:nvPr/>
          </p:nvCxnSpPr>
          <p:spPr>
            <a:xfrm>
              <a:off x="2114554" y="3753761"/>
              <a:ext cx="0" cy="319447"/>
            </a:xfrm>
            <a:prstGeom prst="line">
              <a:avLst/>
            </a:prstGeom>
            <a:ln w="19050"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EAB2F21-F365-344D-645E-B9365596F828}"/>
                </a:ext>
              </a:extLst>
            </p:cNvPr>
            <p:cNvCxnSpPr>
              <a:cxnSpLocks/>
              <a:stCxn id="37" idx="2"/>
              <a:endCxn id="33" idx="0"/>
            </p:cNvCxnSpPr>
            <p:nvPr/>
          </p:nvCxnSpPr>
          <p:spPr>
            <a:xfrm>
              <a:off x="8132541" y="3802068"/>
              <a:ext cx="0" cy="271140"/>
            </a:xfrm>
            <a:prstGeom prst="line">
              <a:avLst/>
            </a:prstGeom>
            <a:ln w="19050"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F3B80E6-D354-FB5C-C2F7-FE14EEC587CB}"/>
                </a:ext>
              </a:extLst>
            </p:cNvPr>
            <p:cNvCxnSpPr>
              <a:cxnSpLocks/>
              <a:stCxn id="34" idx="2"/>
              <a:endCxn id="38" idx="0"/>
            </p:cNvCxnSpPr>
            <p:nvPr/>
          </p:nvCxnSpPr>
          <p:spPr>
            <a:xfrm>
              <a:off x="4778660" y="4885564"/>
              <a:ext cx="8591" cy="318323"/>
            </a:xfrm>
            <a:prstGeom prst="line">
              <a:avLst/>
            </a:prstGeom>
            <a:ln w="19050"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8F28151-97CA-EB88-3BE7-F4CAD6CA30E9}"/>
                </a:ext>
              </a:extLst>
            </p:cNvPr>
            <p:cNvCxnSpPr>
              <a:cxnSpLocks/>
              <a:stCxn id="35" idx="2"/>
              <a:endCxn id="39" idx="0"/>
            </p:cNvCxnSpPr>
            <p:nvPr/>
          </p:nvCxnSpPr>
          <p:spPr>
            <a:xfrm flipH="1">
              <a:off x="7861066" y="4885563"/>
              <a:ext cx="2269" cy="318324"/>
            </a:xfrm>
            <a:prstGeom prst="line">
              <a:avLst/>
            </a:prstGeom>
            <a:ln w="19050"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4092BCB5-2DD7-471D-809E-0851301ED497}" type="slidenum"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5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pPr>
              <a:defRPr b="1" spc="-25">
                <a:latin typeface="Segoe UI" pitchFamily="34" charset="0"/>
              </a:defRPr>
            </a:pPr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Practice: Jobs to Be Done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EDA594-8FC0-42C5-BD79-498CE6F88E95}"/>
              </a:ext>
            </a:extLst>
          </p:cNvPr>
          <p:cNvGrpSpPr/>
          <p:nvPr/>
        </p:nvGrpSpPr>
        <p:grpSpPr>
          <a:xfrm>
            <a:off x="2184401" y="5140039"/>
            <a:ext cx="7548881" cy="938756"/>
            <a:chOff x="2418079" y="4887005"/>
            <a:chExt cx="7548881" cy="149148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256AF1-2894-4F59-9754-E7D416692C59}"/>
                </a:ext>
              </a:extLst>
            </p:cNvPr>
            <p:cNvSpPr/>
            <p:nvPr/>
          </p:nvSpPr>
          <p:spPr>
            <a:xfrm>
              <a:off x="2418079" y="4887005"/>
              <a:ext cx="7548881" cy="149148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CCCB25-205E-4CDD-A32A-1212B778BA15}"/>
                </a:ext>
              </a:extLst>
            </p:cNvPr>
            <p:cNvSpPr/>
            <p:nvPr/>
          </p:nvSpPr>
          <p:spPr>
            <a:xfrm>
              <a:off x="2936239" y="5362818"/>
              <a:ext cx="6461761" cy="52628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rIns="457200" rtlCol="0" anchor="ctr"/>
            <a:lstStyle/>
            <a:p>
              <a:pPr algn="ctr"/>
              <a:r>
                <a:rPr lang="en-US" sz="20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Provide your feedback on the given JTBD?</a:t>
              </a:r>
            </a:p>
          </p:txBody>
        </p:sp>
      </p:grpSp>
      <p:pic>
        <p:nvPicPr>
          <p:cNvPr id="10" name="Graphic 9" descr="Teacher">
            <a:extLst>
              <a:ext uri="{FF2B5EF4-FFF2-40B4-BE49-F238E27FC236}">
                <a16:creationId xmlns:a16="http://schemas.microsoft.com/office/drawing/2014/main" id="{7AD3FAF8-E241-4962-9EF1-738CD5D5DA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309024" y="5357972"/>
            <a:ext cx="1275481" cy="127548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605D9BD-1459-9475-23F5-F64CAADA0213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2" name="Rectangle: Rounded Corners 7">
              <a:extLst>
                <a:ext uri="{FF2B5EF4-FFF2-40B4-BE49-F238E27FC236}">
                  <a16:creationId xmlns:a16="http://schemas.microsoft.com/office/drawing/2014/main" id="{9B3BF3B3-7073-EE1F-D3D6-E66C590D13E3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" name="Rectangle: Rounded Corners 9">
              <a:extLst>
                <a:ext uri="{FF2B5EF4-FFF2-40B4-BE49-F238E27FC236}">
                  <a16:creationId xmlns:a16="http://schemas.microsoft.com/office/drawing/2014/main" id="{2C0DBB00-F627-2E31-1CE0-03E2C5D5950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4" name="Picture 13" descr="Bend the Curve">
              <a:extLst>
                <a:ext uri="{FF2B5EF4-FFF2-40B4-BE49-F238E27FC236}">
                  <a16:creationId xmlns:a16="http://schemas.microsoft.com/office/drawing/2014/main" id="{79CC3F1D-F7F8-919D-487F-F3113BCD8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054F07-0494-FF1C-A318-76DED926396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072473-8B5E-63DA-0C09-ED33E1824CB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7" name="Rectangle: Rounded Corners 13">
              <a:extLst>
                <a:ext uri="{FF2B5EF4-FFF2-40B4-BE49-F238E27FC236}">
                  <a16:creationId xmlns:a16="http://schemas.microsoft.com/office/drawing/2014/main" id="{82071E04-BA83-C6DE-B1A4-D0F5EDF22A7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8" name="Rectangle: Rounded Corners 14">
              <a:extLst>
                <a:ext uri="{FF2B5EF4-FFF2-40B4-BE49-F238E27FC236}">
                  <a16:creationId xmlns:a16="http://schemas.microsoft.com/office/drawing/2014/main" id="{F186956D-1BFF-9A03-41BA-1381CDC7702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8F9B81E-9C27-5FBF-59AA-E34A37D47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048FE7-E5CB-0D83-5413-F0A8D4F0CE5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893E83-CA37-8E6B-46E3-D683B349C04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2" name="Rectangle: Rounded Corners 18">
              <a:extLst>
                <a:ext uri="{FF2B5EF4-FFF2-40B4-BE49-F238E27FC236}">
                  <a16:creationId xmlns:a16="http://schemas.microsoft.com/office/drawing/2014/main" id="{A40021F5-E4CD-AAC2-3F10-A79B9FFBF68C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9">
              <a:extLst>
                <a:ext uri="{FF2B5EF4-FFF2-40B4-BE49-F238E27FC236}">
                  <a16:creationId xmlns:a16="http://schemas.microsoft.com/office/drawing/2014/main" id="{6765AD0C-8F04-CBDF-E7CF-A2090132A8B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610793F-DA8D-A223-12FA-B0F613132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D68D18-4210-DAB2-FC99-5DA9FC10FDD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20B1B6-A1C1-48D6-4FEB-534B4C77713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23">
              <a:extLst>
                <a:ext uri="{FF2B5EF4-FFF2-40B4-BE49-F238E27FC236}">
                  <a16:creationId xmlns:a16="http://schemas.microsoft.com/office/drawing/2014/main" id="{819385FE-3CEA-D313-6533-3AF42B53127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4">
              <a:extLst>
                <a:ext uri="{FF2B5EF4-FFF2-40B4-BE49-F238E27FC236}">
                  <a16:creationId xmlns:a16="http://schemas.microsoft.com/office/drawing/2014/main" id="{15369EAA-EDEA-0C2D-A46A-4B06AC8A28D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 descr="Choose">
              <a:extLst>
                <a:ext uri="{FF2B5EF4-FFF2-40B4-BE49-F238E27FC236}">
                  <a16:creationId xmlns:a16="http://schemas.microsoft.com/office/drawing/2014/main" id="{74BF5A38-09CC-D73E-3FA2-818593725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D229C6-3423-0A65-4B21-F31B01C602B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D48FD76-7C0D-503A-7AF2-9BEB3413F1C6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8">
              <a:extLst>
                <a:ext uri="{FF2B5EF4-FFF2-40B4-BE49-F238E27FC236}">
                  <a16:creationId xmlns:a16="http://schemas.microsoft.com/office/drawing/2014/main" id="{9C6574FF-0735-3E19-2C25-4524027BBDC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6D3A1945-FBF6-3640-5C27-6E0613561F1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A1955B3-58BF-C485-372E-997A70C42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63DA60-B844-8BA1-32D1-ED7D7C05520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709E9AA-5961-6960-D716-9A9C6B187132}"/>
              </a:ext>
            </a:extLst>
          </p:cNvPr>
          <p:cNvGrpSpPr/>
          <p:nvPr/>
        </p:nvGrpSpPr>
        <p:grpSpPr>
          <a:xfrm>
            <a:off x="3132936" y="1181820"/>
            <a:ext cx="6473240" cy="3652282"/>
            <a:chOff x="3132936" y="1181820"/>
            <a:chExt cx="6473240" cy="365228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A85B59-8537-B134-C94F-BD57D1637F8B}"/>
                </a:ext>
              </a:extLst>
            </p:cNvPr>
            <p:cNvSpPr txBox="1"/>
            <p:nvPr/>
          </p:nvSpPr>
          <p:spPr>
            <a:xfrm>
              <a:off x="3132937" y="1458819"/>
              <a:ext cx="6461760" cy="3375283"/>
            </a:xfrm>
            <a:prstGeom prst="rect">
              <a:avLst/>
            </a:prstGeom>
            <a:noFill/>
            <a:ln>
              <a:solidFill>
                <a:srgbClr val="F2F2F2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Develop Commercial organization (NAM &amp; EMEA), increase productivity year over year per rep measured by quota attainment; build strong pipeline of opportunities; develop sales capability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Launch growth strategy initiatives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Increase new logos; generate $30M in 2026, $45M in 2027, $55M in 2028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Upsell existing accounts; generating annual ACV increase of 5%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Account retention (key accounts) net revenue retention of 98% in 2026 and 2027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Entry into utilities and re-enter IT vertical, generate revenues: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$700k in 2026, $2.9M in 2027, $5.2M in 2028, $7.5M in 2029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Grow market share in key verticals (Healthcare, Financial Services, &amp; State Regulated) taking on PV and increase win rate against PV. Revenue generated: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$1.5M in 2026, $8.25M in 2027, $15.8M in 2028, $25.2M 2029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Close UKVI Row contract and implement partnership with XYZ. Measure % revenue achievement: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1D1D1D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$0.2M in 2026, $1.5M in 2027, $2.0M in 2028, $2.0M in 2029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942D5E-474E-FE2E-EFA2-93EE531CA29F}"/>
                </a:ext>
              </a:extLst>
            </p:cNvPr>
            <p:cNvSpPr txBox="1"/>
            <p:nvPr/>
          </p:nvSpPr>
          <p:spPr>
            <a:xfrm>
              <a:off x="3132936" y="1181820"/>
              <a:ext cx="6461759" cy="276999"/>
            </a:xfrm>
            <a:prstGeom prst="rect">
              <a:avLst/>
            </a:prstGeom>
            <a:solidFill>
              <a:srgbClr val="D0D7DF"/>
            </a:solidFill>
            <a:ln>
              <a:solidFill>
                <a:srgbClr val="F2F2F2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>
                <a:spcAft>
                  <a:spcPts val="360"/>
                </a:spcAft>
              </a:pPr>
              <a:r>
                <a:rPr lang="en-US" sz="1200" b="1" i="0" spc="-25">
                  <a:solidFill>
                    <a:srgbClr val="1D1D1D"/>
                  </a:solidFill>
                  <a:effectLst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Done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53C76EE-B48F-B478-0BEB-345F712C4444}"/>
                </a:ext>
              </a:extLst>
            </p:cNvPr>
            <p:cNvGrpSpPr/>
            <p:nvPr/>
          </p:nvGrpSpPr>
          <p:grpSpPr>
            <a:xfrm>
              <a:off x="3144417" y="1458820"/>
              <a:ext cx="6461759" cy="3373195"/>
              <a:chOff x="377861" y="1978577"/>
              <a:chExt cx="5271616" cy="337319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38C72B6-320E-3CFB-A0C7-45627C209A76}"/>
                  </a:ext>
                </a:extLst>
              </p:cNvPr>
              <p:cNvSpPr/>
              <p:nvPr/>
            </p:nvSpPr>
            <p:spPr>
              <a:xfrm>
                <a:off x="377861" y="1978577"/>
                <a:ext cx="5269319" cy="607486"/>
              </a:xfrm>
              <a:prstGeom prst="rect">
                <a:avLst/>
              </a:prstGeom>
              <a:solidFill>
                <a:srgbClr val="1D1D1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B23D55D-185D-61FF-C875-271BF32376CC}"/>
                  </a:ext>
                </a:extLst>
              </p:cNvPr>
              <p:cNvSpPr/>
              <p:nvPr/>
            </p:nvSpPr>
            <p:spPr>
              <a:xfrm>
                <a:off x="380158" y="3547966"/>
                <a:ext cx="5269319" cy="1803806"/>
              </a:xfrm>
              <a:prstGeom prst="rect">
                <a:avLst/>
              </a:prstGeom>
              <a:solidFill>
                <a:srgbClr val="1D1D1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92587C9E-1995-4EA9-89BB-E0ECABE91A2B}" type="slidenum"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pPr>
              <a:defRPr b="1" spc="-25">
                <a:latin typeface="Segoe UI" pitchFamily="34" charset="0"/>
              </a:defRPr>
            </a:pPr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Practice: Jobs to Be Done: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250D434-D2B4-47A1-9853-B1F53A6C493D}"/>
              </a:ext>
            </a:extLst>
          </p:cNvPr>
          <p:cNvSpPr/>
          <p:nvPr/>
        </p:nvSpPr>
        <p:spPr>
          <a:xfrm>
            <a:off x="5647181" y="1852849"/>
            <a:ext cx="906825" cy="3425003"/>
          </a:xfrm>
          <a:custGeom>
            <a:avLst/>
            <a:gdLst>
              <a:gd name="connsiteX0" fmla="*/ 0 w 783313"/>
              <a:gd name="connsiteY0" fmla="*/ 0 h 4460103"/>
              <a:gd name="connsiteX1" fmla="*/ 783313 w 783313"/>
              <a:gd name="connsiteY1" fmla="*/ 0 h 4460103"/>
              <a:gd name="connsiteX2" fmla="*/ 783313 w 783313"/>
              <a:gd name="connsiteY2" fmla="*/ 4460103 h 4460103"/>
              <a:gd name="connsiteX3" fmla="*/ 0 w 783313"/>
              <a:gd name="connsiteY3" fmla="*/ 4460103 h 4460103"/>
              <a:gd name="connsiteX4" fmla="*/ 0 w 783313"/>
              <a:gd name="connsiteY4" fmla="*/ 0 h 4460103"/>
              <a:gd name="connsiteX0" fmla="*/ 7257 w 790570"/>
              <a:gd name="connsiteY0" fmla="*/ 0 h 4460103"/>
              <a:gd name="connsiteX1" fmla="*/ 790570 w 790570"/>
              <a:gd name="connsiteY1" fmla="*/ 0 h 4460103"/>
              <a:gd name="connsiteX2" fmla="*/ 790570 w 790570"/>
              <a:gd name="connsiteY2" fmla="*/ 4460103 h 4460103"/>
              <a:gd name="connsiteX3" fmla="*/ 0 w 790570"/>
              <a:gd name="connsiteY3" fmla="*/ 1020217 h 4460103"/>
              <a:gd name="connsiteX4" fmla="*/ 7257 w 790570"/>
              <a:gd name="connsiteY4" fmla="*/ 0 h 4460103"/>
              <a:gd name="connsiteX0" fmla="*/ 907 w 784220"/>
              <a:gd name="connsiteY0" fmla="*/ 0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1023392 h 4460103"/>
              <a:gd name="connsiteX4" fmla="*/ 907 w 784220"/>
              <a:gd name="connsiteY4" fmla="*/ 0 h 4460103"/>
              <a:gd name="connsiteX0" fmla="*/ 907 w 784220"/>
              <a:gd name="connsiteY0" fmla="*/ 0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2166392 h 4460103"/>
              <a:gd name="connsiteX4" fmla="*/ 907 w 784220"/>
              <a:gd name="connsiteY4" fmla="*/ 0 h 4460103"/>
              <a:gd name="connsiteX0" fmla="*/ 907 w 784220"/>
              <a:gd name="connsiteY0" fmla="*/ 1150144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2166392 h 4460103"/>
              <a:gd name="connsiteX4" fmla="*/ 907 w 784220"/>
              <a:gd name="connsiteY4" fmla="*/ 1150144 h 446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220" h="4460103">
                <a:moveTo>
                  <a:pt x="907" y="1150144"/>
                </a:moveTo>
                <a:lnTo>
                  <a:pt x="784220" y="0"/>
                </a:lnTo>
                <a:lnTo>
                  <a:pt x="784220" y="4460103"/>
                </a:lnTo>
                <a:lnTo>
                  <a:pt x="0" y="2166392"/>
                </a:lnTo>
                <a:cubicBezTo>
                  <a:pt x="302" y="1825261"/>
                  <a:pt x="605" y="1491275"/>
                  <a:pt x="907" y="1150144"/>
                </a:cubicBezTo>
                <a:close/>
              </a:path>
            </a:pathLst>
          </a:custGeom>
          <a:solidFill>
            <a:srgbClr val="B2BBCA"/>
          </a:solidFill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4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8AED9C-9757-87F9-037F-6B63E5ABEC69}"/>
              </a:ext>
            </a:extLst>
          </p:cNvPr>
          <p:cNvGrpSpPr/>
          <p:nvPr/>
        </p:nvGrpSpPr>
        <p:grpSpPr>
          <a:xfrm>
            <a:off x="6563191" y="1852850"/>
            <a:ext cx="5194913" cy="3425003"/>
            <a:chOff x="6563191" y="1852850"/>
            <a:chExt cx="5194913" cy="34250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A972D4-9939-488C-AE0E-8111E984EB26}"/>
                </a:ext>
              </a:extLst>
            </p:cNvPr>
            <p:cNvSpPr txBox="1"/>
            <p:nvPr/>
          </p:nvSpPr>
          <p:spPr>
            <a:xfrm>
              <a:off x="6563191" y="1852850"/>
              <a:ext cx="5194913" cy="3425003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/>
              <a:endParaRPr lang="en-US" sz="1500" b="1" u="sng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endParaRPr lang="en-US" sz="900" b="1" u="sng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lvl="1"/>
              <a:endParaRPr lang="en-US" sz="15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lvl="1"/>
              <a:r>
                <a:rPr lang="en-US" sz="15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Launch growth strategy initiatives:</a:t>
              </a:r>
            </a:p>
            <a:p>
              <a:pPr marL="171446" lvl="1"/>
              <a:endParaRPr lang="en-US" sz="15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lvl="1" indent="-285744">
                <a:buFont typeface="Arial" panose="020B0604020202020204" pitchFamily="34" charset="0"/>
                <a:buChar char="•"/>
              </a:pPr>
              <a:r>
                <a:rPr lang="en-US" sz="15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Penetrate in Japan and Brazil with 5 new logos, generating $30M in 2026, $45M in 2027 &amp; $55M in 2028</a:t>
              </a:r>
            </a:p>
            <a:p>
              <a:pPr lvl="1" indent="-285744">
                <a:buFont typeface="Arial" panose="020B0604020202020204" pitchFamily="34" charset="0"/>
                <a:buChar char="•"/>
              </a:pPr>
              <a:endParaRPr lang="en-US" sz="15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lvl="1" indent="-285744">
                <a:buFont typeface="Arial" panose="020B0604020202020204" pitchFamily="34" charset="0"/>
                <a:buChar char="•"/>
              </a:pPr>
              <a:r>
                <a:rPr lang="en-US" sz="15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Generate an annual ACV increase of 5% by Q1 2027 for existing federal government accounts by increasing Scrum enrollment by 25% and PMP enrollment by 40%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AE31F4-F1F4-D54F-99C3-CCB10B5488D5}"/>
                </a:ext>
              </a:extLst>
            </p:cNvPr>
            <p:cNvSpPr/>
            <p:nvPr/>
          </p:nvSpPr>
          <p:spPr>
            <a:xfrm>
              <a:off x="6900131" y="2872779"/>
              <a:ext cx="3036566" cy="3471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69EE68-298B-53FF-C4B1-05D8C148FF0F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8FE300DC-C4D7-8E69-4CB1-F247C7688C2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A6A1FAB-C45D-DF04-905B-82AD6C7E71B5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 descr="Bend the Curve">
              <a:extLst>
                <a:ext uri="{FF2B5EF4-FFF2-40B4-BE49-F238E27FC236}">
                  <a16:creationId xmlns:a16="http://schemas.microsoft.com/office/drawing/2014/main" id="{901BAE2B-8587-6D9D-7105-A5BD0F207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BE7BF8-0903-DB85-49CC-A2BDB6F0944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D701F1-DD05-8DEF-0A7E-D80D4C5E613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5" name="Rectangle: Rounded Corners 13">
              <a:extLst>
                <a:ext uri="{FF2B5EF4-FFF2-40B4-BE49-F238E27FC236}">
                  <a16:creationId xmlns:a16="http://schemas.microsoft.com/office/drawing/2014/main" id="{B7ACDDD8-9B0F-8BE2-BC59-28523DF24B2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4">
              <a:extLst>
                <a:ext uri="{FF2B5EF4-FFF2-40B4-BE49-F238E27FC236}">
                  <a16:creationId xmlns:a16="http://schemas.microsoft.com/office/drawing/2014/main" id="{6F18D7FE-5CDD-3FBF-9010-890B547CF2E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C34439-AF83-6A98-7F86-301B897D8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B7FB05-2B1F-CCDA-649E-3F8264F9081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AC47F6-0B05-79B6-CE98-7B40D4F2D9B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0" name="Rectangle: Rounded Corners 18">
              <a:extLst>
                <a:ext uri="{FF2B5EF4-FFF2-40B4-BE49-F238E27FC236}">
                  <a16:creationId xmlns:a16="http://schemas.microsoft.com/office/drawing/2014/main" id="{A2B62EE1-23A9-A001-8DF2-69B7AE44814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19">
              <a:extLst>
                <a:ext uri="{FF2B5EF4-FFF2-40B4-BE49-F238E27FC236}">
                  <a16:creationId xmlns:a16="http://schemas.microsoft.com/office/drawing/2014/main" id="{393514B8-602F-004E-F22A-64766C7CD026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5B897AE-96D3-9054-90D0-A6409FF22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D5C7DA3-5C67-17BE-42A9-A857ABF8EDA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DB7FE-1039-5567-21DE-05AE709E4636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23">
              <a:extLst>
                <a:ext uri="{FF2B5EF4-FFF2-40B4-BE49-F238E27FC236}">
                  <a16:creationId xmlns:a16="http://schemas.microsoft.com/office/drawing/2014/main" id="{858C3D50-13E7-0B6F-A834-A871714DFEB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4">
              <a:extLst>
                <a:ext uri="{FF2B5EF4-FFF2-40B4-BE49-F238E27FC236}">
                  <a16:creationId xmlns:a16="http://schemas.microsoft.com/office/drawing/2014/main" id="{CF8B0F92-B388-7636-0FE6-31B4D04663E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 descr="Choose">
              <a:extLst>
                <a:ext uri="{FF2B5EF4-FFF2-40B4-BE49-F238E27FC236}">
                  <a16:creationId xmlns:a16="http://schemas.microsoft.com/office/drawing/2014/main" id="{FB08EB45-D3B2-CB75-4F89-11C7070F7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184066-C8D4-5353-B547-7D28C141143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B4FFD29-B8A6-FF39-AE62-F5D750E6602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1" name="Rectangle: Rounded Corners 28">
              <a:extLst>
                <a:ext uri="{FF2B5EF4-FFF2-40B4-BE49-F238E27FC236}">
                  <a16:creationId xmlns:a16="http://schemas.microsoft.com/office/drawing/2014/main" id="{455AA27B-BDC3-DAE7-C780-0C006185D43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Rectangle: Rounded Corners 29">
              <a:extLst>
                <a:ext uri="{FF2B5EF4-FFF2-40B4-BE49-F238E27FC236}">
                  <a16:creationId xmlns:a16="http://schemas.microsoft.com/office/drawing/2014/main" id="{2F37591B-DBD3-A175-8C52-3D5758670AB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D1AF1DD-1847-79D7-6EA0-2E6FB31D8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C336758-2011-F2F5-7016-F9DE10AB274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2FB0116-05C3-6565-DB89-91B1CD0CA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862" y="1978577"/>
            <a:ext cx="5273912" cy="3483005"/>
          </a:xfrm>
          <a:prstGeom prst="rect">
            <a:avLst/>
          </a:prstGeom>
          <a:noFill/>
          <a:ln>
            <a:solidFill>
              <a:srgbClr val="F2F2F2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Develop Commercial organization (NAM &amp; EMEA), increase productivity year over year per rep measured by quota attainment; build strong pipeline of opportunities; develop sales capability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Launch growth strategy initiatives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Increase new logos; generate $30M in 2026, $45M in 2027, $55M in 2028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Upsell existing accounts; generating annual ACV increase of 5%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Account retention (key accounts) net revenue retention of 98% in 2026 and 2027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Entry into utilities and re-enter IT vertical, generate revenues: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$700k in 2026, $2.9M in 2027, $5.2M in 2028, $7.5M in 2029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Grow market share in key verticals (Healthcare, Financial Services, &amp; State Regulated) taking on PV and increase win rate against PV. Revenue generated: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$1.5M in 2026, $8.25M in 2027, $15.8M in 2028, $25.2M 2029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Close UKVI Row contract and implement partnership with XYZ. Measure % revenue achievement: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$0.2M in 2026, $1.5M in 2027, $2.0M in 2028, $2.0M in 2029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FCA266-8ED4-6B33-0AA4-537E5AD6CABE}"/>
              </a:ext>
            </a:extLst>
          </p:cNvPr>
          <p:cNvSpPr txBox="1"/>
          <p:nvPr/>
        </p:nvSpPr>
        <p:spPr>
          <a:xfrm>
            <a:off x="377862" y="1701578"/>
            <a:ext cx="5273912" cy="276999"/>
          </a:xfrm>
          <a:prstGeom prst="rect">
            <a:avLst/>
          </a:prstGeom>
          <a:solidFill>
            <a:srgbClr val="D0D7DF"/>
          </a:solidFill>
          <a:ln>
            <a:solidFill>
              <a:srgbClr val="F2F2F2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>
              <a:spcAft>
                <a:spcPts val="360"/>
              </a:spcAft>
            </a:pPr>
            <a:r>
              <a:rPr lang="en-US" sz="1200" b="1" i="0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D31CB56-B76C-2BD6-A65D-03FBC12D2334}"/>
              </a:ext>
            </a:extLst>
          </p:cNvPr>
          <p:cNvGrpSpPr/>
          <p:nvPr/>
        </p:nvGrpSpPr>
        <p:grpSpPr>
          <a:xfrm>
            <a:off x="389343" y="1978578"/>
            <a:ext cx="5271616" cy="3483004"/>
            <a:chOff x="377861" y="1978577"/>
            <a:chExt cx="5271616" cy="348300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C675455-6689-19DC-143E-893B1CD788FE}"/>
                </a:ext>
              </a:extLst>
            </p:cNvPr>
            <p:cNvSpPr/>
            <p:nvPr/>
          </p:nvSpPr>
          <p:spPr>
            <a:xfrm>
              <a:off x="377861" y="1978577"/>
              <a:ext cx="5269319" cy="557048"/>
            </a:xfrm>
            <a:prstGeom prst="rect">
              <a:avLst/>
            </a:prstGeom>
            <a:solidFill>
              <a:srgbClr val="1D1D1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4C7E4CC-F2F0-78B4-F49E-F1FEDD33EF3C}"/>
                </a:ext>
              </a:extLst>
            </p:cNvPr>
            <p:cNvSpPr/>
            <p:nvPr/>
          </p:nvSpPr>
          <p:spPr>
            <a:xfrm>
              <a:off x="380158" y="3812306"/>
              <a:ext cx="5269319" cy="1649275"/>
            </a:xfrm>
            <a:prstGeom prst="rect">
              <a:avLst/>
            </a:prstGeom>
            <a:solidFill>
              <a:srgbClr val="1D1D1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4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F7C647B4-1F10-4F68-8D42-1C7E50E09763}" type="slidenum"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9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 descr="Thumbs up sign with solid fill">
            <a:extLst>
              <a:ext uri="{FF2B5EF4-FFF2-40B4-BE49-F238E27FC236}">
                <a16:creationId xmlns:a16="http://schemas.microsoft.com/office/drawing/2014/main" id="{C248741C-D063-B11F-12D6-B13194E4914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95016" y="727441"/>
            <a:ext cx="672615" cy="672615"/>
          </a:xfrm>
          <a:prstGeom prst="rect">
            <a:avLst/>
          </a:prstGeom>
        </p:spPr>
      </p:pic>
      <p:pic>
        <p:nvPicPr>
          <p:cNvPr id="16" name="Graphic 15" descr="Thumbs Down with solid fill">
            <a:extLst>
              <a:ext uri="{FF2B5EF4-FFF2-40B4-BE49-F238E27FC236}">
                <a16:creationId xmlns:a16="http://schemas.microsoft.com/office/drawing/2014/main" id="{705330A9-8700-D33A-641F-AFF3146B57C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649274" y="831465"/>
            <a:ext cx="672615" cy="672615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4B56767-379B-AF91-8511-6E4AC38E0338}"/>
              </a:ext>
            </a:extLst>
          </p:cNvPr>
          <p:cNvSpPr txBox="1">
            <a:spLocks/>
          </p:cNvSpPr>
          <p:nvPr/>
        </p:nvSpPr>
        <p:spPr>
          <a:xfrm>
            <a:off x="6205" y="253040"/>
            <a:ext cx="557048" cy="557048"/>
          </a:xfrm>
          <a:prstGeom prst="rect">
            <a:avLst/>
          </a:prstGeom>
          <a:solidFill>
            <a:srgbClr val="765FFF"/>
          </a:solidFill>
        </p:spPr>
        <p:txBody>
          <a:bodyPr lIns="91440" tIns="45720" rIns="91440" bIns="45720" anchor="ctr"/>
          <a:lstStyle>
            <a:defPPr>
              <a:defRPr lang="en-US" b="1" spc="-25">
                <a:solidFill>
                  <a:srgbClr val="FFFFFF"/>
                </a:solidFill>
                <a:latin typeface="Segoe UI" pitchFamily="34" charset="0"/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55</a:t>
            </a:fld>
            <a:endParaRPr lang="en-US" sz="1600" b="1" spc="-25">
              <a:solidFill>
                <a:srgbClr val="F2F2F2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CD7BC5-2A82-0088-E49E-1FA2D2F7CE29}"/>
              </a:ext>
            </a:extLst>
          </p:cNvPr>
          <p:cNvSpPr txBox="1"/>
          <p:nvPr/>
        </p:nvSpPr>
        <p:spPr>
          <a:xfrm>
            <a:off x="534393" y="4736436"/>
            <a:ext cx="11291684" cy="69775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 Staff &amp; deploy three internal M&amp;A teams (Deal, Integration, Outbound) used to close and assimilate</a:t>
            </a:r>
            <a:b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   new companies into consistent processes/structure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42C9C-55B3-662B-4B9B-2D965A28333E}"/>
              </a:ext>
            </a:extLst>
          </p:cNvPr>
          <p:cNvSpPr txBox="1"/>
          <p:nvPr/>
        </p:nvSpPr>
        <p:spPr>
          <a:xfrm>
            <a:off x="534393" y="4154815"/>
            <a:ext cx="11291685" cy="41043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 Double Emerging Markets (EM) sales and profitability within the next 3 years through organic growth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116165-E4FF-ED21-B435-9364F3EC4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91" y="2423905"/>
            <a:ext cx="11291685" cy="155972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189" indent="-457189">
              <a:buFont typeface="+mj-lt"/>
              <a:buAutoNum type="arabicPeriod" startAt="2"/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into new verticals to move from a restaurant brand to an “everywhere” brand</a:t>
            </a:r>
          </a:p>
          <a:p>
            <a:pPr marL="914377" lvl="1" indent="-457189">
              <a:buBlip>
                <a:blip r:embed="rId4"/>
              </a:buBlip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Outcome: From 75% restaurant business today to 50/50 split in 3 years, and 25% Quick Service Restaurant / 75% Free Standing Restaurant/Non-</a:t>
            </a:r>
            <a:r>
              <a:rPr lang="en-US" sz="1867" spc="-10" err="1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Commerical</a:t>
            </a: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in 10 years </a:t>
            </a:r>
          </a:p>
          <a:p>
            <a:pPr marL="914377" lvl="1" indent="-457189">
              <a:buBlip>
                <a:blip r:embed="rId4"/>
              </a:buBlip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from a QSR only focus to build capabilities in FSR and Non-Commercial business (e.g. Aramark, Sodexo, Hospitals, Universities, Military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5FAFE0-67A2-0CEF-C2C5-FA766FBDE245}"/>
              </a:ext>
            </a:extLst>
          </p:cNvPr>
          <p:cNvSpPr txBox="1"/>
          <p:nvPr/>
        </p:nvSpPr>
        <p:spPr>
          <a:xfrm>
            <a:off x="534392" y="1554962"/>
            <a:ext cx="11291684" cy="69775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189" indent="-457189">
              <a:buAutoNum type="arabicPeriod"/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Investigate new therapeutic uses for ABC drug based on clinical data and secure expanded approvals/new uses for ABC drug through U.S. FDA within 36 months of product launch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0EFC4E-706C-7E86-5D9B-61A2809291CC}"/>
              </a:ext>
            </a:extLst>
          </p:cNvPr>
          <p:cNvSpPr txBox="1"/>
          <p:nvPr/>
        </p:nvSpPr>
        <p:spPr>
          <a:xfrm>
            <a:off x="534392" y="5605380"/>
            <a:ext cx="11291684" cy="69775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5.  Increase existing customers share-of-wallet through selling add-on services in insurance, broadband</a:t>
            </a:r>
            <a:b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   and other innovative products starting in Q2-202X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2A6E1E-AA7C-A030-4EF4-B3569CA6C22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23" name="Rectangle: Rounded Corners 7">
              <a:extLst>
                <a:ext uri="{FF2B5EF4-FFF2-40B4-BE49-F238E27FC236}">
                  <a16:creationId xmlns:a16="http://schemas.microsoft.com/office/drawing/2014/main" id="{2FBD38EE-8C52-4B38-EFDB-0DDDB2BD32C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9">
              <a:extLst>
                <a:ext uri="{FF2B5EF4-FFF2-40B4-BE49-F238E27FC236}">
                  <a16:creationId xmlns:a16="http://schemas.microsoft.com/office/drawing/2014/main" id="{B8F16301-4ABD-E692-DF8B-3E6E4CE7970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Bend the Curve">
              <a:extLst>
                <a:ext uri="{FF2B5EF4-FFF2-40B4-BE49-F238E27FC236}">
                  <a16:creationId xmlns:a16="http://schemas.microsoft.com/office/drawing/2014/main" id="{32CB3BB0-B8D6-24AA-ACB8-10B8A57B5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9B1BFF-26F0-7A6B-480C-860A3EFA201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BB7A89-C914-E2B2-2F8C-E9187B5B6DA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13">
              <a:extLst>
                <a:ext uri="{FF2B5EF4-FFF2-40B4-BE49-F238E27FC236}">
                  <a16:creationId xmlns:a16="http://schemas.microsoft.com/office/drawing/2014/main" id="{D2F791F9-0F15-9876-EEEF-05ACB54F83C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4">
              <a:extLst>
                <a:ext uri="{FF2B5EF4-FFF2-40B4-BE49-F238E27FC236}">
                  <a16:creationId xmlns:a16="http://schemas.microsoft.com/office/drawing/2014/main" id="{BEBDD3C4-B709-5F15-869F-2C7FE952724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88BE19B-0575-06EC-7937-40B675CF1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596A097-CA04-2E2C-2A9C-839E77E263A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2ACF0B5-752A-B706-B5DA-A096A69F407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3" name="Rectangle: Rounded Corners 18">
              <a:extLst>
                <a:ext uri="{FF2B5EF4-FFF2-40B4-BE49-F238E27FC236}">
                  <a16:creationId xmlns:a16="http://schemas.microsoft.com/office/drawing/2014/main" id="{2F54C43F-1122-8B2C-E396-BBFE1E388212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19">
              <a:extLst>
                <a:ext uri="{FF2B5EF4-FFF2-40B4-BE49-F238E27FC236}">
                  <a16:creationId xmlns:a16="http://schemas.microsoft.com/office/drawing/2014/main" id="{29025F03-BA5A-77F9-CA79-A57672121D6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3F38502-1031-1A23-3F3A-1C041E39D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2EA6360-1FC0-E787-1DBC-EF52F76AFD4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4B00CD-9DC0-7741-F085-220395E6FB0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3">
              <a:extLst>
                <a:ext uri="{FF2B5EF4-FFF2-40B4-BE49-F238E27FC236}">
                  <a16:creationId xmlns:a16="http://schemas.microsoft.com/office/drawing/2014/main" id="{0C9AB7F5-1339-9F5B-C96A-F79EBEBE006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4">
              <a:extLst>
                <a:ext uri="{FF2B5EF4-FFF2-40B4-BE49-F238E27FC236}">
                  <a16:creationId xmlns:a16="http://schemas.microsoft.com/office/drawing/2014/main" id="{C6FDE203-A61A-0DCA-F160-679B0758073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 descr="Choose">
              <a:extLst>
                <a:ext uri="{FF2B5EF4-FFF2-40B4-BE49-F238E27FC236}">
                  <a16:creationId xmlns:a16="http://schemas.microsoft.com/office/drawing/2014/main" id="{1BCB312F-9A3C-5693-ABCB-A3037919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98E02E-EC3E-DF43-CF4A-79CB0691779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0EC0FA-64FF-1C77-7A0D-110FBCD0F30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3" name="Rectangle: Rounded Corners 28">
              <a:extLst>
                <a:ext uri="{FF2B5EF4-FFF2-40B4-BE49-F238E27FC236}">
                  <a16:creationId xmlns:a16="http://schemas.microsoft.com/office/drawing/2014/main" id="{6F9D8785-D3D5-5D15-6447-6B0B4A758C4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ectangle: Rounded Corners 29">
              <a:extLst>
                <a:ext uri="{FF2B5EF4-FFF2-40B4-BE49-F238E27FC236}">
                  <a16:creationId xmlns:a16="http://schemas.microsoft.com/office/drawing/2014/main" id="{098494D9-8C2D-A4AF-62AE-50E4E5F779E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D98E1F-25F1-B07A-7271-FB5D768AD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307639A-5B14-712A-2C89-C7C7BEA7C52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1C0874-E489-68EF-1727-0E8CE51DFFB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2800" b="1" spc="-25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Activity</a:t>
            </a:r>
            <a:r>
              <a:rPr lang="en-US" sz="28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: Quality Jobs to Be Done</a:t>
            </a:r>
          </a:p>
        </p:txBody>
      </p:sp>
      <p:sp>
        <p:nvSpPr>
          <p:cNvPr id="4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D96A652-A23B-407F-A9F3-B7E9C15B2DCB}" type="slidenum"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6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5C7F-7D6A-79B7-E8DB-4C7EBBC8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37B697-5446-5762-2B97-70A323BC561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t>/click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7B4C91-F315-4100-4FB6-45DD06C86DE4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921DC849-B69B-C0BF-C3CA-3C1E2DAF0C4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E14EDC1B-E231-3A8F-797C-69D375DCE505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D8EA5819-D385-AB77-949A-42CFA273F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4DC88C-004C-8F0E-B59B-2DDF7962E1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011F76-08CB-07B6-DB72-70D179C5BE07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B8CA5C45-192A-86A2-BF8F-6CC453E1D11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312BC437-B5BD-DE13-481E-2B5E04E0F84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AD67E52-D961-FDE0-4DBE-01AAE0B60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BFF45E-B205-A14D-E3EA-68424D80A1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8CF382-73CA-7E1A-C2C7-3F9DD59F947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99126BD6-951A-B88E-326B-9B75AA20529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B4EFC317-49F1-AEE6-F402-4D45E130A4F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5E974D1-CA6B-2466-EB96-42ABE509C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DFED4AB-104D-4F42-730D-9C9EF62B7F70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3D8FD2-4C9E-BE27-8899-0FB69BCDD36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2" name="Rectangle: Rounded Corners 23">
              <a:extLst>
                <a:ext uri="{FF2B5EF4-FFF2-40B4-BE49-F238E27FC236}">
                  <a16:creationId xmlns:a16="http://schemas.microsoft.com/office/drawing/2014/main" id="{853B3A8D-F63A-D04E-F329-F03F0025A7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650A162-529A-F5C5-48CE-7B5AE3BAF12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DF3F9987-380B-0A94-90D9-2E0FDF376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38FB7E-29CC-6A25-B9ED-3BAF56B0F48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D17B98-B7DE-E5D2-075E-83B3EC45614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0" name="Rectangle: Rounded Corners 28">
              <a:extLst>
                <a:ext uri="{FF2B5EF4-FFF2-40B4-BE49-F238E27FC236}">
                  <a16:creationId xmlns:a16="http://schemas.microsoft.com/office/drawing/2014/main" id="{CB2A47E9-2250-2A31-D8D5-03BEE908C7E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Rectangle: Rounded Corners 29">
              <a:extLst>
                <a:ext uri="{FF2B5EF4-FFF2-40B4-BE49-F238E27FC236}">
                  <a16:creationId xmlns:a16="http://schemas.microsoft.com/office/drawing/2014/main" id="{2B5437B9-0CBD-B21E-18B0-325E45F9E96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7971317-09CA-DE04-282C-1BFCEDDFF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51F0AE-9B70-E85F-1698-4EC386DA0EC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8024F42-82A4-2931-99B5-EDA4E09B97D3}"/>
              </a:ext>
            </a:extLst>
          </p:cNvPr>
          <p:cNvSpPr txBox="1"/>
          <p:nvPr/>
        </p:nvSpPr>
        <p:spPr>
          <a:xfrm>
            <a:off x="559229" y="5198961"/>
            <a:ext cx="8440392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  Group debrief and sharing of a few examples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7AEB11-52D5-AF83-3028-813FE9DB5979}"/>
              </a:ext>
            </a:extLst>
          </p:cNvPr>
          <p:cNvSpPr txBox="1"/>
          <p:nvPr/>
        </p:nvSpPr>
        <p:spPr>
          <a:xfrm>
            <a:off x="553279" y="1572265"/>
            <a:ext cx="8446085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Reflect on your role/value you will deliver over the next 3 years </a:t>
            </a:r>
          </a:p>
          <a:p>
            <a:r>
              <a:rPr lang="en-US" sz="2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6E7721-B349-0D5A-81BE-3306CD5F2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56" y="3552421"/>
            <a:ext cx="8522184" cy="166199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  Pair up with a partner and share one of your JTBDs; the Partner will listen &amp; provide feedback on the JTBD against the elements for a well-written statement 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</a:p>
          <a:p>
            <a:pPr marL="838179" lvl="1" indent="-380990">
              <a:buBlip>
                <a:blip r:embed="rId7"/>
              </a:buBlip>
            </a:pP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r>
              <a:rPr lang="en-US"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Look for What? How? How Much? and By When?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32C37B-8B5E-AD0E-9823-F2C587FF79A6}"/>
              </a:ext>
            </a:extLst>
          </p:cNvPr>
          <p:cNvSpPr txBox="1"/>
          <p:nvPr/>
        </p:nvSpPr>
        <p:spPr>
          <a:xfrm>
            <a:off x="559229" y="2562343"/>
            <a:ext cx="8441368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  Define 5-7 specific JTBD statements that will deliver this value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C1B29-68D8-C833-6FF4-9C5EE7C428A2}"/>
              </a:ext>
            </a:extLst>
          </p:cNvPr>
          <p:cNvSpPr txBox="1"/>
          <p:nvPr/>
        </p:nvSpPr>
        <p:spPr>
          <a:xfrm>
            <a:off x="8999364" y="4861090"/>
            <a:ext cx="2976001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i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www.FulcrumQ.com/jtbd-helper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074" name="Picture 2" descr="Qr Code Preview">
            <a:extLst>
              <a:ext uri="{FF2B5EF4-FFF2-40B4-BE49-F238E27FC236}">
                <a16:creationId xmlns:a16="http://schemas.microsoft.com/office/drawing/2014/main" id="{D79D930F-DFC6-B674-F5E2-E80C46D06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9502278" y="2294176"/>
            <a:ext cx="1786473" cy="231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t>Jobs to be done activity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307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21623946-E53E-4C95-A671-A313730A5C93}" type="slidenum"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C1A495-DA83-1F43-9141-CDB82D25A4C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The ‘current’ Human Resources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94CB5-E00A-7A49-98B2-3505070C0774}"/>
              </a:ext>
            </a:extLst>
          </p:cNvPr>
          <p:cNvSpPr/>
          <p:nvPr/>
        </p:nvSpPr>
        <p:spPr>
          <a:xfrm>
            <a:off x="8394687" y="2926074"/>
            <a:ext cx="2809894" cy="1569660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r>
              <a:rPr lang="en-US" sz="2400" spc="-10">
                <a:solidFill>
                  <a:srgbClr val="F2F2F2"/>
                </a:solidFill>
                <a:latin typeface="Arial" pitchFamily="34" charset="0"/>
                <a:ea typeface="Rockwell" charset="0"/>
                <a:cs typeface="Lato Light" panose="020F0402020204030203" pitchFamily="34" charset="0"/>
              </a:rPr>
              <a:t>RAPID REDEPLOYMENT OF</a:t>
            </a:r>
          </a:p>
          <a:p>
            <a:r>
              <a:rPr lang="en-US" sz="2400" b="1" spc="-10">
                <a:solidFill>
                  <a:srgbClr val="F2F2F2"/>
                </a:solidFill>
                <a:latin typeface="Segoe UI" pitchFamily="34" charset="0"/>
                <a:ea typeface="Rockwell" charset="0"/>
                <a:cs typeface="Lato Light" panose="020F0402020204030203" pitchFamily="34" charset="0"/>
              </a:rPr>
              <a:t>HUMAN CAPITAL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578DF6-E31C-4C82-9337-BEDD72EA2CBF}"/>
              </a:ext>
            </a:extLst>
          </p:cNvPr>
          <p:cNvGrpSpPr/>
          <p:nvPr/>
        </p:nvGrpSpPr>
        <p:grpSpPr>
          <a:xfrm>
            <a:off x="880405" y="1250992"/>
            <a:ext cx="2357438" cy="4207991"/>
            <a:chOff x="880404" y="945869"/>
            <a:chExt cx="2357438" cy="420799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522C982-AC6C-4770-9DCD-C2400212F849}"/>
                </a:ext>
              </a:extLst>
            </p:cNvPr>
            <p:cNvSpPr/>
            <p:nvPr/>
          </p:nvSpPr>
          <p:spPr>
            <a:xfrm>
              <a:off x="880404" y="1836511"/>
              <a:ext cx="2357438" cy="2357438"/>
            </a:xfrm>
            <a:prstGeom prst="rect">
              <a:avLst/>
            </a:prstGeom>
            <a:solidFill>
              <a:srgbClr val="D0D7DF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C499D64-E6E5-4DBC-B390-76D53E380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64717" y="1920822"/>
              <a:ext cx="2188813" cy="2188813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D5462E7-1151-4BEE-8961-4FF139F97B5D}"/>
                </a:ext>
              </a:extLst>
            </p:cNvPr>
            <p:cNvSpPr/>
            <p:nvPr/>
          </p:nvSpPr>
          <p:spPr>
            <a:xfrm>
              <a:off x="880405" y="4569085"/>
              <a:ext cx="2357436" cy="584775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cs typeface="Lato Light" panose="020F0402020204030203" pitchFamily="34" charset="0"/>
                </a:rPr>
                <a:t>Appeared in the 1970s with unknown origin.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4CF83A-24D3-4F13-BB60-C86ABC2E5DF6}"/>
                </a:ext>
              </a:extLst>
            </p:cNvPr>
            <p:cNvSpPr txBox="1"/>
            <p:nvPr/>
          </p:nvSpPr>
          <p:spPr>
            <a:xfrm>
              <a:off x="880404" y="945869"/>
              <a:ext cx="2357438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b="1" spc="-25">
                  <a:solidFill>
                    <a:srgbClr val="1D1D1D"/>
                  </a:solidFill>
                  <a:latin typeface="Segoe UI" pitchFamily="34" charset="0"/>
                  <a:cs typeface="Lato Light" panose="020F0402020204030203" pitchFamily="34" charset="0"/>
                </a:rPr>
                <a:t>9-Box Performance Management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2BF9AE5-7426-49D2-B88A-4CCF4DB64C9B}"/>
              </a:ext>
            </a:extLst>
          </p:cNvPr>
          <p:cNvGrpSpPr/>
          <p:nvPr/>
        </p:nvGrpSpPr>
        <p:grpSpPr>
          <a:xfrm>
            <a:off x="3571656" y="1245205"/>
            <a:ext cx="2357438" cy="4460000"/>
            <a:chOff x="3571655" y="940082"/>
            <a:chExt cx="2357438" cy="4460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1C0F96-5660-41F2-93B5-C0098A1D51F2}"/>
                </a:ext>
              </a:extLst>
            </p:cNvPr>
            <p:cNvSpPr/>
            <p:nvPr/>
          </p:nvSpPr>
          <p:spPr>
            <a:xfrm>
              <a:off x="3571655" y="1836511"/>
              <a:ext cx="2357438" cy="2357438"/>
            </a:xfrm>
            <a:prstGeom prst="rect">
              <a:avLst/>
            </a:prstGeom>
            <a:solidFill>
              <a:srgbClr val="D0D7DF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A9D4268-1886-4DFB-89CA-2FE1D96BE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655968" y="1920822"/>
              <a:ext cx="2188813" cy="218881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5F92AA9-2E5B-46EE-97B8-96B50F952FDF}"/>
                </a:ext>
              </a:extLst>
            </p:cNvPr>
            <p:cNvSpPr txBox="1"/>
            <p:nvPr/>
          </p:nvSpPr>
          <p:spPr>
            <a:xfrm>
              <a:off x="3571656" y="4569085"/>
              <a:ext cx="2357437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cs typeface="Lato Light" panose="020F0402020204030203" pitchFamily="34" charset="0"/>
                </a:rPr>
                <a:t>Pioneered by Jack Welch in the 1980s at General Electric.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935D282-CCB5-40A1-A66A-2517532BFCAB}"/>
                </a:ext>
              </a:extLst>
            </p:cNvPr>
            <p:cNvSpPr txBox="1"/>
            <p:nvPr/>
          </p:nvSpPr>
          <p:spPr>
            <a:xfrm>
              <a:off x="3571655" y="940082"/>
              <a:ext cx="2357438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b="1" spc="-25">
                  <a:solidFill>
                    <a:srgbClr val="1D1D1D"/>
                  </a:solidFill>
                  <a:latin typeface="Segoe UI" pitchFamily="34" charset="0"/>
                  <a:cs typeface="Lato Light" panose="020F0402020204030203" pitchFamily="34" charset="0"/>
                </a:rPr>
                <a:t>Performance Bell </a:t>
              </a:r>
              <a:br>
                <a:rPr lang="en-US" b="1" spc="-25">
                  <a:solidFill>
                    <a:srgbClr val="1D1D1D"/>
                  </a:solidFill>
                  <a:latin typeface="Segoe UI" pitchFamily="34" charset="0"/>
                  <a:cs typeface="Lato Light" panose="020F0402020204030203" pitchFamily="34" charset="0"/>
                </a:rPr>
              </a:br>
              <a:r>
                <a:rPr lang="en-US" b="1" spc="-25">
                  <a:solidFill>
                    <a:srgbClr val="1D1D1D"/>
                  </a:solidFill>
                  <a:latin typeface="Segoe UI" pitchFamily="34" charset="0"/>
                  <a:cs typeface="Lato Light" panose="020F0402020204030203" pitchFamily="34" charset="0"/>
                </a:rPr>
                <a:t>Curve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736B0F-757A-4255-93DA-7FAD43794825}"/>
              </a:ext>
            </a:extLst>
          </p:cNvPr>
          <p:cNvGrpSpPr/>
          <p:nvPr/>
        </p:nvGrpSpPr>
        <p:grpSpPr>
          <a:xfrm>
            <a:off x="6265678" y="1245205"/>
            <a:ext cx="2357438" cy="4460000"/>
            <a:chOff x="6265677" y="940082"/>
            <a:chExt cx="2357438" cy="4460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DEA4AFA-F496-4112-A2E8-D84C989B4FD3}"/>
                </a:ext>
              </a:extLst>
            </p:cNvPr>
            <p:cNvSpPr/>
            <p:nvPr/>
          </p:nvSpPr>
          <p:spPr>
            <a:xfrm>
              <a:off x="6265677" y="1836511"/>
              <a:ext cx="2357438" cy="2357438"/>
            </a:xfrm>
            <a:prstGeom prst="rect">
              <a:avLst/>
            </a:prstGeom>
            <a:solidFill>
              <a:srgbClr val="D0D7DF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03582FE-8740-4ABB-BBE8-11FD0C7BD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49990" y="1920822"/>
              <a:ext cx="2188813" cy="218881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25CB084-D0CA-4FE0-B7B6-D16A7A86BE90}"/>
                </a:ext>
              </a:extLst>
            </p:cNvPr>
            <p:cNvSpPr txBox="1"/>
            <p:nvPr/>
          </p:nvSpPr>
          <p:spPr>
            <a:xfrm>
              <a:off x="6265677" y="4569085"/>
              <a:ext cx="2357438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cs typeface="Lato Light" panose="020F0402020204030203" pitchFamily="34" charset="0"/>
                </a:rPr>
                <a:t>Appeared in the 1950s at Esso Research and Engineering Company. 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DEA67B5-AB1C-4C03-9073-E571D7813379}"/>
                </a:ext>
              </a:extLst>
            </p:cNvPr>
            <p:cNvSpPr txBox="1"/>
            <p:nvPr/>
          </p:nvSpPr>
          <p:spPr>
            <a:xfrm>
              <a:off x="6265677" y="940082"/>
              <a:ext cx="2357438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b="1" spc="-25">
                  <a:solidFill>
                    <a:srgbClr val="1D1D1D"/>
                  </a:solidFill>
                  <a:latin typeface="Segoe UI" pitchFamily="34" charset="0"/>
                  <a:cs typeface="Lato Light" panose="020F0402020204030203" pitchFamily="34" charset="0"/>
                </a:rPr>
                <a:t>Employee </a:t>
              </a:r>
              <a:br>
                <a:rPr lang="en-US" b="1" spc="-25">
                  <a:solidFill>
                    <a:srgbClr val="1D1D1D"/>
                  </a:solidFill>
                  <a:latin typeface="Segoe UI" pitchFamily="34" charset="0"/>
                  <a:cs typeface="Lato Light" panose="020F0402020204030203" pitchFamily="34" charset="0"/>
                </a:rPr>
              </a:br>
              <a:r>
                <a:rPr lang="en-US" b="1" spc="-25">
                  <a:solidFill>
                    <a:srgbClr val="1D1D1D"/>
                  </a:solidFill>
                  <a:latin typeface="Segoe UI" pitchFamily="34" charset="0"/>
                  <a:cs typeface="Lato Light" panose="020F0402020204030203" pitchFamily="34" charset="0"/>
                </a:rPr>
                <a:t>Engagement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3D70FD-87C2-4CFE-BBA4-7DB3A1874752}"/>
              </a:ext>
            </a:extLst>
          </p:cNvPr>
          <p:cNvGrpSpPr/>
          <p:nvPr/>
        </p:nvGrpSpPr>
        <p:grpSpPr>
          <a:xfrm>
            <a:off x="8954157" y="1245205"/>
            <a:ext cx="2357438" cy="4952442"/>
            <a:chOff x="8954156" y="940082"/>
            <a:chExt cx="2357438" cy="495244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C16782C-C477-40B0-8A91-FAE0D906A9A3}"/>
                </a:ext>
              </a:extLst>
            </p:cNvPr>
            <p:cNvSpPr/>
            <p:nvPr/>
          </p:nvSpPr>
          <p:spPr>
            <a:xfrm>
              <a:off x="8954156" y="1836511"/>
              <a:ext cx="2357438" cy="2357438"/>
            </a:xfrm>
            <a:prstGeom prst="rect">
              <a:avLst/>
            </a:prstGeom>
            <a:solidFill>
              <a:srgbClr val="D0D7DF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619F2DF-06CF-4BAA-9D98-F0ED5D4B4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038469" y="1920822"/>
              <a:ext cx="2188813" cy="2188813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A3F95FC-A871-4058-BC36-1512D9D52606}"/>
                </a:ext>
              </a:extLst>
            </p:cNvPr>
            <p:cNvSpPr/>
            <p:nvPr/>
          </p:nvSpPr>
          <p:spPr>
            <a:xfrm>
              <a:off x="8954156" y="4569085"/>
              <a:ext cx="2357438" cy="1323439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cs typeface="Lato Light" panose="020F0402020204030203" pitchFamily="34" charset="0"/>
                </a:rPr>
                <a:t>Appeared in the 1880s in the US Civil Service Commission. Written into law in Equal Pay Act 1963.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30A33F3-18A9-4597-8CF7-77570A9708F5}"/>
                </a:ext>
              </a:extLst>
            </p:cNvPr>
            <p:cNvSpPr txBox="1"/>
            <p:nvPr/>
          </p:nvSpPr>
          <p:spPr>
            <a:xfrm>
              <a:off x="8954156" y="940082"/>
              <a:ext cx="2357438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b="1" spc="-25">
                  <a:solidFill>
                    <a:srgbClr val="1D1D1D"/>
                  </a:solidFill>
                  <a:latin typeface="Segoe UI" pitchFamily="34" charset="0"/>
                  <a:cs typeface="Lato Light" panose="020F0402020204030203" pitchFamily="34" charset="0"/>
                </a:rPr>
                <a:t>Job</a:t>
              </a:r>
              <a:br>
                <a:rPr lang="en-US" b="1" spc="-25">
                  <a:solidFill>
                    <a:srgbClr val="1D1D1D"/>
                  </a:solidFill>
                  <a:latin typeface="Segoe UI" pitchFamily="34" charset="0"/>
                  <a:cs typeface="Lato Light" panose="020F0402020204030203" pitchFamily="34" charset="0"/>
                </a:rPr>
              </a:br>
              <a:r>
                <a:rPr lang="en-US" b="1" spc="-25">
                  <a:solidFill>
                    <a:srgbClr val="1D1D1D"/>
                  </a:solidFill>
                  <a:latin typeface="Segoe UI" pitchFamily="34" charset="0"/>
                  <a:cs typeface="Lato Light" panose="020F0402020204030203" pitchFamily="34" charset="0"/>
                </a:rPr>
                <a:t>Evaluation</a:t>
              </a:r>
            </a:p>
          </p:txBody>
        </p:sp>
      </p:grpSp>
      <p:sp>
        <p:nvSpPr>
          <p:cNvPr id="4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E1BFF602-9FBD-47CE-BD8A-E3A5A61530C3}" type="slidenum"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1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3DDC3-6BE0-D023-7B6F-18F73E9AE1D9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A2F5B9-4CD1-1258-3820-7464EA6E4557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3" name="Rectangle: Rounded Corners 7">
              <a:extLst>
                <a:ext uri="{FF2B5EF4-FFF2-40B4-BE49-F238E27FC236}">
                  <a16:creationId xmlns:a16="http://schemas.microsoft.com/office/drawing/2014/main" id="{702B7F8B-8065-84B1-0017-74F8C904051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Rectangle: Rounded Corners 9">
              <a:extLst>
                <a:ext uri="{FF2B5EF4-FFF2-40B4-BE49-F238E27FC236}">
                  <a16:creationId xmlns:a16="http://schemas.microsoft.com/office/drawing/2014/main" id="{68022598-BC2A-C14F-575C-7EC8903D986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 descr="Bend the Curve">
              <a:extLst>
                <a:ext uri="{FF2B5EF4-FFF2-40B4-BE49-F238E27FC236}">
                  <a16:creationId xmlns:a16="http://schemas.microsoft.com/office/drawing/2014/main" id="{AD4DDA40-D2E9-16F9-BBF8-8E4C4DFD7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76E6412-F084-BE18-F8D1-74F7A904735C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B068E3-B0D9-2766-84A2-A884AB79DB6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8" name="Rectangle: Rounded Corners 13">
              <a:extLst>
                <a:ext uri="{FF2B5EF4-FFF2-40B4-BE49-F238E27FC236}">
                  <a16:creationId xmlns:a16="http://schemas.microsoft.com/office/drawing/2014/main" id="{F29606A8-C4A0-4CD4-95C5-BEF99A85FBB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14">
              <a:extLst>
                <a:ext uri="{FF2B5EF4-FFF2-40B4-BE49-F238E27FC236}">
                  <a16:creationId xmlns:a16="http://schemas.microsoft.com/office/drawing/2014/main" id="{39075E6A-6EC3-6F14-EBAA-759ABAB8C5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49EC09F5-26D8-57D7-3FE3-C4FBCFB73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22C19FB-6340-ABB0-7E56-530944B03B4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B93080E-CB2E-B30F-097E-4B91C578591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4" name="Rectangle: Rounded Corners 18">
              <a:extLst>
                <a:ext uri="{FF2B5EF4-FFF2-40B4-BE49-F238E27FC236}">
                  <a16:creationId xmlns:a16="http://schemas.microsoft.com/office/drawing/2014/main" id="{C470907F-795A-5E77-2C30-6F29FC8777D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Rectangle: Rounded Corners 19">
              <a:extLst>
                <a:ext uri="{FF2B5EF4-FFF2-40B4-BE49-F238E27FC236}">
                  <a16:creationId xmlns:a16="http://schemas.microsoft.com/office/drawing/2014/main" id="{2D49EE5B-83FA-DEF3-5653-085DFF1AF59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9EE917F-2461-8A64-6976-B3FFBEADB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8DD36D2-BECF-CC79-CE21-8C836A5B7A86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E302372-2BB2-5B16-1736-0CC792EAA1A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9" name="Rectangle: Rounded Corners 23">
              <a:extLst>
                <a:ext uri="{FF2B5EF4-FFF2-40B4-BE49-F238E27FC236}">
                  <a16:creationId xmlns:a16="http://schemas.microsoft.com/office/drawing/2014/main" id="{A89FD6CB-A21A-9B89-7106-D495BC1AA2B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Rectangle: Rounded Corners 24">
              <a:extLst>
                <a:ext uri="{FF2B5EF4-FFF2-40B4-BE49-F238E27FC236}">
                  <a16:creationId xmlns:a16="http://schemas.microsoft.com/office/drawing/2014/main" id="{A2689E80-0542-2902-8C9B-200A6C99879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1" name="Picture 60" descr="Choose">
              <a:extLst>
                <a:ext uri="{FF2B5EF4-FFF2-40B4-BE49-F238E27FC236}">
                  <a16:creationId xmlns:a16="http://schemas.microsoft.com/office/drawing/2014/main" id="{91A3CC31-AE52-C5E7-306E-0894E3995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2293F50-1968-5052-B3BB-E7EB9FE4C17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373DBBB-F143-6876-51F1-9FD6C6394727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5" name="Rectangle: Rounded Corners 28">
              <a:extLst>
                <a:ext uri="{FF2B5EF4-FFF2-40B4-BE49-F238E27FC236}">
                  <a16:creationId xmlns:a16="http://schemas.microsoft.com/office/drawing/2014/main" id="{86029101-A222-44BE-CF28-951BD0F4502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" name="Rectangle: Rounded Corners 29">
              <a:extLst>
                <a:ext uri="{FF2B5EF4-FFF2-40B4-BE49-F238E27FC236}">
                  <a16:creationId xmlns:a16="http://schemas.microsoft.com/office/drawing/2014/main" id="{305A57A5-967A-200A-2EF6-41E7C16F1F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F4A8DC-65F9-E31E-AC2B-72C652ACB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CBB5673-3BF7-516A-995F-C00C1204474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43777A-A8C9-7073-7E9D-630C4E98ECE8}"/>
              </a:ext>
            </a:extLst>
          </p:cNvPr>
          <p:cNvSpPr/>
          <p:nvPr/>
        </p:nvSpPr>
        <p:spPr>
          <a:xfrm>
            <a:off x="2807737" y="2464649"/>
            <a:ext cx="8330949" cy="2543600"/>
          </a:xfrm>
          <a:prstGeom prst="roundRect">
            <a:avLst>
              <a:gd name="adj" fmla="val 4127"/>
            </a:avLst>
          </a:prstGeom>
          <a:solidFill>
            <a:srgbClr val="F2F2F2"/>
          </a:solidFill>
          <a:ln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000" kern="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86471D-AE3D-911F-D4DB-CC9CDEEAC88D}"/>
              </a:ext>
            </a:extLst>
          </p:cNvPr>
          <p:cNvGrpSpPr/>
          <p:nvPr/>
        </p:nvGrpSpPr>
        <p:grpSpPr>
          <a:xfrm>
            <a:off x="7272073" y="2752147"/>
            <a:ext cx="2186133" cy="1966487"/>
            <a:chOff x="2273728" y="2121146"/>
            <a:chExt cx="1806093" cy="158202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3B6193-23C5-0857-2328-136149364213}"/>
                </a:ext>
              </a:extLst>
            </p:cNvPr>
            <p:cNvSpPr txBox="1"/>
            <p:nvPr/>
          </p:nvSpPr>
          <p:spPr>
            <a:xfrm>
              <a:off x="2273728" y="2121146"/>
              <a:ext cx="1806091" cy="272364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281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ROLE</a:t>
              </a:r>
              <a:r>
                <a:rPr lang="en-US" sz="1600" kern="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DESIGN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57B19C-6F6C-69D2-4875-26B9C9974684}"/>
                </a:ext>
              </a:extLst>
            </p:cNvPr>
            <p:cNvGrpSpPr/>
            <p:nvPr/>
          </p:nvGrpSpPr>
          <p:grpSpPr>
            <a:xfrm>
              <a:off x="2273728" y="2563304"/>
              <a:ext cx="1806093" cy="1139865"/>
              <a:chOff x="2295798" y="2806324"/>
              <a:chExt cx="1806093" cy="1139865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FD6C18-8D3B-6EF6-A7F6-4FA3AC66B96A}"/>
                  </a:ext>
                </a:extLst>
              </p:cNvPr>
              <p:cNvSpPr txBox="1"/>
              <p:nvPr/>
            </p:nvSpPr>
            <p:spPr>
              <a:xfrm>
                <a:off x="2295798" y="2806324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Authority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BB683F-3A5C-E5EF-08B8-1533F6D44E2A}"/>
                  </a:ext>
                </a:extLst>
              </p:cNvPr>
              <p:cNvSpPr txBox="1"/>
              <p:nvPr/>
            </p:nvSpPr>
            <p:spPr>
              <a:xfrm>
                <a:off x="2295798" y="3121524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Capacity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8386A2-CFC5-480D-7B5B-D228C4BCC032}"/>
                  </a:ext>
                </a:extLst>
              </p:cNvPr>
              <p:cNvSpPr txBox="1"/>
              <p:nvPr/>
            </p:nvSpPr>
            <p:spPr>
              <a:xfrm>
                <a:off x="2295798" y="343672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Resistance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BC392A-1EA4-FCC8-0CB6-25D25C067B41}"/>
                  </a:ext>
                </a:extLst>
              </p:cNvPr>
              <p:cNvSpPr txBox="1"/>
              <p:nvPr/>
            </p:nvSpPr>
            <p:spPr>
              <a:xfrm>
                <a:off x="2295798" y="375192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Incentives</a:t>
                </a: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6664DF-A995-9C83-D5C6-C0474B288F37}"/>
              </a:ext>
            </a:extLst>
          </p:cNvPr>
          <p:cNvGrpSpPr/>
          <p:nvPr/>
        </p:nvGrpSpPr>
        <p:grpSpPr>
          <a:xfrm>
            <a:off x="4772817" y="2752149"/>
            <a:ext cx="2200394" cy="1966226"/>
            <a:chOff x="5412221" y="2119864"/>
            <a:chExt cx="1817876" cy="158181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0892BD-E54D-C53A-1B07-B7D0FD477586}"/>
                </a:ext>
              </a:extLst>
            </p:cNvPr>
            <p:cNvSpPr txBox="1"/>
            <p:nvPr/>
          </p:nvSpPr>
          <p:spPr>
            <a:xfrm>
              <a:off x="5412221" y="2119864"/>
              <a:ext cx="1806091" cy="272364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281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WORK</a:t>
              </a:r>
              <a:r>
                <a:rPr lang="en-US" sz="1600" kern="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CHALLENGE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4545CBE-8F3C-401A-DCFF-F2BE0EC5513B}"/>
                </a:ext>
              </a:extLst>
            </p:cNvPr>
            <p:cNvGrpSpPr/>
            <p:nvPr/>
          </p:nvGrpSpPr>
          <p:grpSpPr>
            <a:xfrm>
              <a:off x="5412223" y="2561116"/>
              <a:ext cx="1817874" cy="1140562"/>
              <a:chOff x="5346764" y="2804136"/>
              <a:chExt cx="1817874" cy="114056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4FB624-35DB-45E2-D56D-A5E9E2C591A1}"/>
                  </a:ext>
                </a:extLst>
              </p:cNvPr>
              <p:cNvSpPr txBox="1"/>
              <p:nvPr/>
            </p:nvSpPr>
            <p:spPr>
              <a:xfrm>
                <a:off x="5358545" y="2804136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Outcome Alignment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F55A54A-88FB-38B0-8B37-6D2D65E7D561}"/>
                  </a:ext>
                </a:extLst>
              </p:cNvPr>
              <p:cNvSpPr txBox="1"/>
              <p:nvPr/>
            </p:nvSpPr>
            <p:spPr>
              <a:xfrm>
                <a:off x="5346764" y="3119568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Execution Complexity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960555-ABED-7747-7DDB-1192C72B9CAF}"/>
                  </a:ext>
                </a:extLst>
              </p:cNvPr>
              <p:cNvSpPr txBox="1"/>
              <p:nvPr/>
            </p:nvSpPr>
            <p:spPr>
              <a:xfrm>
                <a:off x="5346766" y="3435000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New Work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318173-FE77-4DF6-3729-BA2D89292016}"/>
                  </a:ext>
                </a:extLst>
              </p:cNvPr>
              <p:cNvSpPr txBox="1"/>
              <p:nvPr/>
            </p:nvSpPr>
            <p:spPr>
              <a:xfrm>
                <a:off x="5346766" y="3750432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Competitive Intensity</a:t>
                </a: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0C75D8-398D-9656-1D8D-5471ADA04FD3}"/>
              </a:ext>
            </a:extLst>
          </p:cNvPr>
          <p:cNvGrpSpPr/>
          <p:nvPr/>
        </p:nvGrpSpPr>
        <p:grpSpPr>
          <a:xfrm>
            <a:off x="9037077" y="2753330"/>
            <a:ext cx="2186133" cy="1965041"/>
            <a:chOff x="9044723" y="2119864"/>
            <a:chExt cx="1806093" cy="158086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02892A8-58B6-698E-2F91-86353C9C9984}"/>
                </a:ext>
              </a:extLst>
            </p:cNvPr>
            <p:cNvSpPr txBox="1"/>
            <p:nvPr/>
          </p:nvSpPr>
          <p:spPr>
            <a:xfrm>
              <a:off x="9044724" y="2119864"/>
              <a:ext cx="1806091" cy="272364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281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TALENT</a:t>
              </a:r>
              <a:r>
                <a:rPr lang="en-US" sz="1600" kern="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MATCH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CD33F8B-5569-3C21-75C3-DE54F63AD1B4}"/>
                </a:ext>
              </a:extLst>
            </p:cNvPr>
            <p:cNvGrpSpPr/>
            <p:nvPr/>
          </p:nvGrpSpPr>
          <p:grpSpPr>
            <a:xfrm>
              <a:off x="9044723" y="2561813"/>
              <a:ext cx="1806093" cy="1138911"/>
              <a:chOff x="9165611" y="2804833"/>
              <a:chExt cx="1806093" cy="1138911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2D818BB-4529-951F-92C5-5C521BA145B1}"/>
                  </a:ext>
                </a:extLst>
              </p:cNvPr>
              <p:cNvSpPr txBox="1"/>
              <p:nvPr/>
            </p:nvSpPr>
            <p:spPr>
              <a:xfrm>
                <a:off x="9165611" y="2804833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JTBD Match 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DE09454-B9E2-5549-A294-9BCAC5F42A9E}"/>
                  </a:ext>
                </a:extLst>
              </p:cNvPr>
              <p:cNvSpPr txBox="1"/>
              <p:nvPr/>
            </p:nvSpPr>
            <p:spPr>
              <a:xfrm>
                <a:off x="9165612" y="312003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Superpowers Match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EDC56FA-EC93-1418-1FEE-AAFB31DB2C53}"/>
                  </a:ext>
                </a:extLst>
              </p:cNvPr>
              <p:cNvSpPr txBox="1"/>
              <p:nvPr/>
            </p:nvSpPr>
            <p:spPr>
              <a:xfrm>
                <a:off x="9165612" y="3749476"/>
                <a:ext cx="1806092" cy="194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Two-Way Fit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0286FD5-B6AC-836E-FC4D-6EF43BFA73BF}"/>
                  </a:ext>
                </a:extLst>
              </p:cNvPr>
              <p:cNvSpPr txBox="1"/>
              <p:nvPr/>
            </p:nvSpPr>
            <p:spPr>
              <a:xfrm>
                <a:off x="9165612" y="3445706"/>
                <a:ext cx="1806092" cy="1942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Winning Track Record</a:t>
                </a: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3B927B2-AEDE-A231-4D12-E755235F5233}"/>
              </a:ext>
            </a:extLst>
          </p:cNvPr>
          <p:cNvGrpSpPr/>
          <p:nvPr/>
        </p:nvGrpSpPr>
        <p:grpSpPr>
          <a:xfrm>
            <a:off x="820153" y="1813863"/>
            <a:ext cx="3777588" cy="3757717"/>
            <a:chOff x="1205123" y="2626710"/>
            <a:chExt cx="2862048" cy="284699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9CFC24DA-08C6-E347-5B62-FA59C546C3B4}"/>
                </a:ext>
              </a:extLst>
            </p:cNvPr>
            <p:cNvGrpSpPr/>
            <p:nvPr/>
          </p:nvGrpSpPr>
          <p:grpSpPr>
            <a:xfrm rot="10800000">
              <a:off x="1205123" y="2626710"/>
              <a:ext cx="2862048" cy="2846993"/>
              <a:chOff x="3726416" y="1071879"/>
              <a:chExt cx="4739166" cy="4714240"/>
            </a:xfrm>
          </p:grpSpPr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6C85FDCF-7A20-FF57-2550-B8BCEC7C0A0D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284819" tIns="1372391" rIns="789341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3600" b="1" spc="-25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6066D1B7-3F58-1799-6219-29E1D4E346D4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55045" tIns="4047631" rIns="1482795" bIns="651935" numCol="1" spcCol="1270" anchor="ctr" anchorCtr="0">
                <a:noAutofit/>
              </a:bodyPr>
              <a:lstStyle/>
              <a:p>
                <a:pPr algn="ctr" defTabSz="385214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3600" b="1" spc="-25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A79477A9-88C3-1909-864D-13BDD3B00887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89343" tIns="1372391" rIns="3284817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3600" b="1" spc="-25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A37EBA7-83DF-E1B5-AC8F-8BC37DF9010B}"/>
                </a:ext>
              </a:extLst>
            </p:cNvPr>
            <p:cNvSpPr txBox="1"/>
            <p:nvPr/>
          </p:nvSpPr>
          <p:spPr>
            <a:xfrm>
              <a:off x="1331151" y="2745206"/>
              <a:ext cx="2610000" cy="261000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6122098"/>
                </a:avLst>
              </a:prstTxWarp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Talent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 Score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85243CF-2ADA-F500-3CA6-36664ADB2B22}"/>
                </a:ext>
              </a:extLst>
            </p:cNvPr>
            <p:cNvSpPr txBox="1"/>
            <p:nvPr/>
          </p:nvSpPr>
          <p:spPr>
            <a:xfrm>
              <a:off x="1331151" y="2745206"/>
              <a:ext cx="2610000" cy="261000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Role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 Score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0199252-AB2E-CD89-1BEC-75FC7BF0027F}"/>
                </a:ext>
              </a:extLst>
            </p:cNvPr>
            <p:cNvSpPr txBox="1"/>
            <p:nvPr/>
          </p:nvSpPr>
          <p:spPr>
            <a:xfrm rot="10800000">
              <a:off x="1389034" y="2803088"/>
              <a:ext cx="2494236" cy="249423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Work 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Score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C2E2A15-90A5-3555-737A-81F0D975BACD}"/>
                </a:ext>
              </a:extLst>
            </p:cNvPr>
            <p:cNvGrpSpPr/>
            <p:nvPr/>
          </p:nvGrpSpPr>
          <p:grpSpPr>
            <a:xfrm rot="10800000">
              <a:off x="1481218" y="2901349"/>
              <a:ext cx="2309864" cy="2297715"/>
              <a:chOff x="3726416" y="1071879"/>
              <a:chExt cx="4739166" cy="4714240"/>
            </a:xfrm>
            <a:effectLst/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BC8F3731-5C9A-B99F-1E46-1BAC0AE9FC63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284819" tIns="1372391" rIns="789341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3600" b="1" spc="-25">
                  <a:solidFill>
                    <a:srgbClr val="FFFFFF"/>
                  </a:solidFill>
                  <a:latin typeface="Segoe UI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D4F69337-7527-C066-0760-2F321971B064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55045" tIns="4047631" rIns="1482795" bIns="651935" numCol="1" spcCol="1270" anchor="ctr" anchorCtr="0">
                <a:noAutofit/>
              </a:bodyPr>
              <a:lstStyle/>
              <a:p>
                <a:pPr algn="ctr" defTabSz="385214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3600" b="1" spc="-25">
                  <a:solidFill>
                    <a:srgbClr val="FFFFFF"/>
                  </a:solidFill>
                  <a:latin typeface="Segoe UI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F104553A-2970-DBCB-F033-B8C1341A0E51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89343" tIns="1372391" rIns="3284817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3600" b="1" spc="-25">
                  <a:solidFill>
                    <a:srgbClr val="FFFFFF"/>
                  </a:solidFill>
                  <a:latin typeface="Segoe UI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57C2E7D-2445-14D1-4FA7-A7B03C8C4BFD}"/>
                </a:ext>
              </a:extLst>
            </p:cNvPr>
            <p:cNvGrpSpPr/>
            <p:nvPr/>
          </p:nvGrpSpPr>
          <p:grpSpPr>
            <a:xfrm>
              <a:off x="1924502" y="3347754"/>
              <a:ext cx="1420601" cy="1420600"/>
              <a:chOff x="6458329" y="554749"/>
              <a:chExt cx="1542504" cy="1542503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A28B74AE-0E8A-1252-6076-9D56453B88D9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rgbClr val="F2F2F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buClr>
                    <a:srgbClr val="1D1D1D"/>
                  </a:buClr>
                </a:pPr>
                <a:endParaRPr lang="en-US" sz="2400" b="1" kern="0" spc="-25">
                  <a:solidFill>
                    <a:srgbClr val="FFFFFF"/>
                  </a:solidFill>
                  <a:latin typeface="Segoe UI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A4065DE-2371-6DD8-A7C3-44745004BF5C}"/>
                  </a:ext>
                </a:extLst>
              </p:cNvPr>
              <p:cNvSpPr txBox="1"/>
              <p:nvPr/>
            </p:nvSpPr>
            <p:spPr>
              <a:xfrm>
                <a:off x="6597484" y="1073660"/>
                <a:ext cx="1264193" cy="53170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>
                  <a:buClr>
                    <a:srgbClr val="1D1D1D"/>
                  </a:buClr>
                </a:pPr>
                <a:r>
                  <a:rPr lang="en-US" sz="3600" b="1" kern="0" spc="-25">
                    <a:solidFill>
                      <a:srgbClr val="FFFFFF"/>
                    </a:solidFill>
                    <a:latin typeface="Segoe UI" pitchFamily="34" charset="0"/>
                    <a:ea typeface="Roboto" panose="02000000000000000000" pitchFamily="2" charset="0"/>
                    <a:cs typeface="Helvetica Neue Condensed" panose="02000503000000020004" pitchFamily="2" charset="0"/>
                    <a:sym typeface="Arial"/>
                  </a:rPr>
                  <a:t>Click</a:t>
                </a:r>
              </a:p>
            </p:txBody>
          </p:sp>
        </p:grpSp>
      </p:grpSp>
      <p:sp>
        <p:nvSpPr>
          <p:cNvPr id="106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b="0" kern="0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assessment at work, role &amp; talent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10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E35FC8A4-E0E1-4630-A2A0-F50F9F69336C}" type="slidenum"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5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3DDC3-6BE0-D023-7B6F-18F73E9AE1D9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958D0D-0206-67C9-300A-1AEAF67B6E9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803" y="6398150"/>
            <a:ext cx="1232036" cy="33023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362E4C4-D7E1-5922-27DD-F558E7FDAAD3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0E98B47C-28A3-71D5-21A6-E3F2C87D085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9">
              <a:extLst>
                <a:ext uri="{FF2B5EF4-FFF2-40B4-BE49-F238E27FC236}">
                  <a16:creationId xmlns:a16="http://schemas.microsoft.com/office/drawing/2014/main" id="{556CCA1F-4BF4-230C-1FF4-C81BD2B32588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 descr="Bend the Curve">
              <a:extLst>
                <a:ext uri="{FF2B5EF4-FFF2-40B4-BE49-F238E27FC236}">
                  <a16:creationId xmlns:a16="http://schemas.microsoft.com/office/drawing/2014/main" id="{676B9790-66BA-B03D-4759-33DCCADA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735BA03-D6C8-4EDB-F52F-8A09F7FC83D0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AD552FC-4AC4-3EC5-8F41-4DF6DEB5AFB9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4" name="Rectangle: Rounded Corners 13">
              <a:extLst>
                <a:ext uri="{FF2B5EF4-FFF2-40B4-BE49-F238E27FC236}">
                  <a16:creationId xmlns:a16="http://schemas.microsoft.com/office/drawing/2014/main" id="{3A738A6A-E80D-33CE-3195-F9E4EDBA08E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Rectangle: Rounded Corners 14">
              <a:extLst>
                <a:ext uri="{FF2B5EF4-FFF2-40B4-BE49-F238E27FC236}">
                  <a16:creationId xmlns:a16="http://schemas.microsoft.com/office/drawing/2014/main" id="{E00E9042-53DB-B529-8655-3B9CF042F02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15FBD289-0B07-0C74-4D86-04CC29CC5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83EAB0-C339-25D6-9F7C-C68A6A44AB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AC05CC7-B8AC-9C79-DEC8-C15ACF41DCC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1" name="Rectangle: Rounded Corners 18">
              <a:extLst>
                <a:ext uri="{FF2B5EF4-FFF2-40B4-BE49-F238E27FC236}">
                  <a16:creationId xmlns:a16="http://schemas.microsoft.com/office/drawing/2014/main" id="{534ECDFC-B570-C200-831D-F461F4FA7D07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19">
              <a:extLst>
                <a:ext uri="{FF2B5EF4-FFF2-40B4-BE49-F238E27FC236}">
                  <a16:creationId xmlns:a16="http://schemas.microsoft.com/office/drawing/2014/main" id="{6485917E-A1C5-99F1-E0D4-2607A4EF47C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CED6560-ED9B-A79E-4081-C641DF331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325CD50-DE7A-5CF8-7A38-CD5701B03C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A627FF-5181-2B5A-DC26-C4B179F03AD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8" name="Rectangle: Rounded Corners 23">
              <a:extLst>
                <a:ext uri="{FF2B5EF4-FFF2-40B4-BE49-F238E27FC236}">
                  <a16:creationId xmlns:a16="http://schemas.microsoft.com/office/drawing/2014/main" id="{0685496F-48F1-963F-1BDB-0853547A5DF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Rectangle: Rounded Corners 24">
              <a:extLst>
                <a:ext uri="{FF2B5EF4-FFF2-40B4-BE49-F238E27FC236}">
                  <a16:creationId xmlns:a16="http://schemas.microsoft.com/office/drawing/2014/main" id="{52CB91EF-5C77-AF81-21B9-2E7DFDC2301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0" name="Picture 69" descr="Choose">
              <a:extLst>
                <a:ext uri="{FF2B5EF4-FFF2-40B4-BE49-F238E27FC236}">
                  <a16:creationId xmlns:a16="http://schemas.microsoft.com/office/drawing/2014/main" id="{C112A065-344E-2089-D9D9-53A0E01CF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6605C54-311D-7510-8841-1D78301D15D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FD865D1-9B03-B919-8972-03B66610E46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3" name="Rectangle: Rounded Corners 28">
              <a:extLst>
                <a:ext uri="{FF2B5EF4-FFF2-40B4-BE49-F238E27FC236}">
                  <a16:creationId xmlns:a16="http://schemas.microsoft.com/office/drawing/2014/main" id="{65D784E8-7FE3-CEED-925B-82EA1F21253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29">
              <a:extLst>
                <a:ext uri="{FF2B5EF4-FFF2-40B4-BE49-F238E27FC236}">
                  <a16:creationId xmlns:a16="http://schemas.microsoft.com/office/drawing/2014/main" id="{157693A2-7FB6-BA90-D59C-50B583526D8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DB82188-6002-2C2F-40B8-35C3D23A4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AAEF1A4-7CA0-D311-E4DB-F02ACCABB81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BDA45F5-4B96-EE65-D964-FF3A9348C716}"/>
              </a:ext>
            </a:extLst>
          </p:cNvPr>
          <p:cNvGrpSpPr/>
          <p:nvPr/>
        </p:nvGrpSpPr>
        <p:grpSpPr>
          <a:xfrm>
            <a:off x="271063" y="2483263"/>
            <a:ext cx="3292117" cy="3292117"/>
            <a:chOff x="271063" y="2483263"/>
            <a:chExt cx="3292117" cy="3292117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00BBF49-E00B-1B3B-E0EC-AD9068317A7C}"/>
                </a:ext>
              </a:extLst>
            </p:cNvPr>
            <p:cNvSpPr/>
            <p:nvPr/>
          </p:nvSpPr>
          <p:spPr>
            <a:xfrm rot="18175964">
              <a:off x="828793" y="2689139"/>
              <a:ext cx="2092995" cy="2053076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00C27A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84819" tIns="1372391" rIns="789341" bIns="3063015" numCol="1" spcCol="1270" anchor="ctr" anchorCtr="0">
              <a:noAutofit/>
            </a:bodyPr>
            <a:lstStyle/>
            <a:p>
              <a:pPr algn="ctr" defTabSz="30224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1D1D1D"/>
                </a:buClr>
              </a:pPr>
              <a:endParaRPr lang="en-US" sz="6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1FD3479-3F67-B001-4003-0AAA57E3B31A}"/>
                </a:ext>
              </a:extLst>
            </p:cNvPr>
            <p:cNvSpPr/>
            <p:nvPr/>
          </p:nvSpPr>
          <p:spPr>
            <a:xfrm>
              <a:off x="1247000" y="3028936"/>
              <a:ext cx="1340245" cy="1314683"/>
            </a:xfrm>
            <a:prstGeom prst="ellipse">
              <a:avLst/>
            </a:prstGeom>
            <a:solidFill>
              <a:srgbClr val="281A42"/>
            </a:solidFill>
            <a:ln w="38100">
              <a:solidFill>
                <a:srgbClr val="F2F2F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buClr>
                  <a:srgbClr val="1D1D1D"/>
                </a:buClr>
              </a:pPr>
              <a:endParaRPr lang="en-US" sz="2400" kern="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5A3988E-61B4-B00F-2AE1-7153107C9105}"/>
                </a:ext>
              </a:extLst>
            </p:cNvPr>
            <p:cNvSpPr txBox="1"/>
            <p:nvPr/>
          </p:nvSpPr>
          <p:spPr>
            <a:xfrm rot="10800000">
              <a:off x="271063" y="2483263"/>
              <a:ext cx="3292117" cy="3292117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Work </a:t>
              </a:r>
              <a:r>
                <a:rPr lang="en-US" sz="1600" kern="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Score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9FD59D8-A803-942F-1674-1027162C2DF5}"/>
              </a:ext>
            </a:extLst>
          </p:cNvPr>
          <p:cNvSpPr txBox="1"/>
          <p:nvPr/>
        </p:nvSpPr>
        <p:spPr>
          <a:xfrm>
            <a:off x="4376487" y="1139581"/>
            <a:ext cx="6389004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60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Risks to the Deliver the Work, Linked to the Jobs to Be Done…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B435D4-E7BA-EEED-763C-8C0396F07C11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0A3F0-E5D0-6859-222E-096B622F4766}"/>
              </a:ext>
            </a:extLst>
          </p:cNvPr>
          <p:cNvSpPr txBox="1"/>
          <p:nvPr/>
        </p:nvSpPr>
        <p:spPr>
          <a:xfrm>
            <a:off x="4453530" y="2006155"/>
            <a:ext cx="598040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Alignment: </a:t>
            </a:r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alignment across stakeholders on the JTBDs?</a:t>
            </a:r>
            <a:endParaRPr lang="en-US" sz="16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1E2B65-9EE6-C097-665F-1A9CE8B02F16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D7FA6-F279-C83C-0CF0-2AE7649CC8C2}"/>
              </a:ext>
            </a:extLst>
          </p:cNvPr>
          <p:cNvSpPr txBox="1"/>
          <p:nvPr/>
        </p:nvSpPr>
        <p:spPr>
          <a:xfrm>
            <a:off x="4453530" y="3092945"/>
            <a:ext cx="636350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Complexity: </a:t>
            </a:r>
            <a:r>
              <a:rPr lang="en-US"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this an exceptionally complex task to deliver?</a:t>
            </a:r>
            <a:endParaRPr lang="en-US" sz="16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D8994F-C2FE-F004-85BF-B47D2CB5E353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96419-AFFF-BB84-994B-2EF8C0DD13BC}"/>
              </a:ext>
            </a:extLst>
          </p:cNvPr>
          <p:cNvSpPr txBox="1"/>
          <p:nvPr/>
        </p:nvSpPr>
        <p:spPr>
          <a:xfrm>
            <a:off x="4453530" y="4179735"/>
            <a:ext cx="636350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Work: </a:t>
            </a:r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 work new to the role, team, or organization?</a:t>
            </a:r>
            <a:endParaRPr lang="en-US" sz="16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FC435-0A7E-AD3F-4C33-B92BB1A2DB13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B13EBB-C0D8-B713-A824-44D8B056F7C6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Competitive Intensity: </a:t>
            </a:r>
            <a:r>
              <a:rPr lang="en-US"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significant external competitive pressure that impacts delivery?</a:t>
            </a:r>
            <a:endParaRPr lang="en-US" sz="16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2D488694-BFB6-42D1-83F3-F81602ADB554}" type="slidenum"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8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55C13E-F61B-519A-61A9-BE78788C206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2800" b="1" kern="0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sz="2800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2800" b="1" kern="0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890EC81A-291C-FA15-9318-56EF93C74702}"/>
              </a:ext>
            </a:extLst>
          </p:cNvPr>
          <p:cNvSpPr/>
          <p:nvPr/>
        </p:nvSpPr>
        <p:spPr>
          <a:xfrm rot="10800000">
            <a:off x="829532" y="2692263"/>
            <a:ext cx="2092995" cy="2053076"/>
          </a:xfrm>
          <a:custGeom>
            <a:avLst/>
            <a:gdLst>
              <a:gd name="connsiteX0" fmla="*/ 2275840 w 4551680"/>
              <a:gd name="connsiteY0" fmla="*/ 0 h 4551680"/>
              <a:gd name="connsiteX1" fmla="*/ 4246775 w 4551680"/>
              <a:gd name="connsiteY1" fmla="*/ 1137920 h 4551680"/>
              <a:gd name="connsiteX2" fmla="*/ 4246775 w 4551680"/>
              <a:gd name="connsiteY2" fmla="*/ 3413760 h 4551680"/>
              <a:gd name="connsiteX3" fmla="*/ 2275840 w 4551680"/>
              <a:gd name="connsiteY3" fmla="*/ 2275840 h 4551680"/>
              <a:gd name="connsiteX4" fmla="*/ 2275840 w 4551680"/>
              <a:gd name="connsiteY4" fmla="*/ 0 h 455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680" h="4551680">
                <a:moveTo>
                  <a:pt x="2275840" y="0"/>
                </a:moveTo>
                <a:cubicBezTo>
                  <a:pt x="3088919" y="0"/>
                  <a:pt x="3840236" y="433773"/>
                  <a:pt x="4246775" y="1137920"/>
                </a:cubicBezTo>
                <a:cubicBezTo>
                  <a:pt x="4653315" y="1842067"/>
                  <a:pt x="4653315" y="2709613"/>
                  <a:pt x="4246775" y="3413760"/>
                </a:cubicBezTo>
                <a:lnTo>
                  <a:pt x="2275840" y="2275840"/>
                </a:lnTo>
                <a:lnTo>
                  <a:pt x="2275840" y="0"/>
                </a:lnTo>
                <a:close/>
              </a:path>
            </a:pathLst>
          </a:custGeom>
          <a:solidFill>
            <a:srgbClr val="281A4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4819" tIns="1372391" rIns="789341" bIns="3063015" numCol="1" spcCol="1270" anchor="ctr" anchorCtr="0">
            <a:noAutofit/>
          </a:bodyPr>
          <a:lstStyle/>
          <a:p>
            <a:pPr algn="ctr" defTabSz="302244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1D1D1D"/>
              </a:buClr>
            </a:pPr>
            <a:endParaRPr lang="en-US" sz="66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4EBB307-72E4-148D-543E-D28A6C31C4F4}"/>
              </a:ext>
            </a:extLst>
          </p:cNvPr>
          <p:cNvSpPr/>
          <p:nvPr/>
        </p:nvSpPr>
        <p:spPr>
          <a:xfrm>
            <a:off x="1247740" y="3032061"/>
            <a:ext cx="1340245" cy="1314683"/>
          </a:xfrm>
          <a:prstGeom prst="ellipse">
            <a:avLst/>
          </a:prstGeom>
          <a:solidFill>
            <a:srgbClr val="281A42"/>
          </a:solidFill>
          <a:ln w="38100">
            <a:solidFill>
              <a:srgbClr val="F2F2F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00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8126E6-2B11-0D69-E7D0-DAC3DEF15DD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7" name="Rectangle: Rounded Corners 7">
              <a:extLst>
                <a:ext uri="{FF2B5EF4-FFF2-40B4-BE49-F238E27FC236}">
                  <a16:creationId xmlns:a16="http://schemas.microsoft.com/office/drawing/2014/main" id="{B49BB1C8-62D5-4F48-385D-7C4441D7C82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Rectangle: Rounded Corners 9">
              <a:extLst>
                <a:ext uri="{FF2B5EF4-FFF2-40B4-BE49-F238E27FC236}">
                  <a16:creationId xmlns:a16="http://schemas.microsoft.com/office/drawing/2014/main" id="{6E2653A3-ED2E-546C-3D8D-E831572FC081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 descr="Bend the Curve">
              <a:extLst>
                <a:ext uri="{FF2B5EF4-FFF2-40B4-BE49-F238E27FC236}">
                  <a16:creationId xmlns:a16="http://schemas.microsoft.com/office/drawing/2014/main" id="{4DB1E534-BEB4-F059-967D-0130132EF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5C1E8E-AC5B-C134-9D8A-5CAC8ADE852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270FA6-B840-6E99-5E0B-7E8BCEF543B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6" name="Rectangle: Rounded Corners 13">
              <a:extLst>
                <a:ext uri="{FF2B5EF4-FFF2-40B4-BE49-F238E27FC236}">
                  <a16:creationId xmlns:a16="http://schemas.microsoft.com/office/drawing/2014/main" id="{2CC9FE89-C31A-9731-D703-94C26000A45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4">
              <a:extLst>
                <a:ext uri="{FF2B5EF4-FFF2-40B4-BE49-F238E27FC236}">
                  <a16:creationId xmlns:a16="http://schemas.microsoft.com/office/drawing/2014/main" id="{41EED051-FEFF-C991-B1A0-A24058E7F9B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65D4DEC-2A1E-806D-B628-C449602FB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DCD1AB-2F2B-4E8C-C5DA-DED868FFDD7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7EB78D-CFBD-6E97-6477-EEF5CBBE71B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3" name="Rectangle: Rounded Corners 18">
              <a:extLst>
                <a:ext uri="{FF2B5EF4-FFF2-40B4-BE49-F238E27FC236}">
                  <a16:creationId xmlns:a16="http://schemas.microsoft.com/office/drawing/2014/main" id="{9A4E2BE7-4528-4010-ADCE-A0810018888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9">
              <a:extLst>
                <a:ext uri="{FF2B5EF4-FFF2-40B4-BE49-F238E27FC236}">
                  <a16:creationId xmlns:a16="http://schemas.microsoft.com/office/drawing/2014/main" id="{2BCA8345-9401-CFB9-D30E-2DA4C57C27A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8DA99BC-FE6A-318E-F259-47E61389B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A61640-1C66-C016-A6C4-629D57B4CEB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7BC3E2F-C1AB-FC82-F8CA-43608FB80B1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3" name="Rectangle: Rounded Corners 23">
              <a:extLst>
                <a:ext uri="{FF2B5EF4-FFF2-40B4-BE49-F238E27FC236}">
                  <a16:creationId xmlns:a16="http://schemas.microsoft.com/office/drawing/2014/main" id="{3CFEB3DB-4A79-46C0-FEC2-39C6D3F805A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" name="Rectangle: Rounded Corners 24">
              <a:extLst>
                <a:ext uri="{FF2B5EF4-FFF2-40B4-BE49-F238E27FC236}">
                  <a16:creationId xmlns:a16="http://schemas.microsoft.com/office/drawing/2014/main" id="{5330A4AA-8464-DC86-7C39-54596BBBDC4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5" name="Picture 54" descr="Choose">
              <a:extLst>
                <a:ext uri="{FF2B5EF4-FFF2-40B4-BE49-F238E27FC236}">
                  <a16:creationId xmlns:a16="http://schemas.microsoft.com/office/drawing/2014/main" id="{740CA1EF-CC58-6556-2DA8-0C4DBB57D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C3ACFD5-77D1-C414-9704-5F944C3E623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727A874-7CA7-86B1-DDDF-201B5073624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8" name="Rectangle: Rounded Corners 28">
              <a:extLst>
                <a:ext uri="{FF2B5EF4-FFF2-40B4-BE49-F238E27FC236}">
                  <a16:creationId xmlns:a16="http://schemas.microsoft.com/office/drawing/2014/main" id="{9FE4C5AD-3F05-FECF-9FA5-39163D6ED1B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Rectangle: Rounded Corners 29">
              <a:extLst>
                <a:ext uri="{FF2B5EF4-FFF2-40B4-BE49-F238E27FC236}">
                  <a16:creationId xmlns:a16="http://schemas.microsoft.com/office/drawing/2014/main" id="{523BD57F-9504-47D0-5410-70CFF770747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90420B5-9738-54EB-0216-496AD1B07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3714CCC-042F-32E3-CEF2-5CC46990ED9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21C0F8A-7B76-3F4C-4FCE-CB88FA7347FE}"/>
              </a:ext>
            </a:extLst>
          </p:cNvPr>
          <p:cNvSpPr txBox="1"/>
          <p:nvPr/>
        </p:nvSpPr>
        <p:spPr>
          <a:xfrm>
            <a:off x="4376487" y="1139581"/>
            <a:ext cx="6389004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60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Risks to the Design of the Role, Linked to the Jobs to Be Done…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6CD01-AD98-8717-EA2B-F6DD5414E44F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BC9DC5-128F-DCC2-9B5F-03A72C76C12A}"/>
              </a:ext>
            </a:extLst>
          </p:cNvPr>
          <p:cNvSpPr txBox="1"/>
          <p:nvPr/>
        </p:nvSpPr>
        <p:spPr>
          <a:xfrm>
            <a:off x="4453530" y="1877819"/>
            <a:ext cx="59804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Authority: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role have appropriate decision rights to deliver the JTBDs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?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BB4CBE-3B53-6CD7-A8B9-D397802271D4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96C6E-AD44-03CC-2885-1D2F5775A032}"/>
              </a:ext>
            </a:extLst>
          </p:cNvPr>
          <p:cNvSpPr txBox="1"/>
          <p:nvPr/>
        </p:nvSpPr>
        <p:spPr>
          <a:xfrm>
            <a:off x="4453530" y="2964609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Capacity: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there adequate resources / team capabilities to deliver the JTBDs?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035C91-12D1-3CC5-689E-0C69B3000C83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106A2A-24EF-E6CC-C6B9-5309CD887AD8}"/>
              </a:ext>
            </a:extLst>
          </p:cNvPr>
          <p:cNvSpPr txBox="1"/>
          <p:nvPr/>
        </p:nvSpPr>
        <p:spPr>
          <a:xfrm>
            <a:off x="4453530" y="4051399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Resistance: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role face any internal or external resistance to deliver the JTBDs?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B6D62E-19B6-203E-5ED6-44A5808754AD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295FAB-19ED-ECB2-B78A-80958CC64B07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Incentives: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the incentives appropriately aligned to the scope of the work expected to deliver?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D38876-ED0D-6F7E-D46B-A0CA89C33258}"/>
              </a:ext>
            </a:extLst>
          </p:cNvPr>
          <p:cNvSpPr txBox="1"/>
          <p:nvPr/>
        </p:nvSpPr>
        <p:spPr>
          <a:xfrm rot="2308405">
            <a:off x="591050" y="2570369"/>
            <a:ext cx="2462365" cy="2415403"/>
          </a:xfrm>
          <a:prstGeom prst="rect">
            <a:avLst/>
          </a:prstGeom>
          <a:noFill/>
        </p:spPr>
        <p:txBody>
          <a:bodyPr wrap="square" lIns="91440" tIns="45720" rIns="91440" bIns="45720" rtlCol="0">
            <a:prstTxWarp prst="textArchDown">
              <a:avLst>
                <a:gd name="adj" fmla="val 2217629"/>
              </a:avLst>
            </a:prstTxWarp>
            <a:spAutoFit/>
          </a:bodyPr>
          <a:lstStyle/>
          <a:p>
            <a:pPr>
              <a:buClr>
                <a:srgbClr val="1D1D1D"/>
              </a:buClr>
            </a:pPr>
            <a:r>
              <a:rPr lang="en-US" sz="1600" b="1" kern="0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Role</a:t>
            </a:r>
            <a:r>
              <a:rPr lang="en-US" sz="1600" kern="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 Score</a:t>
            </a:r>
          </a:p>
        </p:txBody>
      </p:sp>
      <p:sp>
        <p:nvSpPr>
          <p:cNvPr id="10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DF7BFCF2-5932-4765-9954-34B68C879899}" type="slidenum"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96B0F8-EAA7-4C74-B292-BCFDF7761EBA}"/>
              </a:ext>
            </a:extLst>
          </p:cNvPr>
          <p:cNvGrpSpPr/>
          <p:nvPr/>
        </p:nvGrpSpPr>
        <p:grpSpPr>
          <a:xfrm>
            <a:off x="1083678" y="1983098"/>
            <a:ext cx="2580944" cy="3409801"/>
            <a:chOff x="1083677" y="2174152"/>
            <a:chExt cx="2580944" cy="34098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D4C07E-2E70-45C0-9662-B17D15587FFD}"/>
                </a:ext>
              </a:extLst>
            </p:cNvPr>
            <p:cNvSpPr txBox="1"/>
            <p:nvPr/>
          </p:nvSpPr>
          <p:spPr>
            <a:xfrm>
              <a:off x="1083677" y="4983509"/>
              <a:ext cx="2580944" cy="60044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r>
                <a:rPr lang="en-US" sz="1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GENERIC FIT CRITERIA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0C5D9FB-E8E6-499D-9901-A94350CC2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97947" y="2174152"/>
              <a:ext cx="2552404" cy="2552404"/>
            </a:xfrm>
            <a:prstGeom prst="rect">
              <a:avLst/>
            </a:prstGeom>
            <a:solidFill>
              <a:srgbClr val="F2F2F2"/>
            </a:solidFill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F505492-BC7C-49AA-AF68-20A0D08FA7A9}"/>
              </a:ext>
            </a:extLst>
          </p:cNvPr>
          <p:cNvSpPr txBox="1"/>
          <p:nvPr/>
        </p:nvSpPr>
        <p:spPr>
          <a:xfrm>
            <a:off x="7635597" y="4872744"/>
            <a:ext cx="2820698" cy="43986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en-US" sz="16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64D4C7-AACE-44D0-B33F-A4A0060622FE}"/>
              </a:ext>
            </a:extLst>
          </p:cNvPr>
          <p:cNvSpPr/>
          <p:nvPr/>
        </p:nvSpPr>
        <p:spPr>
          <a:xfrm>
            <a:off x="5950781" y="1983098"/>
            <a:ext cx="5273776" cy="2552404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59FACF-9730-4272-9864-71D38B0129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duotone>
              <a:srgbClr val="765FFF"/>
              <a:srgbClr val="FFFFFF"/>
            </a:duotone>
          </a:blip>
          <a:srcRect/>
          <a:stretch/>
        </p:blipFill>
        <p:spPr>
          <a:xfrm>
            <a:off x="4864405" y="2107541"/>
            <a:ext cx="2261465" cy="2286231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5CBD7784-7217-8A71-E11E-9C80B43FC169}"/>
              </a:ext>
            </a:extLst>
          </p:cNvPr>
          <p:cNvGrpSpPr/>
          <p:nvPr/>
        </p:nvGrpSpPr>
        <p:grpSpPr>
          <a:xfrm>
            <a:off x="7364539" y="2762029"/>
            <a:ext cx="3612088" cy="1251138"/>
            <a:chOff x="7460791" y="2762029"/>
            <a:chExt cx="3612088" cy="125113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3C459B7-43EA-0A30-FF90-633B473A69F3}"/>
                </a:ext>
              </a:extLst>
            </p:cNvPr>
            <p:cNvGrpSpPr/>
            <p:nvPr/>
          </p:nvGrpSpPr>
          <p:grpSpPr>
            <a:xfrm>
              <a:off x="7460791" y="2762029"/>
              <a:ext cx="3612088" cy="1251138"/>
              <a:chOff x="7460791" y="2762029"/>
              <a:chExt cx="3612088" cy="1251138"/>
            </a:xfrm>
          </p:grpSpPr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50B6BB7-6803-1258-9422-2029969A91C0}"/>
                  </a:ext>
                </a:extLst>
              </p:cNvPr>
              <p:cNvSpPr/>
              <p:nvPr/>
            </p:nvSpPr>
            <p:spPr>
              <a:xfrm>
                <a:off x="9314615" y="2762029"/>
                <a:ext cx="1758264" cy="1251138"/>
              </a:xfrm>
              <a:prstGeom prst="roundRect">
                <a:avLst>
                  <a:gd name="adj" fmla="val 9340"/>
                </a:avLst>
              </a:prstGeom>
              <a:solidFill>
                <a:srgbClr val="7676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87ADFE81-73E7-17A7-B70E-7D95C5F3CD92}"/>
                  </a:ext>
                </a:extLst>
              </p:cNvPr>
              <p:cNvSpPr/>
              <p:nvPr/>
            </p:nvSpPr>
            <p:spPr>
              <a:xfrm>
                <a:off x="7460791" y="2762029"/>
                <a:ext cx="1758264" cy="1251138"/>
              </a:xfrm>
              <a:prstGeom prst="roundRect">
                <a:avLst>
                  <a:gd name="adj" fmla="val 9340"/>
                </a:avLst>
              </a:prstGeom>
              <a:solidFill>
                <a:srgbClr val="7676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B683F9C-FE8E-4870-AC14-F4FC4412DD18}"/>
                </a:ext>
              </a:extLst>
            </p:cNvPr>
            <p:cNvSpPr/>
            <p:nvPr/>
          </p:nvSpPr>
          <p:spPr>
            <a:xfrm>
              <a:off x="7535233" y="2841696"/>
              <a:ext cx="1609380" cy="108139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Execute the Jobs to Be Done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50E97A-D2BC-49DD-9E0F-9B8C1A15225B}"/>
                </a:ext>
              </a:extLst>
            </p:cNvPr>
            <p:cNvSpPr/>
            <p:nvPr/>
          </p:nvSpPr>
          <p:spPr>
            <a:xfrm>
              <a:off x="9403944" y="2841697"/>
              <a:ext cx="1609380" cy="108139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Mitigate the </a:t>
              </a:r>
              <a:b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&amp; Role Risks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3B43648-791F-4C5E-B141-BCCBA2C3738B}"/>
              </a:ext>
            </a:extLst>
          </p:cNvPr>
          <p:cNvSpPr txBox="1"/>
          <p:nvPr/>
        </p:nvSpPr>
        <p:spPr>
          <a:xfrm>
            <a:off x="7579895" y="2125662"/>
            <a:ext cx="2870152" cy="393816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1D1D1D">
                    <a:lumMod val="75000"/>
                    <a:lumOff val="25000"/>
                  </a:srgb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 needed to:</a:t>
            </a:r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7A77738B-D088-45F6-9CD0-BF8081C14F84}"/>
              </a:ext>
            </a:extLst>
          </p:cNvPr>
          <p:cNvSpPr/>
          <p:nvPr/>
        </p:nvSpPr>
        <p:spPr>
          <a:xfrm>
            <a:off x="4439540" y="2984851"/>
            <a:ext cx="602810" cy="402747"/>
          </a:xfrm>
          <a:custGeom>
            <a:avLst/>
            <a:gdLst>
              <a:gd name="connsiteX0" fmla="*/ 1135506 w 1705111"/>
              <a:gd name="connsiteY0" fmla="*/ 0 h 1139211"/>
              <a:gd name="connsiteX1" fmla="*/ 1705111 w 1705111"/>
              <a:gd name="connsiteY1" fmla="*/ 569606 h 1139211"/>
              <a:gd name="connsiteX2" fmla="*/ 1135506 w 1705111"/>
              <a:gd name="connsiteY2" fmla="*/ 1139211 h 1139211"/>
              <a:gd name="connsiteX3" fmla="*/ 993400 w 1705111"/>
              <a:gd name="connsiteY3" fmla="*/ 997105 h 1139211"/>
              <a:gd name="connsiteX4" fmla="*/ 1316392 w 1705111"/>
              <a:gd name="connsiteY4" fmla="*/ 674112 h 1139211"/>
              <a:gd name="connsiteX5" fmla="*/ 0 w 1705111"/>
              <a:gd name="connsiteY5" fmla="*/ 674112 h 1139211"/>
              <a:gd name="connsiteX6" fmla="*/ 0 w 1705111"/>
              <a:gd name="connsiteY6" fmla="*/ 465098 h 1139211"/>
              <a:gd name="connsiteX7" fmla="*/ 1316393 w 1705111"/>
              <a:gd name="connsiteY7" fmla="*/ 465098 h 1139211"/>
              <a:gd name="connsiteX8" fmla="*/ 993401 w 1705111"/>
              <a:gd name="connsiteY8" fmla="*/ 142106 h 1139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5111" h="1139211">
                <a:moveTo>
                  <a:pt x="1135506" y="0"/>
                </a:moveTo>
                <a:lnTo>
                  <a:pt x="1705111" y="569606"/>
                </a:lnTo>
                <a:lnTo>
                  <a:pt x="1135506" y="1139211"/>
                </a:lnTo>
                <a:lnTo>
                  <a:pt x="993400" y="997105"/>
                </a:lnTo>
                <a:lnTo>
                  <a:pt x="1316392" y="674112"/>
                </a:lnTo>
                <a:lnTo>
                  <a:pt x="0" y="674112"/>
                </a:lnTo>
                <a:lnTo>
                  <a:pt x="0" y="465098"/>
                </a:lnTo>
                <a:lnTo>
                  <a:pt x="1316393" y="465098"/>
                </a:lnTo>
                <a:lnTo>
                  <a:pt x="993401" y="142106"/>
                </a:lnTo>
                <a:close/>
              </a:path>
            </a:pathLst>
          </a:custGeom>
          <a:solidFill>
            <a:srgbClr val="B2BBCA"/>
          </a:solidFill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4059D5-F457-21CE-8272-4A4B1CDE20D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6F6FAE62-D45C-CD33-C723-7CD24BCFA38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3CEEAE70-1CE3-9B15-3165-64DF5E7F26F2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C6C91E00-CA4A-5275-22A2-2A5A95464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B75243-6811-F2B6-61DA-6174857404F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99DB71D-CC83-4285-A0AB-4FCB65229D1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71207B65-FBA3-8AFA-2DE5-0AD86C2381F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07A6FF10-2107-8A1F-D2AB-ACB2C636914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9788999-0B87-A4BD-2AB8-AE3C03D57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121F74-39CA-D85F-5FC7-256D0A0CCED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F8D61A-E4B5-6F37-7E91-037E6E98DE4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CA22AA20-46EB-22DF-0160-832DE6AD2CC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54EA6AA9-1B52-244B-3845-FE7E2D8D92FC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50AF50-0636-A3C6-B791-EE020C3A1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343F67-8F29-8B17-ABED-F3ADE67ED4BC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A494F9-D432-9020-96E6-5561B96867BB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9" name="Rectangle: Rounded Corners 23">
              <a:extLst>
                <a:ext uri="{FF2B5EF4-FFF2-40B4-BE49-F238E27FC236}">
                  <a16:creationId xmlns:a16="http://schemas.microsoft.com/office/drawing/2014/main" id="{794969C2-E412-9311-1798-00C6780FC13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F4E05252-215D-161E-B857-B248D8238E6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781CE831-8B6E-B044-373E-D3C4F176A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26CC6F9-A5E4-E78A-F5F9-185B2BA4D9A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6EF161-10BE-E16B-65B3-2B8D477041E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73BE1CDF-F944-E149-DF46-96E67EAD90B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1CDFA5FF-4C29-AB6C-46FB-5BD65433ACE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70F7E6F-7792-FCF5-11A0-33414B543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A1DB464-0A8C-575E-67D5-2A86E8DBFDA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4A049EC2-3586-4D19-AF0A-12313AD12C03}" type="slidenum"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7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C2AF95-333E-48C9-9A93-E3207698E9EE}"/>
              </a:ext>
            </a:extLst>
          </p:cNvPr>
          <p:cNvGrpSpPr/>
          <p:nvPr/>
        </p:nvGrpSpPr>
        <p:grpSpPr>
          <a:xfrm>
            <a:off x="1404789" y="1423675"/>
            <a:ext cx="9382425" cy="4528647"/>
            <a:chOff x="1010860" y="1164677"/>
            <a:chExt cx="9382425" cy="452864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C15D594-47AC-498D-8180-E2954BB5040D}"/>
                </a:ext>
              </a:extLst>
            </p:cNvPr>
            <p:cNvSpPr/>
            <p:nvPr/>
          </p:nvSpPr>
          <p:spPr>
            <a:xfrm>
              <a:off x="1010860" y="1365814"/>
              <a:ext cx="7118102" cy="412637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F2F2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b="1" spc="-25">
                  <a:latin typeface="Segoe UI" pitchFamily="34" charset="0"/>
                </a:defRPr>
              </a:pPr>
              <a:endPara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851737E-D41A-4468-ACE0-119758CFAA75}"/>
                </a:ext>
              </a:extLst>
            </p:cNvPr>
            <p:cNvGrpSpPr/>
            <p:nvPr/>
          </p:nvGrpSpPr>
          <p:grpSpPr>
            <a:xfrm>
              <a:off x="1798714" y="1164677"/>
              <a:ext cx="8594571" cy="4528646"/>
              <a:chOff x="2279922" y="1164677"/>
              <a:chExt cx="8594571" cy="4528646"/>
            </a:xfrm>
          </p:grpSpPr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8947581B-A00D-4033-AC08-0345C1EA8325}"/>
                  </a:ext>
                </a:extLst>
              </p:cNvPr>
              <p:cNvSpPr/>
              <p:nvPr/>
            </p:nvSpPr>
            <p:spPr>
              <a:xfrm rot="16200000">
                <a:off x="3662298" y="745451"/>
                <a:ext cx="4528646" cy="5367097"/>
              </a:xfrm>
              <a:prstGeom prst="trapezoid">
                <a:avLst>
                  <a:gd name="adj" fmla="val 28994"/>
                </a:avLst>
              </a:prstGeom>
              <a:solidFill>
                <a:srgbClr val="D0D7DF"/>
              </a:solidFill>
              <a:ln w="9525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 b="1" spc="-25">
                    <a:latin typeface="Segoe UI" pitchFamily="34" charset="0"/>
                  </a:defRPr>
                </a:pPr>
                <a:endParaRPr lang="en-US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ADBAC82-1042-4CE4-AAAD-016CC1DDC470}"/>
                  </a:ext>
                </a:extLst>
              </p:cNvPr>
              <p:cNvGrpSpPr/>
              <p:nvPr/>
            </p:nvGrpSpPr>
            <p:grpSpPr>
              <a:xfrm>
                <a:off x="6345847" y="1164677"/>
                <a:ext cx="4528646" cy="4528646"/>
                <a:chOff x="6345847" y="1769602"/>
                <a:chExt cx="4528646" cy="4528646"/>
              </a:xfr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87831E70-00C1-4D77-8A51-1D7C6BE757F4}"/>
                    </a:ext>
                  </a:extLst>
                </p:cNvPr>
                <p:cNvSpPr/>
                <p:nvPr/>
              </p:nvSpPr>
              <p:spPr>
                <a:xfrm>
                  <a:off x="6345847" y="1769602"/>
                  <a:ext cx="4528646" cy="4528646"/>
                </a:xfrm>
                <a:prstGeom prst="ellipse">
                  <a:avLst/>
                </a:prstGeom>
                <a:solidFill>
                  <a:srgbClr val="585858"/>
                </a:solidFill>
                <a:ln w="9525">
                  <a:solidFill>
                    <a:srgbClr val="1D1D1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94FA217-22F4-4196-8152-FEA2D56B9BD4}"/>
                    </a:ext>
                  </a:extLst>
                </p:cNvPr>
                <p:cNvSpPr/>
                <p:nvPr/>
              </p:nvSpPr>
              <p:spPr>
                <a:xfrm>
                  <a:off x="6859165" y="2593641"/>
                  <a:ext cx="3502009" cy="28805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91440" tIns="45720" rIns="91440" bIns="45720" anchor="ctr">
                  <a:noAutofit/>
                </a:bodyPr>
                <a:lstStyle/>
                <a:p>
                  <a:pPr>
                    <a:spcAft>
                      <a:spcPts val="600"/>
                    </a:spcAft>
                    <a:defRPr>
                      <a:solidFill>
                        <a:srgbClr val="FFFFFF"/>
                      </a:solidFill>
                    </a:defRPr>
                  </a:pPr>
                  <a:r>
                    <a:rPr lang="en-US" sz="2000" b="1" spc="-10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Collaboration with edge</a:t>
                  </a:r>
                </a:p>
                <a:p>
                  <a:pPr>
                    <a:spcAft>
                      <a:spcPts val="600"/>
                    </a:spcAft>
                    <a:defRPr>
                      <a:solidFill>
                        <a:srgbClr val="FFFFFF"/>
                      </a:solidFill>
                    </a:defRPr>
                  </a:pPr>
                  <a:r>
                    <a:rPr lang="en-US" sz="20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Proven Ability to  drive projects with pace in an environment where people are not fully aligned + “want” to work with this leader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5B23781-03AB-48BE-BE3E-7E870274BE68}"/>
                  </a:ext>
                </a:extLst>
              </p:cNvPr>
              <p:cNvGrpSpPr/>
              <p:nvPr/>
            </p:nvGrpSpPr>
            <p:grpSpPr>
              <a:xfrm>
                <a:off x="2279922" y="2465850"/>
                <a:ext cx="1926300" cy="1926300"/>
                <a:chOff x="5132850" y="1248042"/>
                <a:chExt cx="1926300" cy="192630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51F2DC4-87DE-4061-BDC0-F9E4AA7B6075}"/>
                    </a:ext>
                  </a:extLst>
                </p:cNvPr>
                <p:cNvSpPr/>
                <p:nvPr/>
              </p:nvSpPr>
              <p:spPr>
                <a:xfrm>
                  <a:off x="5132850" y="1248042"/>
                  <a:ext cx="1926300" cy="1926300"/>
                </a:xfrm>
                <a:prstGeom prst="ellipse">
                  <a:avLst/>
                </a:prstGeom>
                <a:solidFill>
                  <a:srgbClr val="7A828D"/>
                </a:solidFill>
                <a:ln w="9525">
                  <a:solidFill>
                    <a:srgbClr val="1D1D1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 b="1" spc="-25">
                      <a:latin typeface="Segoe UI" pitchFamily="34" charset="0"/>
                    </a:defRPr>
                  </a:pPr>
                  <a:endParaRPr lang="en-US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DD06822-14AF-46D5-B7C9-B52BE5AAC62A}"/>
                    </a:ext>
                  </a:extLst>
                </p:cNvPr>
                <p:cNvSpPr/>
                <p:nvPr/>
              </p:nvSpPr>
              <p:spPr>
                <a:xfrm>
                  <a:off x="5242212" y="1400867"/>
                  <a:ext cx="1707576" cy="162065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lIns="91440" tIns="45720" rIns="91440" bIns="45720" anchor="ctr">
                  <a:noAutofit/>
                </a:bodyPr>
                <a:lstStyle/>
                <a:p>
                  <a:pPr algn="ctr">
                    <a:spcAft>
                      <a:spcPts val="600"/>
                    </a:spcAft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Strong collaboration orientation</a:t>
                  </a:r>
                </a:p>
              </p:txBody>
            </p:sp>
          </p:grpSp>
        </p:grp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8C7A20C-16E3-40D6-BBEB-8178FF8A02BF}"/>
              </a:ext>
            </a:extLst>
          </p:cNvPr>
          <p:cNvSpPr/>
          <p:nvPr/>
        </p:nvSpPr>
        <p:spPr>
          <a:xfrm>
            <a:off x="1674874" y="1391463"/>
            <a:ext cx="2853239" cy="484947"/>
          </a:xfrm>
          <a:prstGeom prst="rect">
            <a:avLst/>
          </a:prstGeom>
          <a:solidFill>
            <a:srgbClr val="281A42"/>
          </a:solidFill>
          <a:ln w="9525">
            <a:solidFill>
              <a:srgbClr val="281A4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Can you recruit against it?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705D15-921B-2583-0673-05FAFB1A87E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EB843418-0A38-9B41-CDDA-182E3AAB036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1AE15AD3-D250-D6A6-FB2A-43639A4958DA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06FB0B0E-FAE7-620C-E6F3-CE9842796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3CCAAF-A3BE-05EE-91B3-6D5B27084EF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ED1FE3-DEA1-854D-E899-096B7C58A46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0B809E7D-2C98-D7BC-7E7B-AB8E03D08B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B03B32B0-E9C2-C1D0-A084-BC3285126CC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47EF4C-A712-E800-9D1D-90F938669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3F9AC2-3D7B-6A69-2CD5-4AE007E0359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49CE79-ABAA-DA01-CFCB-51F67532FD6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83600140-C940-1BA1-5E85-E2275FE61CE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A918D9BF-E0AB-F9A6-1022-DA575597C86A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32EA160-E71E-E325-ABF4-582DC2E18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7C0E85-A4E7-20A5-5641-29AD04281D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CD6FC07-E5C3-30EE-1D29-01017A592E6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7" name="Rectangle: Rounded Corners 23">
              <a:extLst>
                <a:ext uri="{FF2B5EF4-FFF2-40B4-BE49-F238E27FC236}">
                  <a16:creationId xmlns:a16="http://schemas.microsoft.com/office/drawing/2014/main" id="{30C8850C-9843-B23D-2CA9-1F4A9216D8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: Rounded Corners 24">
              <a:extLst>
                <a:ext uri="{FF2B5EF4-FFF2-40B4-BE49-F238E27FC236}">
                  <a16:creationId xmlns:a16="http://schemas.microsoft.com/office/drawing/2014/main" id="{19732ADA-686F-A721-BC2A-D72DC082175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 descr="Choose">
              <a:extLst>
                <a:ext uri="{FF2B5EF4-FFF2-40B4-BE49-F238E27FC236}">
                  <a16:creationId xmlns:a16="http://schemas.microsoft.com/office/drawing/2014/main" id="{62380566-D837-7074-B0D0-78C319421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0FF016-1EF9-D99D-3869-7CA2152E83B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CEEA3D0-BE76-DB6B-E6CF-07A67C2A12F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8">
              <a:extLst>
                <a:ext uri="{FF2B5EF4-FFF2-40B4-BE49-F238E27FC236}">
                  <a16:creationId xmlns:a16="http://schemas.microsoft.com/office/drawing/2014/main" id="{D8C92E09-8FBD-2682-9A33-0502A70B43F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3" name="Rectangle: Rounded Corners 29">
              <a:extLst>
                <a:ext uri="{FF2B5EF4-FFF2-40B4-BE49-F238E27FC236}">
                  <a16:creationId xmlns:a16="http://schemas.microsoft.com/office/drawing/2014/main" id="{6AA1885D-37C6-4488-B445-3C5BA4E68B0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9222B99-5A58-AF63-92EE-C0B58291A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625082-B7F4-C755-0CC0-671C92D3B61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D5047CA-93F3-4D6F-894D-819ADDD36C1A}" type="slidenum"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3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736BCE9-04AB-8205-AB9E-83EF920669E4}"/>
              </a:ext>
            </a:extLst>
          </p:cNvPr>
          <p:cNvGrpSpPr/>
          <p:nvPr/>
        </p:nvGrpSpPr>
        <p:grpSpPr>
          <a:xfrm>
            <a:off x="726539" y="2578477"/>
            <a:ext cx="2415403" cy="2462365"/>
            <a:chOff x="1052642" y="1914548"/>
            <a:chExt cx="2415403" cy="24623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D91EDA-FE93-E8E7-AAB8-8B1277EA5550}"/>
                </a:ext>
              </a:extLst>
            </p:cNvPr>
            <p:cNvSpPr txBox="1"/>
            <p:nvPr/>
          </p:nvSpPr>
          <p:spPr>
            <a:xfrm rot="16627291">
              <a:off x="1029161" y="1938029"/>
              <a:ext cx="2462365" cy="24154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Talent Score</a:t>
              </a:r>
              <a:endParaRPr lang="en-US" sz="1600" kern="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C2CD39F-967C-3FA1-CBCE-4CDAB2BCD9AE}"/>
                </a:ext>
              </a:extLst>
            </p:cNvPr>
            <p:cNvSpPr/>
            <p:nvPr/>
          </p:nvSpPr>
          <p:spPr>
            <a:xfrm rot="3600000">
              <a:off x="1152608" y="2025275"/>
              <a:ext cx="2092995" cy="2053076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FFB547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84819" tIns="1372391" rIns="789341" bIns="3063015" numCol="1" spcCol="1270" anchor="ctr" anchorCtr="0">
              <a:noAutofit/>
            </a:bodyPr>
            <a:lstStyle/>
            <a:p>
              <a:pPr algn="ctr" defTabSz="30224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1D1D1D"/>
                </a:buClr>
              </a:pPr>
              <a:endParaRPr lang="en-US" sz="66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5CF2636-9380-018F-205E-CED35B999758}"/>
                </a:ext>
              </a:extLst>
            </p:cNvPr>
            <p:cNvSpPr/>
            <p:nvPr/>
          </p:nvSpPr>
          <p:spPr>
            <a:xfrm>
              <a:off x="1570816" y="2365073"/>
              <a:ext cx="1340245" cy="1314683"/>
            </a:xfrm>
            <a:prstGeom prst="ellipse">
              <a:avLst/>
            </a:prstGeom>
            <a:solidFill>
              <a:srgbClr val="281A42"/>
            </a:solidFill>
            <a:ln w="38100">
              <a:solidFill>
                <a:srgbClr val="F2F2F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buClr>
                  <a:srgbClr val="1D1D1D"/>
                </a:buClr>
              </a:pPr>
              <a:endParaRPr lang="en-US" sz="2400" kern="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19E46D-ADC5-E730-B757-34A4D9F1A2E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2800" b="1" kern="0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sz="2800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2800" b="1" kern="0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958D0D-0206-67C9-300A-1AEAF67B6E9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803" y="6398150"/>
            <a:ext cx="1232036" cy="33023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AB11A1C-C791-58AB-CAF5-1F57EA9878F6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D7DE733B-9E3F-562E-71A6-F378C190F171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9">
              <a:extLst>
                <a:ext uri="{FF2B5EF4-FFF2-40B4-BE49-F238E27FC236}">
                  <a16:creationId xmlns:a16="http://schemas.microsoft.com/office/drawing/2014/main" id="{842BB6F3-6371-5FE3-BCBC-B0A838571E4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2" name="Picture 51" descr="Bend the Curve">
              <a:extLst>
                <a:ext uri="{FF2B5EF4-FFF2-40B4-BE49-F238E27FC236}">
                  <a16:creationId xmlns:a16="http://schemas.microsoft.com/office/drawing/2014/main" id="{E0F9B58F-1625-3C94-E43C-A5EEA76BA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D04CFCC-7F08-6F45-B433-3D73E26F5EA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AF6213F-75A2-4D05-0C3A-6D2F3247A1E9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5" name="Rectangle: Rounded Corners 13">
              <a:extLst>
                <a:ext uri="{FF2B5EF4-FFF2-40B4-BE49-F238E27FC236}">
                  <a16:creationId xmlns:a16="http://schemas.microsoft.com/office/drawing/2014/main" id="{8107E1E0-B60A-B625-257A-4C3BB06B4B7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Rectangle: Rounded Corners 14">
              <a:extLst>
                <a:ext uri="{FF2B5EF4-FFF2-40B4-BE49-F238E27FC236}">
                  <a16:creationId xmlns:a16="http://schemas.microsoft.com/office/drawing/2014/main" id="{FE9B46F2-0D48-09DA-8565-4F58F9C5B16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3522CEE-F07B-D2A5-E988-E2DB6E579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0C90F87-5078-3E2E-7652-0E00A56B974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653AA1-402D-42C7-A5C8-59FEB3B6D96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4" name="Rectangle: Rounded Corners 18">
              <a:extLst>
                <a:ext uri="{FF2B5EF4-FFF2-40B4-BE49-F238E27FC236}">
                  <a16:creationId xmlns:a16="http://schemas.microsoft.com/office/drawing/2014/main" id="{75D16824-8905-363C-6AD1-02B13A46363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5" name="Rectangle: Rounded Corners 19">
              <a:extLst>
                <a:ext uri="{FF2B5EF4-FFF2-40B4-BE49-F238E27FC236}">
                  <a16:creationId xmlns:a16="http://schemas.microsoft.com/office/drawing/2014/main" id="{A080012B-A46D-2A20-F21A-64C8E5828AA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704CB8B-0C7F-63D1-063F-D514AB85F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47109C0-9CA1-D298-C1B7-03C85CE093E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50CB590-9782-5B04-81D2-D657735ECF9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9" name="Rectangle: Rounded Corners 23">
              <a:extLst>
                <a:ext uri="{FF2B5EF4-FFF2-40B4-BE49-F238E27FC236}">
                  <a16:creationId xmlns:a16="http://schemas.microsoft.com/office/drawing/2014/main" id="{9B0902BF-4CFB-DF07-BDFC-0B4FFA4B21E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Rectangle: Rounded Corners 24">
              <a:extLst>
                <a:ext uri="{FF2B5EF4-FFF2-40B4-BE49-F238E27FC236}">
                  <a16:creationId xmlns:a16="http://schemas.microsoft.com/office/drawing/2014/main" id="{0DAE208F-1024-79FF-9C77-79DD9FC642F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1" name="Picture 70" descr="Choose">
              <a:extLst>
                <a:ext uri="{FF2B5EF4-FFF2-40B4-BE49-F238E27FC236}">
                  <a16:creationId xmlns:a16="http://schemas.microsoft.com/office/drawing/2014/main" id="{21590FB9-3E07-B079-BD4F-6490CD9B2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59C39A5-AA9D-C4C5-CD69-ED8E500F992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AEDB38-DC01-3106-3924-BBD9E68DAAD2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4" name="Rectangle: Rounded Corners 28">
              <a:extLst>
                <a:ext uri="{FF2B5EF4-FFF2-40B4-BE49-F238E27FC236}">
                  <a16:creationId xmlns:a16="http://schemas.microsoft.com/office/drawing/2014/main" id="{49A46DFE-0138-0D65-A1BE-8F2F6BB978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Rectangle: Rounded Corners 29">
              <a:extLst>
                <a:ext uri="{FF2B5EF4-FFF2-40B4-BE49-F238E27FC236}">
                  <a16:creationId xmlns:a16="http://schemas.microsoft.com/office/drawing/2014/main" id="{BFFA9D33-EC16-B1FF-79F6-C370529FC1E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4571242-1563-107A-9355-AC78564C3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537DA89-D92F-8BB5-2A3A-8A9326348C3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F64D6A1-7C9C-F880-DF57-60B9C5504227}"/>
              </a:ext>
            </a:extLst>
          </p:cNvPr>
          <p:cNvSpPr txBox="1"/>
          <p:nvPr/>
        </p:nvSpPr>
        <p:spPr>
          <a:xfrm>
            <a:off x="4376487" y="1043329"/>
            <a:ext cx="6389004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60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 Current Talent in the Role Fit to Deliver the Value Linked to the Role through the Jobs to Be Done?...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5FD2A0-672C-8B01-87E3-7E72EE4FCE3D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093DA-058E-F613-B674-4DF5E7A9BDA1}"/>
              </a:ext>
            </a:extLst>
          </p:cNvPr>
          <p:cNvSpPr txBox="1"/>
          <p:nvPr/>
        </p:nvSpPr>
        <p:spPr>
          <a:xfrm>
            <a:off x="4453530" y="1877819"/>
            <a:ext cx="59804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Match: </a:t>
            </a:r>
            <a:r>
              <a:rPr lang="en-US" sz="1400" spc="-10">
                <a:solidFill>
                  <a:srgbClr val="1D1D1D">
                    <a:lumMod val="95000"/>
                    <a:lumOff val="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 strong match of skills and experiences to do the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JTBDs? 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8DB462-FFCA-36C0-CB7E-89A876478489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76B777-6948-5244-7D7B-403C740EC38A}"/>
              </a:ext>
            </a:extLst>
          </p:cNvPr>
          <p:cNvSpPr txBox="1"/>
          <p:nvPr/>
        </p:nvSpPr>
        <p:spPr>
          <a:xfrm>
            <a:off x="4453530" y="2964609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 Match: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well matched is the talent to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identified superpowers?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9559A0-EF09-C953-6609-E8C0EA8E2EB8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5D19F-B964-D753-2A6A-2E07A44EE1DF}"/>
              </a:ext>
            </a:extLst>
          </p:cNvPr>
          <p:cNvSpPr txBox="1"/>
          <p:nvPr/>
        </p:nvSpPr>
        <p:spPr>
          <a:xfrm>
            <a:off x="4453530" y="4051399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Winning Track Record: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person have a consistent track record of persisting and finding a way to win?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1A0E1E-EEA0-2BF4-5D02-D651F1DECA06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F5CA33-6C0E-92F3-BDB5-B6E9235B30C6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Two-Way Fit: </a:t>
            </a:r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alignment between the individual and org culture, operating environment?</a:t>
            </a:r>
            <a:endParaRPr lang="en-US" sz="16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33E7D10A-3D85-4A51-B8FE-632B31556A28}" type="slidenum"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2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ECF0-30AD-3743-CDA5-E4D3C310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99F48F-472C-DC9A-A514-CA1FDDD2655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t>/click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49CDCF-4AC9-06A1-545F-5CEBC31E4C12}"/>
              </a:ext>
            </a:extLst>
          </p:cNvPr>
          <p:cNvSpPr txBox="1"/>
          <p:nvPr/>
        </p:nvSpPr>
        <p:spPr>
          <a:xfrm>
            <a:off x="631308" y="2408481"/>
            <a:ext cx="10086524" cy="45134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189" indent="-457189">
              <a:buAutoNum type="arabicPeriod"/>
            </a:pPr>
            <a:r>
              <a:rPr lang="en-US" sz="2133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insights or observations stand out to you in the following example?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5E326-9686-A4AC-29CC-645F1C0F7273}"/>
              </a:ext>
            </a:extLst>
          </p:cNvPr>
          <p:cNvSpPr txBox="1"/>
          <p:nvPr/>
        </p:nvSpPr>
        <p:spPr>
          <a:xfrm>
            <a:off x="631307" y="3326839"/>
            <a:ext cx="11236676" cy="45134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1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  Where would you focus to have the </a:t>
            </a:r>
            <a:r>
              <a:rPr lang="en-US" sz="2133" b="1" u="sng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QUICKEST</a:t>
            </a:r>
            <a:r>
              <a:rPr lang="en-US" sz="2133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1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and most </a:t>
            </a:r>
            <a:r>
              <a:rPr lang="en-US" sz="2133" b="1" u="sng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SIGNIFICANT</a:t>
            </a:r>
            <a:r>
              <a:rPr lang="en-US" sz="2133" b="1" spc="-1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1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impact?</a:t>
            </a:r>
            <a:endParaRPr lang="en-US" sz="2133" b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DCD407-EC71-D71B-5AEF-1EE4CB5509C0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E3FE0C87-F5B0-D672-03B3-F58FEEFBB33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0D31B9C5-243B-02B7-4B88-5F8E5029218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31736B13-27F1-207A-7D44-0CCDC47A0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A97F45-258A-71BA-B9E8-859E101D758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EF021BD-9C52-FF21-0270-DE2645B19C8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F3EDCE79-189F-4CF9-523C-67613905FC9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F92BF147-06C0-51AA-BAFC-0D130645101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37F0D1-80EC-91A3-45FF-0D8E96906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9723D4-C0AC-760B-B066-48B7EBA78A1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F5D9E4-FE86-04C8-6156-92B45838850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5" name="Rectangle: Rounded Corners 18">
              <a:extLst>
                <a:ext uri="{FF2B5EF4-FFF2-40B4-BE49-F238E27FC236}">
                  <a16:creationId xmlns:a16="http://schemas.microsoft.com/office/drawing/2014/main" id="{D6056A73-EFD9-413D-C299-D9ECA977A7FD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9">
              <a:extLst>
                <a:ext uri="{FF2B5EF4-FFF2-40B4-BE49-F238E27FC236}">
                  <a16:creationId xmlns:a16="http://schemas.microsoft.com/office/drawing/2014/main" id="{BBB4D7C4-4D24-BC9F-73A3-3EE27DA0C8D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A2BC0DB-20C8-C119-AABE-7C5BCAE1C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7AF66A0-3636-5EA3-4E9D-CE83FE68A836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90C835-AF31-E648-4665-CA32FAD051A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62330EFA-D65F-AC0B-AE63-78B519BD4A9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7FE4F249-28E3-BA17-F3DB-E91BEB43882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Choose">
              <a:extLst>
                <a:ext uri="{FF2B5EF4-FFF2-40B4-BE49-F238E27FC236}">
                  <a16:creationId xmlns:a16="http://schemas.microsoft.com/office/drawing/2014/main" id="{C687C9F1-D163-4A61-A9D8-B37FFDBAC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3165753-9EEC-7C04-EEE7-17E61415BB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3F93D1-C5F8-8182-D3B1-C8192265ED3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5C41550-9219-44C3-B77D-0584C13B68E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36417F9-9F1F-851A-F923-F92F6CB8AEA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 b="1" spc="-25">
                  <a:latin typeface="Segoe UI" pitchFamily="34" charset="0"/>
                </a:defRPr>
              </a:pPr>
              <a:endParaRPr lang="en-US" sz="16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6D8AA0F-2323-76C7-03C4-EA4BD6EF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635FE55-B0BA-F9D1-EB0D-332F3EEA46B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4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t>Role-talent card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3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7AA5AEE9-D9B2-4EE4-A8A8-92C7FC9A48EF}" type="slidenum"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4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E716A8-5612-84BB-019B-AE2688D2370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t>/click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FBE728-9B7E-F1A5-9F10-8D22BF3D7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181913"/>
              </p:ext>
            </p:extLst>
          </p:nvPr>
        </p:nvGraphicFramePr>
        <p:xfrm>
          <a:off x="551462" y="1048508"/>
          <a:ext cx="4853469" cy="4206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D37B865-66B2-19B2-55B4-216A2A97A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3867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#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Superpowers</a:t>
                      </a:r>
                      <a:endParaRPr lang="en-US" sz="1200" b="0" i="0">
                        <a:latin typeface="Arial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9D2B176-3247-1BCF-CB42-A5AC2F2BCAFE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rgbClr val="F2F2F2"/>
          </a:solidFill>
          <a:ln>
            <a:solidFill>
              <a:srgbClr val="281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 b="1" spc="-25">
                <a:latin typeface="Segoe UI" pitchFamily="34" charset="0"/>
              </a:defRPr>
            </a:pPr>
            <a:r>
              <a:rPr lang="en-US" sz="1467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C91735-0D5F-9C12-ABDF-CA69B83BB517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C140FB8C-4AA8-838F-19E2-633AAC271A15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 b="1" spc="-25">
                  <a:latin typeface="Segoe UI" pitchFamily="34" charset="0"/>
                </a:defRPr>
              </a:pPr>
              <a:endParaRPr lang="en-US" sz="24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CE308E-BDCF-3343-5F4F-BBC07DD82B4B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C180BA-C49E-E112-53CF-7327424B11AA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b="1" spc="-25">
                  <a:solidFill>
                    <a:srgbClr val="FFFFFF"/>
                  </a:solidFill>
                  <a:latin typeface="Segoe UI" pitchFamily="34" charset="0"/>
                </a:defRPr>
              </a:pPr>
              <a:endParaRPr lang="en-US" sz="24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C177D6-FC7A-A1AE-4271-A13CBDB26E08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E68839-3EE1-0EC4-F9AF-A68CDC27476A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8D25F5-B347-7FB7-41EC-4AAF3F193921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AEB44D-BB0F-0D81-9A66-7915EF4A2762}"/>
                </a:ext>
              </a:extLst>
            </p:cNvPr>
            <p:cNvSpPr txBox="1"/>
            <p:nvPr/>
          </p:nvSpPr>
          <p:spPr>
            <a:xfrm>
              <a:off x="5964432" y="1207988"/>
              <a:ext cx="2762482" cy="541173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A42C75-1F97-8D38-9412-1F5C2E8A77DA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0E6B6C-03C0-4C56-14C7-ADF3BE0CB515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A84B83-D26A-D131-A135-C72992879ED1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B8BCF5F-325E-2D8F-88EB-FC64ADEFF014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C71585E2-A502-8B02-F763-A2A3F09F237C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 b="1" spc="-25">
                  <a:latin typeface="Segoe UI" pitchFamily="34" charset="0"/>
                </a:defRPr>
              </a:pPr>
              <a:endParaRPr lang="en-US" sz="24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7FDA4C8-BD19-10FB-09D5-D26D1B654B46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E93D21-CCDD-8005-6408-E592B196109B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b="1" spc="-25">
                  <a:solidFill>
                    <a:srgbClr val="FFFFFF"/>
                  </a:solidFill>
                  <a:latin typeface="Segoe UI" pitchFamily="34" charset="0"/>
                </a:defRPr>
              </a:pPr>
              <a:endParaRPr lang="en-US" sz="24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D24316-B2D9-4617-D466-D6E48469D04B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42E725C-427D-9DE9-9671-E322D05B6B7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1EB1F3-BAB6-EF42-8662-8421703067B6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DCDD71-AD71-5940-A562-BF3513B79C5F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over Reliant on Convening or Influencing Authority. This Is a Risk to 65% of the Expected Value</a:t>
              </a:r>
            </a:p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F04ECF-D719-F85C-D6A2-A052704C0F84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F1E5EE6-D0AD-1C27-D8AC-8D9455FCA75E}"/>
                </a:ext>
              </a:extLst>
            </p:cNvPr>
            <p:cNvSpPr txBox="1"/>
            <p:nvPr/>
          </p:nvSpPr>
          <p:spPr>
            <a:xfrm>
              <a:off x="9125638" y="2646080"/>
              <a:ext cx="2477084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F6D8A23-1BEB-1632-F853-486ADD30021D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FF0712-9775-12BE-9C27-4EB1DCE72F86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66AB7B0-3030-DE14-A1B0-FA8BA8FCDB0D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52" name="Freeform 61">
                <a:extLst>
                  <a:ext uri="{FF2B5EF4-FFF2-40B4-BE49-F238E27FC236}">
                    <a16:creationId xmlns:a16="http://schemas.microsoft.com/office/drawing/2014/main" id="{80826015-24BE-642B-2789-FB951F3FFC8C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3" name="Freeform 65">
                <a:extLst>
                  <a:ext uri="{FF2B5EF4-FFF2-40B4-BE49-F238E27FC236}">
                    <a16:creationId xmlns:a16="http://schemas.microsoft.com/office/drawing/2014/main" id="{B1E9A9D7-1AE2-19C6-7A80-2FBE6F5D8C4A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6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4" name="Freeform 66">
                <a:extLst>
                  <a:ext uri="{FF2B5EF4-FFF2-40B4-BE49-F238E27FC236}">
                    <a16:creationId xmlns:a16="http://schemas.microsoft.com/office/drawing/2014/main" id="{EC252CBE-521C-EBB9-6D59-86E99A5EF01E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CC8E674-CD28-2EDE-29F8-BB327363A8C8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D1EF9AC-F701-0629-7D0E-F176FD7D70FF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id="{083268E9-879C-FFC3-957D-23C1CEDABC7A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Freeform 33">
              <a:extLst>
                <a:ext uri="{FF2B5EF4-FFF2-40B4-BE49-F238E27FC236}">
                  <a16:creationId xmlns:a16="http://schemas.microsoft.com/office/drawing/2014/main" id="{93E3A4DC-5BE8-F506-9AD3-313E9FF5E5F6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Freeform 34">
              <a:extLst>
                <a:ext uri="{FF2B5EF4-FFF2-40B4-BE49-F238E27FC236}">
                  <a16:creationId xmlns:a16="http://schemas.microsoft.com/office/drawing/2014/main" id="{CA56CE93-02EC-A4B8-6737-F96C457BC9E2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9F0A440-0487-B6B0-DF8C-885708910164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C341867-977C-AA79-E241-85F6995B4275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rgbClr val="F2F2F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051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954BCC-66D7-28BF-BB6D-EAA0722F5300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200" b="1" spc="-25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5FA298B-84D3-1112-91B3-34CB9896DB15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CAF9152-4952-5249-862D-715FB8D98281}"/>
              </a:ext>
            </a:extLst>
          </p:cNvPr>
          <p:cNvGrpSpPr/>
          <p:nvPr/>
        </p:nvGrpSpPr>
        <p:grpSpPr>
          <a:xfrm>
            <a:off x="5674937" y="4199059"/>
            <a:ext cx="6204409" cy="2268801"/>
            <a:chOff x="5674937" y="4199059"/>
            <a:chExt cx="6204409" cy="226880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D3863BF-9EC7-3E17-DCFE-A5B314DB83B2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5674937" y="4199059"/>
              <a:chExt cx="6204409" cy="2075345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743DAF4-5D4E-7710-7A0B-F55BA951F5B6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4256202" y="3221484"/>
                <a:chExt cx="4653307" cy="1681530"/>
              </a:xfrm>
            </p:grpSpPr>
            <p:sp>
              <p:nvSpPr>
                <p:cNvPr id="60" name="Freeform: Shape 20">
                  <a:extLst>
                    <a:ext uri="{FF2B5EF4-FFF2-40B4-BE49-F238E27FC236}">
                      <a16:creationId xmlns:a16="http://schemas.microsoft.com/office/drawing/2014/main" id="{621E89B5-0D85-83B2-F689-DECE166BEC0D}"/>
                    </a:ext>
                  </a:extLst>
                </p:cNvPr>
                <p:cNvSpPr/>
                <p:nvPr/>
              </p:nvSpPr>
              <p:spPr>
                <a:xfrm>
                  <a:off x="4256202" y="3221484"/>
                  <a:ext cx="4653307" cy="1681530"/>
                </a:xfrm>
                <a:custGeom>
                  <a:avLst/>
                  <a:gdLst>
                    <a:gd name="connsiteX0" fmla="*/ 94370 w 6204409"/>
                    <a:gd name="connsiteY0" fmla="*/ 0 h 2104731"/>
                    <a:gd name="connsiteX1" fmla="*/ 1988467 w 6204409"/>
                    <a:gd name="connsiteY1" fmla="*/ 0 h 2104731"/>
                    <a:gd name="connsiteX2" fmla="*/ 2000984 w 6204409"/>
                    <a:gd name="connsiteY2" fmla="*/ 79222 h 2104731"/>
                    <a:gd name="connsiteX3" fmla="*/ 3030719 w 6204409"/>
                    <a:gd name="connsiteY3" fmla="*/ 889879 h 2104731"/>
                    <a:gd name="connsiteX4" fmla="*/ 4060454 w 6204409"/>
                    <a:gd name="connsiteY4" fmla="*/ 79222 h 2104731"/>
                    <a:gd name="connsiteX5" fmla="*/ 4072971 w 6204409"/>
                    <a:gd name="connsiteY5" fmla="*/ 0 h 2104731"/>
                    <a:gd name="connsiteX6" fmla="*/ 6110039 w 6204409"/>
                    <a:gd name="connsiteY6" fmla="*/ 0 h 2104731"/>
                    <a:gd name="connsiteX7" fmla="*/ 6204409 w 6204409"/>
                    <a:gd name="connsiteY7" fmla="*/ 91113 h 2104731"/>
                    <a:gd name="connsiteX8" fmla="*/ 6204409 w 6204409"/>
                    <a:gd name="connsiteY8" fmla="*/ 1179653 h 2104731"/>
                    <a:gd name="connsiteX9" fmla="*/ 6204409 w 6204409"/>
                    <a:gd name="connsiteY9" fmla="*/ 1740312 h 2104731"/>
                    <a:gd name="connsiteX10" fmla="*/ 6204409 w 6204409"/>
                    <a:gd name="connsiteY10" fmla="*/ 2018275 h 2104731"/>
                    <a:gd name="connsiteX11" fmla="*/ 6117953 w 6204409"/>
                    <a:gd name="connsiteY11" fmla="*/ 2104731 h 2104731"/>
                    <a:gd name="connsiteX12" fmla="*/ 86456 w 6204409"/>
                    <a:gd name="connsiteY12" fmla="*/ 2104731 h 2104731"/>
                    <a:gd name="connsiteX13" fmla="*/ 0 w 6204409"/>
                    <a:gd name="connsiteY13" fmla="*/ 2018275 h 2104731"/>
                    <a:gd name="connsiteX14" fmla="*/ 0 w 6204409"/>
                    <a:gd name="connsiteY14" fmla="*/ 1740312 h 2104731"/>
                    <a:gd name="connsiteX15" fmla="*/ 0 w 6204409"/>
                    <a:gd name="connsiteY15" fmla="*/ 1179653 h 2104731"/>
                    <a:gd name="connsiteX16" fmla="*/ 0 w 6204409"/>
                    <a:gd name="connsiteY16" fmla="*/ 91113 h 2104731"/>
                    <a:gd name="connsiteX17" fmla="*/ 94370 w 6204409"/>
                    <a:gd name="connsiteY17" fmla="*/ 0 h 2104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204409" h="2104731">
                      <a:moveTo>
                        <a:pt x="94370" y="0"/>
                      </a:moveTo>
                      <a:lnTo>
                        <a:pt x="1988467" y="0"/>
                      </a:lnTo>
                      <a:lnTo>
                        <a:pt x="2000984" y="79222"/>
                      </a:lnTo>
                      <a:cubicBezTo>
                        <a:pt x="2098995" y="541864"/>
                        <a:pt x="2522782" y="889879"/>
                        <a:pt x="3030719" y="889879"/>
                      </a:cubicBezTo>
                      <a:cubicBezTo>
                        <a:pt x="3538657" y="889879"/>
                        <a:pt x="3962443" y="541864"/>
                        <a:pt x="4060454" y="79222"/>
                      </a:cubicBezTo>
                      <a:lnTo>
                        <a:pt x="4072971" y="0"/>
                      </a:lnTo>
                      <a:lnTo>
                        <a:pt x="6110039" y="0"/>
                      </a:lnTo>
                      <a:cubicBezTo>
                        <a:pt x="6162158" y="0"/>
                        <a:pt x="6204409" y="40793"/>
                        <a:pt x="6204409" y="91113"/>
                      </a:cubicBezTo>
                      <a:lnTo>
                        <a:pt x="6204409" y="1179653"/>
                      </a:lnTo>
                      <a:lnTo>
                        <a:pt x="6204409" y="1740312"/>
                      </a:lnTo>
                      <a:lnTo>
                        <a:pt x="6204409" y="2018275"/>
                      </a:lnTo>
                      <a:cubicBezTo>
                        <a:pt x="6204409" y="2066023"/>
                        <a:pt x="6165701" y="2104731"/>
                        <a:pt x="6117953" y="2104731"/>
                      </a:cubicBezTo>
                      <a:lnTo>
                        <a:pt x="86456" y="2104731"/>
                      </a:lnTo>
                      <a:cubicBezTo>
                        <a:pt x="38708" y="2104731"/>
                        <a:pt x="0" y="2066023"/>
                        <a:pt x="0" y="2018275"/>
                      </a:cubicBezTo>
                      <a:lnTo>
                        <a:pt x="0" y="1740312"/>
                      </a:lnTo>
                      <a:lnTo>
                        <a:pt x="0" y="1179653"/>
                      </a:lnTo>
                      <a:lnTo>
                        <a:pt x="0" y="91113"/>
                      </a:lnTo>
                      <a:cubicBezTo>
                        <a:pt x="0" y="40793"/>
                        <a:pt x="42251" y="0"/>
                        <a:pt x="94370" y="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Autofit/>
                </a:bodyPr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DC762433-6F01-ACA3-2754-660F2BDDE8F1}"/>
                    </a:ext>
                  </a:extLst>
                </p:cNvPr>
                <p:cNvSpPr/>
                <p:nvPr/>
              </p:nvSpPr>
              <p:spPr>
                <a:xfrm>
                  <a:off x="4374342" y="3347827"/>
                  <a:ext cx="98981" cy="1333913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2BB4EDA-3AEB-D043-28BE-821D1D502E9A}"/>
                    </a:ext>
                  </a:extLst>
                </p:cNvPr>
                <p:cNvSpPr txBox="1"/>
                <p:nvPr/>
              </p:nvSpPr>
              <p:spPr>
                <a:xfrm>
                  <a:off x="4441759" y="3326953"/>
                  <a:ext cx="1501993" cy="63483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Match</a:t>
                  </a:r>
                </a:p>
                <a:p>
                  <a:pPr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JTBD 1 – Ready now: is disciplined and process oriented. Evidence : success of the Big Box Retailer RFP</a:t>
                  </a: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.</a:t>
                  </a:r>
                  <a:endPara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EA3BC64-3453-BFCA-1FAD-F2DEC67DCF8D}"/>
                    </a:ext>
                  </a:extLst>
                </p:cNvPr>
                <p:cNvSpPr txBox="1"/>
                <p:nvPr/>
              </p:nvSpPr>
              <p:spPr>
                <a:xfrm>
                  <a:off x="7169130" y="3249385"/>
                  <a:ext cx="1570712" cy="75617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1067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Superpowers</a:t>
                  </a: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Strong expertise in managing sales for a roll up environment from the previous role</a:t>
                  </a:r>
                </a:p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</a:t>
                  </a:r>
                  <a:r>
                    <a:rPr lang="en-US" sz="733" b="1" spc="-10">
                      <a:solidFill>
                        <a:srgbClr val="1D1D1D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Low on charisma and ability </a:t>
                  </a:r>
                  <a:r>
                    <a: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to influence internally, as evidenced by current feedback from 2 division presidents </a:t>
                  </a:r>
                </a:p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CC76ED7-D062-B30D-D7FD-8F69D34317E4}"/>
                    </a:ext>
                  </a:extLst>
                </p:cNvPr>
                <p:cNvSpPr/>
                <p:nvPr/>
              </p:nvSpPr>
              <p:spPr>
                <a:xfrm>
                  <a:off x="8726242" y="4287175"/>
                  <a:ext cx="98981" cy="347078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D05BFF9-C6D8-2279-601E-6F32A0D98720}"/>
                    </a:ext>
                  </a:extLst>
                </p:cNvPr>
                <p:cNvSpPr txBox="1"/>
                <p:nvPr/>
              </p:nvSpPr>
              <p:spPr>
                <a:xfrm>
                  <a:off x="6844228" y="4294882"/>
                  <a:ext cx="1854410" cy="3751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Two Way Fit</a:t>
                  </a:r>
                </a:p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Feedback from him at year end was that he is happy in the role, learning and keen to stay 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00A305F0-1755-189B-C9D9-33AD3D2790C5}"/>
                    </a:ext>
                  </a:extLst>
                </p:cNvPr>
                <p:cNvSpPr/>
                <p:nvPr/>
              </p:nvSpPr>
              <p:spPr>
                <a:xfrm>
                  <a:off x="8739842" y="3383556"/>
                  <a:ext cx="98981" cy="347078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770E8F5-1EDE-8FA1-DF10-86E21A12F417}"/>
                    </a:ext>
                  </a:extLst>
                </p:cNvPr>
                <p:cNvSpPr txBox="1"/>
                <p:nvPr/>
              </p:nvSpPr>
              <p:spPr>
                <a:xfrm>
                  <a:off x="6887913" y="3888516"/>
                  <a:ext cx="1854410" cy="39227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Winning Track Record </a:t>
                  </a:r>
                </a:p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He had an excellent track record in his previous role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21099802-1129-6ADC-D455-1FBF494AD113}"/>
                    </a:ext>
                  </a:extLst>
                </p:cNvPr>
                <p:cNvSpPr/>
                <p:nvPr/>
              </p:nvSpPr>
              <p:spPr>
                <a:xfrm>
                  <a:off x="8743137" y="3834915"/>
                  <a:ext cx="98981" cy="313704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CA29E60-81B3-4293-D003-F2625FA3A5B8}"/>
                  </a:ext>
                </a:extLst>
              </p:cNvPr>
              <p:cNvSpPr txBox="1"/>
              <p:nvPr/>
            </p:nvSpPr>
            <p:spPr>
              <a:xfrm>
                <a:off x="5935474" y="5115252"/>
                <a:ext cx="3235283" cy="9537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JTBD 2 - High readiness – worked in a 50+ company roll up world in his previous role 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3. </a:t>
                </a: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 – Low readiness – feedback from the BU presidents on the VP sales is variable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4. JTBD 4 &amp; 5 – Ready now – good feedback and track record on these in his previous role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CE9F214-4BC0-174B-9BB1-BA783599C02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noAutofit/>
            </a:bodyPr>
            <a:lstStyle/>
            <a:p>
              <a:pPr algn="ctr">
                <a:defRPr>
                  <a:solidFill>
                    <a:srgbClr val="1D1D1D"/>
                  </a:solidFill>
                </a:defRPr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</p:grpSp>
      <p:sp>
        <p:nvSpPr>
          <p:cNvPr id="70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t>Role-talent card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7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4DEC2E32-D84B-4FC8-B3D9-35217753F1A6}" type="slidenum"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8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ED4E-CE21-E030-2AD8-22EA794B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D7B4CA8-1B43-6B70-689B-59DA866DD720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99B251-195D-2BAC-3544-A9812D3D8AB7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noAutofit/>
            </a:bodyPr>
            <a:lstStyle/>
            <a:p>
              <a:pPr algn="ctr">
                <a:defRPr>
                  <a:solidFill>
                    <a:srgbClr val="1D1D1D"/>
                  </a:solidFill>
                </a:defRPr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B1B8B6-7D60-47A3-3FDD-76D1C90872C0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4649954E-4BC8-91EA-0FA4-EFBFF62C8614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 b="1" spc="-25">
                    <a:latin typeface="Segoe UI" pitchFamily="34" charset="0"/>
                  </a:defRPr>
                </a:pPr>
                <a:endPara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8473EC-C0C1-EE52-ECF1-1B2180410797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2400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90314F-FAAD-EA85-EBAA-654919FE768E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 b="1" spc="-25">
                    <a:solidFill>
                      <a:srgbClr val="FFFFFF"/>
                    </a:solidFill>
                    <a:latin typeface="Segoe UI" pitchFamily="34" charset="0"/>
                  </a:defRPr>
                </a:pPr>
                <a:endParaRPr lang="en-US" sz="24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498BBA-01C9-3E55-45D4-3A6E51A13885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30F01A6-77B3-CB16-FBE5-BEE2AC425866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615EB19-1692-E7E2-F3DC-6E8E475438E3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C9C8F7-A0E9-C360-685B-7F8DC3547974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1051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9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393E51-1615-AA34-BB30-27F8210883DE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CBD636-D7D5-756E-004F-8C4BC7C10E9D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CD3E53-D24B-F178-EB10-F71C85AE67C8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DB4BBD5-ED63-7A31-0D26-725E0B5DC6AE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AAFE6729-212D-739E-3E96-0A73CC3BDB18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 b="1" spc="-25">
                    <a:latin typeface="Segoe UI" pitchFamily="34" charset="0"/>
                  </a:defRPr>
                </a:pPr>
                <a:endPara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FBB84D8-4F3B-F9FA-224C-66555F3AAEA2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2400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93D2FA9-7BCD-7934-5C25-F40A45B57685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 b="1" spc="-25">
                    <a:solidFill>
                      <a:srgbClr val="FFFFFF"/>
                    </a:solidFill>
                    <a:latin typeface="Segoe UI" pitchFamily="34" charset="0"/>
                  </a:defRPr>
                </a:pPr>
                <a:endParaRPr lang="en-US" sz="24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365BBDC-79C0-F657-6E31-1E38454DA7ED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732869D-3C0C-236D-4B43-4A8521EDF980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E2F63C0-4B75-9D5D-3533-644621622EE0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7B4617-6403-95F3-15B5-348413DD2CBF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1051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9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over Reliant on Convening or Influencing Authority. This Is a Risk to 65% of the Expected Value</a:t>
                </a:r>
              </a:p>
              <a:p>
                <a:pPr algn="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9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6733E73-448C-E9D8-BD01-636C02B24B91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33D03BF-459F-C382-C192-586EEB2FD695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85A76A0-0B14-160B-F82E-D3BF010DACA5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847B908-7046-0E26-7728-CAFE8ABB508B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32966F1-3A4F-2098-A9AB-3AD7128C94C2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502CD886-7986-3B8B-3020-662236E6D4C1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b="1" spc="-25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3DF6E29E-F286-DBF7-A86F-1B4EB00DC369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600" b="1" spc="-25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3E0EA462-20D3-7278-CAD6-067C025F97C7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b="1" spc="-25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51F161-07E2-0C53-8D2B-57F008481E60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B9D1118-03DA-78B8-5623-26EE90121579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4954CC87-9E37-3933-F2E6-3770B2BFFF0C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solidFill>
                  <a:srgbClr val="00C27A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40231EE1-618F-925A-CEFA-52A03E25900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ADD728E1-DBF2-6ADD-CD8D-AA54F8577607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90D0AB45-AA9A-1D9F-0F98-B9706DA72AAA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EC6C1A96-C3DC-5A29-2AB0-F2F21D45DCD8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281A42"/>
                </a:solidFill>
                <a:ln w="38100">
                  <a:solidFill>
                    <a:srgbClr val="F2F2F2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051" b="1" spc="-25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2E6D284-E790-4AFE-D9C7-D6800953D9D6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sz="1200" b="1" spc="-25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C2EA738-96CA-D61B-15DD-C2FF45104B2D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F448328D-78AB-92E1-3E10-8814FFA2A49B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508B631F-A344-B02E-F1EA-73FF4EA04981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B9D91DC8-957A-5DF6-47DE-2676C485384F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51ADD582-3CF5-1F12-E903-963370AE53B8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rgbClr val="F2F2F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33E700A2-3ADD-8D91-264C-3852DD7AF1F8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45C532DB-0869-E13D-4EDC-87823DD8372B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C710F0F-294A-4EB8-60F9-A0F0B409FB6B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1067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7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7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 spc="-10">
                        <a:solidFill>
                          <a:srgbClr val="1D1D1D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2BAA0EC8-A92E-E3F4-CF5D-D83B17EEA0FC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C6E4AF3D-B06C-4C34-E4D7-97CCD5942CD2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800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AAD5A3BA-96AB-0C14-30B5-D0E81AAD4058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65E58895-D3F3-4034-C351-373675DFBE10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BAB5A2BB-0601-5DDD-319A-354F3812138E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B0D1DF3-437F-0F08-1B93-EA4E8FAF1350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E2C6D22-587D-1DB0-F7E2-CB2C16F9541F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algn="ctr">
                  <a:defRPr>
                    <a:solidFill>
                      <a:srgbClr val="1D1D1D"/>
                    </a:solidFill>
                  </a:defRPr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FC1523E-F053-A806-8625-B93982C39A3A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t>/click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BAF68114-BEFD-5FDC-78BD-734918B01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7374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173C80-7A7D-4690-5F40-DA8F039A3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88769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F920DCD3-BEE9-1D32-C60B-F65C0A7CC6FB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rgbClr val="F2F2F2"/>
          </a:solidFill>
          <a:ln>
            <a:solidFill>
              <a:srgbClr val="281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 b="1" spc="-25">
                <a:latin typeface="Segoe UI" pitchFamily="34" charset="0"/>
              </a:defRPr>
            </a:pPr>
            <a:r>
              <a:rPr lang="en-US" sz="1467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sp>
        <p:nvSpPr>
          <p:cNvPr id="115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t>Role-talent card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11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D3FF4A7F-2714-47DD-B9C0-6EE46AC1D42D}" type="slidenum"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CF65-8D16-0CA0-CB75-FB7F3512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06C4932-9513-BFCC-F321-552B34C3EF3D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EBB7BAB-9794-75F3-BB5D-3916CE0D6D6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noAutofit/>
            </a:bodyPr>
            <a:lstStyle/>
            <a:p>
              <a:pPr algn="ctr">
                <a:defRPr>
                  <a:solidFill>
                    <a:srgbClr val="1D1D1D"/>
                  </a:solidFill>
                </a:defRPr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F22657A-D387-02E5-6ACA-59D995EB2276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59A657BB-604C-0884-5EAB-EEC810EF77CF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 b="1" spc="-25">
                    <a:latin typeface="Segoe UI" pitchFamily="34" charset="0"/>
                  </a:defRPr>
                </a:pPr>
                <a:endPara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C3053C-ACF8-7C1C-0853-66F77A85C150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2400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6CE548-61CA-B9BC-079E-66E75A8DFD65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 b="1" spc="-25">
                    <a:solidFill>
                      <a:srgbClr val="FFFFFF"/>
                    </a:solidFill>
                    <a:latin typeface="Segoe UI" pitchFamily="34" charset="0"/>
                  </a:defRPr>
                </a:pPr>
                <a:endParaRPr lang="en-US" sz="24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06EBAD7-28D9-DA6E-C17C-3C302C610B3A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7238AF7-DC5F-9BEF-7D4B-D31B0C4F210B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55F8FFE-549D-86D3-FB1E-C2E6D53835BF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1865E4-052E-4925-8D37-3404DCD7A41F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1051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9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8F27782-BD88-81E1-E44C-E58E02858383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23C6A1-3041-E303-06C7-121D513D7443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C5C91D-B8D2-B05E-B0E2-8DD0D3894FC2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DF92F98-1D88-A90D-A5F7-90439D6A041A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25224759-576D-9318-73F9-E9BAD6ACA758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 b="1" spc="-25">
                    <a:latin typeface="Segoe UI" pitchFamily="34" charset="0"/>
                  </a:defRPr>
                </a:pPr>
                <a:endPara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33F34C-4E58-9BBE-5162-E7B2BC90CC4A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2400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E7FCB6B-22B4-CD3B-E13B-F32063BA9652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 b="1" spc="-25">
                    <a:solidFill>
                      <a:srgbClr val="FFFFFF"/>
                    </a:solidFill>
                    <a:latin typeface="Segoe UI" pitchFamily="34" charset="0"/>
                  </a:defRPr>
                </a:pPr>
                <a:endParaRPr lang="en-US" sz="24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73A4321-F2B6-B8B5-B5B3-EEE68F20EDDC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DCD8A30-68FE-3136-4BC5-267FCF234A93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0147533-29F1-8498-FF0C-AC3831753F88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4D4EB67-8E18-E4F9-C64B-9255D43C3549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1051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9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over Reliant on Convening or Influencing Authority. This Is a Risk to 65% of the Expected Value</a:t>
                </a:r>
              </a:p>
              <a:p>
                <a:pPr algn="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9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3EDA3F-72DA-B6E0-F764-FECF9E151501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E92D9E6-9C54-2CBE-B11C-30C5F4F2CF43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2F1DD30-17B4-4BF3-89BA-881DAA880227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B16A7D-AC52-1279-74EB-D0F67426FBD5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12E3701-0BCD-F722-1C88-B7DC76AD2232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2F7ACA38-0457-601F-EC26-0C71A8172403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b="1" spc="-25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A44B2214-248F-1C6B-2AAB-C1F69CCADCC1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600" b="1" spc="-25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C25E44F9-A0D2-6001-E373-308B74BAED9B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b="1" spc="-25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7299E6B-FEF4-081E-F9CF-E14498C3782C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51E1BFB-845D-3022-3994-0728F28F2BBC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71883FDC-AD84-E7F2-3AE7-CE7B6BF49480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solidFill>
                  <a:srgbClr val="00C27A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186E3748-4886-F8DC-846B-3ACAE592EEA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967DA273-4D25-407B-599D-9272EDBC8D7F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4B84B3A-C39F-654E-69FB-72DC829C2310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F6BF474-04F1-3158-2ED4-64B92EF8C198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281A42"/>
                </a:solidFill>
                <a:ln w="38100">
                  <a:solidFill>
                    <a:srgbClr val="F2F2F2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051" b="1" spc="-25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F49BA45-6A7E-AD2E-B25A-A0A6353DD80C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sz="1200" b="1" spc="-25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103F7A0-5846-2807-65E5-F44D8247291D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93BD011-E772-8636-B9B2-56295D42B35B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1847A726-12FF-C370-8DC5-D189A3F97A70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D99504E7-B19C-E91A-696E-7A5E410A98CD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54B87BCD-CD03-2600-2A08-29425F046DAA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rgbClr val="F2F2F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EE3F2896-B027-ACE8-9D9A-A7AAD7B1100C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9884B706-D6D5-F2E8-74FF-2C1717DCDF96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9322346A-1FB5-019A-11C5-D58D0488A5C7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1067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7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7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 spc="-10">
                        <a:solidFill>
                          <a:srgbClr val="1D1D1D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869EF47E-D28D-780B-5956-2D953612FDA7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2D6DAD77-916D-798A-2695-847D8F062C5B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800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4E2A3F88-7429-EC0D-ACCD-B45AC824B427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1AC6ABC8-B4E2-AAFD-07F1-FEB513B6A313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A0F8FE5E-E4CE-4548-39EC-D4D17996A08A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384C961-FAE9-40AE-10B1-5F557D612616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5AEB74-F5A2-498D-51C7-D0F0F9AA5DB4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algn="ctr">
                  <a:defRPr>
                    <a:solidFill>
                      <a:srgbClr val="1D1D1D"/>
                    </a:solidFill>
                  </a:defRPr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F8823387-F654-F02C-D530-322A04FFD07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t>/click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DFCCB8DE-C7E6-4DC3-09C8-EE9F0875D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868493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3CB7A9-24C6-43A3-F2C1-EC50D9FB9D7B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F85AC9F3-D26E-8711-6ED0-2A86ADD2FB54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rgbClr val="F2F2F2"/>
          </a:solidFill>
          <a:ln>
            <a:solidFill>
              <a:srgbClr val="281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 b="1" spc="-25">
                <a:latin typeface="Segoe UI" pitchFamily="34" charset="0"/>
              </a:defRPr>
            </a:pPr>
            <a:r>
              <a:rPr lang="en-US" sz="1467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1E39CFB-797F-EDF3-F220-A96A9E6F2777}"/>
              </a:ext>
            </a:extLst>
          </p:cNvPr>
          <p:cNvGrpSpPr/>
          <p:nvPr/>
        </p:nvGrpSpPr>
        <p:grpSpPr>
          <a:xfrm>
            <a:off x="7853584" y="3225105"/>
            <a:ext cx="1689983" cy="1698917"/>
            <a:chOff x="7868019" y="3217791"/>
            <a:chExt cx="1689983" cy="169891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001FB54-E3E3-B4F8-540F-D96EEB0E3AB8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9" name="Freeform 61">
                <a:extLst>
                  <a:ext uri="{FF2B5EF4-FFF2-40B4-BE49-F238E27FC236}">
                    <a16:creationId xmlns:a16="http://schemas.microsoft.com/office/drawing/2014/main" id="{57570686-AC75-76AE-6366-59B87634A495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0" name="Freeform 65">
                <a:extLst>
                  <a:ext uri="{FF2B5EF4-FFF2-40B4-BE49-F238E27FC236}">
                    <a16:creationId xmlns:a16="http://schemas.microsoft.com/office/drawing/2014/main" id="{6721E10A-0EED-43EE-4395-E1CBC358A663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6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1" name="Freeform 66">
                <a:extLst>
                  <a:ext uri="{FF2B5EF4-FFF2-40B4-BE49-F238E27FC236}">
                    <a16:creationId xmlns:a16="http://schemas.microsoft.com/office/drawing/2014/main" id="{105AFFF8-2FD7-7BCE-2F60-08E34B180AA8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FB47FAE-10D1-0E24-F557-715AB6E6A882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D8FF446-DDC0-B9CD-50BF-468F60E96975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D7FE9AA1-ECCA-CCF5-92BE-2A9DFA807A9F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AB1774E7-76CB-FC1C-FC8C-3154DB76ED0A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7BEAD628-031C-56C8-AD61-CCDD4AEFAC90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5B5FDF5-3327-03C5-CC68-760531EA4633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E5FCC8E-D1FF-A828-3EDA-6728F4F48FDD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rgbClr val="F2F2F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051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5B8F6A8-A192-3089-8FAF-F7251CD15714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200" b="1" spc="-25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8DB22B5-F303-3CCE-9DE2-D1EC6E044B3D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A3ACDEA-781D-73F3-8715-3CF0DB622F45}"/>
              </a:ext>
            </a:extLst>
          </p:cNvPr>
          <p:cNvGrpSpPr/>
          <p:nvPr/>
        </p:nvGrpSpPr>
        <p:grpSpPr>
          <a:xfrm>
            <a:off x="5660502" y="4206373"/>
            <a:ext cx="6204409" cy="2268801"/>
            <a:chOff x="5674937" y="4199059"/>
            <a:chExt cx="6204409" cy="226880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D779DB8-6CC2-C8C3-F06D-52CC2FCF73A6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5674937" y="4199059"/>
              <a:chExt cx="6204409" cy="2075345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ED7CC18-26ED-BE9D-56DD-503264B34397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4256202" y="3221484"/>
                <a:chExt cx="4653307" cy="1681530"/>
              </a:xfrm>
            </p:grpSpPr>
            <p:sp>
              <p:nvSpPr>
                <p:cNvPr id="87" name="Freeform: Shape 20">
                  <a:extLst>
                    <a:ext uri="{FF2B5EF4-FFF2-40B4-BE49-F238E27FC236}">
                      <a16:creationId xmlns:a16="http://schemas.microsoft.com/office/drawing/2014/main" id="{7F246B12-CAB6-FE80-1694-73F26045D796}"/>
                    </a:ext>
                  </a:extLst>
                </p:cNvPr>
                <p:cNvSpPr/>
                <p:nvPr/>
              </p:nvSpPr>
              <p:spPr>
                <a:xfrm>
                  <a:off x="4256202" y="3221484"/>
                  <a:ext cx="4653307" cy="1681530"/>
                </a:xfrm>
                <a:custGeom>
                  <a:avLst/>
                  <a:gdLst>
                    <a:gd name="connsiteX0" fmla="*/ 94370 w 6204409"/>
                    <a:gd name="connsiteY0" fmla="*/ 0 h 2104731"/>
                    <a:gd name="connsiteX1" fmla="*/ 1988467 w 6204409"/>
                    <a:gd name="connsiteY1" fmla="*/ 0 h 2104731"/>
                    <a:gd name="connsiteX2" fmla="*/ 2000984 w 6204409"/>
                    <a:gd name="connsiteY2" fmla="*/ 79222 h 2104731"/>
                    <a:gd name="connsiteX3" fmla="*/ 3030719 w 6204409"/>
                    <a:gd name="connsiteY3" fmla="*/ 889879 h 2104731"/>
                    <a:gd name="connsiteX4" fmla="*/ 4060454 w 6204409"/>
                    <a:gd name="connsiteY4" fmla="*/ 79222 h 2104731"/>
                    <a:gd name="connsiteX5" fmla="*/ 4072971 w 6204409"/>
                    <a:gd name="connsiteY5" fmla="*/ 0 h 2104731"/>
                    <a:gd name="connsiteX6" fmla="*/ 6110039 w 6204409"/>
                    <a:gd name="connsiteY6" fmla="*/ 0 h 2104731"/>
                    <a:gd name="connsiteX7" fmla="*/ 6204409 w 6204409"/>
                    <a:gd name="connsiteY7" fmla="*/ 91113 h 2104731"/>
                    <a:gd name="connsiteX8" fmla="*/ 6204409 w 6204409"/>
                    <a:gd name="connsiteY8" fmla="*/ 1179653 h 2104731"/>
                    <a:gd name="connsiteX9" fmla="*/ 6204409 w 6204409"/>
                    <a:gd name="connsiteY9" fmla="*/ 1740312 h 2104731"/>
                    <a:gd name="connsiteX10" fmla="*/ 6204409 w 6204409"/>
                    <a:gd name="connsiteY10" fmla="*/ 2018275 h 2104731"/>
                    <a:gd name="connsiteX11" fmla="*/ 6117953 w 6204409"/>
                    <a:gd name="connsiteY11" fmla="*/ 2104731 h 2104731"/>
                    <a:gd name="connsiteX12" fmla="*/ 86456 w 6204409"/>
                    <a:gd name="connsiteY12" fmla="*/ 2104731 h 2104731"/>
                    <a:gd name="connsiteX13" fmla="*/ 0 w 6204409"/>
                    <a:gd name="connsiteY13" fmla="*/ 2018275 h 2104731"/>
                    <a:gd name="connsiteX14" fmla="*/ 0 w 6204409"/>
                    <a:gd name="connsiteY14" fmla="*/ 1740312 h 2104731"/>
                    <a:gd name="connsiteX15" fmla="*/ 0 w 6204409"/>
                    <a:gd name="connsiteY15" fmla="*/ 1179653 h 2104731"/>
                    <a:gd name="connsiteX16" fmla="*/ 0 w 6204409"/>
                    <a:gd name="connsiteY16" fmla="*/ 91113 h 2104731"/>
                    <a:gd name="connsiteX17" fmla="*/ 94370 w 6204409"/>
                    <a:gd name="connsiteY17" fmla="*/ 0 h 2104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204409" h="2104731">
                      <a:moveTo>
                        <a:pt x="94370" y="0"/>
                      </a:moveTo>
                      <a:lnTo>
                        <a:pt x="1988467" y="0"/>
                      </a:lnTo>
                      <a:lnTo>
                        <a:pt x="2000984" y="79222"/>
                      </a:lnTo>
                      <a:cubicBezTo>
                        <a:pt x="2098995" y="541864"/>
                        <a:pt x="2522782" y="889879"/>
                        <a:pt x="3030719" y="889879"/>
                      </a:cubicBezTo>
                      <a:cubicBezTo>
                        <a:pt x="3538657" y="889879"/>
                        <a:pt x="3962443" y="541864"/>
                        <a:pt x="4060454" y="79222"/>
                      </a:cubicBezTo>
                      <a:lnTo>
                        <a:pt x="4072971" y="0"/>
                      </a:lnTo>
                      <a:lnTo>
                        <a:pt x="6110039" y="0"/>
                      </a:lnTo>
                      <a:cubicBezTo>
                        <a:pt x="6162158" y="0"/>
                        <a:pt x="6204409" y="40793"/>
                        <a:pt x="6204409" y="91113"/>
                      </a:cubicBezTo>
                      <a:lnTo>
                        <a:pt x="6204409" y="1179653"/>
                      </a:lnTo>
                      <a:lnTo>
                        <a:pt x="6204409" y="1740312"/>
                      </a:lnTo>
                      <a:lnTo>
                        <a:pt x="6204409" y="2018275"/>
                      </a:lnTo>
                      <a:cubicBezTo>
                        <a:pt x="6204409" y="2066023"/>
                        <a:pt x="6165701" y="2104731"/>
                        <a:pt x="6117953" y="2104731"/>
                      </a:cubicBezTo>
                      <a:lnTo>
                        <a:pt x="86456" y="2104731"/>
                      </a:lnTo>
                      <a:cubicBezTo>
                        <a:pt x="38708" y="2104731"/>
                        <a:pt x="0" y="2066023"/>
                        <a:pt x="0" y="2018275"/>
                      </a:cubicBezTo>
                      <a:lnTo>
                        <a:pt x="0" y="1740312"/>
                      </a:lnTo>
                      <a:lnTo>
                        <a:pt x="0" y="1179653"/>
                      </a:lnTo>
                      <a:lnTo>
                        <a:pt x="0" y="91113"/>
                      </a:lnTo>
                      <a:cubicBezTo>
                        <a:pt x="0" y="40793"/>
                        <a:pt x="42251" y="0"/>
                        <a:pt x="94370" y="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Autofit/>
                </a:bodyPr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4181800-DADB-3A64-C306-5C93F0ED3351}"/>
                    </a:ext>
                  </a:extLst>
                </p:cNvPr>
                <p:cNvSpPr/>
                <p:nvPr/>
              </p:nvSpPr>
              <p:spPr>
                <a:xfrm>
                  <a:off x="4374342" y="3347827"/>
                  <a:ext cx="98981" cy="1333913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F28E077-0855-E540-841E-AD06F81111C6}"/>
                    </a:ext>
                  </a:extLst>
                </p:cNvPr>
                <p:cNvSpPr txBox="1"/>
                <p:nvPr/>
              </p:nvSpPr>
              <p:spPr>
                <a:xfrm>
                  <a:off x="4441759" y="3326953"/>
                  <a:ext cx="1501993" cy="63483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Match</a:t>
                  </a:r>
                </a:p>
                <a:p>
                  <a:pPr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JTBD 1 – Ready now: is disciplined and process oriented. Evidence : success of the Big Box Retailer RFP</a:t>
                  </a: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.</a:t>
                  </a:r>
                  <a:endPara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8A99FC7-72FB-4A05-20C9-E2FF6B50AEA2}"/>
                    </a:ext>
                  </a:extLst>
                </p:cNvPr>
                <p:cNvSpPr txBox="1"/>
                <p:nvPr/>
              </p:nvSpPr>
              <p:spPr>
                <a:xfrm>
                  <a:off x="7169130" y="3249385"/>
                  <a:ext cx="1570712" cy="75617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1067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Superpowers</a:t>
                  </a: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Strong expertise in managing sales for a roll up environment from the previous role</a:t>
                  </a:r>
                </a:p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</a:t>
                  </a:r>
                  <a:r>
                    <a:rPr lang="en-US" sz="733" b="1" spc="-10">
                      <a:solidFill>
                        <a:srgbClr val="1D1D1D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Low on charisma and ability </a:t>
                  </a:r>
                  <a:r>
                    <a: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to influence internally, as evidenced by current feedback from 2 division presidents </a:t>
                  </a:r>
                </a:p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8FBBCDA5-5F4A-2EDB-37FC-FE231733583F}"/>
                    </a:ext>
                  </a:extLst>
                </p:cNvPr>
                <p:cNvSpPr/>
                <p:nvPr/>
              </p:nvSpPr>
              <p:spPr>
                <a:xfrm>
                  <a:off x="8726242" y="4287175"/>
                  <a:ext cx="98981" cy="347078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CA1C4BA-8343-ED82-7A2B-4B8BD30FFB8F}"/>
                    </a:ext>
                  </a:extLst>
                </p:cNvPr>
                <p:cNvSpPr txBox="1"/>
                <p:nvPr/>
              </p:nvSpPr>
              <p:spPr>
                <a:xfrm>
                  <a:off x="6844228" y="4294882"/>
                  <a:ext cx="1854410" cy="3751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Two Way Fit</a:t>
                  </a:r>
                </a:p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Feedback from him at year end was that he is happy in the role, learning and keen to stay </a:t>
                  </a: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2FE129FA-6B74-8071-1971-3DABD169408B}"/>
                    </a:ext>
                  </a:extLst>
                </p:cNvPr>
                <p:cNvSpPr/>
                <p:nvPr/>
              </p:nvSpPr>
              <p:spPr>
                <a:xfrm>
                  <a:off x="8739842" y="3383556"/>
                  <a:ext cx="98981" cy="347078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7519BE9-29A1-5386-4DA3-3461C9F77C97}"/>
                    </a:ext>
                  </a:extLst>
                </p:cNvPr>
                <p:cNvSpPr txBox="1"/>
                <p:nvPr/>
              </p:nvSpPr>
              <p:spPr>
                <a:xfrm>
                  <a:off x="6887913" y="3888516"/>
                  <a:ext cx="1854410" cy="39227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Winning Track Record </a:t>
                  </a:r>
                </a:p>
                <a:p>
                  <a:pPr algn="r">
                    <a:defRPr>
                      <a:solidFill>
                        <a:srgbClr val="1D1D1D"/>
                      </a:solidFill>
                    </a:defRPr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He had an excellent track record in his previous role</a:t>
                  </a: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A8B3D750-D440-8522-87FC-9AB68316D933}"/>
                    </a:ext>
                  </a:extLst>
                </p:cNvPr>
                <p:cNvSpPr/>
                <p:nvPr/>
              </p:nvSpPr>
              <p:spPr>
                <a:xfrm>
                  <a:off x="8743137" y="3834915"/>
                  <a:ext cx="98981" cy="313704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EC4B689-9C7D-F446-6F46-9588793A7605}"/>
                  </a:ext>
                </a:extLst>
              </p:cNvPr>
              <p:cNvSpPr txBox="1"/>
              <p:nvPr/>
            </p:nvSpPr>
            <p:spPr>
              <a:xfrm>
                <a:off x="5935474" y="5115252"/>
                <a:ext cx="3235283" cy="9537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JTBD 2 - High readiness – worked in a 50+ company roll up world in his previous role 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3. </a:t>
                </a: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 – Low readiness – feedback from the BU presidents on the VP sales is variable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4. JTBD 4 &amp; 5 – Ready now – good feedback and track record on these in his previous role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B5171A5-DB5B-4B0D-9DA7-C853624D71A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noAutofit/>
            </a:bodyPr>
            <a:lstStyle/>
            <a:p>
              <a:pPr algn="ctr">
                <a:defRPr>
                  <a:solidFill>
                    <a:srgbClr val="1D1D1D"/>
                  </a:solidFill>
                </a:defRPr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</p:grpSp>
      <p:sp>
        <p:nvSpPr>
          <p:cNvPr id="118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t>Role-talent card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11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BD3CAACC-6323-47BA-B623-46EF0B9C8FA2}" type="slidenum"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4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05BA-8C25-987E-F358-F9C79BF59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95D53A0-6B77-A803-5132-28DEF1A0F396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CFE23DA-37C7-1CF6-AA31-FBFB8810FE36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noAutofit/>
            </a:bodyPr>
            <a:lstStyle/>
            <a:p>
              <a:pPr algn="ctr">
                <a:defRPr>
                  <a:solidFill>
                    <a:srgbClr val="1D1D1D"/>
                  </a:solidFill>
                </a:defRPr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61D4A8C-FBF1-995C-30FD-E8B41B8E7348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2713788C-BED2-130C-039F-F74DEF07CF00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 b="1" spc="-25">
                    <a:latin typeface="Segoe UI" pitchFamily="34" charset="0"/>
                  </a:defRPr>
                </a:pPr>
                <a:endPara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BC481A-4B27-4C84-A69B-D6A5B29DF066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2400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B598CA-1C14-15A5-D096-F8179DB8AB01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 b="1" spc="-25">
                    <a:solidFill>
                      <a:srgbClr val="FFFFFF"/>
                    </a:solidFill>
                    <a:latin typeface="Segoe UI" pitchFamily="34" charset="0"/>
                  </a:defRPr>
                </a:pPr>
                <a:endParaRPr lang="en-US" sz="24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EB96F3-3DF4-1415-017A-D6AA9DF8B9A4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E4A3D3-AEAD-B859-21F6-20029F8C7383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FECC5BA-F985-21CD-FFD2-2FFF0B963338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B3F354-4D2B-F4EA-AA6A-579BBF4ECE1D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1051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9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04218E-F59A-C235-D917-67724BD1640D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7B97FA-6769-945F-C395-2C7BF6E079EE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F583A9-5416-E02D-B06F-CA0212C0BEFA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F0562B5-DE68-5706-39C8-5DA0DAD096EA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442980F1-CAB0-9C26-09F5-2BBFB60000A6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 b="1" spc="-25">
                    <a:latin typeface="Segoe UI" pitchFamily="34" charset="0"/>
                  </a:defRPr>
                </a:pPr>
                <a:endPara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52BAE0-A102-5110-5D2C-799ED501DEC8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2400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2DCB7-D700-4A5E-0A70-F473220F6E7D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 b="1" spc="-25">
                    <a:solidFill>
                      <a:srgbClr val="FFFFFF"/>
                    </a:solidFill>
                    <a:latin typeface="Segoe UI" pitchFamily="34" charset="0"/>
                  </a:defRPr>
                </a:pPr>
                <a:endParaRPr lang="en-US" sz="2400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943A025-A786-2DE3-0C69-D21BCC73836F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8320DE8-65EB-D17E-051F-C0E1ABC5E15B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263D784-24A5-46DB-4F39-2BDEF7CAD859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C898B4-C61D-09A0-8622-C5BAB2DCC673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1051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9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over Reliant on Convening or Influencing Authority. This Is a Risk to 65% of the Expected Value</a:t>
                </a:r>
              </a:p>
              <a:p>
                <a:pPr algn="r">
                  <a:defRPr b="1" spc="-25">
                    <a:solidFill>
                      <a:srgbClr val="1D1D1D"/>
                    </a:solidFill>
                    <a:latin typeface="Segoe UI" pitchFamily="34" charset="0"/>
                  </a:defRPr>
                </a:pPr>
                <a:r>
                  <a:rPr lang="en-US" sz="933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248C0C4-DD9A-A842-18FC-A896C155D979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47632D9-2A5B-7651-C778-7D5132A3ADB4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5A18A2-35D3-7371-B461-6B4BA5163AF6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68A363C-2AD8-E043-EBD9-BB26E554AB78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D3CD3D1-EF5A-A075-DE6D-163EB09C4E45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FF52B551-B8B4-612E-C7A4-609917C9D815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b="1" spc="-25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0C6BE01A-4F3F-18CE-EF8C-BC8CB33C320D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600" b="1" spc="-25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DEE340A3-CDB2-887C-979D-7EFA9C866323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b="1" spc="-25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831CBFA-55FE-9EF3-07EA-7B701C58D207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2657A3-7493-FF71-7DD6-602417F7DBF6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1C1CA92D-9A23-600A-E6BB-DCE172B98FE8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solidFill>
                  <a:srgbClr val="00C27A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E98EB7E3-F101-62B1-985A-1928EBF4A33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EE8AC4C5-250E-900F-9DED-18EE49436767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6DEB8559-1189-D43D-9CF8-27127C62ACFD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138B06F-8EFC-534B-0419-8749CFBDFCD5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281A42"/>
                </a:solidFill>
                <a:ln w="38100">
                  <a:solidFill>
                    <a:srgbClr val="F2F2F2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051" b="1" spc="-25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A147636-12CB-635A-3DB2-46F22495ABD8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sz="1200" b="1" spc="-25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77307C5-0ECE-4CF1-1D8B-D739127031EF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0C55DA7-2745-E57E-7F08-600701027998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4BABE60B-4F9D-4F0D-7876-4CD25960CAFE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A1B80DC7-280E-E0DB-5811-B65CBA6C15B2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94AEE39E-1B5B-B046-9148-47E13FFCACC3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rgbClr val="F2F2F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6B630641-47AA-2293-8CBB-C28ADE030BDB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24792512-7CE7-3F61-9C14-13BE2162E0E1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69691BE1-A453-AC1A-1332-0914A6237AA9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1067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7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7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 spc="-10">
                        <a:solidFill>
                          <a:srgbClr val="1D1D1D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59330AB1-B397-38DF-AE2C-7585C4C15F28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FF7CB41A-C68E-4C55-7A9C-42DF85BE3A33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800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271EEA38-2586-7726-3BC8-AE4F042588D6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0478BEDA-EC0D-6BDE-5881-CDFBC57DC20C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>
                        <a:solidFill>
                          <a:srgbClr val="1D1D1D"/>
                        </a:solidFill>
                      </a:defRPr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60425DA0-B367-F6FC-1BC2-2879ABD2AC69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1E88E62B-8128-0F3F-B52F-2B150B9AA314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DB7E4FF-3073-D4AD-323D-03E3BB4F3CA2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algn="ctr">
                  <a:defRPr>
                    <a:solidFill>
                      <a:srgbClr val="1D1D1D"/>
                    </a:solidFill>
                  </a:defRPr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372C49D4-B28A-DA8B-BB14-F371D3BF897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t>/click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AC970F6-C023-BDDF-6521-BF8912D9D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938399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23EF93-F412-83B1-D714-2F1468776E83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AE232699-0D6C-E1FA-55CB-79367616CA1A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rgbClr val="F2F2F2"/>
          </a:solidFill>
          <a:ln>
            <a:solidFill>
              <a:srgbClr val="281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 b="1" spc="-25">
                <a:latin typeface="Segoe UI" pitchFamily="34" charset="0"/>
              </a:defRPr>
            </a:pPr>
            <a:r>
              <a:rPr lang="en-US" sz="1467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3144B-BC6A-70E0-4325-40B74A34CD58}"/>
              </a:ext>
            </a:extLst>
          </p:cNvPr>
          <p:cNvGrpSpPr/>
          <p:nvPr/>
        </p:nvGrpSpPr>
        <p:grpSpPr>
          <a:xfrm>
            <a:off x="5669086" y="878182"/>
            <a:ext cx="3063711" cy="3206569"/>
            <a:chOff x="5674938" y="854401"/>
            <a:chExt cx="3063711" cy="3206569"/>
          </a:xfrm>
        </p:grpSpPr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20A0A888-D304-16F0-79DA-9E230A453083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 b="1" spc="-25">
                  <a:latin typeface="Segoe UI" pitchFamily="34" charset="0"/>
                </a:defRPr>
              </a:pPr>
              <a:endParaRPr lang="en-US" sz="24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A2A6E9-6264-DF79-91EA-C24A64D9027E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22FB26-46DE-8116-0F34-5ACF38995525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b="1" spc="-25">
                  <a:solidFill>
                    <a:srgbClr val="FFFFFF"/>
                  </a:solidFill>
                  <a:latin typeface="Segoe UI" pitchFamily="34" charset="0"/>
                </a:defRPr>
              </a:pPr>
              <a:endParaRPr lang="en-US" sz="24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D8549E-10B3-9D32-5CB3-753D1D3E0409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0A5567-E1D9-4505-6BDC-7F2236D5EA7C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60B311D-56D3-8D25-72B5-9EA93FCD9722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7A5DB4-B138-925E-C659-6FA70461639F}"/>
                </a:ext>
              </a:extLst>
            </p:cNvPr>
            <p:cNvSpPr txBox="1"/>
            <p:nvPr/>
          </p:nvSpPr>
          <p:spPr>
            <a:xfrm>
              <a:off x="5964432" y="1207988"/>
              <a:ext cx="2762482" cy="541173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389F34-7570-A3BE-486B-B2BE13507F3D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1C9270-FED2-7DD2-798B-09E4DC178438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D2A2B9-E9D4-7FC9-B133-F079E3FBE7E5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2F100E-3EB7-FE11-475A-711E00387AF6}"/>
              </a:ext>
            </a:extLst>
          </p:cNvPr>
          <p:cNvGrpSpPr/>
          <p:nvPr/>
        </p:nvGrpSpPr>
        <p:grpSpPr>
          <a:xfrm>
            <a:off x="8809782" y="870530"/>
            <a:ext cx="3063711" cy="3195934"/>
            <a:chOff x="8815634" y="865037"/>
            <a:chExt cx="3063711" cy="3195934"/>
          </a:xfrm>
        </p:grpSpPr>
        <p:sp>
          <p:nvSpPr>
            <p:cNvPr id="31" name="Freeform: Shape 12">
              <a:extLst>
                <a:ext uri="{FF2B5EF4-FFF2-40B4-BE49-F238E27FC236}">
                  <a16:creationId xmlns:a16="http://schemas.microsoft.com/office/drawing/2014/main" id="{C9976EA7-D467-BBBB-477A-ED99EC24CEB6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 b="1" spc="-25">
                  <a:latin typeface="Segoe UI" pitchFamily="34" charset="0"/>
                </a:defRPr>
              </a:pPr>
              <a:endParaRPr lang="en-US" sz="24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DECF50B-42A7-690C-3FBE-819C6DEE738A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BE3D6D-119F-B494-1223-30D6FF80AA9F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b="1" spc="-25">
                  <a:solidFill>
                    <a:srgbClr val="FFFFFF"/>
                  </a:solidFill>
                  <a:latin typeface="Segoe UI" pitchFamily="34" charset="0"/>
                </a:defRPr>
              </a:pPr>
              <a:endParaRPr lang="en-US" sz="24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92E135-AF0C-864C-8922-39AF5C89741C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EDF3E9-74C8-07DB-D02C-1703AE80D3F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60F367-C586-9FA8-25E7-23DA2D8E0901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C7E7902-9124-54E4-A52A-99577F03E1C3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over Reliant on Convening or Influencing Authority. This Is a Risk to 65% of the Expected Value</a:t>
              </a:r>
            </a:p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1892232-5BF9-EC3B-D4FC-DD0F5E0D595C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243EE2A-BC02-733C-AC13-7175CDD32A03}"/>
                </a:ext>
              </a:extLst>
            </p:cNvPr>
            <p:cNvSpPr txBox="1"/>
            <p:nvPr/>
          </p:nvSpPr>
          <p:spPr>
            <a:xfrm>
              <a:off x="9125638" y="2646080"/>
              <a:ext cx="2477084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59045B1-D898-03AD-5289-8C3473774E5A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51BDEC-827E-E74C-6B5F-8CF1F662842C}"/>
              </a:ext>
            </a:extLst>
          </p:cNvPr>
          <p:cNvGrpSpPr/>
          <p:nvPr/>
        </p:nvGrpSpPr>
        <p:grpSpPr>
          <a:xfrm>
            <a:off x="7862167" y="3241572"/>
            <a:ext cx="1689983" cy="1698917"/>
            <a:chOff x="7868019" y="3217791"/>
            <a:chExt cx="1689983" cy="169891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E31647-7CFA-2CB9-37EB-048AF369AFDA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4" name="Freeform 61">
                <a:extLst>
                  <a:ext uri="{FF2B5EF4-FFF2-40B4-BE49-F238E27FC236}">
                    <a16:creationId xmlns:a16="http://schemas.microsoft.com/office/drawing/2014/main" id="{EA33C047-71D1-5797-C180-00675EA02C33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Freeform 65">
                <a:extLst>
                  <a:ext uri="{FF2B5EF4-FFF2-40B4-BE49-F238E27FC236}">
                    <a16:creationId xmlns:a16="http://schemas.microsoft.com/office/drawing/2014/main" id="{13339A72-283A-71FD-B869-C1C5FF295399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6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6" name="Freeform 66">
                <a:extLst>
                  <a:ext uri="{FF2B5EF4-FFF2-40B4-BE49-F238E27FC236}">
                    <a16:creationId xmlns:a16="http://schemas.microsoft.com/office/drawing/2014/main" id="{07CA7E0D-FAE5-285C-40AB-EE9C610D3746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F420796-DDE3-780E-24F9-8CF103F92D06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9227C66-CDB6-3460-9E35-CADA9CBF4DC7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730CB83A-A896-9578-2B6A-3DFD637304D8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FE9EBDD3-3E16-63CB-F659-7934389154E6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F70AA038-E9F9-8A56-19AD-D129C8CA8D3F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795560D-F06E-D215-820E-EDAA420624AA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DEE8B5C-7744-E8E7-F7F8-49FE5FDE60E1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rgbClr val="F2F2F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051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6213E40-5F25-1E91-9DD0-196B4F88F536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200" b="1" spc="-25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DA9C0FF-7C68-F7CA-9889-57BEFC5B551E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115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t>Role-talent card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11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2684976C-114E-4101-B656-8E71FE7E8EAC}" type="slidenum"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1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FE95-4EAD-6752-ADC5-04BB36D7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611A5B2-EFAD-0A62-A213-2C4F54FF75AE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t>/click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628037-9F4F-FEEA-CDDC-8586C2F38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72888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2FF809-6213-E0F8-399F-19787C86F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656923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8E37AF3-6F36-9CE5-01D0-6751C9AE2ECE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rgbClr val="F2F2F2"/>
          </a:solidFill>
          <a:ln>
            <a:solidFill>
              <a:srgbClr val="281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 b="1" spc="-25">
                <a:latin typeface="Segoe UI" pitchFamily="34" charset="0"/>
              </a:defRPr>
            </a:pPr>
            <a:r>
              <a:rPr lang="en-US" sz="1467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11147F-8876-AD31-6047-D018AA8E219A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C1715151-463C-C356-B276-D88F2AD33C6C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 b="1" spc="-25">
                  <a:latin typeface="Segoe UI" pitchFamily="34" charset="0"/>
                </a:defRPr>
              </a:pPr>
              <a:endParaRPr lang="en-US" sz="24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9859A1-3D5B-D72A-3ADB-9D500D897964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0136E9-E3F9-64A0-7E41-7A6EB68817A8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b="1" spc="-25">
                  <a:solidFill>
                    <a:srgbClr val="FFFFFF"/>
                  </a:solidFill>
                  <a:latin typeface="Segoe UI" pitchFamily="34" charset="0"/>
                </a:defRPr>
              </a:pPr>
              <a:endParaRPr lang="en-US" sz="24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E02F14-C39E-3AB1-56AB-D2F6FCA88D7E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9F3E70-93B6-46D5-B5C1-5EF0CC5053F4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45F537A-9D16-3585-5309-09BF39B12200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80517B-B4B6-5644-C083-5EEEB1F51236}"/>
                </a:ext>
              </a:extLst>
            </p:cNvPr>
            <p:cNvSpPr txBox="1"/>
            <p:nvPr/>
          </p:nvSpPr>
          <p:spPr>
            <a:xfrm>
              <a:off x="5939826" y="1258787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986DD6-81B3-77F6-3114-41E194178ECB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13BA4E-8CCE-90DD-7467-04994E68AE51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7F5CFB-3C6D-C4C5-E28A-D9F93E989FCE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634714D-D067-C40A-C19E-ECC877581AC5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34" name="Freeform: Shape 12">
              <a:extLst>
                <a:ext uri="{FF2B5EF4-FFF2-40B4-BE49-F238E27FC236}">
                  <a16:creationId xmlns:a16="http://schemas.microsoft.com/office/drawing/2014/main" id="{9AE4CC3C-13A2-0268-ACBF-BA564C44213B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 b="1" spc="-25">
                  <a:latin typeface="Segoe UI" pitchFamily="34" charset="0"/>
                </a:defRPr>
              </a:pPr>
              <a:endParaRPr lang="en-US" sz="24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D599C70-7B3F-820E-752C-ED7523707F11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643635A-0486-EFC6-3E97-7383E7F1163C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b="1" spc="-25">
                  <a:solidFill>
                    <a:srgbClr val="FFFFFF"/>
                  </a:solidFill>
                  <a:latin typeface="Segoe UI" pitchFamily="34" charset="0"/>
                </a:defRPr>
              </a:pPr>
              <a:endParaRPr lang="en-US" sz="24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5B696A4-ADD2-6F2F-8EA6-DD44B1C3A999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F4B09DE-669B-CBA1-EBD1-5613C44F752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C7A110-DD4E-770D-9C01-72A3D23AD1F0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D79BBE8-173F-A986-73E1-E3124ADD1BF8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over Reliant on Convening or Influencing Authority. This Is a Risk to 65% of the Expected Value</a:t>
              </a:r>
            </a:p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D00743-3322-1DE2-FCEF-8DEB85511A98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07C7D1A-1760-5FAA-A732-6A7765961C0A}"/>
                </a:ext>
              </a:extLst>
            </p:cNvPr>
            <p:cNvSpPr txBox="1"/>
            <p:nvPr/>
          </p:nvSpPr>
          <p:spPr>
            <a:xfrm>
              <a:off x="8967618" y="2646080"/>
              <a:ext cx="2635104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62774D7-9938-355E-59CE-E7DA40BB4CD4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77F3D36-C232-CC9E-860B-F450540C10B4}"/>
              </a:ext>
            </a:extLst>
          </p:cNvPr>
          <p:cNvGrpSpPr/>
          <p:nvPr/>
        </p:nvGrpSpPr>
        <p:grpSpPr>
          <a:xfrm>
            <a:off x="5674937" y="4199059"/>
            <a:ext cx="6204409" cy="2075345"/>
            <a:chOff x="4256202" y="3221484"/>
            <a:chExt cx="4653307" cy="1681530"/>
          </a:xfrm>
        </p:grpSpPr>
        <p:sp>
          <p:nvSpPr>
            <p:cNvPr id="67" name="Freeform: Shape 20">
              <a:extLst>
                <a:ext uri="{FF2B5EF4-FFF2-40B4-BE49-F238E27FC236}">
                  <a16:creationId xmlns:a16="http://schemas.microsoft.com/office/drawing/2014/main" id="{3836B747-6012-5FD9-2CD7-7B48D2C08E55}"/>
                </a:ext>
              </a:extLst>
            </p:cNvPr>
            <p:cNvSpPr/>
            <p:nvPr/>
          </p:nvSpPr>
          <p:spPr>
            <a:xfrm>
              <a:off x="4256202" y="3221484"/>
              <a:ext cx="4653307" cy="1681530"/>
            </a:xfrm>
            <a:custGeom>
              <a:avLst/>
              <a:gdLst>
                <a:gd name="connsiteX0" fmla="*/ 94370 w 6204409"/>
                <a:gd name="connsiteY0" fmla="*/ 0 h 2104731"/>
                <a:gd name="connsiteX1" fmla="*/ 1988467 w 6204409"/>
                <a:gd name="connsiteY1" fmla="*/ 0 h 2104731"/>
                <a:gd name="connsiteX2" fmla="*/ 2000984 w 6204409"/>
                <a:gd name="connsiteY2" fmla="*/ 79222 h 2104731"/>
                <a:gd name="connsiteX3" fmla="*/ 3030719 w 6204409"/>
                <a:gd name="connsiteY3" fmla="*/ 889879 h 2104731"/>
                <a:gd name="connsiteX4" fmla="*/ 4060454 w 6204409"/>
                <a:gd name="connsiteY4" fmla="*/ 79222 h 2104731"/>
                <a:gd name="connsiteX5" fmla="*/ 4072971 w 6204409"/>
                <a:gd name="connsiteY5" fmla="*/ 0 h 2104731"/>
                <a:gd name="connsiteX6" fmla="*/ 6110039 w 6204409"/>
                <a:gd name="connsiteY6" fmla="*/ 0 h 2104731"/>
                <a:gd name="connsiteX7" fmla="*/ 6204409 w 6204409"/>
                <a:gd name="connsiteY7" fmla="*/ 91113 h 2104731"/>
                <a:gd name="connsiteX8" fmla="*/ 6204409 w 6204409"/>
                <a:gd name="connsiteY8" fmla="*/ 1179653 h 2104731"/>
                <a:gd name="connsiteX9" fmla="*/ 6204409 w 6204409"/>
                <a:gd name="connsiteY9" fmla="*/ 1740312 h 2104731"/>
                <a:gd name="connsiteX10" fmla="*/ 6204409 w 6204409"/>
                <a:gd name="connsiteY10" fmla="*/ 2018275 h 2104731"/>
                <a:gd name="connsiteX11" fmla="*/ 6117953 w 6204409"/>
                <a:gd name="connsiteY11" fmla="*/ 2104731 h 2104731"/>
                <a:gd name="connsiteX12" fmla="*/ 86456 w 6204409"/>
                <a:gd name="connsiteY12" fmla="*/ 2104731 h 2104731"/>
                <a:gd name="connsiteX13" fmla="*/ 0 w 6204409"/>
                <a:gd name="connsiteY13" fmla="*/ 2018275 h 2104731"/>
                <a:gd name="connsiteX14" fmla="*/ 0 w 6204409"/>
                <a:gd name="connsiteY14" fmla="*/ 1740312 h 2104731"/>
                <a:gd name="connsiteX15" fmla="*/ 0 w 6204409"/>
                <a:gd name="connsiteY15" fmla="*/ 1179653 h 2104731"/>
                <a:gd name="connsiteX16" fmla="*/ 0 w 6204409"/>
                <a:gd name="connsiteY16" fmla="*/ 91113 h 2104731"/>
                <a:gd name="connsiteX17" fmla="*/ 94370 w 6204409"/>
                <a:gd name="connsiteY17" fmla="*/ 0 h 210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04409" h="2104731">
                  <a:moveTo>
                    <a:pt x="94370" y="0"/>
                  </a:moveTo>
                  <a:lnTo>
                    <a:pt x="1988467" y="0"/>
                  </a:lnTo>
                  <a:lnTo>
                    <a:pt x="2000984" y="79222"/>
                  </a:lnTo>
                  <a:cubicBezTo>
                    <a:pt x="2098995" y="541864"/>
                    <a:pt x="2522782" y="889879"/>
                    <a:pt x="3030719" y="889879"/>
                  </a:cubicBezTo>
                  <a:cubicBezTo>
                    <a:pt x="3538657" y="889879"/>
                    <a:pt x="3962443" y="541864"/>
                    <a:pt x="4060454" y="79222"/>
                  </a:cubicBezTo>
                  <a:lnTo>
                    <a:pt x="4072971" y="0"/>
                  </a:lnTo>
                  <a:lnTo>
                    <a:pt x="6110039" y="0"/>
                  </a:lnTo>
                  <a:cubicBezTo>
                    <a:pt x="6162158" y="0"/>
                    <a:pt x="6204409" y="40793"/>
                    <a:pt x="6204409" y="91113"/>
                  </a:cubicBezTo>
                  <a:lnTo>
                    <a:pt x="6204409" y="1179653"/>
                  </a:lnTo>
                  <a:lnTo>
                    <a:pt x="6204409" y="1740312"/>
                  </a:lnTo>
                  <a:lnTo>
                    <a:pt x="6204409" y="2018275"/>
                  </a:lnTo>
                  <a:cubicBezTo>
                    <a:pt x="6204409" y="2066023"/>
                    <a:pt x="6165701" y="2104731"/>
                    <a:pt x="6117953" y="2104731"/>
                  </a:cubicBezTo>
                  <a:lnTo>
                    <a:pt x="86456" y="2104731"/>
                  </a:lnTo>
                  <a:cubicBezTo>
                    <a:pt x="38708" y="2104731"/>
                    <a:pt x="0" y="2066023"/>
                    <a:pt x="0" y="2018275"/>
                  </a:cubicBezTo>
                  <a:lnTo>
                    <a:pt x="0" y="1740312"/>
                  </a:lnTo>
                  <a:lnTo>
                    <a:pt x="0" y="1179653"/>
                  </a:lnTo>
                  <a:lnTo>
                    <a:pt x="0" y="91113"/>
                  </a:lnTo>
                  <a:cubicBezTo>
                    <a:pt x="0" y="40793"/>
                    <a:pt x="42251" y="0"/>
                    <a:pt x="94370" y="0"/>
                  </a:cubicBezTo>
                  <a:close/>
                </a:path>
              </a:pathLst>
            </a:cu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DB83E31-B17E-ED95-3FCE-8B429653707F}"/>
                </a:ext>
              </a:extLst>
            </p:cNvPr>
            <p:cNvSpPr/>
            <p:nvPr/>
          </p:nvSpPr>
          <p:spPr>
            <a:xfrm>
              <a:off x="4374342" y="3347827"/>
              <a:ext cx="98981" cy="1333913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5EA5666-EEEC-A8C6-A4A3-4680345A45FA}"/>
                </a:ext>
              </a:extLst>
            </p:cNvPr>
            <p:cNvSpPr txBox="1"/>
            <p:nvPr/>
          </p:nvSpPr>
          <p:spPr>
            <a:xfrm>
              <a:off x="4441759" y="3326953"/>
              <a:ext cx="1501993" cy="634838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Match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JTBD 1 – Ready now: is disciplined and process oriented. Evidence : success of the Big Box Retailer RFP</a:t>
              </a: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.</a:t>
              </a:r>
              <a:endPara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8E591E3-043A-03C2-EDC8-764DEF8F43CC}"/>
                </a:ext>
              </a:extLst>
            </p:cNvPr>
            <p:cNvSpPr txBox="1"/>
            <p:nvPr/>
          </p:nvSpPr>
          <p:spPr>
            <a:xfrm>
              <a:off x="7169130" y="3249385"/>
              <a:ext cx="1570712" cy="756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67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Superpowers</a:t>
              </a: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Strong expertise in managing sales for a roll up environment from the previous role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</a:t>
              </a:r>
              <a:r>
                <a:rPr lang="en-US" sz="733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Low on charisma and ability </a:t>
              </a:r>
              <a:r>
                <a: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influence internally, as evidenced by current feedback from 2 division presidents 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1A77DD-8E6C-57D9-0BC5-3529A2F2D2EB}"/>
                </a:ext>
              </a:extLst>
            </p:cNvPr>
            <p:cNvSpPr/>
            <p:nvPr/>
          </p:nvSpPr>
          <p:spPr>
            <a:xfrm>
              <a:off x="8726242" y="4287175"/>
              <a:ext cx="98981" cy="347078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810DFCC-7BE9-FCAB-D701-2A983431F2CB}"/>
                </a:ext>
              </a:extLst>
            </p:cNvPr>
            <p:cNvSpPr txBox="1"/>
            <p:nvPr/>
          </p:nvSpPr>
          <p:spPr>
            <a:xfrm>
              <a:off x="6844228" y="4294882"/>
              <a:ext cx="1854410" cy="37519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Two Way Fit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8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 from him at year end was that he is happy in the role, learning and keen to stay 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980AA0E-B44A-9889-C8CD-0F41C3E7E77D}"/>
                </a:ext>
              </a:extLst>
            </p:cNvPr>
            <p:cNvSpPr/>
            <p:nvPr/>
          </p:nvSpPr>
          <p:spPr>
            <a:xfrm>
              <a:off x="8739842" y="3383556"/>
              <a:ext cx="98981" cy="347078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F67C06D-0FF1-F6B4-C955-F1C7B32742D6}"/>
                </a:ext>
              </a:extLst>
            </p:cNvPr>
            <p:cNvSpPr txBox="1"/>
            <p:nvPr/>
          </p:nvSpPr>
          <p:spPr>
            <a:xfrm>
              <a:off x="6887913" y="3888516"/>
              <a:ext cx="1854410" cy="39227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Winning Track Record 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 had an excellent track record in his previous role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822B963-47E9-0D84-6413-6FD5C89BD5EA}"/>
                </a:ext>
              </a:extLst>
            </p:cNvPr>
            <p:cNvSpPr/>
            <p:nvPr/>
          </p:nvSpPr>
          <p:spPr>
            <a:xfrm>
              <a:off x="8743137" y="3834915"/>
              <a:ext cx="98981" cy="313704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524A02A-268F-BA4E-4DCC-ECB96965B874}"/>
              </a:ext>
            </a:extLst>
          </p:cNvPr>
          <p:cNvGrpSpPr/>
          <p:nvPr/>
        </p:nvGrpSpPr>
        <p:grpSpPr>
          <a:xfrm>
            <a:off x="7898273" y="3208926"/>
            <a:ext cx="1689983" cy="1698917"/>
            <a:chOff x="7898273" y="3208926"/>
            <a:chExt cx="1689983" cy="1698917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3950EE7-30CA-CBB8-BF5A-B9A908364397}"/>
                </a:ext>
              </a:extLst>
            </p:cNvPr>
            <p:cNvGrpSpPr/>
            <p:nvPr/>
          </p:nvGrpSpPr>
          <p:grpSpPr>
            <a:xfrm>
              <a:off x="7898273" y="3208926"/>
              <a:ext cx="1689983" cy="1698917"/>
              <a:chOff x="5923704" y="2478883"/>
              <a:chExt cx="1267487" cy="1274188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C9360326-BF91-8209-7772-FB9CF38256B8}"/>
                  </a:ext>
                </a:extLst>
              </p:cNvPr>
              <p:cNvGrpSpPr/>
              <p:nvPr/>
            </p:nvGrpSpPr>
            <p:grpSpPr>
              <a:xfrm rot="18066549">
                <a:off x="5920354" y="2482233"/>
                <a:ext cx="1274188" cy="1267487"/>
                <a:chOff x="3275352" y="3914640"/>
                <a:chExt cx="1698916" cy="1689982"/>
              </a:xfrm>
            </p:grpSpPr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1E75E243-D4F6-E3F2-1D52-E23CFC4D3099}"/>
                    </a:ext>
                  </a:extLst>
                </p:cNvPr>
                <p:cNvGrpSpPr/>
                <p:nvPr/>
              </p:nvGrpSpPr>
              <p:grpSpPr>
                <a:xfrm rot="10800000">
                  <a:off x="3275352" y="3914640"/>
                  <a:ext cx="1698916" cy="1689982"/>
                  <a:chOff x="3726416" y="1071879"/>
                  <a:chExt cx="4739166" cy="4714240"/>
                </a:xfrm>
              </p:grpSpPr>
              <p:sp>
                <p:nvSpPr>
                  <p:cNvPr id="114" name="Freeform 61">
                    <a:extLst>
                      <a:ext uri="{FF2B5EF4-FFF2-40B4-BE49-F238E27FC236}">
                        <a16:creationId xmlns:a16="http://schemas.microsoft.com/office/drawing/2014/main" id="{9E71FF5C-87C2-817A-FA1F-D52CE209517B}"/>
                      </a:ext>
                    </a:extLst>
                  </p:cNvPr>
                  <p:cNvSpPr/>
                  <p:nvPr/>
                </p:nvSpPr>
                <p:spPr>
                  <a:xfrm>
                    <a:off x="3913902" y="1071879"/>
                    <a:ext cx="4551680" cy="4551680"/>
                  </a:xfrm>
                  <a:custGeom>
                    <a:avLst/>
                    <a:gdLst>
                      <a:gd name="connsiteX0" fmla="*/ 2275840 w 4551680"/>
                      <a:gd name="connsiteY0" fmla="*/ 0 h 4551680"/>
                      <a:gd name="connsiteX1" fmla="*/ 4246775 w 4551680"/>
                      <a:gd name="connsiteY1" fmla="*/ 1137920 h 4551680"/>
                      <a:gd name="connsiteX2" fmla="*/ 424677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2275840 w 4551680"/>
                      <a:gd name="connsiteY4" fmla="*/ 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2275840" y="0"/>
                        </a:moveTo>
                        <a:cubicBezTo>
                          <a:pt x="3088919" y="0"/>
                          <a:pt x="3840236" y="433773"/>
                          <a:pt x="4246775" y="1137920"/>
                        </a:cubicBezTo>
                        <a:cubicBezTo>
                          <a:pt x="4653315" y="1842067"/>
                          <a:pt x="4653315" y="2709613"/>
                          <a:pt x="4246775" y="3413760"/>
                        </a:cubicBezTo>
                        <a:lnTo>
                          <a:pt x="2275840" y="2275840"/>
                        </a:lnTo>
                        <a:lnTo>
                          <a:pt x="2275840" y="0"/>
                        </a:lnTo>
                        <a:close/>
                      </a:path>
                    </a:pathLst>
                  </a:custGeom>
                  <a:solidFill>
                    <a:srgbClr val="F2F2F2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2463615" tIns="1029293" rIns="592007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b="1" spc="-25"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5" name="Freeform 65">
                    <a:extLst>
                      <a:ext uri="{FF2B5EF4-FFF2-40B4-BE49-F238E27FC236}">
                        <a16:creationId xmlns:a16="http://schemas.microsoft.com/office/drawing/2014/main" id="{7C95B9B8-5311-F2C3-CB37-8551DF184715}"/>
                      </a:ext>
                    </a:extLst>
                  </p:cNvPr>
                  <p:cNvSpPr/>
                  <p:nvPr/>
                </p:nvSpPr>
                <p:spPr>
                  <a:xfrm>
                    <a:off x="3820159" y="1234439"/>
                    <a:ext cx="4551680" cy="4551680"/>
                  </a:xfrm>
                  <a:custGeom>
                    <a:avLst/>
                    <a:gdLst>
                      <a:gd name="connsiteX0" fmla="*/ 4246775 w 4551680"/>
                      <a:gd name="connsiteY0" fmla="*/ 3413760 h 4551680"/>
                      <a:gd name="connsiteX1" fmla="*/ 2275840 w 4551680"/>
                      <a:gd name="connsiteY1" fmla="*/ 4551680 h 4551680"/>
                      <a:gd name="connsiteX2" fmla="*/ 30490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424677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4246775" y="3413760"/>
                        </a:moveTo>
                        <a:cubicBezTo>
                          <a:pt x="3840235" y="4117907"/>
                          <a:pt x="3088919" y="4551680"/>
                          <a:pt x="2275840" y="4551680"/>
                        </a:cubicBezTo>
                        <a:cubicBezTo>
                          <a:pt x="1462761" y="4551680"/>
                          <a:pt x="711444" y="4117907"/>
                          <a:pt x="304905" y="3413760"/>
                        </a:cubicBezTo>
                        <a:lnTo>
                          <a:pt x="2275840" y="2275840"/>
                        </a:lnTo>
                        <a:lnTo>
                          <a:pt x="4246775" y="3413760"/>
                        </a:lnTo>
                        <a:close/>
                      </a:path>
                    </a:pathLst>
                  </a:custGeom>
                  <a:solidFill>
                    <a:srgbClr val="F2F2F2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166284" tIns="3035723" rIns="1112096" bIns="488951" numCol="1" spcCol="1270" anchor="ctr" anchorCtr="0">
                    <a:noAutofit/>
                  </a:bodyPr>
                  <a:lstStyle/>
                  <a:p>
                    <a:pPr algn="ctr" defTabSz="2889178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600" b="1" spc="-25"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6" name="Freeform 66">
                    <a:extLst>
                      <a:ext uri="{FF2B5EF4-FFF2-40B4-BE49-F238E27FC236}">
                        <a16:creationId xmlns:a16="http://schemas.microsoft.com/office/drawing/2014/main" id="{CDB29982-3A3A-A5A2-AF66-B713679CE552}"/>
                      </a:ext>
                    </a:extLst>
                  </p:cNvPr>
                  <p:cNvSpPr/>
                  <p:nvPr/>
                </p:nvSpPr>
                <p:spPr>
                  <a:xfrm>
                    <a:off x="3726416" y="1071879"/>
                    <a:ext cx="4551680" cy="4551680"/>
                  </a:xfrm>
                  <a:custGeom>
                    <a:avLst/>
                    <a:gdLst>
                      <a:gd name="connsiteX0" fmla="*/ 304905 w 4551680"/>
                      <a:gd name="connsiteY0" fmla="*/ 3413760 h 4551680"/>
                      <a:gd name="connsiteX1" fmla="*/ 304905 w 4551680"/>
                      <a:gd name="connsiteY1" fmla="*/ 1137920 h 4551680"/>
                      <a:gd name="connsiteX2" fmla="*/ 2275840 w 4551680"/>
                      <a:gd name="connsiteY2" fmla="*/ 0 h 4551680"/>
                      <a:gd name="connsiteX3" fmla="*/ 2275840 w 4551680"/>
                      <a:gd name="connsiteY3" fmla="*/ 2275840 h 4551680"/>
                      <a:gd name="connsiteX4" fmla="*/ 30490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304905" y="3413760"/>
                        </a:moveTo>
                        <a:cubicBezTo>
                          <a:pt x="-101635" y="2709613"/>
                          <a:pt x="-101635" y="1842067"/>
                          <a:pt x="304905" y="1137920"/>
                        </a:cubicBezTo>
                        <a:cubicBezTo>
                          <a:pt x="711445" y="433773"/>
                          <a:pt x="1462761" y="0"/>
                          <a:pt x="2275840" y="0"/>
                        </a:cubicBezTo>
                        <a:lnTo>
                          <a:pt x="2275840" y="2275840"/>
                        </a:lnTo>
                        <a:lnTo>
                          <a:pt x="304905" y="3413760"/>
                        </a:lnTo>
                        <a:close/>
                      </a:path>
                    </a:pathLst>
                  </a:custGeom>
                  <a:solidFill>
                    <a:srgbClr val="F2F2F2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592007" tIns="1029293" rIns="2463613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b="1" spc="-25"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B1AA0575-C989-9E8C-F323-BBE8C3DC9177}"/>
                    </a:ext>
                  </a:extLst>
                </p:cNvPr>
                <p:cNvSpPr txBox="1"/>
                <p:nvPr/>
              </p:nvSpPr>
              <p:spPr>
                <a:xfrm rot="1496948">
                  <a:off x="3327979" y="4007222"/>
                  <a:ext cx="1549302" cy="154930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prstTxWarp prst="textArchDown">
                    <a:avLst>
                      <a:gd name="adj" fmla="val 2217629"/>
                    </a:avLst>
                  </a:prstTxWarp>
                  <a:spAutoFit/>
                </a:bodyPr>
                <a:lstStyle/>
                <a:p>
                  <a:r>
                    <a:rPr lang="en-US" sz="9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Talent Score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8F05BD3B-3F53-38DA-E837-40DF6D1A00B6}"/>
                    </a:ext>
                  </a:extLst>
                </p:cNvPr>
                <p:cNvSpPr txBox="1"/>
                <p:nvPr/>
              </p:nvSpPr>
              <p:spPr>
                <a:xfrm rot="10800000">
                  <a:off x="3384516" y="4019339"/>
                  <a:ext cx="1480584" cy="148058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prstTxWarp prst="textArchUp">
                    <a:avLst>
                      <a:gd name="adj" fmla="val 4078301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US" sz="9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Work Score</a:t>
                  </a:r>
                </a:p>
              </p:txBody>
            </p:sp>
            <p:sp>
              <p:nvSpPr>
                <p:cNvPr id="86" name="Freeform 32">
                  <a:extLst>
                    <a:ext uri="{FF2B5EF4-FFF2-40B4-BE49-F238E27FC236}">
                      <a16:creationId xmlns:a16="http://schemas.microsoft.com/office/drawing/2014/main" id="{7D1E8FDE-20DE-F141-F5E4-CE0BFA7AC6A2}"/>
                    </a:ext>
                  </a:extLst>
                </p:cNvPr>
                <p:cNvSpPr/>
                <p:nvPr/>
              </p:nvSpPr>
              <p:spPr>
                <a:xfrm rot="10800000">
                  <a:off x="3439238" y="4124698"/>
                  <a:ext cx="1316897" cy="1316897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solidFill>
                    <a:srgbClr val="00C27A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7" name="Freeform 33">
                  <a:extLst>
                    <a:ext uri="{FF2B5EF4-FFF2-40B4-BE49-F238E27FC236}">
                      <a16:creationId xmlns:a16="http://schemas.microsoft.com/office/drawing/2014/main" id="{CC0E800D-7D08-5C64-BB27-6C5BF98D4386}"/>
                    </a:ext>
                  </a:extLst>
                </p:cNvPr>
                <p:cNvSpPr/>
                <p:nvPr/>
              </p:nvSpPr>
              <p:spPr>
                <a:xfrm rot="10800000">
                  <a:off x="3466360" y="4077666"/>
                  <a:ext cx="1316897" cy="1316897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8" name="Freeform 34">
                  <a:extLst>
                    <a:ext uri="{FF2B5EF4-FFF2-40B4-BE49-F238E27FC236}">
                      <a16:creationId xmlns:a16="http://schemas.microsoft.com/office/drawing/2014/main" id="{F0F621D7-09FE-3103-5635-0F7F8FDEE771}"/>
                    </a:ext>
                  </a:extLst>
                </p:cNvPr>
                <p:cNvSpPr/>
                <p:nvPr/>
              </p:nvSpPr>
              <p:spPr>
                <a:xfrm rot="10800000">
                  <a:off x="3493482" y="4124698"/>
                  <a:ext cx="1316897" cy="1316897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133B9A13-F429-AF65-C357-392E5D6E42FA}"/>
                    </a:ext>
                  </a:extLst>
                </p:cNvPr>
                <p:cNvGrpSpPr/>
                <p:nvPr/>
              </p:nvGrpSpPr>
              <p:grpSpPr>
                <a:xfrm>
                  <a:off x="3702371" y="4342653"/>
                  <a:ext cx="843272" cy="861322"/>
                  <a:chOff x="6458329" y="554749"/>
                  <a:chExt cx="1542504" cy="1575520"/>
                </a:xfrm>
              </p:grpSpPr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7C49C6F9-C74D-2D61-0925-C3FDE1CAB083}"/>
                      </a:ext>
                    </a:extLst>
                  </p:cNvPr>
                  <p:cNvSpPr/>
                  <p:nvPr/>
                </p:nvSpPr>
                <p:spPr>
                  <a:xfrm>
                    <a:off x="6458329" y="554749"/>
                    <a:ext cx="1542504" cy="1542503"/>
                  </a:xfrm>
                  <a:prstGeom prst="ellipse">
                    <a:avLst/>
                  </a:prstGeom>
                  <a:solidFill>
                    <a:srgbClr val="281A42"/>
                  </a:solidFill>
                  <a:ln w="38100">
                    <a:solidFill>
                      <a:srgbClr val="F2F2F2"/>
                    </a:solidFill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endParaRPr lang="en-US" sz="1051" b="1" spc="-25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E27EFD82-AEAB-1EEC-ADB6-80FDEE83962B}"/>
                      </a:ext>
                    </a:extLst>
                  </p:cNvPr>
                  <p:cNvSpPr/>
                  <p:nvPr/>
                </p:nvSpPr>
                <p:spPr>
                  <a:xfrm rot="3533451">
                    <a:off x="6289057" y="1203432"/>
                    <a:ext cx="1177166" cy="67650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351" b="1" spc="-25">
                        <a:solidFill>
                          <a:srgbClr val="FFFFFF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55</a:t>
                    </a:r>
                  </a:p>
                </p:txBody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F4B37B2F-3F63-A3B5-EA2B-0F6C03BB04C2}"/>
                      </a:ext>
                    </a:extLst>
                  </p:cNvPr>
                  <p:cNvSpPr txBox="1"/>
                  <p:nvPr/>
                </p:nvSpPr>
                <p:spPr>
                  <a:xfrm rot="3533451">
                    <a:off x="6694113" y="916034"/>
                    <a:ext cx="1264193" cy="76002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>
                    <a:spAutoFit/>
                  </a:bodyPr>
                  <a:lstStyle/>
                  <a:p>
                    <a:pPr algn="ctr"/>
                    <a:r>
                      <a:rPr lang="en-US" sz="1200" b="1" spc="-25">
                        <a:solidFill>
                          <a:srgbClr val="FFFFFF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Click</a:t>
                    </a:r>
                    <a:r>
                      <a:rPr lang="en-US" sz="1051" b="1" spc="-25">
                        <a:solidFill>
                          <a:srgbClr val="FFFFFF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 </a:t>
                    </a:r>
                    <a:br>
                      <a:rPr lang="en-US" sz="1051" b="1" spc="-25">
                        <a:solidFill>
                          <a:srgbClr val="FFFFFF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</a:br>
                    <a:r>
                      <a:rPr lang="en-US" sz="900" b="1" spc="-25">
                        <a:solidFill>
                          <a:srgbClr val="FFFFFF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Score</a:t>
                    </a:r>
                    <a:endParaRPr lang="en-US" sz="1051" b="1" spc="-25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A263A3F6-619E-69FB-FBE4-54AF99A60686}"/>
                    </a:ext>
                  </a:extLst>
                </p:cNvPr>
                <p:cNvSpPr/>
                <p:nvPr/>
              </p:nvSpPr>
              <p:spPr>
                <a:xfrm rot="6650340">
                  <a:off x="4506048" y="4961177"/>
                  <a:ext cx="169257" cy="169257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solidFill>
                    <a:srgbClr val="FFB547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43</a:t>
                  </a: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3B83265D-BC25-1576-1162-6EC5F4FD00CD}"/>
                    </a:ext>
                  </a:extLst>
                </p:cNvPr>
                <p:cNvSpPr/>
                <p:nvPr/>
              </p:nvSpPr>
              <p:spPr>
                <a:xfrm rot="3533451">
                  <a:off x="3546515" y="4972794"/>
                  <a:ext cx="169257" cy="169257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solidFill>
                    <a:srgbClr val="00C27A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68</a:t>
                  </a: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EEFF95B2-5DC3-3C34-E283-541715232532}"/>
                    </a:ext>
                  </a:extLst>
                </p:cNvPr>
                <p:cNvSpPr/>
                <p:nvPr/>
              </p:nvSpPr>
              <p:spPr>
                <a:xfrm>
                  <a:off x="4039378" y="4119241"/>
                  <a:ext cx="169257" cy="169257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solidFill>
                    <a:srgbClr val="281A42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63</a:t>
                  </a:r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2DAE09D-17C2-1324-E458-7DD5B034F776}"/>
                  </a:ext>
                </a:extLst>
              </p:cNvPr>
              <p:cNvSpPr txBox="1"/>
              <p:nvPr/>
            </p:nvSpPr>
            <p:spPr>
              <a:xfrm rot="13891630">
                <a:off x="6028228" y="2553400"/>
                <a:ext cx="1110438" cy="11104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B80AF2F-DEAA-09B0-2759-43906611B3F7}"/>
                </a:ext>
              </a:extLst>
            </p:cNvPr>
            <p:cNvSpPr/>
            <p:nvPr/>
          </p:nvSpPr>
          <p:spPr>
            <a:xfrm>
              <a:off x="8155331" y="3673939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FFB5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C83B371-B9FD-8092-BB75-9D8D734608FF}"/>
                </a:ext>
              </a:extLst>
            </p:cNvPr>
            <p:cNvSpPr/>
            <p:nvPr/>
          </p:nvSpPr>
          <p:spPr>
            <a:xfrm>
              <a:off x="8643632" y="4532943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D5FEAE3-8C7C-1665-9916-635718EB04BE}"/>
                </a:ext>
              </a:extLst>
            </p:cNvPr>
            <p:cNvSpPr/>
            <p:nvPr/>
          </p:nvSpPr>
          <p:spPr>
            <a:xfrm>
              <a:off x="9139460" y="3707603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281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EA0BA767-A57C-DAD7-2430-8660E88B7441}"/>
              </a:ext>
            </a:extLst>
          </p:cNvPr>
          <p:cNvSpPr txBox="1"/>
          <p:nvPr/>
        </p:nvSpPr>
        <p:spPr>
          <a:xfrm>
            <a:off x="5935474" y="5115252"/>
            <a:ext cx="3235283" cy="9537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JTBD 2 - High readiness – worked in a 50+ company roll up world in his previous role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</a:t>
            </a: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 – Low readiness – feedback from the BU presidents on the VP sales is variable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JTBD 4 &amp; 5 – Ready now – good feedback and track record on these in his previous role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FDC03FB-0978-C06D-E495-3CDACEF54EEF}"/>
              </a:ext>
            </a:extLst>
          </p:cNvPr>
          <p:cNvSpPr txBox="1"/>
          <p:nvPr/>
        </p:nvSpPr>
        <p:spPr>
          <a:xfrm>
            <a:off x="8191990" y="6068975"/>
            <a:ext cx="1136241" cy="398885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rtlCol="0">
            <a:noAutofit/>
          </a:bodyPr>
          <a:lstStyle/>
          <a:p>
            <a:pPr algn="ctr">
              <a:defRPr/>
            </a:pPr>
            <a:r>
              <a:rPr lang="en-US" sz="24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graphicFrame>
        <p:nvGraphicFramePr>
          <p:cNvPr id="124" name="Table 123">
            <a:extLst>
              <a:ext uri="{FF2B5EF4-FFF2-40B4-BE49-F238E27FC236}">
                <a16:creationId xmlns:a16="http://schemas.microsoft.com/office/drawing/2014/main" id="{3A955D4A-E912-22CC-4036-59F11BEB2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8458"/>
              </p:ext>
            </p:extLst>
          </p:nvPr>
        </p:nvGraphicFramePr>
        <p:xfrm>
          <a:off x="548919" y="5448603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#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Superpowers</a:t>
                      </a:r>
                      <a:endParaRPr lang="en-US" sz="1200" b="0" i="0">
                        <a:latin typeface="Arial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A16A4C37-642F-D50B-7E7E-73500EDE8A92}"/>
              </a:ext>
            </a:extLst>
          </p:cNvPr>
          <p:cNvSpPr txBox="1"/>
          <p:nvPr/>
        </p:nvSpPr>
        <p:spPr>
          <a:xfrm>
            <a:off x="9548496" y="4258162"/>
            <a:ext cx="2094283" cy="820481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rtlCol="0">
            <a:spAutoFit/>
          </a:bodyPr>
          <a:lstStyle/>
          <a:p>
            <a:pPr algn="r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  <a:endParaRPr lang="en-US" sz="733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r">
              <a:defRPr/>
            </a:pPr>
            <a:r>
              <a: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1. Strong expertise in managing sales for a roll up environment from the previous role</a:t>
            </a:r>
          </a:p>
          <a:p>
            <a:pPr algn="r">
              <a:defRPr/>
            </a:pPr>
            <a:r>
              <a: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</a:t>
            </a:r>
            <a:r>
              <a:rPr lang="en-US" sz="7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Low on charisma and ability </a:t>
            </a:r>
            <a:r>
              <a: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influence internally, as evidenced by current feedback from 2 division presidents 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26F46-F723-F309-5B4F-15D2B5D1E7AC}"/>
              </a:ext>
            </a:extLst>
          </p:cNvPr>
          <p:cNvSpPr/>
          <p:nvPr/>
        </p:nvSpPr>
        <p:spPr>
          <a:xfrm>
            <a:off x="11660699" y="4406972"/>
            <a:ext cx="131975" cy="428364"/>
          </a:xfrm>
          <a:prstGeom prst="rect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lang="en-US" sz="2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0F5C53C-8FAA-A09E-8363-0FDE84C2F8B4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F0B56CD8-FBDA-278C-A61D-0FF31A06E7F2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204" name="Freeform 61">
                <a:extLst>
                  <a:ext uri="{FF2B5EF4-FFF2-40B4-BE49-F238E27FC236}">
                    <a16:creationId xmlns:a16="http://schemas.microsoft.com/office/drawing/2014/main" id="{9BC3219E-0340-5C15-5BF3-117AC795301F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5" name="Freeform 65">
                <a:extLst>
                  <a:ext uri="{FF2B5EF4-FFF2-40B4-BE49-F238E27FC236}">
                    <a16:creationId xmlns:a16="http://schemas.microsoft.com/office/drawing/2014/main" id="{55FEADA7-5FF0-ECEC-80EA-F0386391E6A1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6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6" name="Freeform 66">
                <a:extLst>
                  <a:ext uri="{FF2B5EF4-FFF2-40B4-BE49-F238E27FC236}">
                    <a16:creationId xmlns:a16="http://schemas.microsoft.com/office/drawing/2014/main" id="{BA97824E-F821-2A45-EEAD-CACC11906C00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DDBE25D2-B8E5-1DDD-0E90-182C42BA7D9E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63734FD-58E4-21A2-4DCA-7B71EA97291E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197" name="Freeform 32">
              <a:extLst>
                <a:ext uri="{FF2B5EF4-FFF2-40B4-BE49-F238E27FC236}">
                  <a16:creationId xmlns:a16="http://schemas.microsoft.com/office/drawing/2014/main" id="{B705DFCF-921B-B6B3-E982-77306AF5C864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8" name="Freeform 33">
              <a:extLst>
                <a:ext uri="{FF2B5EF4-FFF2-40B4-BE49-F238E27FC236}">
                  <a16:creationId xmlns:a16="http://schemas.microsoft.com/office/drawing/2014/main" id="{C6F24E12-17DE-A0DA-B4A1-2B369D9805C5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9" name="Freeform 34">
              <a:extLst>
                <a:ext uri="{FF2B5EF4-FFF2-40B4-BE49-F238E27FC236}">
                  <a16:creationId xmlns:a16="http://schemas.microsoft.com/office/drawing/2014/main" id="{57B9BAF4-A62D-2EAF-9E67-42EE167FD3B5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6DD731DD-808A-9336-5767-AB4DFACF0E1D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F8040CB2-3D6E-821C-A6E3-3C5CA7DC02D0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rgbClr val="F2F2F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051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9425C067-E722-30C3-0C05-50ECA1D0C95F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200" b="1" spc="-25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</a:p>
            </p:txBody>
          </p:sp>
        </p:grp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255C7D56-3AEC-274D-A115-A8F896726DE0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208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t>Role-talent card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20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6EBBDDA2-D2F7-4B6A-AEEE-031F2C0C69C6}" type="slidenum"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C602-5CF7-64D8-B081-2CFCD151D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5AEF0-F669-33E3-EC16-9CB383503949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t>/click</a:t>
            </a: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A493CD50-5927-6B95-1157-5BAB6F8E1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262252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3F629B-E395-B68F-231B-659B0D04BD97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#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Superpowers</a:t>
                      </a:r>
                      <a:endParaRPr lang="en-US" sz="1200" b="0" i="0">
                        <a:latin typeface="Arial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B4119C0-E66B-33BF-9648-A22DFCDF83F4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rgbClr val="F2F2F2"/>
          </a:solidFill>
          <a:ln>
            <a:solidFill>
              <a:srgbClr val="281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 b="1" spc="-25">
                <a:latin typeface="Segoe UI" pitchFamily="34" charset="0"/>
              </a:defRPr>
            </a:pPr>
            <a:r>
              <a:rPr lang="en-US" sz="1467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12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870309-B080-9BF6-FFAB-3B1DCA8D96BA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BB3DDFC-5CB4-3154-9DB7-4E1E101983E4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 b="1" spc="-25">
                  <a:latin typeface="Segoe UI" pitchFamily="34" charset="0"/>
                </a:defRPr>
              </a:pPr>
              <a:endParaRPr lang="en-US" sz="24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6AC3B5-DFC5-33AD-92C2-CBD6BE75CD38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347D6C5-54FE-31B2-DDF7-8FF9CE3B9E03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b="1" spc="-25">
                  <a:solidFill>
                    <a:srgbClr val="FFFFFF"/>
                  </a:solidFill>
                  <a:latin typeface="Segoe UI" pitchFamily="34" charset="0"/>
                </a:defRPr>
              </a:pPr>
              <a:endParaRPr lang="en-US" sz="24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AAD44AF-FAAA-81E5-BB3B-DD15A54C54EA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0D822DC-F4B9-92ED-ED49-5BC004BB3C3C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9F314A8-3EA3-1924-9F69-7DEF2A76E9AF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D6289DC-C0CA-5FA7-93C5-1DA0A53ACCEF}"/>
                </a:ext>
              </a:extLst>
            </p:cNvPr>
            <p:cNvSpPr txBox="1"/>
            <p:nvPr/>
          </p:nvSpPr>
          <p:spPr>
            <a:xfrm>
              <a:off x="5939826" y="1258787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A7461E2-B296-086F-75CB-5BEC6766F2D6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AE5778F-96C3-89BD-35E8-D370D6625F58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6A0227-4240-84F2-069B-9BFA83EE758A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BCC3BD-95F5-E8C5-13C6-D8FA0A76A434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A253E58-5B74-5917-38C1-9494351AE930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 b="1" spc="-25">
                  <a:latin typeface="Segoe UI" pitchFamily="34" charset="0"/>
                </a:defRPr>
              </a:pPr>
              <a:endParaRPr lang="en-US" sz="24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D83E4A-5C00-7E14-C872-AC60A1B0A1EC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2400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E06FA27-68E2-08A2-E08B-DEF4457EE5BB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 b="1" spc="-25">
                  <a:solidFill>
                    <a:srgbClr val="FFFFFF"/>
                  </a:solidFill>
                  <a:latin typeface="Segoe UI" pitchFamily="34" charset="0"/>
                </a:defRPr>
              </a:pPr>
              <a:endParaRPr lang="en-US" sz="2400" b="1" spc="-25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8C0C7C2-7B54-13AA-CB70-31730BE83005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62D0F2-5806-1130-1B02-ADBBE66448EA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A2118B-306E-1392-37BC-80BD1EA2683A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C05A749-8C99-4170-EDBC-EB792530574E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1051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over Reliant on Convening or Influencing Authority. This Is a Risk to 65% of the Expected Value</a:t>
              </a:r>
            </a:p>
            <a:p>
              <a:pPr algn="r">
                <a:defRPr b="1" spc="-25">
                  <a:solidFill>
                    <a:srgbClr val="1D1D1D"/>
                  </a:solidFill>
                  <a:latin typeface="Segoe UI" pitchFamily="34" charset="0"/>
                </a:defRPr>
              </a:pPr>
              <a:r>
                <a:rPr lang="en-US" sz="933" b="1" spc="-25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30C6225-A3C6-1BAC-3FF3-6A4C903AA2FF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DB5DFC3-79EE-F68A-0F40-96B85360A5D0}"/>
                </a:ext>
              </a:extLst>
            </p:cNvPr>
            <p:cNvSpPr txBox="1"/>
            <p:nvPr/>
          </p:nvSpPr>
          <p:spPr>
            <a:xfrm>
              <a:off x="8967618" y="2646080"/>
              <a:ext cx="2635104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A077F51-D21E-4E31-5C82-7D04D34CAD3C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EC1380-543D-BA4B-A5CB-0150BAD28E9B}"/>
              </a:ext>
            </a:extLst>
          </p:cNvPr>
          <p:cNvGrpSpPr/>
          <p:nvPr/>
        </p:nvGrpSpPr>
        <p:grpSpPr>
          <a:xfrm>
            <a:off x="5674937" y="4199059"/>
            <a:ext cx="6204409" cy="2075345"/>
            <a:chOff x="4256202" y="3221484"/>
            <a:chExt cx="4653307" cy="168153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22607DE-BA42-FC7B-835F-A558E93C1094}"/>
                </a:ext>
              </a:extLst>
            </p:cNvPr>
            <p:cNvSpPr/>
            <p:nvPr/>
          </p:nvSpPr>
          <p:spPr>
            <a:xfrm>
              <a:off x="4256202" y="3221484"/>
              <a:ext cx="4653307" cy="1681530"/>
            </a:xfrm>
            <a:custGeom>
              <a:avLst/>
              <a:gdLst>
                <a:gd name="connsiteX0" fmla="*/ 94370 w 6204409"/>
                <a:gd name="connsiteY0" fmla="*/ 0 h 2104731"/>
                <a:gd name="connsiteX1" fmla="*/ 1988467 w 6204409"/>
                <a:gd name="connsiteY1" fmla="*/ 0 h 2104731"/>
                <a:gd name="connsiteX2" fmla="*/ 2000984 w 6204409"/>
                <a:gd name="connsiteY2" fmla="*/ 79222 h 2104731"/>
                <a:gd name="connsiteX3" fmla="*/ 3030719 w 6204409"/>
                <a:gd name="connsiteY3" fmla="*/ 889879 h 2104731"/>
                <a:gd name="connsiteX4" fmla="*/ 4060454 w 6204409"/>
                <a:gd name="connsiteY4" fmla="*/ 79222 h 2104731"/>
                <a:gd name="connsiteX5" fmla="*/ 4072971 w 6204409"/>
                <a:gd name="connsiteY5" fmla="*/ 0 h 2104731"/>
                <a:gd name="connsiteX6" fmla="*/ 6110039 w 6204409"/>
                <a:gd name="connsiteY6" fmla="*/ 0 h 2104731"/>
                <a:gd name="connsiteX7" fmla="*/ 6204409 w 6204409"/>
                <a:gd name="connsiteY7" fmla="*/ 91113 h 2104731"/>
                <a:gd name="connsiteX8" fmla="*/ 6204409 w 6204409"/>
                <a:gd name="connsiteY8" fmla="*/ 1179653 h 2104731"/>
                <a:gd name="connsiteX9" fmla="*/ 6204409 w 6204409"/>
                <a:gd name="connsiteY9" fmla="*/ 1740312 h 2104731"/>
                <a:gd name="connsiteX10" fmla="*/ 6204409 w 6204409"/>
                <a:gd name="connsiteY10" fmla="*/ 2018275 h 2104731"/>
                <a:gd name="connsiteX11" fmla="*/ 6117953 w 6204409"/>
                <a:gd name="connsiteY11" fmla="*/ 2104731 h 2104731"/>
                <a:gd name="connsiteX12" fmla="*/ 86456 w 6204409"/>
                <a:gd name="connsiteY12" fmla="*/ 2104731 h 2104731"/>
                <a:gd name="connsiteX13" fmla="*/ 0 w 6204409"/>
                <a:gd name="connsiteY13" fmla="*/ 2018275 h 2104731"/>
                <a:gd name="connsiteX14" fmla="*/ 0 w 6204409"/>
                <a:gd name="connsiteY14" fmla="*/ 1740312 h 2104731"/>
                <a:gd name="connsiteX15" fmla="*/ 0 w 6204409"/>
                <a:gd name="connsiteY15" fmla="*/ 1179653 h 2104731"/>
                <a:gd name="connsiteX16" fmla="*/ 0 w 6204409"/>
                <a:gd name="connsiteY16" fmla="*/ 91113 h 2104731"/>
                <a:gd name="connsiteX17" fmla="*/ 94370 w 6204409"/>
                <a:gd name="connsiteY17" fmla="*/ 0 h 210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04409" h="2104731">
                  <a:moveTo>
                    <a:pt x="94370" y="0"/>
                  </a:moveTo>
                  <a:lnTo>
                    <a:pt x="1988467" y="0"/>
                  </a:lnTo>
                  <a:lnTo>
                    <a:pt x="2000984" y="79222"/>
                  </a:lnTo>
                  <a:cubicBezTo>
                    <a:pt x="2098995" y="541864"/>
                    <a:pt x="2522782" y="889879"/>
                    <a:pt x="3030719" y="889879"/>
                  </a:cubicBezTo>
                  <a:cubicBezTo>
                    <a:pt x="3538657" y="889879"/>
                    <a:pt x="3962443" y="541864"/>
                    <a:pt x="4060454" y="79222"/>
                  </a:cubicBezTo>
                  <a:lnTo>
                    <a:pt x="4072971" y="0"/>
                  </a:lnTo>
                  <a:lnTo>
                    <a:pt x="6110039" y="0"/>
                  </a:lnTo>
                  <a:cubicBezTo>
                    <a:pt x="6162158" y="0"/>
                    <a:pt x="6204409" y="40793"/>
                    <a:pt x="6204409" y="91113"/>
                  </a:cubicBezTo>
                  <a:lnTo>
                    <a:pt x="6204409" y="1179653"/>
                  </a:lnTo>
                  <a:lnTo>
                    <a:pt x="6204409" y="1740312"/>
                  </a:lnTo>
                  <a:lnTo>
                    <a:pt x="6204409" y="2018275"/>
                  </a:lnTo>
                  <a:cubicBezTo>
                    <a:pt x="6204409" y="2066023"/>
                    <a:pt x="6165701" y="2104731"/>
                    <a:pt x="6117953" y="2104731"/>
                  </a:cubicBezTo>
                  <a:lnTo>
                    <a:pt x="86456" y="2104731"/>
                  </a:lnTo>
                  <a:cubicBezTo>
                    <a:pt x="38708" y="2104731"/>
                    <a:pt x="0" y="2066023"/>
                    <a:pt x="0" y="2018275"/>
                  </a:cubicBezTo>
                  <a:lnTo>
                    <a:pt x="0" y="1740312"/>
                  </a:lnTo>
                  <a:lnTo>
                    <a:pt x="0" y="1179653"/>
                  </a:lnTo>
                  <a:lnTo>
                    <a:pt x="0" y="91113"/>
                  </a:lnTo>
                  <a:cubicBezTo>
                    <a:pt x="0" y="40793"/>
                    <a:pt x="42251" y="0"/>
                    <a:pt x="94370" y="0"/>
                  </a:cubicBezTo>
                  <a:close/>
                </a:path>
              </a:pathLst>
            </a:cu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10B26F4-789E-98F9-C757-6C0F454395E2}"/>
                </a:ext>
              </a:extLst>
            </p:cNvPr>
            <p:cNvSpPr/>
            <p:nvPr/>
          </p:nvSpPr>
          <p:spPr>
            <a:xfrm>
              <a:off x="4374342" y="3347827"/>
              <a:ext cx="98981" cy="1333913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0D4733D-BBAE-0D78-E776-05BECB37AFFF}"/>
                </a:ext>
              </a:extLst>
            </p:cNvPr>
            <p:cNvSpPr txBox="1"/>
            <p:nvPr/>
          </p:nvSpPr>
          <p:spPr>
            <a:xfrm>
              <a:off x="4441759" y="3326953"/>
              <a:ext cx="1501993" cy="634838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Match</a:t>
              </a:r>
            </a:p>
            <a:p>
              <a:pPr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JTBD 1 – Ready now: is disciplined and process oriented. Evidence : success of the Big Box Retailer RFP</a:t>
              </a: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.</a:t>
              </a:r>
              <a:endPara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0FECDE0-6289-CCF5-D0CC-5D6924C5350D}"/>
                </a:ext>
              </a:extLst>
            </p:cNvPr>
            <p:cNvSpPr txBox="1"/>
            <p:nvPr/>
          </p:nvSpPr>
          <p:spPr>
            <a:xfrm>
              <a:off x="7169130" y="3249385"/>
              <a:ext cx="1570712" cy="756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67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Superpowers</a:t>
              </a: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Strong expertise in managing sales for a roll up environment from the previous role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</a:t>
              </a:r>
              <a:r>
                <a:rPr lang="en-US" sz="733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Low on charisma and ability </a:t>
              </a:r>
              <a:r>
                <a: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influence internally, as evidenced by current feedback from 2 division presidents 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A4D1451-4F0C-A212-0FB2-0D6843769924}"/>
                </a:ext>
              </a:extLst>
            </p:cNvPr>
            <p:cNvSpPr/>
            <p:nvPr/>
          </p:nvSpPr>
          <p:spPr>
            <a:xfrm>
              <a:off x="8726242" y="4287175"/>
              <a:ext cx="98981" cy="347078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5B400B6-734A-1EAA-AB20-BBF575C5B91F}"/>
                </a:ext>
              </a:extLst>
            </p:cNvPr>
            <p:cNvSpPr txBox="1"/>
            <p:nvPr/>
          </p:nvSpPr>
          <p:spPr>
            <a:xfrm>
              <a:off x="6844228" y="4294882"/>
              <a:ext cx="1854410" cy="37519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Two Way Fit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8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 from him at year end was that he is happy in the role, learning and keen to stay 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FAE64CF-AE4D-8F7A-1636-C89719B81146}"/>
                </a:ext>
              </a:extLst>
            </p:cNvPr>
            <p:cNvSpPr/>
            <p:nvPr/>
          </p:nvSpPr>
          <p:spPr>
            <a:xfrm>
              <a:off x="8739842" y="3383556"/>
              <a:ext cx="98981" cy="347078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CB45BE-BB2F-D39C-83B5-6EC2FC4EF21D}"/>
                </a:ext>
              </a:extLst>
            </p:cNvPr>
            <p:cNvSpPr txBox="1"/>
            <p:nvPr/>
          </p:nvSpPr>
          <p:spPr>
            <a:xfrm>
              <a:off x="6887913" y="3888516"/>
              <a:ext cx="1854410" cy="39227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Winning Track Record </a:t>
              </a:r>
            </a:p>
            <a:p>
              <a:pPr algn="r">
                <a:defRPr>
                  <a:solidFill>
                    <a:srgbClr val="1D1D1D"/>
                  </a:solidFill>
                </a:defRPr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 had an excellent track record in his previous role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8B165A-E222-B8F9-2E3A-789EAC3F1EEC}"/>
                </a:ext>
              </a:extLst>
            </p:cNvPr>
            <p:cNvSpPr/>
            <p:nvPr/>
          </p:nvSpPr>
          <p:spPr>
            <a:xfrm>
              <a:off x="8743137" y="3834915"/>
              <a:ext cx="98981" cy="313704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C8A237-A92F-9B53-BC81-0EFF12DBEF2C}"/>
              </a:ext>
            </a:extLst>
          </p:cNvPr>
          <p:cNvGrpSpPr/>
          <p:nvPr/>
        </p:nvGrpSpPr>
        <p:grpSpPr>
          <a:xfrm>
            <a:off x="7898273" y="3208926"/>
            <a:ext cx="1689983" cy="1698917"/>
            <a:chOff x="7898273" y="3208926"/>
            <a:chExt cx="1689983" cy="1698917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0244622-9390-AC59-1D12-EA81526F87D8}"/>
                </a:ext>
              </a:extLst>
            </p:cNvPr>
            <p:cNvGrpSpPr/>
            <p:nvPr/>
          </p:nvGrpSpPr>
          <p:grpSpPr>
            <a:xfrm>
              <a:off x="7898273" y="3208926"/>
              <a:ext cx="1689983" cy="1698917"/>
              <a:chOff x="5923704" y="2478883"/>
              <a:chExt cx="1267487" cy="1274188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7598F2D-C857-0D64-B603-7A9324847134}"/>
                  </a:ext>
                </a:extLst>
              </p:cNvPr>
              <p:cNvGrpSpPr/>
              <p:nvPr/>
            </p:nvGrpSpPr>
            <p:grpSpPr>
              <a:xfrm rot="18066549">
                <a:off x="5920354" y="2482233"/>
                <a:ext cx="1274188" cy="1267487"/>
                <a:chOff x="3275352" y="3914640"/>
                <a:chExt cx="1698916" cy="1689982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1DD5293A-EE6B-A815-86B5-32A7CADCE4D7}"/>
                    </a:ext>
                  </a:extLst>
                </p:cNvPr>
                <p:cNvGrpSpPr/>
                <p:nvPr/>
              </p:nvGrpSpPr>
              <p:grpSpPr>
                <a:xfrm rot="10800000">
                  <a:off x="3275352" y="3914640"/>
                  <a:ext cx="1698916" cy="1689982"/>
                  <a:chOff x="3726416" y="1071879"/>
                  <a:chExt cx="4739166" cy="4714240"/>
                </a:xfrm>
              </p:grpSpPr>
              <p:sp>
                <p:nvSpPr>
                  <p:cNvPr id="76" name="Freeform 61">
                    <a:extLst>
                      <a:ext uri="{FF2B5EF4-FFF2-40B4-BE49-F238E27FC236}">
                        <a16:creationId xmlns:a16="http://schemas.microsoft.com/office/drawing/2014/main" id="{5CC11C2A-D237-D898-464C-EEF0E5E3632E}"/>
                      </a:ext>
                    </a:extLst>
                  </p:cNvPr>
                  <p:cNvSpPr/>
                  <p:nvPr/>
                </p:nvSpPr>
                <p:spPr>
                  <a:xfrm>
                    <a:off x="3913902" y="1071879"/>
                    <a:ext cx="4551680" cy="4551680"/>
                  </a:xfrm>
                  <a:custGeom>
                    <a:avLst/>
                    <a:gdLst>
                      <a:gd name="connsiteX0" fmla="*/ 2275840 w 4551680"/>
                      <a:gd name="connsiteY0" fmla="*/ 0 h 4551680"/>
                      <a:gd name="connsiteX1" fmla="*/ 4246775 w 4551680"/>
                      <a:gd name="connsiteY1" fmla="*/ 1137920 h 4551680"/>
                      <a:gd name="connsiteX2" fmla="*/ 424677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2275840 w 4551680"/>
                      <a:gd name="connsiteY4" fmla="*/ 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2275840" y="0"/>
                        </a:moveTo>
                        <a:cubicBezTo>
                          <a:pt x="3088919" y="0"/>
                          <a:pt x="3840236" y="433773"/>
                          <a:pt x="4246775" y="1137920"/>
                        </a:cubicBezTo>
                        <a:cubicBezTo>
                          <a:pt x="4653315" y="1842067"/>
                          <a:pt x="4653315" y="2709613"/>
                          <a:pt x="4246775" y="3413760"/>
                        </a:cubicBezTo>
                        <a:lnTo>
                          <a:pt x="2275840" y="2275840"/>
                        </a:lnTo>
                        <a:lnTo>
                          <a:pt x="2275840" y="0"/>
                        </a:lnTo>
                        <a:close/>
                      </a:path>
                    </a:pathLst>
                  </a:custGeom>
                  <a:solidFill>
                    <a:srgbClr val="F2F2F2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2463615" tIns="1029293" rIns="592007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b="1" spc="-25"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7" name="Freeform 65">
                    <a:extLst>
                      <a:ext uri="{FF2B5EF4-FFF2-40B4-BE49-F238E27FC236}">
                        <a16:creationId xmlns:a16="http://schemas.microsoft.com/office/drawing/2014/main" id="{09D3392A-B046-E985-8D4F-9147B7918B1E}"/>
                      </a:ext>
                    </a:extLst>
                  </p:cNvPr>
                  <p:cNvSpPr/>
                  <p:nvPr/>
                </p:nvSpPr>
                <p:spPr>
                  <a:xfrm>
                    <a:off x="3820159" y="1234439"/>
                    <a:ext cx="4551680" cy="4551680"/>
                  </a:xfrm>
                  <a:custGeom>
                    <a:avLst/>
                    <a:gdLst>
                      <a:gd name="connsiteX0" fmla="*/ 4246775 w 4551680"/>
                      <a:gd name="connsiteY0" fmla="*/ 3413760 h 4551680"/>
                      <a:gd name="connsiteX1" fmla="*/ 2275840 w 4551680"/>
                      <a:gd name="connsiteY1" fmla="*/ 4551680 h 4551680"/>
                      <a:gd name="connsiteX2" fmla="*/ 30490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424677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4246775" y="3413760"/>
                        </a:moveTo>
                        <a:cubicBezTo>
                          <a:pt x="3840235" y="4117907"/>
                          <a:pt x="3088919" y="4551680"/>
                          <a:pt x="2275840" y="4551680"/>
                        </a:cubicBezTo>
                        <a:cubicBezTo>
                          <a:pt x="1462761" y="4551680"/>
                          <a:pt x="711444" y="4117907"/>
                          <a:pt x="304905" y="3413760"/>
                        </a:cubicBezTo>
                        <a:lnTo>
                          <a:pt x="2275840" y="2275840"/>
                        </a:lnTo>
                        <a:lnTo>
                          <a:pt x="4246775" y="3413760"/>
                        </a:lnTo>
                        <a:close/>
                      </a:path>
                    </a:pathLst>
                  </a:custGeom>
                  <a:solidFill>
                    <a:srgbClr val="F2F2F2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166284" tIns="3035723" rIns="1112096" bIns="488951" numCol="1" spcCol="1270" anchor="ctr" anchorCtr="0">
                    <a:noAutofit/>
                  </a:bodyPr>
                  <a:lstStyle/>
                  <a:p>
                    <a:pPr algn="ctr" defTabSz="2889178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600" b="1" spc="-25"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8" name="Freeform 66">
                    <a:extLst>
                      <a:ext uri="{FF2B5EF4-FFF2-40B4-BE49-F238E27FC236}">
                        <a16:creationId xmlns:a16="http://schemas.microsoft.com/office/drawing/2014/main" id="{375B031B-7A0A-3D4C-6060-4778D8B280D7}"/>
                      </a:ext>
                    </a:extLst>
                  </p:cNvPr>
                  <p:cNvSpPr/>
                  <p:nvPr/>
                </p:nvSpPr>
                <p:spPr>
                  <a:xfrm>
                    <a:off x="3726416" y="1071879"/>
                    <a:ext cx="4551680" cy="4551680"/>
                  </a:xfrm>
                  <a:custGeom>
                    <a:avLst/>
                    <a:gdLst>
                      <a:gd name="connsiteX0" fmla="*/ 304905 w 4551680"/>
                      <a:gd name="connsiteY0" fmla="*/ 3413760 h 4551680"/>
                      <a:gd name="connsiteX1" fmla="*/ 304905 w 4551680"/>
                      <a:gd name="connsiteY1" fmla="*/ 1137920 h 4551680"/>
                      <a:gd name="connsiteX2" fmla="*/ 2275840 w 4551680"/>
                      <a:gd name="connsiteY2" fmla="*/ 0 h 4551680"/>
                      <a:gd name="connsiteX3" fmla="*/ 2275840 w 4551680"/>
                      <a:gd name="connsiteY3" fmla="*/ 2275840 h 4551680"/>
                      <a:gd name="connsiteX4" fmla="*/ 30490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304905" y="3413760"/>
                        </a:moveTo>
                        <a:cubicBezTo>
                          <a:pt x="-101635" y="2709613"/>
                          <a:pt x="-101635" y="1842067"/>
                          <a:pt x="304905" y="1137920"/>
                        </a:cubicBezTo>
                        <a:cubicBezTo>
                          <a:pt x="711445" y="433773"/>
                          <a:pt x="1462761" y="0"/>
                          <a:pt x="2275840" y="0"/>
                        </a:cubicBezTo>
                        <a:lnTo>
                          <a:pt x="2275840" y="2275840"/>
                        </a:lnTo>
                        <a:lnTo>
                          <a:pt x="304905" y="3413760"/>
                        </a:lnTo>
                        <a:close/>
                      </a:path>
                    </a:pathLst>
                  </a:custGeom>
                  <a:solidFill>
                    <a:srgbClr val="F2F2F2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592007" tIns="1029293" rIns="2463613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b="1" spc="-25"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114A291-0964-1CC0-FCF6-655666F87B44}"/>
                    </a:ext>
                  </a:extLst>
                </p:cNvPr>
                <p:cNvSpPr txBox="1"/>
                <p:nvPr/>
              </p:nvSpPr>
              <p:spPr>
                <a:xfrm rot="1496948">
                  <a:off x="3327979" y="4007222"/>
                  <a:ext cx="1549302" cy="154930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prstTxWarp prst="textArchDown">
                    <a:avLst>
                      <a:gd name="adj" fmla="val 2217629"/>
                    </a:avLst>
                  </a:prstTxWarp>
                  <a:spAutoFit/>
                </a:bodyPr>
                <a:lstStyle/>
                <a:p>
                  <a:r>
                    <a:rPr lang="en-US" sz="9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Talent Score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37389B2-5C2F-7244-47D1-21F902BFBE69}"/>
                    </a:ext>
                  </a:extLst>
                </p:cNvPr>
                <p:cNvSpPr txBox="1"/>
                <p:nvPr/>
              </p:nvSpPr>
              <p:spPr>
                <a:xfrm rot="10800000">
                  <a:off x="3384516" y="4019339"/>
                  <a:ext cx="1480584" cy="148058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prstTxWarp prst="textArchUp">
                    <a:avLst>
                      <a:gd name="adj" fmla="val 4078301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US" sz="9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Work Score</a:t>
                  </a:r>
                </a:p>
              </p:txBody>
            </p:sp>
            <p:sp>
              <p:nvSpPr>
                <p:cNvPr id="66" name="Freeform 32">
                  <a:extLst>
                    <a:ext uri="{FF2B5EF4-FFF2-40B4-BE49-F238E27FC236}">
                      <a16:creationId xmlns:a16="http://schemas.microsoft.com/office/drawing/2014/main" id="{5D3D8EAF-D76A-6936-BBC3-6F63E9D7A0D2}"/>
                    </a:ext>
                  </a:extLst>
                </p:cNvPr>
                <p:cNvSpPr/>
                <p:nvPr/>
              </p:nvSpPr>
              <p:spPr>
                <a:xfrm rot="10800000">
                  <a:off x="3439238" y="4124698"/>
                  <a:ext cx="1316897" cy="1316897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solidFill>
                    <a:srgbClr val="00C27A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7" name="Freeform 33">
                  <a:extLst>
                    <a:ext uri="{FF2B5EF4-FFF2-40B4-BE49-F238E27FC236}">
                      <a16:creationId xmlns:a16="http://schemas.microsoft.com/office/drawing/2014/main" id="{13105C34-CD33-82B7-AE52-FA1A4710E3F5}"/>
                    </a:ext>
                  </a:extLst>
                </p:cNvPr>
                <p:cNvSpPr/>
                <p:nvPr/>
              </p:nvSpPr>
              <p:spPr>
                <a:xfrm rot="10800000">
                  <a:off x="3466360" y="4077666"/>
                  <a:ext cx="1316897" cy="1316897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8" name="Freeform 34">
                  <a:extLst>
                    <a:ext uri="{FF2B5EF4-FFF2-40B4-BE49-F238E27FC236}">
                      <a16:creationId xmlns:a16="http://schemas.microsoft.com/office/drawing/2014/main" id="{7FBB55D1-6EED-7EB6-EF36-DE16B89E103A}"/>
                    </a:ext>
                  </a:extLst>
                </p:cNvPr>
                <p:cNvSpPr/>
                <p:nvPr/>
              </p:nvSpPr>
              <p:spPr>
                <a:xfrm rot="10800000">
                  <a:off x="3493482" y="4124698"/>
                  <a:ext cx="1316897" cy="1316897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8A45A998-F078-94E0-B35B-1BE4AC6CE33C}"/>
                    </a:ext>
                  </a:extLst>
                </p:cNvPr>
                <p:cNvGrpSpPr/>
                <p:nvPr/>
              </p:nvGrpSpPr>
              <p:grpSpPr>
                <a:xfrm>
                  <a:off x="3702371" y="4342653"/>
                  <a:ext cx="843272" cy="861322"/>
                  <a:chOff x="6458329" y="554749"/>
                  <a:chExt cx="1542504" cy="1575520"/>
                </a:xfrm>
              </p:grpSpPr>
              <p:sp>
                <p:nvSpPr>
                  <p:cNvPr id="73" name="Oval 72">
                    <a:extLst>
                      <a:ext uri="{FF2B5EF4-FFF2-40B4-BE49-F238E27FC236}">
                        <a16:creationId xmlns:a16="http://schemas.microsoft.com/office/drawing/2014/main" id="{BCD05391-0DD7-2D3E-373D-02FC0A934F1F}"/>
                      </a:ext>
                    </a:extLst>
                  </p:cNvPr>
                  <p:cNvSpPr/>
                  <p:nvPr/>
                </p:nvSpPr>
                <p:spPr>
                  <a:xfrm>
                    <a:off x="6458329" y="554749"/>
                    <a:ext cx="1542504" cy="1542503"/>
                  </a:xfrm>
                  <a:prstGeom prst="ellipse">
                    <a:avLst/>
                  </a:prstGeom>
                  <a:solidFill>
                    <a:srgbClr val="281A42"/>
                  </a:solidFill>
                  <a:ln w="38100">
                    <a:solidFill>
                      <a:srgbClr val="F2F2F2"/>
                    </a:solidFill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endParaRPr lang="en-US" sz="1051" b="1" spc="-25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4" name="Oval 73">
                    <a:extLst>
                      <a:ext uri="{FF2B5EF4-FFF2-40B4-BE49-F238E27FC236}">
                        <a16:creationId xmlns:a16="http://schemas.microsoft.com/office/drawing/2014/main" id="{E50741DE-648A-CE07-7A26-2B9F42299F78}"/>
                      </a:ext>
                    </a:extLst>
                  </p:cNvPr>
                  <p:cNvSpPr/>
                  <p:nvPr/>
                </p:nvSpPr>
                <p:spPr>
                  <a:xfrm rot="3533451">
                    <a:off x="6289057" y="1203432"/>
                    <a:ext cx="1177166" cy="67650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351" b="1" spc="-25">
                        <a:solidFill>
                          <a:srgbClr val="FFFFFF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55</a:t>
                    </a:r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A3842A03-5FA1-0B80-1CD1-355A4AB2607E}"/>
                      </a:ext>
                    </a:extLst>
                  </p:cNvPr>
                  <p:cNvSpPr txBox="1"/>
                  <p:nvPr/>
                </p:nvSpPr>
                <p:spPr>
                  <a:xfrm rot="3533451">
                    <a:off x="6694113" y="916034"/>
                    <a:ext cx="1264193" cy="76002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>
                    <a:spAutoFit/>
                  </a:bodyPr>
                  <a:lstStyle/>
                  <a:p>
                    <a:pPr algn="ctr"/>
                    <a:r>
                      <a:rPr lang="en-US" sz="1200" b="1" spc="-25">
                        <a:solidFill>
                          <a:srgbClr val="FFFFFF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Click</a:t>
                    </a:r>
                    <a:r>
                      <a:rPr lang="en-US" sz="1051" b="1" spc="-25">
                        <a:solidFill>
                          <a:srgbClr val="FFFFFF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 </a:t>
                    </a:r>
                    <a:br>
                      <a:rPr lang="en-US" sz="1051" b="1" spc="-25">
                        <a:solidFill>
                          <a:srgbClr val="FFFFFF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</a:br>
                    <a:r>
                      <a:rPr lang="en-US" sz="900" b="1" spc="-25">
                        <a:solidFill>
                          <a:srgbClr val="FFFFFF"/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Score</a:t>
                    </a:r>
                    <a:endParaRPr lang="en-US" sz="1051" b="1" spc="-25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3DC88A06-48B2-F626-1C1B-D9021CD984C6}"/>
                    </a:ext>
                  </a:extLst>
                </p:cNvPr>
                <p:cNvSpPr/>
                <p:nvPr/>
              </p:nvSpPr>
              <p:spPr>
                <a:xfrm rot="6650340">
                  <a:off x="4506048" y="4961177"/>
                  <a:ext cx="169257" cy="169257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solidFill>
                    <a:srgbClr val="FFB547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43</a:t>
                  </a: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95CBA73D-D05A-C4CC-5BF5-914F10D19F46}"/>
                    </a:ext>
                  </a:extLst>
                </p:cNvPr>
                <p:cNvSpPr/>
                <p:nvPr/>
              </p:nvSpPr>
              <p:spPr>
                <a:xfrm rot="3533451">
                  <a:off x="3546515" y="4972794"/>
                  <a:ext cx="169257" cy="169257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solidFill>
                    <a:srgbClr val="00C27A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68</a:t>
                  </a:r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AAB250B2-5FEE-78C5-F103-9A4D4530BD52}"/>
                    </a:ext>
                  </a:extLst>
                </p:cNvPr>
                <p:cNvSpPr/>
                <p:nvPr/>
              </p:nvSpPr>
              <p:spPr>
                <a:xfrm>
                  <a:off x="4039378" y="4119241"/>
                  <a:ext cx="169257" cy="169257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solidFill>
                    <a:srgbClr val="281A42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63</a:t>
                  </a: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2F57B4-B7DD-771A-9917-80E6F361635D}"/>
                  </a:ext>
                </a:extLst>
              </p:cNvPr>
              <p:cNvSpPr txBox="1"/>
              <p:nvPr/>
            </p:nvSpPr>
            <p:spPr>
              <a:xfrm rot="13891630">
                <a:off x="6028228" y="2553400"/>
                <a:ext cx="1110438" cy="11104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E16CD9-C2A2-AD8F-DE6D-4659BB026BEA}"/>
                </a:ext>
              </a:extLst>
            </p:cNvPr>
            <p:cNvSpPr/>
            <p:nvPr/>
          </p:nvSpPr>
          <p:spPr>
            <a:xfrm>
              <a:off x="8155331" y="3673939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FFB5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62B820-4CBA-2372-BB21-5D92CA9CDA0F}"/>
                </a:ext>
              </a:extLst>
            </p:cNvPr>
            <p:cNvSpPr/>
            <p:nvPr/>
          </p:nvSpPr>
          <p:spPr>
            <a:xfrm>
              <a:off x="8643632" y="4532943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882313-8F1A-9D44-D79C-A6E910528B12}"/>
                </a:ext>
              </a:extLst>
            </p:cNvPr>
            <p:cNvSpPr/>
            <p:nvPr/>
          </p:nvSpPr>
          <p:spPr>
            <a:xfrm>
              <a:off x="9139460" y="3707603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281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B35232-1D6C-2A4C-C1AE-A396DAB6F6AA}"/>
              </a:ext>
            </a:extLst>
          </p:cNvPr>
          <p:cNvSpPr txBox="1"/>
          <p:nvPr/>
        </p:nvSpPr>
        <p:spPr>
          <a:xfrm>
            <a:off x="5935474" y="5115252"/>
            <a:ext cx="3235283" cy="9537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JTBD 2 - High readiness – worked in a 50+ company roll up world in his previous role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</a:t>
            </a: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 – Low readiness – feedback from the BU presidents on the VP sales is variable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JTBD 4 &amp; 5 – Ready now – good feedback and track record on these in his previous role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BB1832-46C7-E72D-5137-C3A7280E8274}"/>
              </a:ext>
            </a:extLst>
          </p:cNvPr>
          <p:cNvSpPr txBox="1"/>
          <p:nvPr/>
        </p:nvSpPr>
        <p:spPr>
          <a:xfrm>
            <a:off x="8191990" y="6068975"/>
            <a:ext cx="1136241" cy="398885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rtlCol="0">
            <a:noAutofit/>
          </a:bodyPr>
          <a:lstStyle/>
          <a:p>
            <a:pPr algn="ctr">
              <a:defRPr/>
            </a:pPr>
            <a:r>
              <a:rPr lang="en-US" sz="24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33DD6C2-C573-90A8-D411-9B5635F14717}"/>
              </a:ext>
            </a:extLst>
          </p:cNvPr>
          <p:cNvGrpSpPr/>
          <p:nvPr/>
        </p:nvGrpSpPr>
        <p:grpSpPr>
          <a:xfrm>
            <a:off x="5683371" y="4208007"/>
            <a:ext cx="6204409" cy="2075345"/>
            <a:chOff x="5674937" y="4199059"/>
            <a:chExt cx="6204409" cy="207534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1381B25-DEAE-BBA9-2B71-F50DC4DF103A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4256202" y="3221484"/>
              <a:chExt cx="4653307" cy="1681530"/>
            </a:xfrm>
          </p:grpSpPr>
          <p:sp>
            <p:nvSpPr>
              <p:cNvPr id="101" name="Freeform: Shape 20">
                <a:extLst>
                  <a:ext uri="{FF2B5EF4-FFF2-40B4-BE49-F238E27FC236}">
                    <a16:creationId xmlns:a16="http://schemas.microsoft.com/office/drawing/2014/main" id="{23FE5CDF-03FD-2DEE-DAEA-173BBFB42349}"/>
                  </a:ext>
                </a:extLst>
              </p:cNvPr>
              <p:cNvSpPr/>
              <p:nvPr/>
            </p:nvSpPr>
            <p:spPr>
              <a:xfrm>
                <a:off x="4256202" y="3221484"/>
                <a:ext cx="4653307" cy="1681530"/>
              </a:xfrm>
              <a:custGeom>
                <a:avLst/>
                <a:gdLst>
                  <a:gd name="connsiteX0" fmla="*/ 94370 w 6204409"/>
                  <a:gd name="connsiteY0" fmla="*/ 0 h 2104731"/>
                  <a:gd name="connsiteX1" fmla="*/ 1988467 w 6204409"/>
                  <a:gd name="connsiteY1" fmla="*/ 0 h 2104731"/>
                  <a:gd name="connsiteX2" fmla="*/ 2000984 w 6204409"/>
                  <a:gd name="connsiteY2" fmla="*/ 79222 h 2104731"/>
                  <a:gd name="connsiteX3" fmla="*/ 3030719 w 6204409"/>
                  <a:gd name="connsiteY3" fmla="*/ 889879 h 2104731"/>
                  <a:gd name="connsiteX4" fmla="*/ 4060454 w 6204409"/>
                  <a:gd name="connsiteY4" fmla="*/ 79222 h 2104731"/>
                  <a:gd name="connsiteX5" fmla="*/ 4072971 w 6204409"/>
                  <a:gd name="connsiteY5" fmla="*/ 0 h 2104731"/>
                  <a:gd name="connsiteX6" fmla="*/ 6110039 w 6204409"/>
                  <a:gd name="connsiteY6" fmla="*/ 0 h 2104731"/>
                  <a:gd name="connsiteX7" fmla="*/ 6204409 w 6204409"/>
                  <a:gd name="connsiteY7" fmla="*/ 91113 h 2104731"/>
                  <a:gd name="connsiteX8" fmla="*/ 6204409 w 6204409"/>
                  <a:gd name="connsiteY8" fmla="*/ 1179653 h 2104731"/>
                  <a:gd name="connsiteX9" fmla="*/ 6204409 w 6204409"/>
                  <a:gd name="connsiteY9" fmla="*/ 1740312 h 2104731"/>
                  <a:gd name="connsiteX10" fmla="*/ 6204409 w 6204409"/>
                  <a:gd name="connsiteY10" fmla="*/ 2018275 h 2104731"/>
                  <a:gd name="connsiteX11" fmla="*/ 6117953 w 6204409"/>
                  <a:gd name="connsiteY11" fmla="*/ 2104731 h 2104731"/>
                  <a:gd name="connsiteX12" fmla="*/ 86456 w 6204409"/>
                  <a:gd name="connsiteY12" fmla="*/ 2104731 h 2104731"/>
                  <a:gd name="connsiteX13" fmla="*/ 0 w 6204409"/>
                  <a:gd name="connsiteY13" fmla="*/ 2018275 h 2104731"/>
                  <a:gd name="connsiteX14" fmla="*/ 0 w 6204409"/>
                  <a:gd name="connsiteY14" fmla="*/ 1740312 h 2104731"/>
                  <a:gd name="connsiteX15" fmla="*/ 0 w 6204409"/>
                  <a:gd name="connsiteY15" fmla="*/ 1179653 h 2104731"/>
                  <a:gd name="connsiteX16" fmla="*/ 0 w 6204409"/>
                  <a:gd name="connsiteY16" fmla="*/ 91113 h 2104731"/>
                  <a:gd name="connsiteX17" fmla="*/ 94370 w 6204409"/>
                  <a:gd name="connsiteY17" fmla="*/ 0 h 2104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204409" h="2104731">
                    <a:moveTo>
                      <a:pt x="94370" y="0"/>
                    </a:moveTo>
                    <a:lnTo>
                      <a:pt x="1988467" y="0"/>
                    </a:lnTo>
                    <a:lnTo>
                      <a:pt x="2000984" y="79222"/>
                    </a:lnTo>
                    <a:cubicBezTo>
                      <a:pt x="2098995" y="541864"/>
                      <a:pt x="2522782" y="889879"/>
                      <a:pt x="3030719" y="889879"/>
                    </a:cubicBezTo>
                    <a:cubicBezTo>
                      <a:pt x="3538657" y="889879"/>
                      <a:pt x="3962443" y="541864"/>
                      <a:pt x="4060454" y="79222"/>
                    </a:cubicBezTo>
                    <a:lnTo>
                      <a:pt x="4072971" y="0"/>
                    </a:lnTo>
                    <a:lnTo>
                      <a:pt x="6110039" y="0"/>
                    </a:lnTo>
                    <a:cubicBezTo>
                      <a:pt x="6162158" y="0"/>
                      <a:pt x="6204409" y="40793"/>
                      <a:pt x="6204409" y="91113"/>
                    </a:cubicBezTo>
                    <a:lnTo>
                      <a:pt x="6204409" y="1179653"/>
                    </a:lnTo>
                    <a:lnTo>
                      <a:pt x="6204409" y="1740312"/>
                    </a:lnTo>
                    <a:lnTo>
                      <a:pt x="6204409" y="2018275"/>
                    </a:lnTo>
                    <a:cubicBezTo>
                      <a:pt x="6204409" y="2066023"/>
                      <a:pt x="6165701" y="2104731"/>
                      <a:pt x="6117953" y="2104731"/>
                    </a:cubicBezTo>
                    <a:lnTo>
                      <a:pt x="86456" y="2104731"/>
                    </a:lnTo>
                    <a:cubicBezTo>
                      <a:pt x="38708" y="2104731"/>
                      <a:pt x="0" y="2066023"/>
                      <a:pt x="0" y="2018275"/>
                    </a:cubicBezTo>
                    <a:lnTo>
                      <a:pt x="0" y="1740312"/>
                    </a:lnTo>
                    <a:lnTo>
                      <a:pt x="0" y="1179653"/>
                    </a:lnTo>
                    <a:lnTo>
                      <a:pt x="0" y="91113"/>
                    </a:lnTo>
                    <a:cubicBezTo>
                      <a:pt x="0" y="40793"/>
                      <a:pt x="42251" y="0"/>
                      <a:pt x="94370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A73B7DC7-7977-3947-DE60-93EB8344984B}"/>
                  </a:ext>
                </a:extLst>
              </p:cNvPr>
              <p:cNvSpPr/>
              <p:nvPr/>
            </p:nvSpPr>
            <p:spPr>
              <a:xfrm>
                <a:off x="4374342" y="3347827"/>
                <a:ext cx="98981" cy="1333913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0B1D70C-2283-16F7-4608-D66401835F17}"/>
                  </a:ext>
                </a:extLst>
              </p:cNvPr>
              <p:cNvSpPr txBox="1"/>
              <p:nvPr/>
            </p:nvSpPr>
            <p:spPr>
              <a:xfrm>
                <a:off x="4441759" y="3326953"/>
                <a:ext cx="1501993" cy="63483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Match</a:t>
                </a:r>
              </a:p>
              <a:p>
                <a:pPr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1. JTBD 1 – Ready now: is disciplined and process oriented. Evidence : success of the Big Box Retailer RFP</a:t>
                </a: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.</a:t>
                </a:r>
                <a:endPara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2813FEA-5AFB-AE70-478A-2700CA612723}"/>
                  </a:ext>
                </a:extLst>
              </p:cNvPr>
              <p:cNvSpPr txBox="1"/>
              <p:nvPr/>
            </p:nvSpPr>
            <p:spPr>
              <a:xfrm>
                <a:off x="7169130" y="3249385"/>
                <a:ext cx="1570712" cy="7561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67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Superpowers</a:t>
                </a:r>
                <a:endPara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1. Strong expertise in managing sales for a roll up environment from the previous role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</a:t>
                </a:r>
                <a:r>
                  <a:rPr lang="en-US" sz="7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Low on charisma and ability </a:t>
                </a:r>
                <a:r>
                  <a: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 influence internally, as evidenced by current feedback from 2 division presidents 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endPara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5D23CC0-4061-A5CD-2592-D50C1A122A6C}"/>
                  </a:ext>
                </a:extLst>
              </p:cNvPr>
              <p:cNvSpPr/>
              <p:nvPr/>
            </p:nvSpPr>
            <p:spPr>
              <a:xfrm>
                <a:off x="8726242" y="4287175"/>
                <a:ext cx="98981" cy="347078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7134195-950B-91AE-E3EC-B809912EC37C}"/>
                  </a:ext>
                </a:extLst>
              </p:cNvPr>
              <p:cNvSpPr txBox="1"/>
              <p:nvPr/>
            </p:nvSpPr>
            <p:spPr>
              <a:xfrm>
                <a:off x="6844228" y="4294882"/>
                <a:ext cx="1854410" cy="3751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Two Way Fit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8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Feedback from him at year end was that he is happy in the role, learning and keen to stay 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8C944A2-2416-95C2-867B-37B76B1F89E6}"/>
                  </a:ext>
                </a:extLst>
              </p:cNvPr>
              <p:cNvSpPr/>
              <p:nvPr/>
            </p:nvSpPr>
            <p:spPr>
              <a:xfrm>
                <a:off x="8739842" y="3383556"/>
                <a:ext cx="98981" cy="347078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F4058E6-D35C-AE15-33E9-4007CF7CF411}"/>
                  </a:ext>
                </a:extLst>
              </p:cNvPr>
              <p:cNvSpPr txBox="1"/>
              <p:nvPr/>
            </p:nvSpPr>
            <p:spPr>
              <a:xfrm>
                <a:off x="6887913" y="3888516"/>
                <a:ext cx="1854410" cy="39227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Winning Track Record </a:t>
                </a:r>
              </a:p>
              <a:p>
                <a:pPr algn="r">
                  <a:defRPr>
                    <a:solidFill>
                      <a:srgbClr val="1D1D1D"/>
                    </a:solidFill>
                  </a:defRPr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He had an excellent track record in his previous role</a:t>
                </a: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F59581C-F5ED-E3F3-CAA6-F892891570E3}"/>
                  </a:ext>
                </a:extLst>
              </p:cNvPr>
              <p:cNvSpPr/>
              <p:nvPr/>
            </p:nvSpPr>
            <p:spPr>
              <a:xfrm>
                <a:off x="8743137" y="3834915"/>
                <a:ext cx="98981" cy="313704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6A4B4A1-B7D6-ABEB-5964-AD8703D987AD}"/>
                </a:ext>
              </a:extLst>
            </p:cNvPr>
            <p:cNvSpPr txBox="1"/>
            <p:nvPr/>
          </p:nvSpPr>
          <p:spPr>
            <a:xfrm>
              <a:off x="5935474" y="5115252"/>
              <a:ext cx="3235283" cy="95372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933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JTBD 2 - High readiness – worked in a 50+ company roll up world in his previous role 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3. </a:t>
              </a:r>
              <a:r>
                <a:rPr kumimoji="0" lang="en-US" sz="933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 – Low readiness – feedback from the BU presidents on the VP sales is variable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933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4. JTBD 4 &amp; 5 – Ready now – good feedback and track record on these in his previous role</a:t>
              </a: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386115BB-64D4-1041-D41C-364027EEC381}"/>
              </a:ext>
            </a:extLst>
          </p:cNvPr>
          <p:cNvSpPr/>
          <p:nvPr/>
        </p:nvSpPr>
        <p:spPr>
          <a:xfrm>
            <a:off x="5816339" y="1251824"/>
            <a:ext cx="131975" cy="559952"/>
          </a:xfrm>
          <a:prstGeom prst="rect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endParaRPr lang="en-US" sz="2400" b="1" spc="-25">
              <a:solidFill>
                <a:srgbClr val="FFFFFF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678155A-F13E-594E-9F9E-3560CA5C5DDD}"/>
              </a:ext>
            </a:extLst>
          </p:cNvPr>
          <p:cNvSpPr txBox="1"/>
          <p:nvPr/>
        </p:nvSpPr>
        <p:spPr>
          <a:xfrm>
            <a:off x="5964432" y="1258787"/>
            <a:ext cx="2762482" cy="541173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rtlCol="0">
            <a:spAutoFit/>
          </a:bodyPr>
          <a:lstStyle/>
          <a:p>
            <a:pPr>
              <a:defRPr b="1" spc="-25">
                <a:latin typeface="Segoe UI" pitchFamily="34" charset="0"/>
              </a:defRPr>
            </a:pPr>
            <a:r>
              <a:rPr lang="en-US" sz="1051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Alignment</a:t>
            </a:r>
          </a:p>
          <a:p>
            <a:pPr>
              <a:defRPr b="1" spc="-25">
                <a:latin typeface="Segoe UI" pitchFamily="34" charset="0"/>
              </a:defRPr>
            </a:pPr>
            <a:r>
              <a:rPr lang="en-US" sz="933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Lack of Alignment across Presidents on Pricing Standardization Needs</a:t>
            </a:r>
            <a:endParaRPr lang="en-US" sz="1051" b="1" spc="-25">
              <a:solidFill>
                <a:srgbClr val="1D1D1D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588F9BE-CDF9-46BB-76B0-0BCD900F1189}"/>
              </a:ext>
            </a:extLst>
          </p:cNvPr>
          <p:cNvSpPr/>
          <p:nvPr/>
        </p:nvSpPr>
        <p:spPr>
          <a:xfrm>
            <a:off x="11620934" y="1264836"/>
            <a:ext cx="131975" cy="559952"/>
          </a:xfrm>
          <a:prstGeom prst="rect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endParaRPr lang="en-US" sz="2400" b="1" spc="-25">
              <a:solidFill>
                <a:srgbClr val="FFFFFF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693D23C-1F3E-E5DF-7208-A52CB8DDF122}"/>
              </a:ext>
            </a:extLst>
          </p:cNvPr>
          <p:cNvSpPr txBox="1"/>
          <p:nvPr/>
        </p:nvSpPr>
        <p:spPr>
          <a:xfrm>
            <a:off x="8833846" y="1258089"/>
            <a:ext cx="2787088" cy="828304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rtlCol="0">
            <a:spAutoFit/>
          </a:bodyPr>
          <a:lstStyle/>
          <a:p>
            <a:pPr algn="r">
              <a:defRPr b="1" spc="-25">
                <a:latin typeface="Segoe UI" pitchFamily="34" charset="0"/>
              </a:defRPr>
            </a:pPr>
            <a:r>
              <a:rPr lang="en-US" sz="1051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Authority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933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1 &amp; 2: Is over Reliant on Convening or Influencing Authority. This Is a Risk to 65% of the Expected Value</a:t>
            </a:r>
          </a:p>
          <a:p>
            <a:pPr algn="r">
              <a:defRPr b="1" spc="-25">
                <a:latin typeface="Segoe UI" pitchFamily="34" charset="0"/>
              </a:defRPr>
            </a:pPr>
            <a:r>
              <a:rPr lang="en-US" sz="933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3, 4 and 5: Has Appropriate Decision Rights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B8CC529-618F-40CA-2204-E09E2B092D43}"/>
              </a:ext>
            </a:extLst>
          </p:cNvPr>
          <p:cNvSpPr/>
          <p:nvPr/>
        </p:nvSpPr>
        <p:spPr>
          <a:xfrm>
            <a:off x="11602722" y="2725250"/>
            <a:ext cx="131975" cy="559952"/>
          </a:xfrm>
          <a:prstGeom prst="rect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lang="en-US" sz="2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83D268F-5838-3641-B096-B8964C42261C}"/>
              </a:ext>
            </a:extLst>
          </p:cNvPr>
          <p:cNvSpPr txBox="1"/>
          <p:nvPr/>
        </p:nvSpPr>
        <p:spPr>
          <a:xfrm>
            <a:off x="9125638" y="2646080"/>
            <a:ext cx="2477084" cy="684739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rtlCol="0">
            <a:spAutoFit/>
          </a:bodyPr>
          <a:lstStyle/>
          <a:p>
            <a:pPr algn="r">
              <a:defRPr/>
            </a:pPr>
            <a:r>
              <a: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Resistance</a:t>
            </a:r>
          </a:p>
          <a:p>
            <a:pPr algn="r"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Entrepreneurs and division heads will resist seamless execution of plans that require enterprise standards - JTBD 1, 3, and 5. 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E5E8D99-3AC4-051C-299F-A1BCF05F984B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2506976-C07D-F45E-B240-65092B63C441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167" name="Freeform 61">
                <a:extLst>
                  <a:ext uri="{FF2B5EF4-FFF2-40B4-BE49-F238E27FC236}">
                    <a16:creationId xmlns:a16="http://schemas.microsoft.com/office/drawing/2014/main" id="{C9344157-74F6-4B9E-0F6D-E38E78FE69EC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8" name="Freeform 65">
                <a:extLst>
                  <a:ext uri="{FF2B5EF4-FFF2-40B4-BE49-F238E27FC236}">
                    <a16:creationId xmlns:a16="http://schemas.microsoft.com/office/drawing/2014/main" id="{59BB8BBE-5111-0BA0-BBE8-35E2F1F78F8D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6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9" name="Freeform 66">
                <a:extLst>
                  <a:ext uri="{FF2B5EF4-FFF2-40B4-BE49-F238E27FC236}">
                    <a16:creationId xmlns:a16="http://schemas.microsoft.com/office/drawing/2014/main" id="{0CB5868F-D8C6-578C-A609-1B7447EF9BBD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b="1" spc="-25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76C4FB6-4E9F-1017-12A7-DAE115BC256C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15FC8FC-0B64-BF5B-2117-3EBAD700BD56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160" name="Freeform 32">
              <a:extLst>
                <a:ext uri="{FF2B5EF4-FFF2-40B4-BE49-F238E27FC236}">
                  <a16:creationId xmlns:a16="http://schemas.microsoft.com/office/drawing/2014/main" id="{3BD974AD-18D8-773E-A951-E124AFB5EA61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1" name="Freeform 33">
              <a:extLst>
                <a:ext uri="{FF2B5EF4-FFF2-40B4-BE49-F238E27FC236}">
                  <a16:creationId xmlns:a16="http://schemas.microsoft.com/office/drawing/2014/main" id="{07AC4908-214E-4529-6D0F-D3E1AF24FA33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2" name="Freeform 34">
              <a:extLst>
                <a:ext uri="{FF2B5EF4-FFF2-40B4-BE49-F238E27FC236}">
                  <a16:creationId xmlns:a16="http://schemas.microsoft.com/office/drawing/2014/main" id="{E262CE93-6996-84EF-3D8C-7986BDD8993A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51496B9A-CFFD-5668-A5E4-411C3C91E199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51D4955B-4A2B-683A-A1E5-9A737A3ADD24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rgbClr val="F2F2F2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051" b="1" spc="-25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F21FB31-B112-2D2A-4CC5-927214B24C78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200" b="1" spc="-25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27A00B14-FC15-1401-D2D6-F56A1917856C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171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t>Role-talent card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17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CEA9BF55-D8BA-4B9C-9774-1EDF7805C5C4}" type="slidenum"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C8722D-D8CC-24FA-54B0-56C8AFD6B7D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Risk Insights – Three Levels of Depth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7262065-F0D5-6A8D-4C1D-02DD5E78DF35}"/>
              </a:ext>
            </a:extLst>
          </p:cNvPr>
          <p:cNvGrpSpPr/>
          <p:nvPr/>
        </p:nvGrpSpPr>
        <p:grpSpPr>
          <a:xfrm>
            <a:off x="883920" y="1368847"/>
            <a:ext cx="3068320" cy="4422353"/>
            <a:chOff x="883920" y="1368847"/>
            <a:chExt cx="3068320" cy="4422353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1A96099-02E5-5295-21A1-25AC65229393}"/>
                </a:ext>
              </a:extLst>
            </p:cNvPr>
            <p:cNvGrpSpPr/>
            <p:nvPr/>
          </p:nvGrpSpPr>
          <p:grpSpPr>
            <a:xfrm>
              <a:off x="883920" y="1844355"/>
              <a:ext cx="3068320" cy="3946845"/>
              <a:chOff x="975360" y="1910080"/>
              <a:chExt cx="3068320" cy="3335294"/>
            </a:xfrm>
          </p:grpSpPr>
          <p:sp>
            <p:nvSpPr>
              <p:cNvPr id="62" name="Rectangle: Rounded Corners 3">
                <a:extLst>
                  <a:ext uri="{FF2B5EF4-FFF2-40B4-BE49-F238E27FC236}">
                    <a16:creationId xmlns:a16="http://schemas.microsoft.com/office/drawing/2014/main" id="{5761E091-0EF7-7602-8EF8-2DE5B7CEB1CB}"/>
                  </a:ext>
                </a:extLst>
              </p:cNvPr>
              <p:cNvSpPr/>
              <p:nvPr/>
            </p:nvSpPr>
            <p:spPr>
              <a:xfrm>
                <a:off x="975360" y="1910080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>
                    <a:solidFill>
                      <a:srgbClr val="1D1D1D"/>
                    </a:solidFill>
                  </a:rPr>
                  <a:t>Work</a:t>
                </a:r>
              </a:p>
            </p:txBody>
          </p:sp>
          <p:sp>
            <p:nvSpPr>
              <p:cNvPr id="63" name="Rectangle: Rounded Corners 5">
                <a:extLst>
                  <a:ext uri="{FF2B5EF4-FFF2-40B4-BE49-F238E27FC236}">
                    <a16:creationId xmlns:a16="http://schemas.microsoft.com/office/drawing/2014/main" id="{5C2DA7CB-041A-A4A3-00E6-954DB47D72C7}"/>
                  </a:ext>
                </a:extLst>
              </p:cNvPr>
              <p:cNvSpPr/>
              <p:nvPr/>
            </p:nvSpPr>
            <p:spPr>
              <a:xfrm>
                <a:off x="975360" y="3054487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>
                    <a:solidFill>
                      <a:srgbClr val="1D1D1D"/>
                    </a:solidFill>
                  </a:rPr>
                  <a:t>Role</a:t>
                </a:r>
              </a:p>
            </p:txBody>
          </p:sp>
          <p:sp>
            <p:nvSpPr>
              <p:cNvPr id="64" name="Rectangle: Rounded Corners 6">
                <a:extLst>
                  <a:ext uri="{FF2B5EF4-FFF2-40B4-BE49-F238E27FC236}">
                    <a16:creationId xmlns:a16="http://schemas.microsoft.com/office/drawing/2014/main" id="{78D510FC-FADB-7DA1-D73C-D01033E56EB3}"/>
                  </a:ext>
                </a:extLst>
              </p:cNvPr>
              <p:cNvSpPr/>
              <p:nvPr/>
            </p:nvSpPr>
            <p:spPr>
              <a:xfrm>
                <a:off x="975360" y="4198894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>
                    <a:solidFill>
                      <a:srgbClr val="1D1D1D"/>
                    </a:solidFill>
                  </a:rPr>
                  <a:t>Talent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5E87952-600F-E9F0-5D7C-EC6C921AE530}"/>
                </a:ext>
              </a:extLst>
            </p:cNvPr>
            <p:cNvSpPr txBox="1"/>
            <p:nvPr/>
          </p:nvSpPr>
          <p:spPr>
            <a:xfrm>
              <a:off x="1539564" y="1368847"/>
              <a:ext cx="1751954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b="1" i="1" spc="-25">
                  <a:latin typeface="Segoe UI" pitchFamily="34" charset="0"/>
                </a:rPr>
                <a:t>Surface Level (3)</a:t>
              </a:r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B36EDBD-0145-61CA-307C-9297832545A0}"/>
              </a:ext>
            </a:extLst>
          </p:cNvPr>
          <p:cNvCxnSpPr/>
          <p:nvPr/>
        </p:nvCxnSpPr>
        <p:spPr>
          <a:xfrm>
            <a:off x="4236720" y="1365327"/>
            <a:ext cx="0" cy="46189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F4A8B84-B8D4-86F0-DB4A-2F8EFFAF3F64}"/>
              </a:ext>
            </a:extLst>
          </p:cNvPr>
          <p:cNvCxnSpPr/>
          <p:nvPr/>
        </p:nvCxnSpPr>
        <p:spPr>
          <a:xfrm>
            <a:off x="7934960" y="1365326"/>
            <a:ext cx="0" cy="46189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18B4C59-50A6-6B37-29CA-0D51F8E16061}"/>
              </a:ext>
            </a:extLst>
          </p:cNvPr>
          <p:cNvGrpSpPr/>
          <p:nvPr/>
        </p:nvGrpSpPr>
        <p:grpSpPr>
          <a:xfrm>
            <a:off x="4561840" y="1365327"/>
            <a:ext cx="3068320" cy="4489026"/>
            <a:chOff x="4561840" y="1365327"/>
            <a:chExt cx="3068320" cy="448902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038F96E-FFD2-3E52-DC3F-83EDF9D761A9}"/>
                </a:ext>
              </a:extLst>
            </p:cNvPr>
            <p:cNvGrpSpPr/>
            <p:nvPr/>
          </p:nvGrpSpPr>
          <p:grpSpPr>
            <a:xfrm>
              <a:off x="4561840" y="1907508"/>
              <a:ext cx="3068320" cy="3946845"/>
              <a:chOff x="975360" y="1910080"/>
              <a:chExt cx="3068320" cy="3335294"/>
            </a:xfrm>
          </p:grpSpPr>
          <p:sp>
            <p:nvSpPr>
              <p:cNvPr id="79" name="Rectangle: Rounded Corners 9">
                <a:extLst>
                  <a:ext uri="{FF2B5EF4-FFF2-40B4-BE49-F238E27FC236}">
                    <a16:creationId xmlns:a16="http://schemas.microsoft.com/office/drawing/2014/main" id="{C0E7D5E4-3A2D-9EA9-9ED6-B98A98771BCB}"/>
                  </a:ext>
                </a:extLst>
              </p:cNvPr>
              <p:cNvSpPr/>
              <p:nvPr/>
            </p:nvSpPr>
            <p:spPr>
              <a:xfrm>
                <a:off x="975360" y="1910080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: Rounded Corners 10">
                <a:extLst>
                  <a:ext uri="{FF2B5EF4-FFF2-40B4-BE49-F238E27FC236}">
                    <a16:creationId xmlns:a16="http://schemas.microsoft.com/office/drawing/2014/main" id="{2CE1E8A7-4019-9DF4-259E-91CE76C07B8E}"/>
                  </a:ext>
                </a:extLst>
              </p:cNvPr>
              <p:cNvSpPr/>
              <p:nvPr/>
            </p:nvSpPr>
            <p:spPr>
              <a:xfrm>
                <a:off x="975360" y="3054487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: Rounded Corners 11">
                <a:extLst>
                  <a:ext uri="{FF2B5EF4-FFF2-40B4-BE49-F238E27FC236}">
                    <a16:creationId xmlns:a16="http://schemas.microsoft.com/office/drawing/2014/main" id="{97727A80-5410-8347-10A8-10A14ECB0F53}"/>
                  </a:ext>
                </a:extLst>
              </p:cNvPr>
              <p:cNvSpPr/>
              <p:nvPr/>
            </p:nvSpPr>
            <p:spPr>
              <a:xfrm>
                <a:off x="975360" y="4198894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: Rounded Corners 37">
              <a:extLst>
                <a:ext uri="{FF2B5EF4-FFF2-40B4-BE49-F238E27FC236}">
                  <a16:creationId xmlns:a16="http://schemas.microsoft.com/office/drawing/2014/main" id="{B0D0B204-F7E9-2889-EE2D-E81089714A8F}"/>
                </a:ext>
              </a:extLst>
            </p:cNvPr>
            <p:cNvSpPr/>
            <p:nvPr/>
          </p:nvSpPr>
          <p:spPr>
            <a:xfrm>
              <a:off x="4561840" y="1833018"/>
              <a:ext cx="3068320" cy="250340"/>
            </a:xfrm>
            <a:prstGeom prst="roundRect">
              <a:avLst/>
            </a:prstGeom>
            <a:solidFill>
              <a:srgbClr val="3B3B3B"/>
            </a:solidFill>
            <a:ln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>
                  <a:solidFill>
                    <a:srgbClr val="FFFFFF"/>
                  </a:solidFill>
                </a:rPr>
                <a:t>Work</a:t>
              </a:r>
            </a:p>
          </p:txBody>
        </p:sp>
        <p:sp>
          <p:nvSpPr>
            <p:cNvPr id="70" name="Rectangle: Rounded Corners 38">
              <a:extLst>
                <a:ext uri="{FF2B5EF4-FFF2-40B4-BE49-F238E27FC236}">
                  <a16:creationId xmlns:a16="http://schemas.microsoft.com/office/drawing/2014/main" id="{E949DCBC-4D61-29F2-979B-09415D3FF704}"/>
                </a:ext>
              </a:extLst>
            </p:cNvPr>
            <p:cNvSpPr/>
            <p:nvPr/>
          </p:nvSpPr>
          <p:spPr>
            <a:xfrm>
              <a:off x="4561840" y="3211477"/>
              <a:ext cx="3068320" cy="250340"/>
            </a:xfrm>
            <a:prstGeom prst="roundRect">
              <a:avLst/>
            </a:prstGeom>
            <a:solidFill>
              <a:srgbClr val="3B3B3B"/>
            </a:solidFill>
            <a:ln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>
                  <a:solidFill>
                    <a:srgbClr val="FFFFFF"/>
                  </a:solidFill>
                </a:rPr>
                <a:t>Role</a:t>
              </a:r>
            </a:p>
          </p:txBody>
        </p:sp>
        <p:sp>
          <p:nvSpPr>
            <p:cNvPr id="71" name="Rectangle: Rounded Corners 39">
              <a:extLst>
                <a:ext uri="{FF2B5EF4-FFF2-40B4-BE49-F238E27FC236}">
                  <a16:creationId xmlns:a16="http://schemas.microsoft.com/office/drawing/2014/main" id="{F8863687-3E0E-A5C1-5D56-5C67FC2BF282}"/>
                </a:ext>
              </a:extLst>
            </p:cNvPr>
            <p:cNvSpPr/>
            <p:nvPr/>
          </p:nvSpPr>
          <p:spPr>
            <a:xfrm>
              <a:off x="4561840" y="4556032"/>
              <a:ext cx="3068320" cy="250340"/>
            </a:xfrm>
            <a:prstGeom prst="roundRect">
              <a:avLst/>
            </a:prstGeom>
            <a:solidFill>
              <a:srgbClr val="3B3B3B"/>
            </a:solidFill>
            <a:ln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>
                  <a:solidFill>
                    <a:srgbClr val="FFFFFF"/>
                  </a:solidFill>
                </a:rPr>
                <a:t>Talent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66F7F3C-4E83-3B99-C6ED-DF1ED083C7B8}"/>
                </a:ext>
              </a:extLst>
            </p:cNvPr>
            <p:cNvSpPr txBox="1"/>
            <p:nvPr/>
          </p:nvSpPr>
          <p:spPr>
            <a:xfrm>
              <a:off x="4646949" y="1365327"/>
              <a:ext cx="2898102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b="1" i="1" spc="-25">
                  <a:latin typeface="Segoe UI" pitchFamily="34" charset="0"/>
                </a:rPr>
                <a:t>Understanding Patterns (12)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26F3660-F70E-1245-D464-497D4C1FBDBD}"/>
                </a:ext>
              </a:extLst>
            </p:cNvPr>
            <p:cNvSpPr txBox="1"/>
            <p:nvPr/>
          </p:nvSpPr>
          <p:spPr>
            <a:xfrm>
              <a:off x="4844014" y="2291447"/>
              <a:ext cx="1057597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Alignment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Complexity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D93F97E-C90B-11E1-958F-9C2A86CBFE42}"/>
                </a:ext>
              </a:extLst>
            </p:cNvPr>
            <p:cNvSpPr txBox="1"/>
            <p:nvPr/>
          </p:nvSpPr>
          <p:spPr>
            <a:xfrm>
              <a:off x="6053358" y="2291447"/>
              <a:ext cx="1397434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New Work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Competitiveness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A114343-BC75-A284-ACD4-8F58FAB5F918}"/>
                </a:ext>
              </a:extLst>
            </p:cNvPr>
            <p:cNvSpPr txBox="1"/>
            <p:nvPr/>
          </p:nvSpPr>
          <p:spPr>
            <a:xfrm>
              <a:off x="4897442" y="3643823"/>
              <a:ext cx="984565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Authority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Capacity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4A6C155-1517-7C78-842B-C412B1B56E32}"/>
                </a:ext>
              </a:extLst>
            </p:cNvPr>
            <p:cNvSpPr txBox="1"/>
            <p:nvPr/>
          </p:nvSpPr>
          <p:spPr>
            <a:xfrm>
              <a:off x="6106786" y="3643823"/>
              <a:ext cx="1016753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Resistance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Incentives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A1838A7-4900-62E0-20B5-FCE6C48DE2E1}"/>
                </a:ext>
              </a:extLst>
            </p:cNvPr>
            <p:cNvSpPr txBox="1"/>
            <p:nvPr/>
          </p:nvSpPr>
          <p:spPr>
            <a:xfrm>
              <a:off x="4958081" y="4981562"/>
              <a:ext cx="1130374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JTBD Match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SP Match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AD6DFBB-38C8-1CDE-934C-3DFA172425D7}"/>
                </a:ext>
              </a:extLst>
            </p:cNvPr>
            <p:cNvSpPr txBox="1"/>
            <p:nvPr/>
          </p:nvSpPr>
          <p:spPr>
            <a:xfrm>
              <a:off x="6167425" y="4981562"/>
              <a:ext cx="1164550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Two-Way Fit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Track-Record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54BEBB8-668F-0315-DBA5-8288F53CB802}"/>
              </a:ext>
            </a:extLst>
          </p:cNvPr>
          <p:cNvGrpSpPr/>
          <p:nvPr/>
        </p:nvGrpSpPr>
        <p:grpSpPr>
          <a:xfrm>
            <a:off x="8199120" y="1372774"/>
            <a:ext cx="3129279" cy="4436454"/>
            <a:chOff x="8199120" y="1372774"/>
            <a:chExt cx="3129279" cy="4436454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51215C1-4F82-57F2-49E7-594AFC69D35C}"/>
                </a:ext>
              </a:extLst>
            </p:cNvPr>
            <p:cNvGrpSpPr/>
            <p:nvPr/>
          </p:nvGrpSpPr>
          <p:grpSpPr>
            <a:xfrm>
              <a:off x="8199120" y="2056895"/>
              <a:ext cx="3122567" cy="1050652"/>
              <a:chOff x="8199120" y="1951816"/>
              <a:chExt cx="3122567" cy="1050652"/>
            </a:xfrm>
          </p:grpSpPr>
          <p:sp>
            <p:nvSpPr>
              <p:cNvPr id="108" name="Rectangle: Rounded Corners 13">
                <a:extLst>
                  <a:ext uri="{FF2B5EF4-FFF2-40B4-BE49-F238E27FC236}">
                    <a16:creationId xmlns:a16="http://schemas.microsoft.com/office/drawing/2014/main" id="{EB94A6C0-8B15-BC7E-007F-542E1076B4EC}"/>
                  </a:ext>
                </a:extLst>
              </p:cNvPr>
              <p:cNvSpPr/>
              <p:nvPr/>
            </p:nvSpPr>
            <p:spPr>
              <a:xfrm>
                <a:off x="8920480" y="1951816"/>
                <a:ext cx="2401207" cy="1050652"/>
              </a:xfrm>
              <a:prstGeom prst="roundRect">
                <a:avLst>
                  <a:gd name="adj" fmla="val 11813"/>
                </a:avLst>
              </a:prstGeom>
              <a:solidFill>
                <a:srgbClr val="F2F2F2"/>
              </a:solidFill>
              <a:ln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: Rounded Corners 16">
                <a:extLst>
                  <a:ext uri="{FF2B5EF4-FFF2-40B4-BE49-F238E27FC236}">
                    <a16:creationId xmlns:a16="http://schemas.microsoft.com/office/drawing/2014/main" id="{B824786B-C9C0-9555-A193-3A6A76DE3B67}"/>
                  </a:ext>
                </a:extLst>
              </p:cNvPr>
              <p:cNvSpPr/>
              <p:nvPr/>
            </p:nvSpPr>
            <p:spPr>
              <a:xfrm>
                <a:off x="8199120" y="1977632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1</a:t>
                </a:r>
              </a:p>
            </p:txBody>
          </p:sp>
          <p:sp>
            <p:nvSpPr>
              <p:cNvPr id="110" name="Rectangle: Rounded Corners 17">
                <a:extLst>
                  <a:ext uri="{FF2B5EF4-FFF2-40B4-BE49-F238E27FC236}">
                    <a16:creationId xmlns:a16="http://schemas.microsoft.com/office/drawing/2014/main" id="{60FADD37-2FAF-3254-D5F4-48937380F0E6}"/>
                  </a:ext>
                </a:extLst>
              </p:cNvPr>
              <p:cNvSpPr/>
              <p:nvPr/>
            </p:nvSpPr>
            <p:spPr>
              <a:xfrm>
                <a:off x="8199120" y="2186957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2</a:t>
                </a:r>
              </a:p>
            </p:txBody>
          </p:sp>
          <p:sp>
            <p:nvSpPr>
              <p:cNvPr id="111" name="Rectangle: Rounded Corners 18">
                <a:extLst>
                  <a:ext uri="{FF2B5EF4-FFF2-40B4-BE49-F238E27FC236}">
                    <a16:creationId xmlns:a16="http://schemas.microsoft.com/office/drawing/2014/main" id="{05FB24F4-7A39-712C-3A16-2B41CFA97C1E}"/>
                  </a:ext>
                </a:extLst>
              </p:cNvPr>
              <p:cNvSpPr/>
              <p:nvPr/>
            </p:nvSpPr>
            <p:spPr>
              <a:xfrm>
                <a:off x="8199120" y="2396282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3</a:t>
                </a:r>
              </a:p>
            </p:txBody>
          </p:sp>
          <p:sp>
            <p:nvSpPr>
              <p:cNvPr id="112" name="Rectangle: Rounded Corners 19">
                <a:extLst>
                  <a:ext uri="{FF2B5EF4-FFF2-40B4-BE49-F238E27FC236}">
                    <a16:creationId xmlns:a16="http://schemas.microsoft.com/office/drawing/2014/main" id="{910E63E7-D2D2-5260-43BB-F22A58B51096}"/>
                  </a:ext>
                </a:extLst>
              </p:cNvPr>
              <p:cNvSpPr/>
              <p:nvPr/>
            </p:nvSpPr>
            <p:spPr>
              <a:xfrm>
                <a:off x="8199120" y="2605607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4</a:t>
                </a:r>
              </a:p>
            </p:txBody>
          </p:sp>
          <p:sp>
            <p:nvSpPr>
              <p:cNvPr id="113" name="Rectangle: Rounded Corners 20">
                <a:extLst>
                  <a:ext uri="{FF2B5EF4-FFF2-40B4-BE49-F238E27FC236}">
                    <a16:creationId xmlns:a16="http://schemas.microsoft.com/office/drawing/2014/main" id="{988BFF33-9675-C9E4-310C-71ED5153A44C}"/>
                  </a:ext>
                </a:extLst>
              </p:cNvPr>
              <p:cNvSpPr/>
              <p:nvPr/>
            </p:nvSpPr>
            <p:spPr>
              <a:xfrm>
                <a:off x="8199120" y="2814931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5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71B404C-8543-B189-EEBB-B0CAC0D6D29B}"/>
                </a:ext>
              </a:extLst>
            </p:cNvPr>
            <p:cNvGrpSpPr/>
            <p:nvPr/>
          </p:nvGrpSpPr>
          <p:grpSpPr>
            <a:xfrm>
              <a:off x="8199120" y="3417940"/>
              <a:ext cx="3122567" cy="1030242"/>
              <a:chOff x="8199120" y="3312861"/>
              <a:chExt cx="3122567" cy="1030242"/>
            </a:xfrm>
          </p:grpSpPr>
          <p:sp>
            <p:nvSpPr>
              <p:cNvPr id="102" name="Rectangle: Rounded Corners 14">
                <a:extLst>
                  <a:ext uri="{FF2B5EF4-FFF2-40B4-BE49-F238E27FC236}">
                    <a16:creationId xmlns:a16="http://schemas.microsoft.com/office/drawing/2014/main" id="{5B77279D-AEAC-E23C-842F-E73194828533}"/>
                  </a:ext>
                </a:extLst>
              </p:cNvPr>
              <p:cNvSpPr/>
              <p:nvPr/>
            </p:nvSpPr>
            <p:spPr>
              <a:xfrm>
                <a:off x="8920480" y="3312861"/>
                <a:ext cx="2401207" cy="1030242"/>
              </a:xfrm>
              <a:prstGeom prst="roundRect">
                <a:avLst>
                  <a:gd name="adj" fmla="val 11813"/>
                </a:avLst>
              </a:pr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: Rounded Corners 21">
                <a:extLst>
                  <a:ext uri="{FF2B5EF4-FFF2-40B4-BE49-F238E27FC236}">
                    <a16:creationId xmlns:a16="http://schemas.microsoft.com/office/drawing/2014/main" id="{20221DA5-6831-229D-1788-7A7084D6CB43}"/>
                  </a:ext>
                </a:extLst>
              </p:cNvPr>
              <p:cNvSpPr/>
              <p:nvPr/>
            </p:nvSpPr>
            <p:spPr>
              <a:xfrm>
                <a:off x="8199120" y="3329419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1</a:t>
                </a:r>
              </a:p>
            </p:txBody>
          </p:sp>
          <p:sp>
            <p:nvSpPr>
              <p:cNvPr id="104" name="Rectangle: Rounded Corners 22">
                <a:extLst>
                  <a:ext uri="{FF2B5EF4-FFF2-40B4-BE49-F238E27FC236}">
                    <a16:creationId xmlns:a16="http://schemas.microsoft.com/office/drawing/2014/main" id="{AC29366C-042B-830B-6DC5-0B7A5CA8E8CF}"/>
                  </a:ext>
                </a:extLst>
              </p:cNvPr>
              <p:cNvSpPr/>
              <p:nvPr/>
            </p:nvSpPr>
            <p:spPr>
              <a:xfrm>
                <a:off x="8199120" y="353874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2</a:t>
                </a:r>
              </a:p>
            </p:txBody>
          </p:sp>
          <p:sp>
            <p:nvSpPr>
              <p:cNvPr id="105" name="Rectangle: Rounded Corners 23">
                <a:extLst>
                  <a:ext uri="{FF2B5EF4-FFF2-40B4-BE49-F238E27FC236}">
                    <a16:creationId xmlns:a16="http://schemas.microsoft.com/office/drawing/2014/main" id="{E34E5C1A-D1A9-6CFB-0ECE-4B395A90C4A8}"/>
                  </a:ext>
                </a:extLst>
              </p:cNvPr>
              <p:cNvSpPr/>
              <p:nvPr/>
            </p:nvSpPr>
            <p:spPr>
              <a:xfrm>
                <a:off x="8199120" y="3748069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3</a:t>
                </a:r>
              </a:p>
            </p:txBody>
          </p:sp>
          <p:sp>
            <p:nvSpPr>
              <p:cNvPr id="106" name="Rectangle: Rounded Corners 24">
                <a:extLst>
                  <a:ext uri="{FF2B5EF4-FFF2-40B4-BE49-F238E27FC236}">
                    <a16:creationId xmlns:a16="http://schemas.microsoft.com/office/drawing/2014/main" id="{652A2B9D-84A9-3FF7-3F1A-A9822A667524}"/>
                  </a:ext>
                </a:extLst>
              </p:cNvPr>
              <p:cNvSpPr/>
              <p:nvPr/>
            </p:nvSpPr>
            <p:spPr>
              <a:xfrm>
                <a:off x="8199120" y="395739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4</a:t>
                </a:r>
              </a:p>
            </p:txBody>
          </p:sp>
          <p:sp>
            <p:nvSpPr>
              <p:cNvPr id="107" name="Rectangle: Rounded Corners 25">
                <a:extLst>
                  <a:ext uri="{FF2B5EF4-FFF2-40B4-BE49-F238E27FC236}">
                    <a16:creationId xmlns:a16="http://schemas.microsoft.com/office/drawing/2014/main" id="{94D2BDCA-DD9A-A570-D5ED-2664BDB90105}"/>
                  </a:ext>
                </a:extLst>
              </p:cNvPr>
              <p:cNvSpPr/>
              <p:nvPr/>
            </p:nvSpPr>
            <p:spPr>
              <a:xfrm>
                <a:off x="8199120" y="4166718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5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EBC2D68-7C5C-33EE-3082-FB89AE1A0B05}"/>
                </a:ext>
              </a:extLst>
            </p:cNvPr>
            <p:cNvGrpSpPr/>
            <p:nvPr/>
          </p:nvGrpSpPr>
          <p:grpSpPr>
            <a:xfrm>
              <a:off x="8199120" y="4765380"/>
              <a:ext cx="3122567" cy="1043848"/>
              <a:chOff x="8199120" y="4660301"/>
              <a:chExt cx="3122567" cy="1043848"/>
            </a:xfrm>
          </p:grpSpPr>
          <p:sp>
            <p:nvSpPr>
              <p:cNvPr id="96" name="Rectangle: Rounded Corners 15">
                <a:extLst>
                  <a:ext uri="{FF2B5EF4-FFF2-40B4-BE49-F238E27FC236}">
                    <a16:creationId xmlns:a16="http://schemas.microsoft.com/office/drawing/2014/main" id="{AEF35AE8-E3A6-C85B-9A2B-AF239D18BD72}"/>
                  </a:ext>
                </a:extLst>
              </p:cNvPr>
              <p:cNvSpPr/>
              <p:nvPr/>
            </p:nvSpPr>
            <p:spPr>
              <a:xfrm>
                <a:off x="8920480" y="4660301"/>
                <a:ext cx="2401207" cy="1043848"/>
              </a:xfrm>
              <a:prstGeom prst="roundRect">
                <a:avLst>
                  <a:gd name="adj" fmla="val 11813"/>
                </a:avLst>
              </a:prstGeom>
              <a:solidFill>
                <a:srgbClr val="F2F2F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: Rounded Corners 26">
                <a:extLst>
                  <a:ext uri="{FF2B5EF4-FFF2-40B4-BE49-F238E27FC236}">
                    <a16:creationId xmlns:a16="http://schemas.microsoft.com/office/drawing/2014/main" id="{97493D54-4130-B09E-BE05-FE4D959B8DEA}"/>
                  </a:ext>
                </a:extLst>
              </p:cNvPr>
              <p:cNvSpPr/>
              <p:nvPr/>
            </p:nvSpPr>
            <p:spPr>
              <a:xfrm>
                <a:off x="8199120" y="4685515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1</a:t>
                </a:r>
              </a:p>
            </p:txBody>
          </p:sp>
          <p:sp>
            <p:nvSpPr>
              <p:cNvPr id="98" name="Rectangle: Rounded Corners 27">
                <a:extLst>
                  <a:ext uri="{FF2B5EF4-FFF2-40B4-BE49-F238E27FC236}">
                    <a16:creationId xmlns:a16="http://schemas.microsoft.com/office/drawing/2014/main" id="{2CC2FEA5-75FE-79DF-C05A-1D98BF3EE99F}"/>
                  </a:ext>
                </a:extLst>
              </p:cNvPr>
              <p:cNvSpPr/>
              <p:nvPr/>
            </p:nvSpPr>
            <p:spPr>
              <a:xfrm>
                <a:off x="8199120" y="4894840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2</a:t>
                </a:r>
              </a:p>
            </p:txBody>
          </p:sp>
          <p:sp>
            <p:nvSpPr>
              <p:cNvPr id="99" name="Rectangle: Rounded Corners 28">
                <a:extLst>
                  <a:ext uri="{FF2B5EF4-FFF2-40B4-BE49-F238E27FC236}">
                    <a16:creationId xmlns:a16="http://schemas.microsoft.com/office/drawing/2014/main" id="{A455C297-CADB-E53F-6295-C6FF9AE9D005}"/>
                  </a:ext>
                </a:extLst>
              </p:cNvPr>
              <p:cNvSpPr/>
              <p:nvPr/>
            </p:nvSpPr>
            <p:spPr>
              <a:xfrm>
                <a:off x="8199120" y="5104165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3</a:t>
                </a:r>
              </a:p>
            </p:txBody>
          </p:sp>
          <p:sp>
            <p:nvSpPr>
              <p:cNvPr id="100" name="Rectangle: Rounded Corners 29">
                <a:extLst>
                  <a:ext uri="{FF2B5EF4-FFF2-40B4-BE49-F238E27FC236}">
                    <a16:creationId xmlns:a16="http://schemas.microsoft.com/office/drawing/2014/main" id="{BA7216C0-DCF4-E809-4F5F-C400E7F24E3D}"/>
                  </a:ext>
                </a:extLst>
              </p:cNvPr>
              <p:cNvSpPr/>
              <p:nvPr/>
            </p:nvSpPr>
            <p:spPr>
              <a:xfrm>
                <a:off x="8199120" y="5313490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4</a:t>
                </a:r>
              </a:p>
            </p:txBody>
          </p:sp>
          <p:sp>
            <p:nvSpPr>
              <p:cNvPr id="101" name="Rectangle: Rounded Corners 30">
                <a:extLst>
                  <a:ext uri="{FF2B5EF4-FFF2-40B4-BE49-F238E27FC236}">
                    <a16:creationId xmlns:a16="http://schemas.microsoft.com/office/drawing/2014/main" id="{FD3EE137-11ED-1A34-5CFB-A3C426F510BA}"/>
                  </a:ext>
                </a:extLst>
              </p:cNvPr>
              <p:cNvSpPr/>
              <p:nvPr/>
            </p:nvSpPr>
            <p:spPr>
              <a:xfrm>
                <a:off x="8199120" y="552281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rgbClr val="1D1D1D"/>
                    </a:solidFill>
                  </a:rPr>
                  <a:t>JTBD 5</a:t>
                </a:r>
              </a:p>
            </p:txBody>
          </p:sp>
        </p:grpSp>
        <p:sp>
          <p:nvSpPr>
            <p:cNvPr id="86" name="Rectangle: Rounded Corners 34">
              <a:extLst>
                <a:ext uri="{FF2B5EF4-FFF2-40B4-BE49-F238E27FC236}">
                  <a16:creationId xmlns:a16="http://schemas.microsoft.com/office/drawing/2014/main" id="{3340C49B-1170-439F-EA73-BE7765AD9271}"/>
                </a:ext>
              </a:extLst>
            </p:cNvPr>
            <p:cNvSpPr/>
            <p:nvPr/>
          </p:nvSpPr>
          <p:spPr>
            <a:xfrm>
              <a:off x="8931762" y="1907508"/>
              <a:ext cx="2376318" cy="250340"/>
            </a:xfrm>
            <a:prstGeom prst="roundRect">
              <a:avLst/>
            </a:prstGeom>
            <a:solidFill>
              <a:srgbClr val="3B3B3B"/>
            </a:solidFill>
            <a:ln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>
                  <a:solidFill>
                    <a:srgbClr val="FFFFFF"/>
                  </a:solidFill>
                </a:rPr>
                <a:t>Work</a:t>
              </a:r>
            </a:p>
          </p:txBody>
        </p:sp>
        <p:sp>
          <p:nvSpPr>
            <p:cNvPr id="87" name="Rectangle: Rounded Corners 35">
              <a:extLst>
                <a:ext uri="{FF2B5EF4-FFF2-40B4-BE49-F238E27FC236}">
                  <a16:creationId xmlns:a16="http://schemas.microsoft.com/office/drawing/2014/main" id="{524AD85A-08F4-4058-5153-C093DE84DF69}"/>
                </a:ext>
              </a:extLst>
            </p:cNvPr>
            <p:cNvSpPr/>
            <p:nvPr/>
          </p:nvSpPr>
          <p:spPr>
            <a:xfrm>
              <a:off x="8931762" y="3285967"/>
              <a:ext cx="2376318" cy="250340"/>
            </a:xfrm>
            <a:prstGeom prst="roundRect">
              <a:avLst/>
            </a:prstGeom>
            <a:solidFill>
              <a:srgbClr val="3B3B3B"/>
            </a:solidFill>
            <a:ln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>
                  <a:solidFill>
                    <a:srgbClr val="FFFFFF"/>
                  </a:solidFill>
                </a:rPr>
                <a:t>Role</a:t>
              </a:r>
            </a:p>
          </p:txBody>
        </p:sp>
        <p:sp>
          <p:nvSpPr>
            <p:cNvPr id="88" name="Rectangle: Rounded Corners 36">
              <a:extLst>
                <a:ext uri="{FF2B5EF4-FFF2-40B4-BE49-F238E27FC236}">
                  <a16:creationId xmlns:a16="http://schemas.microsoft.com/office/drawing/2014/main" id="{2DD269A1-AB8A-023D-C4C6-C826A72C58CA}"/>
                </a:ext>
              </a:extLst>
            </p:cNvPr>
            <p:cNvSpPr/>
            <p:nvPr/>
          </p:nvSpPr>
          <p:spPr>
            <a:xfrm>
              <a:off x="8931762" y="4630522"/>
              <a:ext cx="2376318" cy="250340"/>
            </a:xfrm>
            <a:prstGeom prst="roundRect">
              <a:avLst/>
            </a:prstGeom>
            <a:solidFill>
              <a:srgbClr val="3B3B3B"/>
            </a:solidFill>
            <a:ln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>
                  <a:solidFill>
                    <a:srgbClr val="FFFFFF"/>
                  </a:solidFill>
                </a:rPr>
                <a:t>Talent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B28CD43-CCDC-A972-1428-A59AE6A0CCE1}"/>
                </a:ext>
              </a:extLst>
            </p:cNvPr>
            <p:cNvSpPr txBox="1"/>
            <p:nvPr/>
          </p:nvSpPr>
          <p:spPr>
            <a:xfrm>
              <a:off x="8466118" y="1372774"/>
              <a:ext cx="2714910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b="1" i="1"/>
                <a:t>In Depth Risk Analysis (60)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8AC2AAE-5CEB-FE1F-743C-8D62A1F3780C}"/>
                </a:ext>
              </a:extLst>
            </p:cNvPr>
            <p:cNvSpPr txBox="1"/>
            <p:nvPr/>
          </p:nvSpPr>
          <p:spPr>
            <a:xfrm>
              <a:off x="9032013" y="2283018"/>
              <a:ext cx="970137" cy="57708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Alignment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Complexity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1C8C182-15A4-0C29-7411-752ECFACADDF}"/>
                </a:ext>
              </a:extLst>
            </p:cNvPr>
            <p:cNvSpPr txBox="1"/>
            <p:nvPr/>
          </p:nvSpPr>
          <p:spPr>
            <a:xfrm>
              <a:off x="9997439" y="2291566"/>
              <a:ext cx="1310641" cy="57708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New Work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Competitiveness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122FF16-0CF7-E072-CEFD-80C1F044FDFE}"/>
                </a:ext>
              </a:extLst>
            </p:cNvPr>
            <p:cNvSpPr txBox="1"/>
            <p:nvPr/>
          </p:nvSpPr>
          <p:spPr>
            <a:xfrm>
              <a:off x="8991599" y="3688248"/>
              <a:ext cx="906017" cy="57708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Authority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Capacity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93FF5B0-FAFE-A6F7-58F2-54D0E08A9E95}"/>
                </a:ext>
              </a:extLst>
            </p:cNvPr>
            <p:cNvSpPr txBox="1"/>
            <p:nvPr/>
          </p:nvSpPr>
          <p:spPr>
            <a:xfrm>
              <a:off x="9957025" y="3696796"/>
              <a:ext cx="1310641" cy="57708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Resistance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Incentives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763D2F4-6A00-1F99-A9E8-9A5696857329}"/>
                </a:ext>
              </a:extLst>
            </p:cNvPr>
            <p:cNvSpPr txBox="1"/>
            <p:nvPr/>
          </p:nvSpPr>
          <p:spPr>
            <a:xfrm>
              <a:off x="9052332" y="5015720"/>
              <a:ext cx="1037463" cy="57708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JTBD Match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SP Match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8174BF6-E107-C760-DDED-DE73C00C9FF5}"/>
                </a:ext>
              </a:extLst>
            </p:cNvPr>
            <p:cNvSpPr txBox="1"/>
            <p:nvPr/>
          </p:nvSpPr>
          <p:spPr>
            <a:xfrm>
              <a:off x="10017758" y="5024268"/>
              <a:ext cx="1310641" cy="57708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Two-Way Fit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Track-Record</a:t>
              </a:r>
            </a:p>
          </p:txBody>
        </p:sp>
      </p:grpSp>
      <p:sp>
        <p:nvSpPr>
          <p:cNvPr id="11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E20C4500-4AF2-4D97-9A73-E79280106208}" type="slidenum"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5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23DF938-60C1-25E0-4157-9FB33DEEEC1C}"/>
              </a:ext>
            </a:extLst>
          </p:cNvPr>
          <p:cNvSpPr/>
          <p:nvPr/>
        </p:nvSpPr>
        <p:spPr>
          <a:xfrm>
            <a:off x="1484334" y="1606851"/>
            <a:ext cx="9223332" cy="3644298"/>
          </a:xfrm>
          <a:prstGeom prst="roundRect">
            <a:avLst>
              <a:gd name="adj" fmla="val 6102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0E1E11-1CDA-6645-8772-B36B9928387F}"/>
              </a:ext>
            </a:extLst>
          </p:cNvPr>
          <p:cNvGrpSpPr/>
          <p:nvPr/>
        </p:nvGrpSpPr>
        <p:grpSpPr>
          <a:xfrm>
            <a:off x="1228461" y="1606851"/>
            <a:ext cx="9479202" cy="3644298"/>
            <a:chOff x="2211670" y="1715510"/>
            <a:chExt cx="7825363" cy="3778839"/>
          </a:xfrm>
        </p:grpSpPr>
        <p:sp>
          <p:nvSpPr>
            <p:cNvPr id="6" name="Rounded Rectangle 13">
              <a:extLst>
                <a:ext uri="{FF2B5EF4-FFF2-40B4-BE49-F238E27FC236}">
                  <a16:creationId xmlns:a16="http://schemas.microsoft.com/office/drawing/2014/main" id="{A630E344-7188-284D-8236-9C9AFA1D115C}"/>
                </a:ext>
              </a:extLst>
            </p:cNvPr>
            <p:cNvSpPr/>
            <p:nvPr/>
          </p:nvSpPr>
          <p:spPr>
            <a:xfrm>
              <a:off x="2211670" y="1715510"/>
              <a:ext cx="647127" cy="3778839"/>
            </a:xfrm>
            <a:prstGeom prst="roundRect">
              <a:avLst/>
            </a:prstGeom>
            <a:solidFill>
              <a:srgbClr val="281A42"/>
            </a:solidFill>
            <a:ln w="9525">
              <a:solidFill>
                <a:srgbClr val="281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351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5E4243-42D6-1744-BAE4-3FB3A7D661B3}"/>
                </a:ext>
              </a:extLst>
            </p:cNvPr>
            <p:cNvGrpSpPr/>
            <p:nvPr/>
          </p:nvGrpSpPr>
          <p:grpSpPr>
            <a:xfrm>
              <a:off x="2297180" y="1967105"/>
              <a:ext cx="7739853" cy="541365"/>
              <a:chOff x="1626136" y="1110428"/>
              <a:chExt cx="8800759" cy="541365"/>
            </a:xfrm>
          </p:grpSpPr>
          <p:pic>
            <p:nvPicPr>
              <p:cNvPr id="22" name="Graphic 21" descr="Checkbox Checked">
                <a:extLst>
                  <a:ext uri="{FF2B5EF4-FFF2-40B4-BE49-F238E27FC236}">
                    <a16:creationId xmlns:a16="http://schemas.microsoft.com/office/drawing/2014/main" id="{66B9CBE2-2C38-7441-AFCA-8436F6F6C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1110428"/>
                <a:ext cx="541365" cy="541365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69F42A-6C39-7545-88E1-25564FF7498C}"/>
                  </a:ext>
                </a:extLst>
              </p:cNvPr>
              <p:cNvSpPr txBox="1"/>
              <p:nvPr/>
            </p:nvSpPr>
            <p:spPr>
              <a:xfrm>
                <a:off x="2535126" y="1175191"/>
                <a:ext cx="7891769" cy="413886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 b="1" spc="-25">
                    <a:solidFill>
                      <a:srgbClr val="00C27A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Work:</a:t>
                </a:r>
                <a:r>
                  <a:rPr lang="en-US" sz="1400" b="1" spc="-25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5-7 JTBD That Must Be Delivered to Achieve Value; Assess Degree of Risk (70%)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2330D81-1E4D-3A4F-8D13-56004E73EE93}"/>
                </a:ext>
              </a:extLst>
            </p:cNvPr>
            <p:cNvGrpSpPr/>
            <p:nvPr/>
          </p:nvGrpSpPr>
          <p:grpSpPr>
            <a:xfrm>
              <a:off x="2297180" y="2635892"/>
              <a:ext cx="7558343" cy="1165579"/>
              <a:chOff x="1626136" y="1929584"/>
              <a:chExt cx="8594370" cy="1165579"/>
            </a:xfrm>
          </p:grpSpPr>
          <p:pic>
            <p:nvPicPr>
              <p:cNvPr id="20" name="Graphic 19" descr="Checkbox Checked">
                <a:extLst>
                  <a:ext uri="{FF2B5EF4-FFF2-40B4-BE49-F238E27FC236}">
                    <a16:creationId xmlns:a16="http://schemas.microsoft.com/office/drawing/2014/main" id="{A5FE508D-753D-AB45-8E78-B02299F558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1929584"/>
                <a:ext cx="541365" cy="541365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133793-332C-9344-85EE-DEAE57DCC564}"/>
                  </a:ext>
                </a:extLst>
              </p:cNvPr>
              <p:cNvSpPr txBox="1"/>
              <p:nvPr/>
            </p:nvSpPr>
            <p:spPr>
              <a:xfrm>
                <a:off x="2535414" y="2681275"/>
                <a:ext cx="7685092" cy="413888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281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SUPERPOWERS: </a:t>
                </a:r>
                <a:r>
                  <a:rPr lang="en-US" sz="1467" spc="-10">
                    <a:solidFill>
                      <a:srgbClr val="3B3B3B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TO EXECUTE JTBD AND MITIGATE WORK &amp; ROLE RISKS</a:t>
                </a:r>
                <a:endParaRPr lang="en-US" sz="1600" spc="-10">
                  <a:solidFill>
                    <a:srgbClr val="F2F2F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7573949-FE65-FA44-8B85-8F8BFD3D598A}"/>
                </a:ext>
              </a:extLst>
            </p:cNvPr>
            <p:cNvGrpSpPr/>
            <p:nvPr/>
          </p:nvGrpSpPr>
          <p:grpSpPr>
            <a:xfrm>
              <a:off x="2297180" y="2713619"/>
              <a:ext cx="7553846" cy="1132425"/>
              <a:chOff x="1626136" y="2157680"/>
              <a:chExt cx="8589256" cy="1132425"/>
            </a:xfrm>
          </p:grpSpPr>
          <p:pic>
            <p:nvPicPr>
              <p:cNvPr id="18" name="Graphic 17" descr="Checkbox Checked">
                <a:extLst>
                  <a:ext uri="{FF2B5EF4-FFF2-40B4-BE49-F238E27FC236}">
                    <a16:creationId xmlns:a16="http://schemas.microsoft.com/office/drawing/2014/main" id="{50CD195B-ECE7-B34B-9D00-8487CB152A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2748740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3ACDC0-6BD1-0E4F-98F6-3C9A8B4C11CD}"/>
                  </a:ext>
                </a:extLst>
              </p:cNvPr>
              <p:cNvSpPr txBox="1"/>
              <p:nvPr/>
            </p:nvSpPr>
            <p:spPr>
              <a:xfrm>
                <a:off x="2530300" y="2157680"/>
                <a:ext cx="7685092" cy="413885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ROLE:</a:t>
                </a:r>
                <a:r>
                  <a:rPr lang="en-US" sz="1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LOOK FOR EVIDENCE TO SUPPORT ROLE RISK (70%)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F248304-FE90-0C4D-8C58-0E5A26A90AC7}"/>
                </a:ext>
              </a:extLst>
            </p:cNvPr>
            <p:cNvGrpSpPr/>
            <p:nvPr/>
          </p:nvGrpSpPr>
          <p:grpSpPr>
            <a:xfrm>
              <a:off x="2297180" y="3973466"/>
              <a:ext cx="7558343" cy="541365"/>
              <a:chOff x="1626136" y="3567896"/>
              <a:chExt cx="8594370" cy="541365"/>
            </a:xfrm>
          </p:grpSpPr>
          <p:pic>
            <p:nvPicPr>
              <p:cNvPr id="16" name="Graphic 15" descr="Checkbox Checked">
                <a:extLst>
                  <a:ext uri="{FF2B5EF4-FFF2-40B4-BE49-F238E27FC236}">
                    <a16:creationId xmlns:a16="http://schemas.microsoft.com/office/drawing/2014/main" id="{B2307734-A953-9245-A234-DCAC05F4B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3567896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B5BDE1-E60C-EB41-95BE-3044EB2FD931}"/>
                  </a:ext>
                </a:extLst>
              </p:cNvPr>
              <p:cNvSpPr txBox="1"/>
              <p:nvPr/>
            </p:nvSpPr>
            <p:spPr>
              <a:xfrm>
                <a:off x="2535414" y="3631428"/>
                <a:ext cx="7685092" cy="413887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TALENT:  </a:t>
                </a:r>
                <a:r>
                  <a:rPr lang="en-US" sz="14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LOOK FOR EVIDENCE TO SUPPORT TALENT RISK (30%)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E25AB2E-7FBE-974D-AE1D-E6AED2A3C21A}"/>
                </a:ext>
              </a:extLst>
            </p:cNvPr>
            <p:cNvGrpSpPr/>
            <p:nvPr/>
          </p:nvGrpSpPr>
          <p:grpSpPr>
            <a:xfrm>
              <a:off x="2297180" y="4642253"/>
              <a:ext cx="7558343" cy="541365"/>
              <a:chOff x="1626136" y="4387052"/>
              <a:chExt cx="8594370" cy="541365"/>
            </a:xfrm>
          </p:grpSpPr>
          <p:pic>
            <p:nvPicPr>
              <p:cNvPr id="14" name="Graphic 13" descr="Checkbox Checked">
                <a:extLst>
                  <a:ext uri="{FF2B5EF4-FFF2-40B4-BE49-F238E27FC236}">
                    <a16:creationId xmlns:a16="http://schemas.microsoft.com/office/drawing/2014/main" id="{CAAA0BC0-31FE-544E-B732-E4E77F800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4387052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6300E0-861F-364E-98DF-66835BCED715}"/>
                  </a:ext>
                </a:extLst>
              </p:cNvPr>
              <p:cNvSpPr txBox="1"/>
              <p:nvPr/>
            </p:nvSpPr>
            <p:spPr>
              <a:xfrm>
                <a:off x="2535414" y="4450174"/>
                <a:ext cx="7685092" cy="413887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281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VALUE:</a:t>
                </a:r>
                <a:r>
                  <a:rPr lang="en-US" sz="1400" spc="-10">
                    <a:solidFill>
                      <a:srgbClr val="281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 </a:t>
                </a:r>
                <a:r>
                  <a:rPr lang="en-US" sz="1467" spc="-10">
                    <a:solidFill>
                      <a:srgbClr val="3B3B3B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TOTAL VALUE TO BE DELIVERED THROUGH JTBD</a:t>
                </a:r>
                <a:endParaRPr lang="en-US" sz="14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C5FF86E9-057A-4525-8FAC-B47B9D91ABE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t>/click</a:t>
            </a:r>
          </a:p>
        </p:txBody>
      </p:sp>
      <p:sp>
        <p:nvSpPr>
          <p:cNvPr id="31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t>Plenary checklist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3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465D2434-6CF3-4EB9-93B3-76FEA83D560E}" type="slidenum"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B400F-8F6C-C297-BDEE-B475E78D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C38933-EC0D-0EB4-8FED-76878D8A48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  <p:sp>
        <p:nvSpPr>
          <p:cNvPr id="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8B46CD40-059C-4AD1-9A72-462C1BB0569D}" type="slidenum"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532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16CE3E-DA2A-5300-0A40-3033FABC6AB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Case Study for Tomorrow</a:t>
            </a:r>
          </a:p>
        </p:txBody>
      </p:sp>
      <p:pic>
        <p:nvPicPr>
          <p:cNvPr id="4098" name="Picture 2" descr="Qr Code Preview">
            <a:extLst>
              <a:ext uri="{FF2B5EF4-FFF2-40B4-BE49-F238E27FC236}">
                <a16:creationId xmlns:a16="http://schemas.microsoft.com/office/drawing/2014/main" id="{AA829F73-42E5-5A72-9813-75870F125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4693571" y="1644134"/>
            <a:ext cx="2804857" cy="363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254C12-54EA-775D-551C-A6DF69456322}"/>
              </a:ext>
            </a:extLst>
          </p:cNvPr>
          <p:cNvSpPr txBox="1"/>
          <p:nvPr/>
        </p:nvSpPr>
        <p:spPr>
          <a:xfrm>
            <a:off x="4638832" y="5387877"/>
            <a:ext cx="347929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i="1" spc="-10"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spc="-10" err="1"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 spc="-10"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/bgdpA5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9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E9FA4014-C624-4CE8-888E-DB0F2449D476}" type="slidenum"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7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8FFA7F39-0170-442C-ACC3-537A391246DD}" type="slidenum"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2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0E2EA-40D0-D777-86BC-6C7965AA865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Answer Key</a:t>
            </a:r>
          </a:p>
        </p:txBody>
      </p:sp>
      <p:sp>
        <p:nvSpPr>
          <p:cNvPr id="6" name="SubtitleSplit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b="0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Day 1</a:t>
            </a:r>
            <a:endParaRPr lang="en-US" b="0" spc="-10">
              <a:latin typeface="Segoe UI" pitchFamily="34" charset="0"/>
            </a:endParaRPr>
          </a:p>
        </p:txBody>
      </p:sp>
      <p:sp>
        <p:nvSpPr>
          <p:cNvPr id="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D0CAC12C-034B-41F3-BABB-1C36FAFD8DFB}" type="slidenum"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1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616C19-17FE-B85B-A30E-C1628E7ECDD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Transformco Value Agenda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5E7590-15A4-397B-4BDA-23194684F880}"/>
              </a:ext>
            </a:extLst>
          </p:cNvPr>
          <p:cNvSpPr txBox="1"/>
          <p:nvPr/>
        </p:nvSpPr>
        <p:spPr>
          <a:xfrm>
            <a:off x="7453922" y="5758048"/>
            <a:ext cx="2776979" cy="46166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EBITDA AS VALUE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6CD61C-0CB5-9264-D91F-7DD163D71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79100"/>
              </p:ext>
            </p:extLst>
          </p:nvPr>
        </p:nvGraphicFramePr>
        <p:xfrm>
          <a:off x="1668522" y="1667200"/>
          <a:ext cx="9419912" cy="3716563"/>
        </p:xfrm>
        <a:graphic>
          <a:graphicData uri="http://schemas.openxmlformats.org/drawingml/2006/table">
            <a:tbl>
              <a:tblPr/>
              <a:tblGrid>
                <a:gridCol w="6007286">
                  <a:extLst>
                    <a:ext uri="{9D8B030D-6E8A-4147-A177-3AD203B41FA5}">
                      <a16:colId xmlns:a16="http://schemas.microsoft.com/office/drawing/2014/main" val="476703834"/>
                    </a:ext>
                  </a:extLst>
                </a:gridCol>
                <a:gridCol w="3412626">
                  <a:extLst>
                    <a:ext uri="{9D8B030D-6E8A-4147-A177-3AD203B41FA5}">
                      <a16:colId xmlns:a16="http://schemas.microsoft.com/office/drawing/2014/main" val="1134213126"/>
                    </a:ext>
                  </a:extLst>
                </a:gridCol>
              </a:tblGrid>
              <a:tr h="5479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</a:rPr>
                        <a:t>Value Hotspot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</a:rPr>
                        <a:t>2030 Incremental EBITDA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736858"/>
                  </a:ext>
                </a:extLst>
              </a:tr>
              <a:tr h="545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err="1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Renewables&amp;Storage</a:t>
                      </a: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 Growth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480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4101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Data Center Integration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70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31391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Bundled Customer Solutions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250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319444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Operational Efficiency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180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414124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Digital Platform Upside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30688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Trading and Wholesale Margin Expansion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40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832563"/>
                  </a:ext>
                </a:extLst>
              </a:tr>
            </a:tbl>
          </a:graphicData>
        </a:graphic>
      </p:graphicFrame>
      <p:sp>
        <p:nvSpPr>
          <p:cNvPr id="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607F4331-BC99-46F8-9DAF-6C76D495DC69}" type="slidenum"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1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CE15BB-61FF-3574-D98B-4795B018A13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 @ Hotspot: Bundled Customer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0B11E-BE66-B3F5-FD22-A775C9882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539" y="1122539"/>
            <a:ext cx="1116352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Accelerate Customer Growth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Segmentation and Personalized Offerings: Tailor offerings to specific segments to improve profitability, retention, and reduce churn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Growth in the existing and new market 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CES Growth: Aiming for 20K annual customer growth. Continue to grow market share in new residential development and product expansion into CES. 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Broadband Services Growth: Grow customer accounts from 150K to 500K+ through organic and strategic investments in broadband businesses or partnerships.</a:t>
            </a:r>
          </a:p>
          <a:p>
            <a:pPr marL="285750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 in Lower Cost to Serve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Improve Cost-to-Serve Efficiency: </a:t>
            </a:r>
          </a:p>
          <a:p>
            <a:pPr marL="8069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Unlock AI and automation opportunities</a:t>
            </a:r>
          </a:p>
          <a:p>
            <a:pPr marL="8069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Optimize the cost-to-serve by embedding Hulk and Retail Z operating models to achieve a $100M reduction by FYXX</a:t>
            </a:r>
          </a:p>
          <a:p>
            <a:pPr marL="8069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Reduce bad debts while maintaining compliance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Efficient labor arbitrage and labor cost reduction through AI</a:t>
            </a:r>
          </a:p>
          <a:p>
            <a:pPr marL="285750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Product Offerings / Innovations that expand Share of the Wallet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 adjacencies or new product innovations that increase revenue and customer retention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Prioritizing and flawlessly executing new product introductions to existing and new customers</a:t>
            </a:r>
          </a:p>
          <a:p>
            <a:pPr marL="1211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Experience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outrageously great experiences for customers</a:t>
            </a:r>
            <a:endParaRPr lang="en-US" sz="14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Marketing and customer awareness of potential new products (bundling, special pricing)</a:t>
            </a:r>
          </a:p>
        </p:txBody>
      </p:sp>
      <p:sp>
        <p:nvSpPr>
          <p:cNvPr id="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4BAF712C-D9ED-4BCD-91F2-C5E5DB37A8FE}" type="slidenum"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8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FFFFF"/>
      </a:lt1>
      <a:dk2>
        <a:srgbClr val="281A42"/>
      </a:dk2>
      <a:lt2>
        <a:srgbClr val="F2F2F2"/>
      </a:lt2>
      <a:accent1>
        <a:srgbClr val="765FFF"/>
      </a:accent1>
      <a:accent2>
        <a:srgbClr val="281A42"/>
      </a:accent2>
      <a:accent3>
        <a:srgbClr val="00C27A"/>
      </a:accent3>
      <a:accent4>
        <a:srgbClr val="60BDBC"/>
      </a:accent4>
      <a:accent5>
        <a:srgbClr val="FFB547"/>
      </a:accent5>
      <a:accent6>
        <a:srgbClr val="FF2E88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1D1D1D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ulcrumQ Default Template" id="{8DA0E5EF-F260-734E-8758-5A5D32FE6210}" vid="{6D9E437C-8548-9346-908E-F626CF510D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7ac9185-b476-410f-8076-92aa6965d11d" xsi:nil="true"/>
    <lcf76f155ced4ddcb4097134ff3c332f xmlns="ae803a8c-9ae1-4bc9-b273-db81f102e4a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FF207E42505149B05006F1D01AA25E" ma:contentTypeVersion="12" ma:contentTypeDescription="Create a new document." ma:contentTypeScope="" ma:versionID="1017fc5c6204c629ddad60a4245efdc4">
  <xsd:schema xmlns:xsd="http://www.w3.org/2001/XMLSchema" xmlns:xs="http://www.w3.org/2001/XMLSchema" xmlns:p="http://schemas.microsoft.com/office/2006/metadata/properties" xmlns:ns2="ae803a8c-9ae1-4bc9-b273-db81f102e4a6" xmlns:ns3="b7ac9185-b476-410f-8076-92aa6965d11d" targetNamespace="http://schemas.microsoft.com/office/2006/metadata/properties" ma:root="true" ma:fieldsID="cb7fa72b44c64427d2fda51f33a90fb4" ns2:_="" ns3:_="">
    <xsd:import namespace="ae803a8c-9ae1-4bc9-b273-db81f102e4a6"/>
    <xsd:import namespace="b7ac9185-b476-410f-8076-92aa6965d1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803a8c-9ae1-4bc9-b273-db81f102e4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e777b1b-314e-4559-8ee3-bc85f5a6b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c9185-b476-410f-8076-92aa6965d11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ff57b5f-949d-484a-a6e4-feee9032721e}" ma:internalName="TaxCatchAll" ma:showField="CatchAllData" ma:web="b7ac9185-b476-410f-8076-92aa6965d1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19E728-125D-4071-930A-E8A3DCE7ECF0}">
  <ds:schemaRefs>
    <ds:schemaRef ds:uri="ae803a8c-9ae1-4bc9-b273-db81f102e4a6"/>
    <ds:schemaRef ds:uri="b7ac9185-b476-410f-8076-92aa6965d11d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F0E5C28F-420F-4949-AD71-EBDA8109BD7A}">
  <ds:schemaRefs>
    <ds:schemaRef ds:uri="ae803a8c-9ae1-4bc9-b273-db81f102e4a6"/>
    <ds:schemaRef ds:uri="b7ac9185-b476-410f-8076-92aa6965d1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8A1E773-C6C3-4CBE-9780-FB8689D196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10267</Words>
  <Application>Microsoft Macintosh PowerPoint</Application>
  <PresentationFormat>Widescreen</PresentationFormat>
  <Paragraphs>1982</Paragraphs>
  <Slides>78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8" baseType="lpstr">
      <vt:lpstr>Aptos</vt:lpstr>
      <vt:lpstr>Arial</vt:lpstr>
      <vt:lpstr>Arial,Sans-Serif</vt:lpstr>
      <vt:lpstr>Calibri</vt:lpstr>
      <vt:lpstr>Helvetica Neue</vt:lpstr>
      <vt:lpstr>Lato</vt:lpstr>
      <vt:lpstr>Segoe UI</vt:lpstr>
      <vt:lpstr>Tw Cen MT</vt:lpstr>
      <vt:lpstr>Wingdings</vt:lpstr>
      <vt:lpstr>FQ_Theme</vt:lpstr>
      <vt:lpstr>Talent to Value Academy</vt:lpstr>
      <vt:lpstr>Talent to Value Journey Learning Objectives</vt:lpstr>
      <vt:lpstr>Agenda</vt:lpstr>
      <vt:lpstr>Introductions</vt:lpstr>
      <vt:lpstr>CEO Success</vt:lpstr>
      <vt:lpstr>The CEO Dilemma</vt:lpstr>
      <vt:lpstr>Talent to Value</vt:lpstr>
      <vt:lpstr>Evolution of Talent to Value</vt:lpstr>
      <vt:lpstr>How We See Ourselves</vt:lpstr>
      <vt:lpstr>The “gearshifts” of Talent to Value</vt:lpstr>
      <vt:lpstr>One Methodology</vt:lpstr>
      <vt:lpstr>Our Mission</vt:lpstr>
      <vt:lpstr>Talent to Value Helps Answer….</vt:lpstr>
      <vt:lpstr>Talent to Value from Ceo’s Lens</vt:lpstr>
      <vt:lpstr>Business Impact of Talent to Value</vt:lpstr>
      <vt:lpstr>Talent to Value Methdology – An Overview</vt:lpstr>
      <vt:lpstr>PowerPoint Presentation</vt:lpstr>
      <vt:lpstr>PowerPoint Presentation</vt:lpstr>
      <vt:lpstr>Talent to Value Methdology</vt:lpstr>
      <vt:lpstr>Understand the Value</vt:lpstr>
      <vt:lpstr>Value Agenda</vt:lpstr>
      <vt:lpstr>Analytics + Judgment</vt:lpstr>
      <vt:lpstr>Key Concept</vt:lpstr>
      <vt:lpstr>Example: Identifying Value Hotspots</vt:lpstr>
      <vt:lpstr>Facilitating the Treasure Hunt</vt:lpstr>
      <vt:lpstr>Where Is the Money?</vt:lpstr>
      <vt:lpstr>Value Agenda: Case Example</vt:lpstr>
      <vt:lpstr>Value Agenda</vt:lpstr>
      <vt:lpstr>Value Agenda</vt:lpstr>
      <vt:lpstr>Talent to Value Methdology</vt:lpstr>
      <vt:lpstr>Work Context &amp; Critical Roles</vt:lpstr>
      <vt:lpstr>Create A Table for Each Hotspot</vt:lpstr>
      <vt:lpstr>Identify the Work to Deliver the Value</vt:lpstr>
      <vt:lpstr>Example: What Is the Pivotal Work?</vt:lpstr>
      <vt:lpstr>Work @ Hotspot</vt:lpstr>
      <vt:lpstr>/list - Identify the Critical Roles</vt:lpstr>
      <vt:lpstr>/list - the Roles That Deliver the Work</vt:lpstr>
      <vt:lpstr>/list - Golden Triangle Lens</vt:lpstr>
      <vt:lpstr>Example: What Are the Roles Critical</vt:lpstr>
      <vt:lpstr>/list Insights</vt:lpstr>
      <vt:lpstr>List of Critical Roles Is Rank Ordered</vt:lpstr>
      <vt:lpstr>/list Insights - Duplicates &amp; New Roles</vt:lpstr>
      <vt:lpstr>/list Insights - Strategy in Action</vt:lpstr>
      <vt:lpstr>From Work @ Hotspot to Critical Roles</vt:lpstr>
      <vt:lpstr>Refined Critical Roles</vt:lpstr>
      <vt:lpstr>PowerPoint Presentation</vt:lpstr>
      <vt:lpstr>Talent to Value Methdology – An Overview</vt:lpstr>
      <vt:lpstr>Talent to Value: /click</vt:lpstr>
      <vt:lpstr>/click Connects Work•role•talent</vt:lpstr>
      <vt:lpstr>Job Descriptions Vs Jobs to Be Done</vt:lpstr>
      <vt:lpstr>Building Jobs to Be Done</vt:lpstr>
      <vt:lpstr>Example: Jobs to Be Done</vt:lpstr>
      <vt:lpstr>Practice: Jobs to Be Done</vt:lpstr>
      <vt:lpstr>Practice: Jobs to Be Done:</vt:lpstr>
      <vt:lpstr>Activity: Quality Jobs to Be Done</vt:lpstr>
      <vt:lpstr>/click</vt:lpstr>
      <vt:lpstr>The ‘current’ Human Resources Tools</vt:lpstr>
      <vt:lpstr>Click</vt:lpstr>
      <vt:lpstr>Click – Work</vt:lpstr>
      <vt:lpstr>Click – Role</vt:lpstr>
      <vt:lpstr>Superpowers</vt:lpstr>
      <vt:lpstr>Superpowers</vt:lpstr>
      <vt:lpstr>Click – Talent</vt:lpstr>
      <vt:lpstr>/click</vt:lpstr>
      <vt:lpstr>/click</vt:lpstr>
      <vt:lpstr>/click</vt:lpstr>
      <vt:lpstr>/click</vt:lpstr>
      <vt:lpstr>/click</vt:lpstr>
      <vt:lpstr>/click</vt:lpstr>
      <vt:lpstr>/click</vt:lpstr>
      <vt:lpstr>Risk Insights – Three Levels of Depth</vt:lpstr>
      <vt:lpstr>/click</vt:lpstr>
      <vt:lpstr>PowerPoint Presentation</vt:lpstr>
      <vt:lpstr>Case Study for Tomorrow</vt:lpstr>
      <vt:lpstr>PowerPoint Presentation</vt:lpstr>
      <vt:lpstr>Answer Key</vt:lpstr>
      <vt:lpstr>Transformco Value Agenda</vt:lpstr>
      <vt:lpstr>Work @ Hotspot: Bundled Customer 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Mitul Brahmbhatt</dc:creator>
  <cp:lastModifiedBy>Zoe Ervolino</cp:lastModifiedBy>
  <cp:revision>2</cp:revision>
  <dcterms:created xsi:type="dcterms:W3CDTF">2023-05-16T12:27:02Z</dcterms:created>
  <dcterms:modified xsi:type="dcterms:W3CDTF">2026-03-31T16:52:36Z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0x010100FDFF207E42505149B05006F1D01AA25E</vt:lpwstr>
  </property>
  <property fmtid="{D5CDD505-2E9C-101B-9397-08002B2CF9AE}" pid="3" name="MediaServiceImageTags">
    <vt:lpwstr/>
  </property>
</Properties>
</file>