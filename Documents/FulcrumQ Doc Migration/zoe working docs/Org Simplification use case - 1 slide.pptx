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sldIdLst>
    <p:sldId id="2145707192" r:id="rId13"/>
  </p:sldIdLst>
  <p:sldSz cx="12192000" cy="6858000"/>
  <p:notesSz cx="12192000" cy="6858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ato Light" panose="020F0502020204030203" pitchFamily="34" charset="0"/>
      <p:regular r:id="rId25"/>
      <p: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BA0B2F"/>
    <a:srgbClr val="008000"/>
    <a:srgbClr val="F87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7"/>
    <p:restoredTop sz="96963"/>
  </p:normalViewPr>
  <p:slideViewPr>
    <p:cSldViewPr snapToGrid="0">
      <p:cViewPr varScale="1">
        <p:scale>
          <a:sx n="88" d="100"/>
          <a:sy n="88" d="100"/>
        </p:scale>
        <p:origin x="352" y="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6/11/relationships/changesInfo" Target="changesInfos/changesInfo1.xml"/><Relationship Id="rId19" Type="http://schemas.openxmlformats.org/officeDocument/2006/relationships/font" Target="fonts/font5.fntdata"/><Relationship Id="rId31" Type="http://schemas.openxmlformats.org/officeDocument/2006/relationships/tags" Target="tags/tag1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4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rilyn Vossberg" userId="4f609c03-5523-4742-aa65-5c4653c0a6ea" providerId="ADAL" clId="{A28302EA-ED27-4B84-BB79-9B9BF6C260F6}"/>
    <pc:docChg chg="delSld">
      <pc:chgData name="Cherilyn Vossberg" userId="4f609c03-5523-4742-aa65-5c4653c0a6ea" providerId="ADAL" clId="{A28302EA-ED27-4B84-BB79-9B9BF6C260F6}" dt="2023-01-31T18:36:03.962" v="3" actId="47"/>
      <pc:docMkLst>
        <pc:docMk/>
      </pc:docMkLst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181531143" sldId="30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1138916425" sldId="346"/>
        </pc:sldMkLst>
      </pc:sldChg>
      <pc:sldChg chg="del">
        <pc:chgData name="Cherilyn Vossberg" userId="4f609c03-5523-4742-aa65-5c4653c0a6ea" providerId="ADAL" clId="{A28302EA-ED27-4B84-BB79-9B9BF6C260F6}" dt="2023-01-31T18:36:03.962" v="3" actId="47"/>
        <pc:sldMkLst>
          <pc:docMk/>
          <pc:sldMk cId="3257341234" sldId="214570674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2968515172" sldId="2145706966"/>
        </pc:sldMkLst>
      </pc:sldChg>
      <pc:sldChg chg="del">
        <pc:chgData name="Cherilyn Vossberg" userId="4f609c03-5523-4742-aa65-5c4653c0a6ea" providerId="ADAL" clId="{A28302EA-ED27-4B84-BB79-9B9BF6C260F6}" dt="2023-01-31T18:36:02.538" v="2" actId="47"/>
        <pc:sldMkLst>
          <pc:docMk/>
          <pc:sldMk cId="323120261" sldId="2145707102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1864186231" sldId="2145707141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861808525" sldId="2145707142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2744822131" sldId="2145707181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2686025445" sldId="2145707187"/>
        </pc:sldMkLst>
      </pc:sldChg>
      <pc:sldChg chg="del">
        <pc:chgData name="Cherilyn Vossberg" userId="4f609c03-5523-4742-aa65-5c4653c0a6ea" providerId="ADAL" clId="{A28302EA-ED27-4B84-BB79-9B9BF6C260F6}" dt="2023-01-31T18:36:02.538" v="2" actId="47"/>
        <pc:sldMkLst>
          <pc:docMk/>
          <pc:sldMk cId="2977562373" sldId="2145707188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760489770" sldId="214570718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361080327" sldId="2145707190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4224878824" sldId="2145707194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1443976640" sldId="2145707195"/>
        </pc:sldMkLst>
      </pc:sldChg>
      <pc:sldMasterChg chg="delSldLayout">
        <pc:chgData name="Cherilyn Vossberg" userId="4f609c03-5523-4742-aa65-5c4653c0a6ea" providerId="ADAL" clId="{A28302EA-ED27-4B84-BB79-9B9BF6C260F6}" dt="2023-01-31T18:36:03.962" v="3" actId="47"/>
        <pc:sldMasterMkLst>
          <pc:docMk/>
          <pc:sldMasterMk cId="1351411618" sldId="2147483677"/>
        </pc:sldMasterMkLst>
        <pc:sldLayoutChg chg="del">
          <pc:chgData name="Cherilyn Vossberg" userId="4f609c03-5523-4742-aa65-5c4653c0a6ea" providerId="ADAL" clId="{A28302EA-ED27-4B84-BB79-9B9BF6C260F6}" dt="2023-01-31T18:36:03.962" v="3" actId="47"/>
          <pc:sldLayoutMkLst>
            <pc:docMk/>
            <pc:sldMasterMk cId="1351411618" sldId="2147483677"/>
            <pc:sldLayoutMk cId="2165957121" sldId="214748373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61C4D-C149-4750-9DE9-4D79F619CCA5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4985-E8E0-419E-9F72-6254153D3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934" y="5938937"/>
            <a:ext cx="1847491" cy="3748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5946126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934" y="5938937"/>
            <a:ext cx="1847491" cy="374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934" y="5938937"/>
            <a:ext cx="1847491" cy="374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934" y="5944623"/>
            <a:ext cx="1847491" cy="36344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B3AE99D-E8F7-F7AF-11A2-710E910B0D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934" y="5938937"/>
            <a:ext cx="1847491" cy="3748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70D6B9-CC38-E8E4-EA17-596CC24E6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 spc="-150"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  <p:extLst>
      <p:ext uri="{BB962C8B-B14F-4D97-AF65-F5344CB8AC3E}">
        <p14:creationId xmlns:p14="http://schemas.microsoft.com/office/powerpoint/2010/main" val="308749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ivider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8C041C-E986-648C-E515-ED1CFFDBD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 spc="-150">
                <a:solidFill>
                  <a:schemeClr val="bg1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  <p:extLst>
      <p:ext uri="{BB962C8B-B14F-4D97-AF65-F5344CB8AC3E}">
        <p14:creationId xmlns:p14="http://schemas.microsoft.com/office/powerpoint/2010/main" val="14565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arger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 spc="-150"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 spc="-150"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80E292-8B1E-4436-02A8-190F85F98E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2000" y="1823305"/>
            <a:ext cx="11340000" cy="540000"/>
          </a:xfrm>
          <a:prstGeom prst="rect">
            <a:avLst/>
          </a:prstGeom>
        </p:spPr>
        <p:txBody>
          <a:bodyPr tIns="108000" anchor="ctr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4CE5-B8E9-6665-D8F5-0DBFA023B8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2000" y="2472235"/>
            <a:ext cx="11340000" cy="540000"/>
          </a:xfrm>
          <a:prstGeom prst="rect">
            <a:avLst/>
          </a:prstGeom>
        </p:spPr>
        <p:txBody>
          <a:bodyPr tIns="108000" anchor="ctr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0CAA32-9B65-263D-C400-86CD0CA3DC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2000" y="3121165"/>
            <a:ext cx="11340000" cy="540000"/>
          </a:xfrm>
          <a:prstGeom prst="rect">
            <a:avLst/>
          </a:prstGeom>
        </p:spPr>
        <p:txBody>
          <a:bodyPr tIns="108000" anchor="ctr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D27455-6601-0406-C676-19989B992D5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2000" y="3770095"/>
            <a:ext cx="11340000" cy="540000"/>
          </a:xfrm>
          <a:prstGeom prst="rect">
            <a:avLst/>
          </a:prstGeom>
        </p:spPr>
        <p:txBody>
          <a:bodyPr tIns="108000" anchor="ctr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2E5E4D-36CB-31FD-201A-CAD78797283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2000" y="4419024"/>
            <a:ext cx="11340000" cy="540000"/>
          </a:xfrm>
          <a:prstGeom prst="rect">
            <a:avLst/>
          </a:prstGeom>
        </p:spPr>
        <p:txBody>
          <a:bodyPr tIns="108000" anchor="ctr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3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0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con 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4042-52F1-2934-BA9E-978BFD5C6C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823305"/>
            <a:ext cx="10857600" cy="540000"/>
          </a:xfrm>
          <a:prstGeom prst="rect">
            <a:avLst/>
          </a:prstGeom>
        </p:spPr>
        <p:txBody>
          <a:bodyPr tIns="108000" anchor="ctr"/>
          <a:lstStyle>
            <a:lvl1pPr marL="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4572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9144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3716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18288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ACE7AC-9A33-A0CE-3EDF-2C3ED7B8E8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1E0D07-B5AA-649B-7708-E05BEECF5FA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000" y="1913305"/>
            <a:ext cx="360000" cy="36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D6E05DD-5952-8F23-14EC-EA1CE66141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42082"/>
            <a:ext cx="10857600" cy="540000"/>
          </a:xfrm>
          <a:prstGeom prst="rect">
            <a:avLst/>
          </a:prstGeom>
        </p:spPr>
        <p:txBody>
          <a:bodyPr tIns="108000" anchor="ctr"/>
          <a:lstStyle>
            <a:lvl1pPr marL="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4572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9144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3716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18288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560E4C00-153F-D40E-CE22-E7584067223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32000" y="2732082"/>
            <a:ext cx="360000" cy="36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7616CE1-C1C9-D434-78E8-F4CB890614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3460859"/>
            <a:ext cx="10857600" cy="540000"/>
          </a:xfrm>
          <a:prstGeom prst="rect">
            <a:avLst/>
          </a:prstGeom>
        </p:spPr>
        <p:txBody>
          <a:bodyPr tIns="108000" anchor="ctr"/>
          <a:lstStyle>
            <a:lvl1pPr marL="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4572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9144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3716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18288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C9D7162D-0E74-FD08-E193-2E04BB1DA24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32000" y="3550859"/>
            <a:ext cx="360000" cy="36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B4291A7-8831-DAFB-485D-46B8759A7A7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4400" y="4279635"/>
            <a:ext cx="10857600" cy="540000"/>
          </a:xfrm>
          <a:prstGeom prst="rect">
            <a:avLst/>
          </a:prstGeom>
        </p:spPr>
        <p:txBody>
          <a:bodyPr tIns="108000" anchor="ctr"/>
          <a:lstStyle>
            <a:lvl1pPr marL="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4572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9144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3716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18288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9994F050-FA43-6E2B-33EF-EE7FF5C10F6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432000" y="4369635"/>
            <a:ext cx="360000" cy="36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599084B-F134-6DC9-E343-E5507431B03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4400" y="5104388"/>
            <a:ext cx="10857600" cy="540000"/>
          </a:xfrm>
          <a:prstGeom prst="rect">
            <a:avLst/>
          </a:prstGeom>
        </p:spPr>
        <p:txBody>
          <a:bodyPr tIns="108000" anchor="ctr"/>
          <a:lstStyle>
            <a:lvl1pPr marL="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 marL="4572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 marL="9144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 marL="13716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 marL="1828800" indent="0" algn="l">
              <a:lnSpc>
                <a:spcPts val="2020"/>
              </a:lnSpc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DE828C95-EA8F-93DD-FF0B-9298D263D21F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432000" y="5194388"/>
            <a:ext cx="360000" cy="36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5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  <p:extLst>
      <p:ext uri="{BB962C8B-B14F-4D97-AF65-F5344CB8AC3E}">
        <p14:creationId xmlns:p14="http://schemas.microsoft.com/office/powerpoint/2010/main" val="1093995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4042-52F1-2934-BA9E-978BFD5C6C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2000" y="1757563"/>
            <a:ext cx="11328000" cy="417683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1pPr>
            <a:lvl2pPr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2pPr>
            <a:lvl3pPr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latin typeface="Aileron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ACE7AC-9A33-A0CE-3EDF-2C3ED7B8E8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98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mall Fo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1" y="6292281"/>
            <a:ext cx="11609759" cy="324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3600" b="1" spc="-150"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  <p:extLst>
      <p:ext uri="{BB962C8B-B14F-4D97-AF65-F5344CB8AC3E}">
        <p14:creationId xmlns:p14="http://schemas.microsoft.com/office/powerpoint/2010/main" val="3154505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mall Font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2355D-F8AB-7B43-A60C-9C2A2A116CD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3600" b="1" spc="-150">
                <a:solidFill>
                  <a:schemeClr val="bg1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65FB3-D7EB-985E-E017-B4FF6062D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9" y="6292281"/>
            <a:ext cx="1160975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8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28000" cy="1325563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rgbClr val="1D1D1D"/>
                </a:solidFill>
                <a:latin typeface="Aileron Bold" panose="00000A00000000000000" pitchFamily="2" charset="77"/>
              </a:defRPr>
            </a:lvl1pPr>
          </a:lstStyle>
          <a:p>
            <a:r>
              <a:rPr lang="en-US" dirty="0"/>
              <a:t>CLICK TO EDIT </a:t>
            </a:r>
          </a:p>
        </p:txBody>
      </p:sp>
      <p:pic>
        <p:nvPicPr>
          <p:cNvPr id="5" name="Picture 4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934" y="5938937"/>
            <a:ext cx="1847491" cy="3748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54" r:id="rId8"/>
    <p:sldLayoutId id="2147483664" r:id="rId9"/>
    <p:sldLayoutId id="2147483663" r:id="rId10"/>
    <p:sldLayoutId id="2147483661" r:id="rId11"/>
    <p:sldLayoutId id="2147483662" r:id="rId12"/>
    <p:sldLayoutId id="2147483659" r:id="rId13"/>
    <p:sldLayoutId id="2147483660" r:id="rId14"/>
    <p:sldLayoutId id="2147483655" r:id="rId15"/>
    <p:sldLayoutId id="214748365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Relationship Id="rId6" Type="http://schemas.openxmlformats.org/officeDocument/2006/relationships/image" Target="../media/image42.png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Object 208" hidden="1">
            <a:extLst>
              <a:ext uri="{FF2B5EF4-FFF2-40B4-BE49-F238E27FC236}">
                <a16:creationId xmlns:a16="http://schemas.microsoft.com/office/drawing/2014/main" id="{7E6AE96C-2DBC-FAD9-F01F-26432C50CE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09" name="Object 208" hidden="1">
                        <a:extLst>
                          <a:ext uri="{FF2B5EF4-FFF2-40B4-BE49-F238E27FC236}">
                            <a16:creationId xmlns:a16="http://schemas.microsoft.com/office/drawing/2014/main" id="{7E6AE96C-2DBC-FAD9-F01F-26432C50C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7C1BF-4AA1-BEBE-DD6D-DFC38DA491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539" y="308795"/>
            <a:ext cx="11392890" cy="45687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ORGANIZATIONAL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EFFICIENCY</a:t>
            </a:r>
            <a:r>
              <a:rPr lang="en-US" dirty="0">
                <a:latin typeface="Calibri" panose="020F0502020204030204" pitchFamily="34" charset="0"/>
              </a:rPr>
              <a:t>: PROCESS &amp; DESIGN 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FFB69-728F-F081-00D2-6A42D9C7D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1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F940657-F549-EF20-61C3-ED7F8EDE0A70}"/>
              </a:ext>
            </a:extLst>
          </p:cNvPr>
          <p:cNvSpPr/>
          <p:nvPr/>
        </p:nvSpPr>
        <p:spPr>
          <a:xfrm>
            <a:off x="316556" y="934184"/>
            <a:ext cx="11548760" cy="100262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4" name="object 3">
            <a:extLst>
              <a:ext uri="{FF2B5EF4-FFF2-40B4-BE49-F238E27FC236}">
                <a16:creationId xmlns:a16="http://schemas.microsoft.com/office/drawing/2014/main" id="{2BA3586B-8CE2-E19D-0C1B-2402E373BE5E}"/>
              </a:ext>
            </a:extLst>
          </p:cNvPr>
          <p:cNvSpPr txBox="1"/>
          <p:nvPr/>
        </p:nvSpPr>
        <p:spPr>
          <a:xfrm>
            <a:off x="440405" y="1048505"/>
            <a:ext cx="11301061" cy="877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SAMPLE CPG COMPANY CASE : Together with the CEO, and other key leaders selected for roles in the future organization, </a:t>
            </a:r>
            <a:r>
              <a:rPr lang="en-US" sz="12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guided the creation of a new operating model to drive the value ambition.  By challenging status quo, ensuring strong adherence to the co-created design principles (aligned to Value creation), and surfacing inconsistencies in the future design, </a:t>
            </a:r>
            <a:r>
              <a:rPr lang="en-US" sz="12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helped the client create a future state plan that had high internal confidence and was board-ready.  </a:t>
            </a:r>
            <a:endParaRPr lang="en-US" sz="1200" spc="85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1" name="object 4">
            <a:extLst>
              <a:ext uri="{FF2B5EF4-FFF2-40B4-BE49-F238E27FC236}">
                <a16:creationId xmlns:a16="http://schemas.microsoft.com/office/drawing/2014/main" id="{9B4270AD-B4C1-5D84-5518-5AAE19C488CA}"/>
              </a:ext>
            </a:extLst>
          </p:cNvPr>
          <p:cNvSpPr/>
          <p:nvPr/>
        </p:nvSpPr>
        <p:spPr>
          <a:xfrm>
            <a:off x="5917722" y="2368782"/>
            <a:ext cx="5621136" cy="3421445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B546B-8A06-0427-6C67-201ED063D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016" y="2616009"/>
            <a:ext cx="5123619" cy="29538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B534E1F-558A-13D9-165F-C969B322A6AE}"/>
              </a:ext>
            </a:extLst>
          </p:cNvPr>
          <p:cNvGrpSpPr/>
          <p:nvPr/>
        </p:nvGrpSpPr>
        <p:grpSpPr>
          <a:xfrm>
            <a:off x="349105" y="2161953"/>
            <a:ext cx="2263806" cy="590186"/>
            <a:chOff x="207938" y="1221596"/>
            <a:chExt cx="2263806" cy="590186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03A8ECB-FB09-C559-7E9C-7D0DAD58062B}"/>
                </a:ext>
              </a:extLst>
            </p:cNvPr>
            <p:cNvSpPr txBox="1"/>
            <p:nvPr/>
          </p:nvSpPr>
          <p:spPr>
            <a:xfrm>
              <a:off x="624784" y="1244960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55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Set Foundational Alignment with CEO 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A7B686-C8CB-650D-89CA-1798BAAEEC66}"/>
                </a:ext>
              </a:extLst>
            </p:cNvPr>
            <p:cNvSpPr/>
            <p:nvPr/>
          </p:nvSpPr>
          <p:spPr>
            <a:xfrm>
              <a:off x="207938" y="1221596"/>
              <a:ext cx="346428" cy="33406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594BB3-919D-4A6A-CA83-C988CCC73D2C}"/>
              </a:ext>
            </a:extLst>
          </p:cNvPr>
          <p:cNvGrpSpPr/>
          <p:nvPr/>
        </p:nvGrpSpPr>
        <p:grpSpPr>
          <a:xfrm>
            <a:off x="2811658" y="2161953"/>
            <a:ext cx="2263806" cy="595669"/>
            <a:chOff x="2702664" y="6075371"/>
            <a:chExt cx="2263806" cy="595669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9B32CBA-DCEB-9D7D-96FF-ED717E59461E}"/>
                </a:ext>
              </a:extLst>
            </p:cNvPr>
            <p:cNvSpPr txBox="1"/>
            <p:nvPr/>
          </p:nvSpPr>
          <p:spPr>
            <a:xfrm>
              <a:off x="3119510" y="6104218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Executives and </a:t>
              </a:r>
              <a:r>
                <a:rPr lang="en-US" sz="1200" b="1" spc="-55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Co-Created Savings Plan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AD55E5-3EE0-4E96-C968-59D52ED8C6D0}"/>
                </a:ext>
              </a:extLst>
            </p:cNvPr>
            <p:cNvSpPr/>
            <p:nvPr/>
          </p:nvSpPr>
          <p:spPr>
            <a:xfrm>
              <a:off x="2702664" y="6075371"/>
              <a:ext cx="346428" cy="33406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2</a:t>
              </a:r>
            </a:p>
          </p:txBody>
        </p:sp>
      </p:grpSp>
      <p:sp>
        <p:nvSpPr>
          <p:cNvPr id="11" name="Rounded Rectangle 88">
            <a:extLst>
              <a:ext uri="{FF2B5EF4-FFF2-40B4-BE49-F238E27FC236}">
                <a16:creationId xmlns:a16="http://schemas.microsoft.com/office/drawing/2014/main" id="{D690E11A-E331-FACA-4D60-8A9562380F9F}"/>
              </a:ext>
            </a:extLst>
          </p:cNvPr>
          <p:cNvSpPr/>
          <p:nvPr/>
        </p:nvSpPr>
        <p:spPr>
          <a:xfrm>
            <a:off x="399400" y="2794368"/>
            <a:ext cx="1846960" cy="287483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rgbClr val="FFFFFF"/>
              </a:solidFill>
              <a:latin typeface="Lato" panose="020F0502020204030203" pitchFamily="34" charset="77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2DD28362-3347-C3CB-B4DE-817738F88259}"/>
              </a:ext>
            </a:extLst>
          </p:cNvPr>
          <p:cNvSpPr>
            <a:spLocks/>
          </p:cNvSpPr>
          <p:nvPr/>
        </p:nvSpPr>
        <p:spPr bwMode="auto">
          <a:xfrm>
            <a:off x="512247" y="3882566"/>
            <a:ext cx="1631411" cy="469747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1-on-1 meetings with divisional and functional leaders 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E7D51D5-B7E1-A3E8-ECE7-ACA0C009B876}"/>
              </a:ext>
            </a:extLst>
          </p:cNvPr>
          <p:cNvSpPr>
            <a:spLocks/>
          </p:cNvSpPr>
          <p:nvPr/>
        </p:nvSpPr>
        <p:spPr bwMode="auto">
          <a:xfrm>
            <a:off x="520514" y="4883224"/>
            <a:ext cx="1631411" cy="73237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ALIGNMENT: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Value Agenda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Design Principles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4" name="Down Arrow 87">
            <a:extLst>
              <a:ext uri="{FF2B5EF4-FFF2-40B4-BE49-F238E27FC236}">
                <a16:creationId xmlns:a16="http://schemas.microsoft.com/office/drawing/2014/main" id="{105D32F8-1225-0A68-0EEC-7CB5DED34E83}"/>
              </a:ext>
            </a:extLst>
          </p:cNvPr>
          <p:cNvSpPr/>
          <p:nvPr/>
        </p:nvSpPr>
        <p:spPr>
          <a:xfrm>
            <a:off x="991261" y="4505075"/>
            <a:ext cx="565002" cy="2796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FC705CCF-00C9-7851-8825-00085A54C3C1}"/>
              </a:ext>
            </a:extLst>
          </p:cNvPr>
          <p:cNvSpPr>
            <a:spLocks/>
          </p:cNvSpPr>
          <p:nvPr/>
        </p:nvSpPr>
        <p:spPr bwMode="auto">
          <a:xfrm>
            <a:off x="512246" y="2875999"/>
            <a:ext cx="1631411" cy="46592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Discovery 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6" name="Down Arrow 87">
            <a:extLst>
              <a:ext uri="{FF2B5EF4-FFF2-40B4-BE49-F238E27FC236}">
                <a16:creationId xmlns:a16="http://schemas.microsoft.com/office/drawing/2014/main" id="{D14CA729-BD6F-AD08-8488-F508B4D44FA2}"/>
              </a:ext>
            </a:extLst>
          </p:cNvPr>
          <p:cNvSpPr/>
          <p:nvPr/>
        </p:nvSpPr>
        <p:spPr>
          <a:xfrm>
            <a:off x="991261" y="3494685"/>
            <a:ext cx="565002" cy="2796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FD9E52-F110-3CB0-9F72-D42869E8F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9246" y="2910093"/>
            <a:ext cx="2640378" cy="16861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C86682F-082C-26AD-9632-602F02621CB1}"/>
              </a:ext>
            </a:extLst>
          </p:cNvPr>
          <p:cNvSpPr/>
          <p:nvPr/>
        </p:nvSpPr>
        <p:spPr>
          <a:xfrm>
            <a:off x="5744508" y="2184141"/>
            <a:ext cx="346428" cy="33406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3</a:t>
            </a: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6F26495-16AA-F209-1A98-B00058BCA2FB}"/>
              </a:ext>
            </a:extLst>
          </p:cNvPr>
          <p:cNvSpPr/>
          <p:nvPr/>
        </p:nvSpPr>
        <p:spPr>
          <a:xfrm>
            <a:off x="606284" y="6044220"/>
            <a:ext cx="10979432" cy="377670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ED103993-B0A0-515E-C632-A8FB3A049E02}"/>
              </a:ext>
            </a:extLst>
          </p:cNvPr>
          <p:cNvSpPr txBox="1"/>
          <p:nvPr/>
        </p:nvSpPr>
        <p:spPr>
          <a:xfrm>
            <a:off x="638982" y="6107509"/>
            <a:ext cx="10979432" cy="25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/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Underpinned by </a:t>
            </a:r>
            <a:r>
              <a:rPr lang="en-US" sz="1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79 Critical Roles 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Identified &amp; Prioritized for Value protection &amp; generation</a:t>
            </a:r>
            <a:endParaRPr lang="en-US" sz="1400" spc="85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FC1F009-1287-2897-FE7B-E873B75A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37681"/>
              </p:ext>
            </p:extLst>
          </p:nvPr>
        </p:nvGraphicFramePr>
        <p:xfrm>
          <a:off x="2700167" y="4785587"/>
          <a:ext cx="2851004" cy="62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35">
                  <a:extLst>
                    <a:ext uri="{9D8B030D-6E8A-4147-A177-3AD203B41FA5}">
                      <a16:colId xmlns:a16="http://schemas.microsoft.com/office/drawing/2014/main" val="2937467617"/>
                    </a:ext>
                  </a:extLst>
                </a:gridCol>
                <a:gridCol w="880401">
                  <a:extLst>
                    <a:ext uri="{9D8B030D-6E8A-4147-A177-3AD203B41FA5}">
                      <a16:colId xmlns:a16="http://schemas.microsoft.com/office/drawing/2014/main" val="2878937378"/>
                    </a:ext>
                  </a:extLst>
                </a:gridCol>
                <a:gridCol w="1020268">
                  <a:extLst>
                    <a:ext uri="{9D8B030D-6E8A-4147-A177-3AD203B41FA5}">
                      <a16:colId xmlns:a16="http://schemas.microsoft.com/office/drawing/2014/main" val="3665562736"/>
                    </a:ext>
                  </a:extLst>
                </a:gridCol>
              </a:tblGrid>
              <a:tr h="264218"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Current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chemeClr val="tx1"/>
                          </a:solidFill>
                        </a:rPr>
                        <a:t>Future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Reduction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79664"/>
                  </a:ext>
                </a:extLst>
              </a:tr>
              <a:tr h="34523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9250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7775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9548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B179495-390D-8D3D-5CE5-3E4444CD2416}"/>
              </a:ext>
            </a:extLst>
          </p:cNvPr>
          <p:cNvSpPr txBox="1"/>
          <p:nvPr/>
        </p:nvSpPr>
        <p:spPr>
          <a:xfrm>
            <a:off x="2700167" y="5515553"/>
            <a:ext cx="2857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$236M in Potential Savings</a:t>
            </a:r>
          </a:p>
        </p:txBody>
      </p:sp>
    </p:spTree>
    <p:extLst>
      <p:ext uri="{BB962C8B-B14F-4D97-AF65-F5344CB8AC3E}">
        <p14:creationId xmlns:p14="http://schemas.microsoft.com/office/powerpoint/2010/main" val="3232836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6885110A43B41904F5A1B7606ED26" ma:contentTypeVersion="14" ma:contentTypeDescription="Create a new document." ma:contentTypeScope="" ma:versionID="054f336e8e7104333c5183aae504c221">
  <xsd:schema xmlns:xsd="http://www.w3.org/2001/XMLSchema" xmlns:xs="http://www.w3.org/2001/XMLSchema" xmlns:p="http://schemas.microsoft.com/office/2006/metadata/properties" xmlns:ns2="02a6b923-811c-4f57-8cf3-8e04f73c5f51" xmlns:ns3="64e039f4-51b5-4e2b-8eb0-5be9506eefcc" targetNamespace="http://schemas.microsoft.com/office/2006/metadata/properties" ma:root="true" ma:fieldsID="b4949caba3522dc1334578937f1765d1" ns2:_="" ns3:_="">
    <xsd:import namespace="02a6b923-811c-4f57-8cf3-8e04f73c5f51"/>
    <xsd:import namespace="64e039f4-51b5-4e2b-8eb0-5be9506ee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c89218323f0f405ca190bc6681295dd9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Action" minOccurs="0"/>
                <xsd:element ref="ns2:Client" minOccurs="0"/>
                <xsd:element ref="ns2:b9cb722f48604da2a4ed9855a06673f6" minOccurs="0"/>
                <xsd:element ref="ns2:Indust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b923-811c-4f57-8cf3-8e04f73c5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89218323f0f405ca190bc6681295dd9" ma:index="12" nillable="true" ma:taxonomy="true" ma:internalName="c89218323f0f405ca190bc6681295dd9" ma:taxonomyFieldName="Tags" ma:displayName="Tags" ma:default="" ma:fieldId="{c8921832-3f0f-405c-a190-bc6681295dd9}" ma:sspId="ce777b1b-314e-4559-8ee3-bc85f5a6b9bc" ma:termSetId="8bd020a8-cf4e-4aeb-95f5-a7346536cc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on" ma:index="17" nillable="true" ma:displayName="Product Lines" ma:format="Dropdown" ma:internalName="A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alent to Value"/>
                    <xsd:enumeration value="Assessments"/>
                    <xsd:enumeration value="Talent as a Service"/>
                    <xsd:enumeration value="Capability"/>
                    <xsd:enumeration value="Digital / SaaS"/>
                    <xsd:enumeration value="Test999"/>
                  </xsd:restriction>
                </xsd:simpleType>
              </xsd:element>
            </xsd:sequence>
          </xsd:extension>
        </xsd:complexContent>
      </xsd:complexType>
    </xsd:element>
    <xsd:element name="Client" ma:index="18" nillable="true" ma:displayName="Client" ma:format="Dropdown" ma:internalName="Client">
      <xsd:simpleType>
        <xsd:restriction base="dms:Text">
          <xsd:maxLength value="255"/>
        </xsd:restriction>
      </xsd:simpleType>
    </xsd:element>
    <xsd:element name="b9cb722f48604da2a4ed9855a06673f6" ma:index="20" nillable="true" ma:taxonomy="true" ma:internalName="b9cb722f48604da2a4ed9855a06673f6" ma:taxonomyFieldName="Tag_x0020_2" ma:displayName="Tag 2" ma:default="" ma:fieldId="{b9cb722f-4860-4da2-a4ed-9855a06673f6}" ma:taxonomyMulti="true" ma:sspId="ce777b1b-314e-4559-8ee3-bc85f5a6b9bc" ma:termSetId="88ca64d9-6aee-45e8-bacb-3a7ce8712e73" ma:anchorId="916e8b57-5cee-41aa-99ea-899a090aac89" ma:open="false" ma:isKeyword="false">
      <xsd:complexType>
        <xsd:sequence>
          <xsd:element ref="pc:Terms" minOccurs="0" maxOccurs="1"/>
        </xsd:sequence>
      </xsd:complexType>
    </xsd:element>
    <xsd:element name="Industry" ma:index="21" nillable="true" ma:displayName="Industry" ma:format="Dropdown" ma:internalName="Industry">
      <xsd:simpleType>
        <xsd:restriction base="dms:Choice">
          <xsd:enumeration value="Energy"/>
          <xsd:enumeration value="Industricals"/>
          <xsd:enumeration value="CPG"/>
          <xsd:enumeration value="Financial Services"/>
          <xsd:enumeration value="Health Care"/>
          <xsd:enumeration value="Pharma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039f4-51b5-4e2b-8eb0-5be9506eefc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dcb756-3dce-4c71-8438-c93d66de9381}" ma:internalName="TaxCatchAll" ma:showField="CatchAllData" ma:web="64e039f4-51b5-4e2b-8eb0-5be9506ee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e039f4-51b5-4e2b-8eb0-5be9506eefcc">
      <Value>92</Value>
    </TaxCatchAll>
    <c89218323f0f405ca190bc6681295dd9 xmlns="02a6b923-811c-4f57-8cf3-8e04f73c5f51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Safe to Share</TermName>
          <TermId xmlns="http://schemas.microsoft.com/office/infopath/2007/PartnerControls">4a306f7e-8181-4f1b-81ea-83f49b41c2cf</TermId>
        </TermInfo>
      </Terms>
    </c89218323f0f405ca190bc6681295dd9>
    <Action xmlns="02a6b923-811c-4f57-8cf3-8e04f73c5f51" xsi:nil="true"/>
    <Client xmlns="02a6b923-811c-4f57-8cf3-8e04f73c5f51" xsi:nil="true"/>
    <b9cb722f48604da2a4ed9855a06673f6 xmlns="02a6b923-811c-4f57-8cf3-8e04f73c5f51">
      <Terms xmlns="http://schemas.microsoft.com/office/infopath/2007/PartnerControls"/>
    </b9cb722f48604da2a4ed9855a06673f6>
    <Industry xmlns="02a6b923-811c-4f57-8cf3-8e04f73c5f51" xsi:nil="true"/>
  </documentManagement>
</p:properties>
</file>

<file path=customXml/itemProps1.xml><?xml version="1.0" encoding="utf-8"?>
<ds:datastoreItem xmlns:ds="http://schemas.openxmlformats.org/officeDocument/2006/customXml" ds:itemID="{2F542ACF-65CC-4C7D-875C-E1973B8D7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F6F8D7-41F3-4844-92DA-D2689CCC83EF}"/>
</file>

<file path=customXml/itemProps3.xml><?xml version="1.0" encoding="utf-8"?>
<ds:datastoreItem xmlns:ds="http://schemas.openxmlformats.org/officeDocument/2006/customXml" ds:itemID="{04CE5378-904A-43F8-AD5C-BD818EB87329}">
  <ds:schemaRefs>
    <ds:schemaRef ds:uri="http://purl.org/dc/elements/1.1/"/>
    <ds:schemaRef ds:uri="http://purl.org/dc/dcmitype/"/>
    <ds:schemaRef ds:uri="http://www.w3.org/XML/1998/namespace"/>
    <ds:schemaRef ds:uri="18f74f48-1418-4e28-b83e-919d446c4d52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f5fc2af-da31-4fdd-bfe9-7f4a7c4af24a"/>
    <ds:schemaRef ds:uri="http://schemas.microsoft.com/office/2006/documentManagement/typ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155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9" baseType="lpstr">
      <vt:lpstr>Arial</vt:lpstr>
      <vt:lpstr>Lato Light</vt:lpstr>
      <vt:lpstr>Helvetica Neue</vt:lpstr>
      <vt:lpstr>Calibri Light</vt:lpstr>
      <vt:lpstr>Roboto</vt:lpstr>
      <vt:lpstr>Calibri</vt:lpstr>
      <vt:lpstr>Lato</vt:lpstr>
      <vt:lpstr>Helvetica Neue Condensed</vt:lpstr>
      <vt:lpstr>Custom Design</vt:lpstr>
      <vt:lpstr>2_Custom Design</vt:lpstr>
      <vt:lpstr>1_Custom Design</vt:lpstr>
      <vt:lpstr>3_Custom Design</vt:lpstr>
      <vt:lpstr>1_Office Theme</vt:lpstr>
      <vt:lpstr>4_Custom Design</vt:lpstr>
      <vt:lpstr>5_Custom Design</vt:lpstr>
      <vt:lpstr>6_Custom Design</vt:lpstr>
      <vt:lpstr>7_Custom Design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CEO.works</dc:creator>
  <cp:lastModifiedBy>Cherilyn Vossberg</cp:lastModifiedBy>
  <cp:revision>26</cp:revision>
  <dcterms:created xsi:type="dcterms:W3CDTF">2022-06-17T16:06:13Z</dcterms:created>
  <dcterms:modified xsi:type="dcterms:W3CDTF">2023-01-31T18:36:11Z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2022-06-05T00:00:00Z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2022-06-17T00:00:00Z</vt:filetime>
  </property>
  <property fmtid="{D5CDD505-2E9C-101B-9397-08002B2CF9AE}" pid="5" name="ContentTypeId">
    <vt:lpwstr>0x0101003306885110A43B41904F5A1B7606ED26</vt:lpwstr>
  </property>
  <property fmtid="{D5CDD505-2E9C-101B-9397-08002B2CF9AE}" pid="6" name="MediaServiceImageTags">
    <vt:lpwstr/>
  </property>
  <property fmtid="{D5CDD505-2E9C-101B-9397-08002B2CF9AE}" pid="7" name="Tags">
    <vt:lpwstr>92;#Safe to Share|4a306f7e-8181-4f1b-81ea-83f49b41c2cf</vt:lpwstr>
  </property>
  <property fmtid="{D5CDD505-2E9C-101B-9397-08002B2CF9AE}" pid="8" name="Tag_x0020_2">
    <vt:lpwstr/>
  </property>
  <property fmtid="{D5CDD505-2E9C-101B-9397-08002B2CF9AE}" pid="9" name="Tag 2">
    <vt:lpwstr/>
  </property>
</Properties>
</file>