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omments/modernComment_7FFFFFBC_158DE5F5.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7FFFFFCD_8DD9C3EA.xml" ContentType="application/vnd.ms-powerpoint.comments+xml"/>
  <Override PartName="/ppt/notesSlides/notesSlide4.xml" ContentType="application/vnd.openxmlformats-officedocument.presentationml.notesSlide+xml"/>
  <Override PartName="/ppt/comments/modernComment_7FFFFFBE_96F7C6FF.xml" ContentType="application/vnd.ms-powerpoint.comments+xml"/>
  <Override PartName="/ppt/notesSlides/notesSlide5.xml" ContentType="application/vnd.openxmlformats-officedocument.presentationml.notesSlide+xml"/>
  <Override PartName="/ppt/comments/modernComment_7FFFFFCA_F4444600.xml" ContentType="application/vnd.ms-powerpoint.comments+xml"/>
  <Override PartName="/ppt/notesSlides/notesSlide6.xml" ContentType="application/vnd.openxmlformats-officedocument.presentationml.notesSlide+xml"/>
  <Override PartName="/ppt/comments/modernComment_7FFFFFCB_5BB01E40.xml" ContentType="application/vnd.ms-powerpoint.comments+xml"/>
  <Override PartName="/ppt/notesSlides/notesSlide7.xml" ContentType="application/vnd.openxmlformats-officedocument.presentationml.notesSlide+xml"/>
  <Override PartName="/ppt/comments/modernComment_7FFFFFD8_ED7ABDAD.xml" ContentType="application/vnd.ms-powerpoint.comments+xml"/>
  <Override PartName="/ppt/notesSlides/notesSlide8.xml" ContentType="application/vnd.openxmlformats-officedocument.presentationml.notesSlide+xml"/>
  <Override PartName="/ppt/comments/modernComment_7FFFFFD9_7D983E74.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6E_F57E7E49.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7FFFFFC2_E5047BF.xml" ContentType="application/vnd.ms-powerpoint.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modernComment_7FFFFFCE_9C6E338.xml" ContentType="application/vnd.ms-powerpoint.comment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modernComment_150_787E0A17.xml" ContentType="application/vnd.ms-powerpoint.comments+xml"/>
  <Override PartName="/ppt/notesSlides/notesSlide25.xml" ContentType="application/vnd.openxmlformats-officedocument.presentationml.notesSlide+xml"/>
  <Override PartName="/ppt/comments/modernComment_151_C75BD213.xml" ContentType="application/vnd.ms-powerpoint.comment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omments/modernComment_135_25241AEF.xml" ContentType="application/vnd.ms-powerpoint.comments+xml"/>
  <Override PartName="/ppt/notesSlides/notesSlide28.xml" ContentType="application/vnd.openxmlformats-officedocument.presentationml.notesSlide+xml"/>
  <Override PartName="/ppt/comments/modernComment_168_E9B1DBCB.xml" ContentType="application/vnd.ms-powerpoint.comment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omments/modernComment_136_5998E6F8.xml" ContentType="application/vnd.ms-powerpoint.comment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omments/modernComment_7FFFFFD2_5B21DF1.xml" ContentType="application/vnd.ms-powerpoint.comments+xml"/>
  <Override PartName="/ppt/notesSlides/notesSlide34.xml" ContentType="application/vnd.openxmlformats-officedocument.presentationml.notesSlide+xml"/>
  <Override PartName="/ppt/comments/modernComment_165_74A6DE4D.xml" ContentType="application/vnd.ms-powerpoint.comment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omments/modernComment_156_F29C4BE3.xml" ContentType="application/vnd.ms-powerpoint.comments+xml"/>
  <Override PartName="/ppt/notesSlides/notesSlide37.xml" ContentType="application/vnd.openxmlformats-officedocument.presentationml.notesSlide+xml"/>
  <Override PartName="/ppt/comments/modernComment_7FFFFFD3_35916FC2.xml" ContentType="application/vnd.ms-powerpoint.comment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omments/modernComment_14A_F47CD0F0.xml" ContentType="application/vnd.ms-powerpoint.comments+xml"/>
  <Override PartName="/ppt/notesSlides/notesSlide41.xml" ContentType="application/vnd.openxmlformats-officedocument.presentationml.notesSlide+xml"/>
  <Override PartName="/ppt/comments/modernComment_7FFFFFD1_341F636B.xml" ContentType="application/vnd.ms-powerpoint.comment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omments/modernComment_15C_4A52D448.xml" ContentType="application/vnd.ms-powerpoint.comment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 id="2147483777" r:id="rId5"/>
    <p:sldMasterId id="2147483781" r:id="rId6"/>
  </p:sldMasterIdLst>
  <p:notesMasterIdLst>
    <p:notesMasterId r:id="rId65"/>
  </p:notesMasterIdLst>
  <p:sldIdLst>
    <p:sldId id="279" r:id="rId7"/>
    <p:sldId id="2147483580" r:id="rId8"/>
    <p:sldId id="2147483589" r:id="rId9"/>
    <p:sldId id="2147483597" r:id="rId10"/>
    <p:sldId id="2147483582" r:id="rId11"/>
    <p:sldId id="2147483594" r:id="rId12"/>
    <p:sldId id="2147483595" r:id="rId13"/>
    <p:sldId id="2147483608" r:id="rId14"/>
    <p:sldId id="2147483609" r:id="rId15"/>
    <p:sldId id="2147483587" r:id="rId16"/>
    <p:sldId id="321" r:id="rId17"/>
    <p:sldId id="323" r:id="rId18"/>
    <p:sldId id="326" r:id="rId19"/>
    <p:sldId id="324" r:id="rId20"/>
    <p:sldId id="2147483605" r:id="rId21"/>
    <p:sldId id="319" r:id="rId22"/>
    <p:sldId id="311" r:id="rId23"/>
    <p:sldId id="366" r:id="rId24"/>
    <p:sldId id="318" r:id="rId25"/>
    <p:sldId id="2147483586" r:id="rId26"/>
    <p:sldId id="320" r:id="rId27"/>
    <p:sldId id="327" r:id="rId28"/>
    <p:sldId id="313" r:id="rId29"/>
    <p:sldId id="2147483604" r:id="rId30"/>
    <p:sldId id="314" r:id="rId31"/>
    <p:sldId id="2147483598" r:id="rId32"/>
    <p:sldId id="2147483599" r:id="rId33"/>
    <p:sldId id="334" r:id="rId34"/>
    <p:sldId id="312" r:id="rId35"/>
    <p:sldId id="336" r:id="rId36"/>
    <p:sldId id="337" r:id="rId37"/>
    <p:sldId id="339" r:id="rId38"/>
    <p:sldId id="358" r:id="rId39"/>
    <p:sldId id="309" r:id="rId40"/>
    <p:sldId id="360" r:id="rId41"/>
    <p:sldId id="2147483600" r:id="rId42"/>
    <p:sldId id="363" r:id="rId43"/>
    <p:sldId id="352" r:id="rId44"/>
    <p:sldId id="310" r:id="rId45"/>
    <p:sldId id="354" r:id="rId46"/>
    <p:sldId id="2147483602" r:id="rId47"/>
    <p:sldId id="357" r:id="rId48"/>
    <p:sldId id="340" r:id="rId49"/>
    <p:sldId id="308" r:id="rId50"/>
    <p:sldId id="342" r:id="rId51"/>
    <p:sldId id="2147483603" r:id="rId52"/>
    <p:sldId id="345" r:id="rId53"/>
    <p:sldId id="328" r:id="rId54"/>
    <p:sldId id="306" r:id="rId55"/>
    <p:sldId id="330" r:id="rId56"/>
    <p:sldId id="2147483601" r:id="rId57"/>
    <p:sldId id="333" r:id="rId58"/>
    <p:sldId id="346" r:id="rId59"/>
    <p:sldId id="307" r:id="rId60"/>
    <p:sldId id="348" r:id="rId61"/>
    <p:sldId id="349" r:id="rId62"/>
    <p:sldId id="351" r:id="rId63"/>
    <p:sldId id="365" r:id="rId64"/>
  </p:sldIdLst>
  <p:sldSz cx="12192000" cy="6858000"/>
  <p:notesSz cx="6858000" cy="9144000"/>
  <p:embeddedFontLst>
    <p:embeddedFont>
      <p:font typeface="Helvetica Neue" panose="02000503000000020004" pitchFamily="2" charset="0"/>
      <p:regular r:id="rId66"/>
      <p:bold r:id="rId67"/>
      <p:italic r:id="rId68"/>
      <p:boldItalic r:id="rId69"/>
    </p:embeddedFont>
    <p:embeddedFont>
      <p:font typeface="Helvetica Neue Light" panose="02000403000000020004" pitchFamily="2" charset="0"/>
      <p:regular r:id="rId70"/>
      <p:bold r:id="rId71"/>
      <p:italic r:id="rId72"/>
      <p:boldItalic r:id="rId73"/>
    </p:embeddedFont>
    <p:embeddedFont>
      <p:font typeface="Helvetica Neue Roman" panose="02000503000000020004" pitchFamily="2" charset="0"/>
      <p:regular r:id="rId74"/>
    </p:embeddedFont>
    <p:embeddedFont>
      <p:font typeface="Lato" panose="020F0502020204030203" pitchFamily="34" charset="0"/>
      <p:regular r:id="rId75"/>
      <p:bold r:id="rId76"/>
      <p:italic r:id="rId77"/>
      <p:boldItalic r:id="rId78"/>
    </p:embeddedFont>
    <p:embeddedFont>
      <p:font typeface="Lato Light" panose="020F0302020204030203" pitchFamily="34" charset="77"/>
      <p:regular r:id="rId79"/>
      <p:bold r:id="rId80"/>
      <p:italic r:id="rId81"/>
      <p:boldItalic r:id="rId82"/>
    </p:embeddedFont>
  </p:embeddedFontLst>
  <p:defaultTextStyle>
    <a:defPPr>
      <a:defRPr lang="en-US"/>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9E98816-7510-86B6-0309-D50AFAB61AEF}" name="Jeroo Dalal" initials="JD" userId="S::jeroo@ceoworks.com::38752acc-dedf-4d3e-b565-3bdd51f99c01" providerId="AD"/>
  <p188:author id="{882E5139-7F59-4FF3-1519-A6F860DBA01A}" name="Alex Kopitsas" initials="AK" userId="S::Alex@ceoworks.com::e70bdcd6-d5ce-4b8f-8c37-c6b6d6ceead3" providerId="AD"/>
  <p188:author id="{C7A95A7E-C8E6-7781-4EAE-D356930E26C6}" name="Jeroo Dalal" initials="" userId="S::Jeroo@ceoworks.com::38752acc-dedf-4d3e-b565-3bdd51f99c01" providerId="AD"/>
  <p188:author id="{F57AB982-E33B-84F8-1519-36B5D2B193D8}" name="Zoe Ervolino" initials="ZE" userId="S::zoe@ceoworks.com::fb7381a2-9e4d-4eb4-8479-13fa6cf49a1f" providerId="AD"/>
  <p188:author id="{F25325AE-EB85-6CE7-4E2F-C266DB8ED5D0}" name="Shefali Salwan" initials="" userId="S::shefali@ceoworks.com::e4b2a792-48cd-4872-9320-a638c5a8db0f" providerId="AD"/>
  <p188:author id="{547B06F2-4ECC-038C-6D60-EE0E60C8F512}" name="Vandana Vaidyanathan" initials="VV" userId="S::Vandana@ceoworks.com::e3685212-c72d-4c70-ba6c-c9d6625986a8"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CECEC"/>
    <a:srgbClr val="001E5A"/>
    <a:srgbClr val="4C60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08462FB-25B3-4287-BDB7-188514A36CFB}">
  <a:tblStyle styleId="{708462FB-25B3-4287-BDB7-188514A36CFB}"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3E6E7"/>
          </a:solidFill>
        </a:fill>
      </a:tcStyle>
    </a:wholeTbl>
    <a:band1H>
      <a:tcTxStyle/>
      <a:tcStyle>
        <a:tcBdr/>
        <a:fill>
          <a:solidFill>
            <a:srgbClr val="E6CACC"/>
          </a:solidFill>
        </a:fill>
      </a:tcStyle>
    </a:band1H>
    <a:band2H>
      <a:tcTxStyle/>
      <a:tcStyle>
        <a:tcBdr/>
      </a:tcStyle>
    </a:band2H>
    <a:band1V>
      <a:tcTxStyle/>
      <a:tcStyle>
        <a:tcBdr/>
        <a:fill>
          <a:solidFill>
            <a:srgbClr val="E6CACC"/>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11268223-AF2C-4A1D-9549-6CABDFBE1447}"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6E751537-329D-4535-9D0B-19F0C9C6AE96}"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4A83E70-73E1-40F1-8462-396664B33587}" styleName="Table_3">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5"/>
    <p:restoredTop sz="94635"/>
  </p:normalViewPr>
  <p:slideViewPr>
    <p:cSldViewPr snapToGrid="0">
      <p:cViewPr varScale="1">
        <p:scale>
          <a:sx n="96" d="100"/>
          <a:sy n="96" d="100"/>
        </p:scale>
        <p:origin x="992"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font" Target="fonts/font3.fntdata"/><Relationship Id="rId84" Type="http://schemas.openxmlformats.org/officeDocument/2006/relationships/viewProps" Target="viewProps.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font" Target="fonts/font9.fntdata"/><Relationship Id="rId79" Type="http://schemas.openxmlformats.org/officeDocument/2006/relationships/font" Target="fonts/font14.fntdata"/><Relationship Id="rId5" Type="http://schemas.openxmlformats.org/officeDocument/2006/relationships/slideMaster" Target="slideMasters/slideMaster2.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font" Target="fonts/font4.fntdata"/><Relationship Id="rId77" Type="http://schemas.openxmlformats.org/officeDocument/2006/relationships/font" Target="fonts/font12.fntdata"/><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font" Target="fonts/font7.fntdata"/><Relationship Id="rId80" Type="http://schemas.openxmlformats.org/officeDocument/2006/relationships/font" Target="fonts/font15.fntdata"/><Relationship Id="rId85"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font" Target="fonts/font2.fntdata"/><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font" Target="fonts/font5.fntdata"/><Relationship Id="rId75" Type="http://schemas.openxmlformats.org/officeDocument/2006/relationships/font" Target="fonts/font10.fntdata"/><Relationship Id="rId83"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notesMaster" Target="notesMasters/notesMaster1.xml"/><Relationship Id="rId73" Type="http://schemas.openxmlformats.org/officeDocument/2006/relationships/font" Target="fonts/font8.fntdata"/><Relationship Id="rId78" Type="http://schemas.openxmlformats.org/officeDocument/2006/relationships/font" Target="fonts/font13.fntdata"/><Relationship Id="rId81" Type="http://schemas.openxmlformats.org/officeDocument/2006/relationships/font" Target="fonts/font16.fntdata"/><Relationship Id="rId86"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font" Target="fonts/font11.fntdata"/><Relationship Id="rId7" Type="http://schemas.openxmlformats.org/officeDocument/2006/relationships/slide" Target="slides/slide1.xml"/><Relationship Id="rId71" Type="http://schemas.openxmlformats.org/officeDocument/2006/relationships/font" Target="fonts/font6.fntdata"/><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font" Target="fonts/font1.fntdata"/><Relationship Id="rId87" Type="http://schemas.microsoft.com/office/2018/10/relationships/authors" Target="authors.xml"/><Relationship Id="rId61" Type="http://schemas.openxmlformats.org/officeDocument/2006/relationships/slide" Target="slides/slide55.xml"/><Relationship Id="rId82" Type="http://schemas.openxmlformats.org/officeDocument/2006/relationships/font" Target="fonts/font17.fntdata"/></Relationships>
</file>

<file path=ppt/comments/modernComment_7FFFFFBC_158DE5F5.xml><?xml version="1.0" encoding="utf-8"?>
<p188:cmLst xmlns:a="http://schemas.openxmlformats.org/drawingml/2006/main" xmlns:r="http://schemas.openxmlformats.org/officeDocument/2006/relationships" xmlns:p188="http://schemas.microsoft.com/office/powerpoint/2018/8/main">
  <p188:cm id="{D6CDE0A9-8714-124B-90FA-7ABDA622A68B}" authorId="{F57AB982-E33B-84F8-1519-36B5D2B193D8}" created="2025-11-13T18:19:35.039" startDate="2025-11-13T18:19:35.039" dueDate="2025-11-13T18:19:35.039" assignedTo="{882E5139-7F59-4FF3-1519-A6F860DBA01A}" title="noticed his role was called &quot;Chief Risk Officer&quot; elsewhere -- ok if this discrepancy is intentional, otherwise match for consistency @Alex Kopitsas">
    <ac:txMkLst xmlns:ac="http://schemas.microsoft.com/office/drawing/2013/main/command">
      <pc:docMk xmlns:pc="http://schemas.microsoft.com/office/powerpoint/2013/main/command"/>
      <pc:sldMk xmlns:pc="http://schemas.microsoft.com/office/powerpoint/2013/main/command" cId="361620981" sldId="2147483580"/>
      <ac:spMk id="36" creationId="{FB2F26D9-834D-133E-BD1B-48AE36B6165D}"/>
      <ac:txMk cp="16" len="14">
        <ac:context len="31" hash="2150055682"/>
      </ac:txMk>
    </ac:txMkLst>
    <p188:pos x="1752037" y="706982"/>
    <p188:txBody>
      <a:bodyPr/>
      <a:lstStyle/>
      <a:p>
        <a:r>
          <a:rPr lang="en-US"/>
          <a:t>noticed his role was called "Chief Risk Officer" elsewhere -- ok if this discrepancy is intentional, otherwise match for consistency [@Alex Kopitsas]</a:t>
        </a:r>
      </a:p>
    </p188:txBody>
    <p188:extLst>
      <p:ext xmlns:p="http://schemas.openxmlformats.org/presentationml/2006/main" uri="{5BB2D875-25FF-4072-B9AC-8F64D62656EB}">
        <p228:taskDetails xmlns:p228="http://schemas.microsoft.com/office/powerpoint/2022/08/main">
          <p228:history>
            <p228:event time="2025-11-13T18:19:35.039" id="{0848D43C-DFF7-9F47-9CF5-451E68B977AB}">
              <p228:atrbtn authorId="{F57AB982-E33B-84F8-1519-36B5D2B193D8}"/>
              <p228:anchr>
                <p228:comment id="{D6CDE0A9-8714-124B-90FA-7ABDA622A68B}"/>
              </p228:anchr>
              <p228:add/>
            </p228:event>
            <p228:event time="2025-11-13T18:19:35.039" id="{686CD37F-CD0D-4440-BA08-2F0D09CFB94A}">
              <p228:atrbtn authorId="{F57AB982-E33B-84F8-1519-36B5D2B193D8}"/>
              <p228:anchr>
                <p228:comment id="{D6CDE0A9-8714-124B-90FA-7ABDA622A68B}"/>
              </p228:anchr>
              <p228:asgn authorId="{882E5139-7F59-4FF3-1519-A6F860DBA01A}"/>
            </p228:event>
            <p228:event time="2025-11-13T18:19:35.039" id="{46FBEBC4-97E3-7A47-A464-092C63B8EDAB}">
              <p228:atrbtn authorId="{F57AB982-E33B-84F8-1519-36B5D2B193D8}"/>
              <p228:anchr>
                <p228:comment id="{D6CDE0A9-8714-124B-90FA-7ABDA622A68B}"/>
              </p228:anchr>
              <p228:title val="noticed his role was called &quot;Chief Risk Officer&quot; elsewhere -- ok if this discrepancy is intentional, otherwise match for consistency @Alex Kopitsas"/>
            </p228:event>
            <p228:event time="2025-11-13T18:19:35.039" id="{2428B1F4-A0DA-6E4D-A690-32C30E10D81C}">
              <p228:atrbtn authorId="{F57AB982-E33B-84F8-1519-36B5D2B193D8}"/>
              <p228:anchr>
                <p228:comment id="{D6CDE0A9-8714-124B-90FA-7ABDA622A68B}"/>
              </p228:anchr>
              <p228:date stDt="2025-11-13T18:19:35.039" endDt="2025-11-13T18:19:35.039"/>
            </p228:event>
          </p228:history>
        </p228:taskDetails>
      </p:ext>
    </p188:extLst>
  </p188:cm>
</p188:cmLst>
</file>

<file path=ppt/comments/modernComment_7FFFFFBE_96F7C6FF.xml><?xml version="1.0" encoding="utf-8"?>
<p188:cmLst xmlns:a="http://schemas.openxmlformats.org/drawingml/2006/main" xmlns:r="http://schemas.openxmlformats.org/officeDocument/2006/relationships" xmlns:p188="http://schemas.microsoft.com/office/powerpoint/2018/8/main">
  <p188:cm id="{E237067D-62B9-4FDC-9005-62C4F1585C9B}" authorId="{F25325AE-EB85-6CE7-4E2F-C266DB8ED5D0}" created="2025-10-30T12:49:43.026" startDate="2025-10-30T12:49:43.026" dueDate="2025-10-30T12:49:43.026" assignedTo="{882E5139-7F59-4FF3-1519-A6F860DBA01A}" title="@Alex Kopitsas - the last point is very important. If the value agenda is to add new products - u have to do the own platform. i dont think they have a choice but go beyond MT4 and 5. Its a strategic decision - not a tactical one. I dont think Ahmed …">
    <pc:sldMkLst xmlns:pc="http://schemas.microsoft.com/office/powerpoint/2013/main/command">
      <pc:docMk/>
      <pc:sldMk cId="2532820735" sldId="2147483582"/>
    </pc:sldMkLst>
    <p188:replyLst>
      <p188:reply id="{91CC804B-5C71-4DEC-B376-1EC055BD85B8}" authorId="{F25325AE-EB85-6CE7-4E2F-C266DB8ED5D0}" created="2025-10-30T12:50:47.513">
        <p188:txBody>
          <a:bodyPr/>
          <a:lstStyle/>
          <a:p>
            <a:r>
              <a:rPr lang="en-US"/>
              <a:t>this shd be part of the messages- that this co will become a platform for growth. </a:t>
            </a:r>
          </a:p>
        </p188:txBody>
      </p188:reply>
    </p188:replyLst>
    <p188:txBody>
      <a:bodyPr/>
      <a:lstStyle/>
      <a:p>
        <a:r>
          <a:rPr lang="en-US"/>
          <a:t>[@Alex Kopitsas] - the last point is very important. If the value agenda is to add new products - u have to do the own platform. i dont think they have a choice but go beyond MT4 and 5. Its a strategic decision - not a tactical one. I dont think Ahmed understands that</a:t>
        </a:r>
      </a:p>
    </p188:txBody>
    <p188:extLst>
      <p:ext xmlns:p="http://schemas.openxmlformats.org/presentationml/2006/main" uri="{5BB2D875-25FF-4072-B9AC-8F64D62656EB}">
        <p228:taskDetails xmlns:p228="http://schemas.microsoft.com/office/powerpoint/2022/08/main">
          <p228:history>
            <p228:event time="2025-10-30T12:49:43.026" id="{F63E5153-70DD-44A4-AF84-EE9ED0273F3D}">
              <p228:atrbtn authorId="{F25325AE-EB85-6CE7-4E2F-C266DB8ED5D0}"/>
              <p228:anchr>
                <p228:comment id="{E237067D-62B9-4FDC-9005-62C4F1585C9B}"/>
              </p228:anchr>
              <p228:add/>
            </p228:event>
            <p228:event time="2025-10-30T12:49:43.026" id="{06E88212-BEAC-4CBF-B5AC-2B2A5C3CC9E4}">
              <p228:atrbtn authorId="{F25325AE-EB85-6CE7-4E2F-C266DB8ED5D0}"/>
              <p228:anchr>
                <p228:comment id="{E237067D-62B9-4FDC-9005-62C4F1585C9B}"/>
              </p228:anchr>
              <p228:asgn authorId="{882E5139-7F59-4FF3-1519-A6F860DBA01A}"/>
            </p228:event>
            <p228:event time="2025-10-30T12:49:43.026" id="{C1C59D87-788F-4C42-A133-474ECD7CE69B}">
              <p228:atrbtn authorId="{F25325AE-EB85-6CE7-4E2F-C266DB8ED5D0}"/>
              <p228:anchr>
                <p228:comment id="{E237067D-62B9-4FDC-9005-62C4F1585C9B}"/>
              </p228:anchr>
              <p228:title val="@Alex Kopitsas - the last point is very important. If the value agenda is to add new products - u have to do the own platform. i dont think they have a choice but go beyond MT4 and 5. Its a strategic decision - not a tactical one. I dont think Ahmed …"/>
            </p228:event>
            <p228:event time="2025-10-30T12:49:43.026" id="{44B6A059-7C9B-4A26-B6C9-A707402DD53C}">
              <p228:atrbtn authorId="{F25325AE-EB85-6CE7-4E2F-C266DB8ED5D0}"/>
              <p228:anchr>
                <p228:comment id="{E237067D-62B9-4FDC-9005-62C4F1585C9B}"/>
              </p228:anchr>
              <p228:date stDt="2025-10-30T12:49:43.026" endDt="2025-10-30T12:49:43.026"/>
            </p228:event>
          </p228:history>
        </p228:taskDetails>
      </p:ext>
    </p188:extLst>
  </p188:cm>
</p188:cmLst>
</file>

<file path=ppt/comments/modernComment_7FFFFFC2_E5047BF.xml><?xml version="1.0" encoding="utf-8"?>
<p188:cmLst xmlns:a="http://schemas.openxmlformats.org/drawingml/2006/main" xmlns:r="http://schemas.openxmlformats.org/officeDocument/2006/relationships" xmlns:p188="http://schemas.microsoft.com/office/powerpoint/2018/8/main">
  <p188:cm id="{5445CB1B-EF63-4858-8504-CD0FD2E27B33}" authorId="{49E98816-7510-86B6-0309-D50AFAB61AEF}" created="2025-11-12T09:29:55.918" startDate="2025-11-12T16:54:39.301" dueDate="2025-11-12T16:54:39.301" assignedTo="{C7A95A7E-C8E6-7781-4EAE-D356930E26C6}" title="@Jeroo Dalal this is ok ">
    <pc:sldMkLst xmlns:pc="http://schemas.microsoft.com/office/powerpoint/2013/main/command">
      <pc:docMk/>
      <pc:sldMk cId="240142271" sldId="2147483586"/>
    </pc:sldMkLst>
    <p188:replyLst>
      <p188:reply id="{AFAA389C-80C4-E342-AB26-7F73E908E58A}" authorId="{882E5139-7F59-4FF3-1519-A6F860DBA01A}" created="2025-11-12T16:54:39.292">
        <p188:txBody>
          <a:bodyPr/>
          <a:lstStyle/>
          <a:p>
            <a:r>
              <a:rPr lang="en-US"/>
              <a:t>[@Jeroo Dalal] this is ok </a:t>
            </a:r>
          </a:p>
        </p188:txBody>
        <p188:extLst>
          <p:ext xmlns:p="http://schemas.openxmlformats.org/presentationml/2006/main" uri="{57CB4572-C831-44C2-8A1C-0ADB6CCDFE69}">
            <p223:reactions xmlns:p223="http://schemas.microsoft.com/office/powerpoint/2022/03/main">
              <p223:rxn type="👍">
                <p223:instance time="2025-11-12T17:17:26.704" authorId="{49E98816-7510-86B6-0309-D50AFAB61AEF}"/>
              </p223:rxn>
            </p223:reactions>
          </p:ext>
        </p188:extLst>
      </p188:reply>
    </p188:replyLst>
    <p188:txBody>
      <a:bodyPr/>
      <a:lstStyle/>
      <a:p>
        <a:r>
          <a:rPr lang="en-US"/>
          <a:t>[@Alex Kopitsas] for Ammar the 1st point in the summary indicates that his approach is commercially focused, however the next point indicates that his main devt area is to align leadership around growth vs cost. Is there a contradiction there?</a:t>
        </a:r>
      </a:p>
    </p188:txBody>
    <p188:extLst>
      <p:ext xmlns:p="http://schemas.openxmlformats.org/presentationml/2006/main" uri="{5BB2D875-25FF-4072-B9AC-8F64D62656EB}">
        <p228:taskDetails xmlns:p228="http://schemas.microsoft.com/office/powerpoint/2022/08/main">
          <p228:history>
            <p228:event time="2025-11-12T16:54:39.308" id="{8954A286-8A27-DD4B-9CD0-B4752625B04D}">
              <p228:atrbtn authorId="{882E5139-7F59-4FF3-1519-A6F860DBA01A}"/>
              <p228:anchr>
                <p228:comment id="{AFAA389C-80C4-E342-AB26-7F73E908E58A}"/>
              </p228:anchr>
              <p228:add/>
            </p228:event>
            <p228:event time="2025-11-12T16:54:39.308" id="{77BC0A61-A9C9-F644-B506-5B31DEA19DE3}">
              <p228:atrbtn authorId="{882E5139-7F59-4FF3-1519-A6F860DBA01A}"/>
              <p228:anchr>
                <p228:comment id="{AFAA389C-80C4-E342-AB26-7F73E908E58A}"/>
              </p228:anchr>
              <p228:asgn authorId="{C7A95A7E-C8E6-7781-4EAE-D356930E26C6}"/>
            </p228:event>
            <p228:event time="2025-11-12T16:54:39.308" id="{9D51F9D1-CF0B-A248-8A9B-4E7830F2CEC7}">
              <p228:atrbtn authorId="{882E5139-7F59-4FF3-1519-A6F860DBA01A}"/>
              <p228:anchr>
                <p228:comment id="{AFAA389C-80C4-E342-AB26-7F73E908E58A}"/>
              </p228:anchr>
              <p228:date stDt="2025-11-12T16:54:39.301" endDt="2025-11-12T16:54:39.301"/>
            </p228:event>
            <p228:event time="2025-11-12T16:54:39.308" id="{B8FE4733-746A-3E4C-83C3-05E49B6222D1}">
              <p228:atrbtn authorId="{882E5139-7F59-4FF3-1519-A6F860DBA01A}"/>
              <p228:anchr>
                <p228:comment id="{AFAA389C-80C4-E342-AB26-7F73E908E58A}"/>
              </p228:anchr>
              <p228:title val="@Jeroo Dalal this is ok "/>
            </p228:event>
          </p228:history>
        </p228:taskDetails>
      </p:ext>
    </p188:extLst>
  </p188:cm>
  <p188:cm id="{EAD79D54-B37E-4A0A-B258-8FE549F09A41}" authorId="{49E98816-7510-86B6-0309-D50AFAB61AEF}" created="2025-11-12T10:28:00.626">
    <ac:txMkLst xmlns:ac="http://schemas.microsoft.com/office/drawing/2013/main/command">
      <pc:docMk xmlns:pc="http://schemas.microsoft.com/office/powerpoint/2013/main/command"/>
      <pc:sldMk xmlns:pc="http://schemas.microsoft.com/office/powerpoint/2013/main/command" cId="240142271" sldId="2147483586"/>
      <ac:spMk id="8" creationId="{97AA79E4-A721-91AD-CBDA-C298CC43BF67}"/>
      <ac:txMk cp="0" len="236">
        <ac:context len="742" hash="2416501477"/>
      </ac:txMk>
    </ac:txMkLst>
    <p188:pos x="4417978" y="235085"/>
    <p188:txBody>
      <a:bodyPr/>
      <a:lstStyle/>
      <a:p>
        <a:r>
          <a:rPr lang="en-US"/>
          <a:t>[@Alex Kopitsas] for Chris, success enabling plan, the 1st point maybe needs to be split into 2. One is around digital strategy and the second part is around relationships. and the sub points don't speak about strengthening CEO and peer relationships.
the points could read as:
Clarify Digital strategy - as a separate point 
Strengthen CEO and peer relationships and deepen cultural integration</a:t>
        </a:r>
      </a:p>
    </p188:txBody>
    <p188:extLst>
      <p:ext xmlns:p="http://schemas.openxmlformats.org/presentationml/2006/main" uri="{57CB4572-C831-44C2-8A1C-0ADB6CCDFE69}">
        <p223:reactions xmlns:p223="http://schemas.microsoft.com/office/powerpoint/2022/03/main">
          <p223:rxn type="👍">
            <p223:instance time="2025-11-12T16:55:37.379" authorId="{882E5139-7F59-4FF3-1519-A6F860DBA01A}"/>
          </p223:rxn>
        </p223:reactions>
      </p:ext>
    </p188:extLst>
  </p188:cm>
  <p188:cm id="{C2B14B96-A272-4A9A-AAA9-03B1D3D522DE}" authorId="{49E98816-7510-86B6-0309-D50AFAB61AEF}" created="2025-11-12T10:33:23.257">
    <pc:sldMkLst xmlns:pc="http://schemas.microsoft.com/office/powerpoint/2013/main/command">
      <pc:docMk/>
      <pc:sldMk cId="240142271" sldId="2147483586"/>
    </pc:sldMkLst>
    <p188:txBody>
      <a:bodyPr/>
      <a:lstStyle/>
      <a:p>
        <a:r>
          <a:rPr lang="en-US"/>
          <a:t>Chris's detailed report, (slide 60), does not have the point on digital strategy in the enabling plan.</a:t>
        </a:r>
      </a:p>
    </p188:txBody>
  </p188:cm>
</p188:cmLst>
</file>

<file path=ppt/comments/modernComment_7FFFFFCA_F4444600.xml><?xml version="1.0" encoding="utf-8"?>
<p188:cmLst xmlns:a="http://schemas.openxmlformats.org/drawingml/2006/main" xmlns:r="http://schemas.openxmlformats.org/officeDocument/2006/relationships" xmlns:p188="http://schemas.microsoft.com/office/powerpoint/2018/8/main">
  <p188:cm id="{42AEBCE0-D6EB-6A43-A9BE-C09977945D82}" authorId="{F25325AE-EB85-6CE7-4E2F-C266DB8ED5D0}" created="2025-10-30T12:49:43.026" startDate="2025-11-01T13:32:36.501" dueDate="2025-11-01T13:32:36.501" assignedTo="{882E5139-7F59-4FF3-1519-A6F860DBA01A}" title="@Alex Kopitsas - COO shd have good chemistry with CEO. Adeel has a good team ( all expats and skilled- UBS, etc people?)">
    <pc:sldMkLst xmlns:pc="http://schemas.microsoft.com/office/powerpoint/2013/main/command">
      <pc:docMk/>
      <pc:sldMk cId="2532820735" sldId="2147483582"/>
    </pc:sldMkLst>
    <p188:replyLst>
      <p188:reply id="{91CC804B-5C71-4DEC-B376-1EC055BD85B8}" authorId="{F25325AE-EB85-6CE7-4E2F-C266DB8ED5D0}" created="2025-10-30T12:50:47.513">
        <p188:txBody>
          <a:bodyPr/>
          <a:lstStyle/>
          <a:p>
            <a:r>
              <a:rPr lang="en-US"/>
              <a:t>this shd be part of the messages- that this co will become a platform for growth. </a:t>
            </a:r>
          </a:p>
        </p188:txBody>
      </p188:reply>
      <p188:reply id="{7DAD3506-7E30-4F1E-A063-1668767891F2}" authorId="{F25325AE-EB85-6CE7-4E2F-C266DB8ED5D0}" created="2025-11-01T13:32:36.501">
        <p188:txBody>
          <a:bodyPr/>
          <a:lstStyle/>
          <a:p>
            <a:r>
              <a:rPr lang="en-US"/>
              <a:t>[@Alex Kopitsas] - COO shd have good chemistry with CEO. Adeel has a good team ( all expats and skilled- UBS, etc people?)</a:t>
            </a:r>
          </a:p>
        </p188:txBody>
      </p188:reply>
    </p188:replyLst>
    <p188:txBody>
      <a:bodyPr/>
      <a:lstStyle/>
      <a:p>
        <a:r>
          <a:rPr lang="en-US"/>
          <a:t>[@Alex Kopitsas] - the last point is very important. If the value agenda is to add new products - u have to do the own platform. i dont think they have a choice but go beyond MT4 and 5. Its a strategic decision - not a tactical one. I dont think Ahmed understands that</a:t>
        </a:r>
      </a:p>
    </p188:txBody>
    <p188:extLst>
      <p:ext xmlns:p="http://schemas.openxmlformats.org/presentationml/2006/main" uri="{5BB2D875-25FF-4072-B9AC-8F64D62656EB}">
        <p228:taskDetails xmlns:p228="http://schemas.microsoft.com/office/powerpoint/2022/08/main">
          <p228:history>
            <p228:event time="2025-11-01T13:32:36.501" id="{AC0EC64F-F747-4BF2-9751-C3168454000C}">
              <p228:atrbtn authorId="{F25325AE-EB85-6CE7-4E2F-C266DB8ED5D0}"/>
              <p228:anchr>
                <p228:comment id="{7DAD3506-7E30-4F1E-A063-1668767891F2}"/>
              </p228:anchr>
              <p228:add/>
            </p228:event>
            <p228:event time="2025-11-01T13:32:36.501" id="{D425D1BF-25BB-4ACC-A31E-CA637FB03615}">
              <p228:atrbtn authorId="{F25325AE-EB85-6CE7-4E2F-C266DB8ED5D0}"/>
              <p228:anchr>
                <p228:comment id="{7DAD3506-7E30-4F1E-A063-1668767891F2}"/>
              </p228:anchr>
              <p228:asgn authorId="{882E5139-7F59-4FF3-1519-A6F860DBA01A}"/>
            </p228:event>
            <p228:event time="2025-11-01T13:32:36.501" id="{55FDCFC2-6598-406C-B46D-93D22CD37003}">
              <p228:atrbtn authorId="{F25325AE-EB85-6CE7-4E2F-C266DB8ED5D0}"/>
              <p228:anchr>
                <p228:comment id="{7DAD3506-7E30-4F1E-A063-1668767891F2}"/>
              </p228:anchr>
              <p228:date stDt="2025-11-01T13:32:36.501" endDt="2025-11-01T13:32:36.501"/>
            </p228:event>
            <p228:event time="2025-11-01T13:32:36.501" id="{965D35C0-16CD-409D-B46F-DCFE815A771E}">
              <p228:atrbtn authorId="{F25325AE-EB85-6CE7-4E2F-C266DB8ED5D0}"/>
              <p228:anchr>
                <p228:comment id="{7DAD3506-7E30-4F1E-A063-1668767891F2}"/>
              </p228:anchr>
              <p228:title val="@Alex Kopitsas - COO shd have good chemistry with CEO. Adeel has a good team ( all expats and skilled- UBS, etc people?)"/>
            </p228:event>
          </p228:history>
        </p228:taskDetails>
      </p:ext>
    </p188:extLst>
  </p188:cm>
  <p188:cm id="{8853B6B1-DFED-45F8-9D07-5BEE3CABD74E}" authorId="{F25325AE-EB85-6CE7-4E2F-C266DB8ED5D0}" created="2025-11-13T16:12:03.239">
    <ac:deMkLst xmlns:ac="http://schemas.microsoft.com/office/drawing/2013/main/command">
      <pc:docMk xmlns:pc="http://schemas.microsoft.com/office/powerpoint/2013/main/command"/>
      <pc:sldMk xmlns:pc="http://schemas.microsoft.com/office/powerpoint/2013/main/command" cId="4098115072" sldId="2147483594"/>
      <ac:graphicFrameMk id="3" creationId="{94989F9B-43B7-AE46-08FF-D98552361092}"/>
    </ac:deMkLst>
    <p188:txBody>
      <a:bodyPr/>
      <a:lstStyle/>
      <a:p>
        <a:r>
          <a:rPr lang="en-US"/>
          <a:t>@alex- please fix first person etc on this page...he or you..</a:t>
        </a:r>
      </a:p>
    </p188:txBody>
  </p188:cm>
</p188:cmLst>
</file>

<file path=ppt/comments/modernComment_7FFFFFCB_5BB01E40.xml><?xml version="1.0" encoding="utf-8"?>
<p188:cmLst xmlns:a="http://schemas.openxmlformats.org/drawingml/2006/main" xmlns:r="http://schemas.openxmlformats.org/officeDocument/2006/relationships" xmlns:p188="http://schemas.microsoft.com/office/powerpoint/2018/8/main">
  <p188:cm id="{71C0025F-E150-4741-83B8-7C201B739238}" authorId="{F25325AE-EB85-6CE7-4E2F-C266DB8ED5D0}" created="2025-10-30T12:49:43.026" startDate="2025-11-01T13:33:42.798" dueDate="2025-11-01T13:33:42.798" assignedTo="{882E5139-7F59-4FF3-1519-A6F860DBA01A}" title="@Alex Kopitsas - i like slide 8">
    <pc:sldMkLst xmlns:pc="http://schemas.microsoft.com/office/powerpoint/2013/main/command">
      <pc:docMk/>
      <pc:sldMk cId="2532820735" sldId="2147483582"/>
    </pc:sldMkLst>
    <p188:replyLst>
      <p188:reply id="{91CC804B-5C71-4DEC-B376-1EC055BD85B8}" authorId="{F25325AE-EB85-6CE7-4E2F-C266DB8ED5D0}" created="2025-10-30T12:50:47.513">
        <p188:txBody>
          <a:bodyPr/>
          <a:lstStyle/>
          <a:p>
            <a:r>
              <a:rPr lang="en-US"/>
              <a:t>this shd be part of the messages- that this co will become a platform for growth. </a:t>
            </a:r>
          </a:p>
        </p188:txBody>
      </p188:reply>
      <p188:reply id="{DC70021E-71A4-403C-B778-DFDEF9658E49}" authorId="{F25325AE-EB85-6CE7-4E2F-C266DB8ED5D0}" created="2025-11-01T13:33:42.798">
        <p188:txBody>
          <a:bodyPr/>
          <a:lstStyle/>
          <a:p>
            <a:r>
              <a:rPr lang="en-US"/>
              <a:t>[@Alex Kopitsas] - i like slide 8</a:t>
            </a:r>
          </a:p>
        </p188:txBody>
      </p188:reply>
    </p188:replyLst>
    <p188:txBody>
      <a:bodyPr/>
      <a:lstStyle/>
      <a:p>
        <a:r>
          <a:rPr lang="en-US"/>
          <a:t>[@Alex Kopitsas] - the last point is very important. If the value agenda is to add new products - u have to do the own platform. i dont think they have a choice but go beyond MT4 and 5. Its a strategic decision - not a tactical one. I dont think Ahmed understands that</a:t>
        </a:r>
      </a:p>
    </p188:txBody>
    <p188:extLst>
      <p:ext xmlns:p="http://schemas.openxmlformats.org/presentationml/2006/main" uri="{5BB2D875-25FF-4072-B9AC-8F64D62656EB}">
        <p228:taskDetails xmlns:p228="http://schemas.microsoft.com/office/powerpoint/2022/08/main">
          <p228:history>
            <p228:event time="2025-11-01T13:33:42.798" id="{DF608301-8C1C-4BB6-A808-1AB7CBF34830}">
              <p228:atrbtn authorId="{F25325AE-EB85-6CE7-4E2F-C266DB8ED5D0}"/>
              <p228:anchr>
                <p228:comment id="{DC70021E-71A4-403C-B778-DFDEF9658E49}"/>
              </p228:anchr>
              <p228:add/>
            </p228:event>
            <p228:event time="2025-11-01T13:33:42.798" id="{B5358A6A-759F-4F2C-B078-83E01F7E78CA}">
              <p228:atrbtn authorId="{F25325AE-EB85-6CE7-4E2F-C266DB8ED5D0}"/>
              <p228:anchr>
                <p228:comment id="{DC70021E-71A4-403C-B778-DFDEF9658E49}"/>
              </p228:anchr>
              <p228:asgn authorId="{882E5139-7F59-4FF3-1519-A6F860DBA01A}"/>
            </p228:event>
            <p228:event time="2025-11-01T13:33:42.798" id="{FC9E073A-F824-44B3-A750-C02F37C0BD90}">
              <p228:atrbtn authorId="{F25325AE-EB85-6CE7-4E2F-C266DB8ED5D0}"/>
              <p228:anchr>
                <p228:comment id="{DC70021E-71A4-403C-B778-DFDEF9658E49}"/>
              </p228:anchr>
              <p228:date stDt="2025-11-01T13:33:42.798" endDt="2025-11-01T13:33:42.798"/>
            </p228:event>
            <p228:event time="2025-11-01T13:33:42.798" id="{17C2EDD0-82EF-483E-8449-B31492867002}">
              <p228:atrbtn authorId="{F25325AE-EB85-6CE7-4E2F-C266DB8ED5D0}"/>
              <p228:anchr>
                <p228:comment id="{DC70021E-71A4-403C-B778-DFDEF9658E49}"/>
              </p228:anchr>
              <p228:title val="@Alex Kopitsas - i like slide 8"/>
            </p228:event>
          </p228:history>
        </p228:taskDetails>
      </p:ext>
    </p188:extLst>
  </p188:cm>
  <p188:cm id="{5CD040C6-E4EC-4061-B917-601CF18A1445}" authorId="{F25325AE-EB85-6CE7-4E2F-C266DB8ED5D0}" created="2025-11-13T16:15:24.695" startDate="2025-11-13T16:15:24.695" dueDate="2025-11-13T16:15:24.695" assignedTo="{882E5139-7F59-4FF3-1519-A6F860DBA01A}" title="@Alex Kopitsas - lets change title of this slide- is it exec summary for n-1?">
    <pc:sldMkLst xmlns:pc="http://schemas.microsoft.com/office/powerpoint/2013/main/command">
      <pc:docMk/>
      <pc:sldMk cId="1538268736" sldId="2147483595"/>
    </pc:sldMkLst>
    <p188:txBody>
      <a:bodyPr/>
      <a:lstStyle/>
      <a:p>
        <a:r>
          <a:rPr lang="en-US"/>
          <a:t>[@Alex Kopitsas] - lets change title of this slide- is it exec summary for n-1?</a:t>
        </a:r>
      </a:p>
    </p188:txBody>
    <p188:extLst>
      <p:ext xmlns:p="http://schemas.openxmlformats.org/presentationml/2006/main" uri="{5BB2D875-25FF-4072-B9AC-8F64D62656EB}">
        <p228:taskDetails xmlns:p228="http://schemas.microsoft.com/office/powerpoint/2022/08/main">
          <p228:history>
            <p228:event time="2025-11-13T16:15:24.695" id="{0485E176-7AC5-4586-B755-ABFBAA132932}">
              <p228:atrbtn authorId="{F25325AE-EB85-6CE7-4E2F-C266DB8ED5D0}"/>
              <p228:anchr>
                <p228:comment id="{5CD040C6-E4EC-4061-B917-601CF18A1445}"/>
              </p228:anchr>
              <p228:add/>
            </p228:event>
            <p228:event time="2025-11-13T16:15:24.695" id="{DBFEF452-E99E-4FCF-9130-32C858A0B790}">
              <p228:atrbtn authorId="{F25325AE-EB85-6CE7-4E2F-C266DB8ED5D0}"/>
              <p228:anchr>
                <p228:comment id="{5CD040C6-E4EC-4061-B917-601CF18A1445}"/>
              </p228:anchr>
              <p228:asgn authorId="{882E5139-7F59-4FF3-1519-A6F860DBA01A}"/>
            </p228:event>
            <p228:event time="2025-11-13T16:15:24.695" id="{103118E8-C642-480C-937D-C33116700570}">
              <p228:atrbtn authorId="{F25325AE-EB85-6CE7-4E2F-C266DB8ED5D0}"/>
              <p228:anchr>
                <p228:comment id="{5CD040C6-E4EC-4061-B917-601CF18A1445}"/>
              </p228:anchr>
              <p228:title val="@Alex Kopitsas - lets change title of this slide- is it exec summary for n-1?"/>
            </p228:event>
            <p228:event time="2025-11-13T16:15:24.695" id="{8CDE7E65-C3EE-4F5B-BD07-338E70E9BCC5}">
              <p228:atrbtn authorId="{F25325AE-EB85-6CE7-4E2F-C266DB8ED5D0}"/>
              <p228:anchr>
                <p228:comment id="{5CD040C6-E4EC-4061-B917-601CF18A1445}"/>
              </p228:anchr>
              <p228:date stDt="2025-11-13T16:15:24.695" endDt="2025-11-13T16:15:24.695"/>
            </p228:event>
          </p228:history>
        </p228:taskDetails>
      </p:ext>
    </p188:extLst>
  </p188:cm>
</p188:cmLst>
</file>

<file path=ppt/comments/modernComment_7FFFFFCD_8DD9C3EA.xml><?xml version="1.0" encoding="utf-8"?>
<p188:cmLst xmlns:a="http://schemas.openxmlformats.org/drawingml/2006/main" xmlns:r="http://schemas.openxmlformats.org/officeDocument/2006/relationships" xmlns:p188="http://schemas.microsoft.com/office/powerpoint/2018/8/main">
  <p188:cm id="{BC57FC0C-F1EE-4319-9910-C9DA88CC9F03}" authorId="{F25325AE-EB85-6CE7-4E2F-C266DB8ED5D0}" status="resolved" created="2025-11-07T01:27:55.752" startDate="2025-11-07T01:27:55.752" dueDate="2025-11-07T01:27:55.752" assignedTo="{882E5139-7F59-4FF3-1519-A6F860DBA01A}" complete="100000" title="@Alex Kopitsas - this is the money chart...Lets start every section with a solid point- for examlpe Evidence for growth is less ( instead of orientation) and make that first point instead of Over control .">
    <pc:sldMkLst xmlns:pc="http://schemas.microsoft.com/office/powerpoint/2013/main/command">
      <pc:docMk/>
      <pc:sldMk cId="2379858922" sldId="2147483597"/>
    </pc:sldMkLst>
    <p188:replyLst>
      <p188:reply id="{DBF0FC17-DA27-4827-ACE5-B3D6829BDC26}" authorId="{F25325AE-EB85-6CE7-4E2F-C266DB8ED5D0}" created="2025-11-07T01:29:12.466">
        <p188:txBody>
          <a:bodyPr/>
          <a:lstStyle/>
          <a:p>
            <a:r>
              <a:rPr lang="en-US"/>
              <a:t>Situational leadership requires a leader to adapt their style to a team's changing needs, as there is no single best approach. A leader shifts their style based on a team member's or team's level of competence and commitment, and the specific task at hand. Key styles include Telling (high direction, low support) for novice team members, Selling (high direction, high support) for willing but unable members, Participating (low direction, high support) for competent but unmotivated members, and Delegating (low direction, low support) for experienced and motivated members. </a:t>
            </a:r>
          </a:p>
        </p188:txBody>
      </p188:reply>
    </p188:replyLst>
    <p188:txBody>
      <a:bodyPr/>
      <a:lstStyle/>
      <a:p>
        <a:r>
          <a:rPr lang="en-US"/>
          <a:t>[@Alex Kopitsas] - this is the money chart...Lets start every section with a solid point- for examlpe Evidence for growth is less ( instead of orientation) and make that first point instead of Over control .</a:t>
        </a:r>
      </a:p>
    </p188:txBody>
    <p188:extLst>
      <p:ext xmlns:p="http://schemas.openxmlformats.org/presentationml/2006/main" uri="{5BB2D875-25FF-4072-B9AC-8F64D62656EB}">
        <p228:taskDetails xmlns:p228="http://schemas.microsoft.com/office/powerpoint/2022/08/main">
          <p228:history>
            <p228:event time="2025-11-07T01:27:55.752" id="{3334119F-ED0B-402F-B697-99DA01B02901}">
              <p228:atrbtn authorId="{F25325AE-EB85-6CE7-4E2F-C266DB8ED5D0}"/>
              <p228:anchr>
                <p228:comment id="{BC57FC0C-F1EE-4319-9910-C9DA88CC9F03}"/>
              </p228:anchr>
              <p228:add/>
            </p228:event>
            <p228:event time="2025-11-07T01:27:55.752" id="{AC7B5832-36AD-4DDC-A8D4-0231BBD1534B}">
              <p228:atrbtn authorId="{F25325AE-EB85-6CE7-4E2F-C266DB8ED5D0}"/>
              <p228:anchr>
                <p228:comment id="{BC57FC0C-F1EE-4319-9910-C9DA88CC9F03}"/>
              </p228:anchr>
              <p228:asgn authorId="{882E5139-7F59-4FF3-1519-A6F860DBA01A}"/>
            </p228:event>
            <p228:event time="2025-11-07T01:27:55.752" id="{B40057CA-6912-4935-B532-B60433FBE174}">
              <p228:atrbtn authorId="{F25325AE-EB85-6CE7-4E2F-C266DB8ED5D0}"/>
              <p228:anchr>
                <p228:comment id="{BC57FC0C-F1EE-4319-9910-C9DA88CC9F03}"/>
              </p228:anchr>
              <p228:title val="@Alex Kopitsas - this is the money chart...Lets start every section with a solid point- for examlpe Evidence for growth is less ( instead of orientation) and make that first point instead of Over control ."/>
            </p228:event>
            <p228:event time="2025-11-07T01:27:55.752" id="{F51E8D1D-1F7B-4166-A19A-5C7D45A3B3B2}">
              <p228:atrbtn authorId="{F25325AE-EB85-6CE7-4E2F-C266DB8ED5D0}"/>
              <p228:anchr>
                <p228:comment id="{BC57FC0C-F1EE-4319-9910-C9DA88CC9F03}"/>
              </p228:anchr>
              <p228:date stDt="2025-11-07T01:27:55.752" endDt="2025-11-07T01:27:55.752"/>
            </p228:event>
            <p228:event time="2025-11-11T15:40:27.519" id="{F9569772-F856-4960-9536-E9FBEA74EF22}">
              <p228:atrbtn authorId="{F25325AE-EB85-6CE7-4E2F-C266DB8ED5D0}"/>
              <p228:anchr>
                <p228:comment id="{00000000-0000-0000-0000-000000000000}"/>
              </p228:anchr>
              <p228:pcntCmplt val="100000"/>
            </p228:event>
          </p228:history>
        </p228:taskDetails>
      </p:ext>
    </p188:extLst>
  </p188:cm>
  <p188:cm id="{1ED969A3-3303-4855-B950-DDCC8608F790}" authorId="{F25325AE-EB85-6CE7-4E2F-C266DB8ED5D0}" created="2025-11-07T01:31:22.542" startDate="2025-11-07T01:31:22.542" dueDate="2025-11-07T01:31:22.542" assignedTo="{882E5139-7F59-4FF3-1519-A6F860DBA01A}" title="the fourth section - is are we talented enuf in the areas where it matters- i would say that we have not done the exeercise but based on conversations - underperformance and entitlement culture may need to be addressed? @Alex Kopitsas">
    <pc:sldMkLst xmlns:pc="http://schemas.microsoft.com/office/powerpoint/2013/main/command">
      <pc:docMk/>
      <pc:sldMk cId="2379858922" sldId="2147483597"/>
    </pc:sldMkLst>
    <p188:txBody>
      <a:bodyPr/>
      <a:lstStyle/>
      <a:p>
        <a:r>
          <a:rPr lang="en-US"/>
          <a:t>the fourth section - is are we talented enuf in the areas where it matters- i would say that we have not done the exeercise but based on conversations - underperformance and entitlement culture may need to be addressed?
[@Alex Kopitsas] </a:t>
        </a:r>
      </a:p>
    </p188:txBody>
    <p188:extLst>
      <p:ext xmlns:p="http://schemas.openxmlformats.org/presentationml/2006/main" uri="{5BB2D875-25FF-4072-B9AC-8F64D62656EB}">
        <p228:taskDetails xmlns:p228="http://schemas.microsoft.com/office/powerpoint/2022/08/main">
          <p228:history>
            <p228:event time="2025-11-07T01:31:22.542" id="{9635B0BA-AA17-45A3-95B8-DF0247625EB0}">
              <p228:atrbtn authorId="{F25325AE-EB85-6CE7-4E2F-C266DB8ED5D0}"/>
              <p228:anchr>
                <p228:comment id="{1ED969A3-3303-4855-B950-DDCC8608F790}"/>
              </p228:anchr>
              <p228:add/>
            </p228:event>
            <p228:event time="2025-11-07T01:31:22.542" id="{334BEA32-5847-414C-A694-95821EA937C1}">
              <p228:atrbtn authorId="{F25325AE-EB85-6CE7-4E2F-C266DB8ED5D0}"/>
              <p228:anchr>
                <p228:comment id="{1ED969A3-3303-4855-B950-DDCC8608F790}"/>
              </p228:anchr>
              <p228:asgn authorId="{882E5139-7F59-4FF3-1519-A6F860DBA01A}"/>
            </p228:event>
            <p228:event time="2025-11-07T01:31:22.542" id="{D2525DBD-6969-4689-A053-95C0EA0701AE}">
              <p228:atrbtn authorId="{F25325AE-EB85-6CE7-4E2F-C266DB8ED5D0}"/>
              <p228:anchr>
                <p228:comment id="{1ED969A3-3303-4855-B950-DDCC8608F790}"/>
              </p228:anchr>
              <p228:title val="the fourth section - is are we talented enuf in the areas where it matters- i would say that we have not done the exeercise but based on conversations - underperformance and entitlement culture may need to be addressed? @Alex Kopitsas"/>
            </p228:event>
            <p228:event time="2025-11-07T01:31:22.542" id="{AF1766A6-7DD7-4A41-9C1A-3475845E934B}">
              <p228:atrbtn authorId="{F25325AE-EB85-6CE7-4E2F-C266DB8ED5D0}"/>
              <p228:anchr>
                <p228:comment id="{1ED969A3-3303-4855-B950-DDCC8608F790}"/>
              </p228:anchr>
              <p228:date stDt="2025-11-07T01:31:22.542" endDt="2025-11-07T01:31:22.542"/>
            </p228:event>
          </p228:history>
        </p228:taskDetails>
      </p:ext>
    </p188:extLst>
  </p188:cm>
</p188:cmLst>
</file>

<file path=ppt/comments/modernComment_7FFFFFCE_9C6E338.xml><?xml version="1.0" encoding="utf-8"?>
<p188:cmLst xmlns:a="http://schemas.openxmlformats.org/drawingml/2006/main" xmlns:r="http://schemas.openxmlformats.org/officeDocument/2006/relationships" xmlns:p188="http://schemas.microsoft.com/office/powerpoint/2018/8/main">
  <p188:cm id="{7246EEC2-3D1A-D847-BA34-2154CAC1D40B}" authorId="{547B06F2-4ECC-038C-6D60-EE0E60C8F512}" created="2025-11-12T22:08:36.581">
    <ac:deMkLst xmlns:ac="http://schemas.microsoft.com/office/drawing/2013/main/command">
      <pc:docMk xmlns:pc="http://schemas.microsoft.com/office/powerpoint/2013/main/command"/>
      <pc:sldMk xmlns:pc="http://schemas.microsoft.com/office/powerpoint/2013/main/command" cId="164029240" sldId="2147483598"/>
      <ac:picMk id="3" creationId="{B59209AC-3CC0-2B9C-8342-8946B4E8AF67}"/>
    </ac:deMkLst>
    <p188:replyLst>
      <p188:reply id="{FCD7E58B-9B78-6C4B-85D8-957A5C8E4FE2}" authorId="{547B06F2-4ECC-038C-6D60-EE0E60C8F512}" created="2025-11-12T22:38:11.282">
        <p188:txBody>
          <a:bodyPr/>
          <a:lstStyle/>
          <a:p>
            <a:r>
              <a:rPr lang="en-US"/>
              <a:t>To me I would urge him to think of how to effectively land his big ideas...   He may be underestimating how much collaboration and ways of working will matter to deliver complex outcomes
</a:t>
            </a:r>
          </a:p>
        </p188:txBody>
      </p188:reply>
      <p188:reply id="{C2FA9212-C62E-ED41-8A7E-E4D84C95D668}" authorId="{547B06F2-4ECC-038C-6D60-EE0E60C8F512}" created="2025-11-13T12:44:56.906">
        <p188:txBody>
          <a:bodyPr/>
          <a:lstStyle/>
          <a:p>
            <a:r>
              <a:rPr lang="en-US"/>
              <a:t>[@Shefali Salwan]
</a:t>
            </a:r>
          </a:p>
        </p188:txBody>
      </p188:reply>
    </p188:replyLst>
    <p188:txBody>
      <a:bodyPr/>
      <a:lstStyle/>
      <a:p>
        <a:r>
          <a:rPr lang="en-US"/>
          <a:t>This is the biggest things I see.  
1. Big picture thinker/strategic guy - high inquisitive, high, bold , power - wants to deliver impact and influence things.  Probably has some natural ability to influence and engage - under nomal circumstances. However, could be seen as overconfident and impulsive (bold, mischevious) if not managing himself.  Also the high excitable - he has passion and ideas, but people may be looking for more focus from him
2. Not great at structure and process.  Low interpersonal sensitivity.  Could be seen as blunt. 
He is likely perceived as someone who is strategic, and commercially driven.   He might come across as an authoritative leader (high power, high tradition, low interpersonal sensitivity) -  could be difficult for his team to build a relationship with. 
</a:t>
        </a:r>
      </a:p>
    </p188:txBody>
  </p188:cm>
</p188:cmLst>
</file>

<file path=ppt/comments/modernComment_7FFFFFD1_341F636B.xml><?xml version="1.0" encoding="utf-8"?>
<p188:cmLst xmlns:a="http://schemas.openxmlformats.org/drawingml/2006/main" xmlns:r="http://schemas.openxmlformats.org/officeDocument/2006/relationships" xmlns:p188="http://schemas.microsoft.com/office/powerpoint/2018/8/main">
  <p188:cm id="{552F964A-320C-4193-8D8E-C1A3DF0ED32B}" authorId="{F25325AE-EB85-6CE7-4E2F-C266DB8ED5D0}" created="2025-11-07T00:20:57.168" startDate="2025-11-07T00:20:57.168" dueDate="2025-11-07T00:20:57.168" assignedTo="{882E5139-7F59-4FF3-1519-A6F860DBA01A}" title="@Alex Kopitsas - lets change the negatives-- ammar may not have a natural propensity on....but cab be thoughful to bring these bahavious etc">
    <pc:sldMkLst xmlns:pc="http://schemas.microsoft.com/office/powerpoint/2013/main/command">
      <pc:docMk/>
      <pc:sldMk cId="874472299" sldId="2147483601"/>
    </pc:sldMkLst>
    <p188:txBody>
      <a:bodyPr/>
      <a:lstStyle/>
      <a:p>
        <a:r>
          <a:rPr lang="en-US"/>
          <a:t>[@Alex Kopitsas] - lets change the negatives-- ammar may not have a natural propensity on....but cab be thoughful to bring these bahavious etc</a:t>
        </a:r>
      </a:p>
    </p188:txBody>
    <p188:extLst>
      <p:ext xmlns:p="http://schemas.openxmlformats.org/presentationml/2006/main" uri="{5BB2D875-25FF-4072-B9AC-8F64D62656EB}">
        <p228:taskDetails xmlns:p228="http://schemas.microsoft.com/office/powerpoint/2022/08/main">
          <p228:history>
            <p228:event time="2025-11-07T00:20:57.168" id="{871DDC94-B971-4A79-98BE-9EB468141632}">
              <p228:atrbtn authorId="{F25325AE-EB85-6CE7-4E2F-C266DB8ED5D0}"/>
              <p228:anchr>
                <p228:comment id="{552F964A-320C-4193-8D8E-C1A3DF0ED32B}"/>
              </p228:anchr>
              <p228:add/>
            </p228:event>
            <p228:event time="2025-11-07T00:20:57.168" id="{7ADC43AB-C4C5-45A4-A47E-76CE553CDE1B}">
              <p228:atrbtn authorId="{F25325AE-EB85-6CE7-4E2F-C266DB8ED5D0}"/>
              <p228:anchr>
                <p228:comment id="{552F964A-320C-4193-8D8E-C1A3DF0ED32B}"/>
              </p228:anchr>
              <p228:asgn authorId="{882E5139-7F59-4FF3-1519-A6F860DBA01A}"/>
            </p228:event>
            <p228:event time="2025-11-07T00:20:57.168" id="{6FC922DD-6825-4FEE-ADD6-936BE3A1AA23}">
              <p228:atrbtn authorId="{F25325AE-EB85-6CE7-4E2F-C266DB8ED5D0}"/>
              <p228:anchr>
                <p228:comment id="{552F964A-320C-4193-8D8E-C1A3DF0ED32B}"/>
              </p228:anchr>
              <p228:title val="@Alex Kopitsas - lets change the negatives-- ammar may not have a natural propensity on....but cab be thoughful to bring these bahavious etc"/>
            </p228:event>
            <p228:event time="2025-11-07T00:20:57.168" id="{B532B0C6-B0BC-4A21-845C-545CBA00E908}">
              <p228:atrbtn authorId="{F25325AE-EB85-6CE7-4E2F-C266DB8ED5D0}"/>
              <p228:anchr>
                <p228:comment id="{552F964A-320C-4193-8D8E-C1A3DF0ED32B}"/>
              </p228:anchr>
              <p228:date stDt="2025-11-07T00:20:57.168" endDt="2025-11-07T00:20:57.168"/>
            </p228:event>
          </p228:history>
        </p228:taskDetails>
      </p:ext>
    </p188:extLst>
  </p188:cm>
</p188:cmLst>
</file>

<file path=ppt/comments/modernComment_7FFFFFD2_5B21DF1.xml><?xml version="1.0" encoding="utf-8"?>
<p188:cmLst xmlns:a="http://schemas.openxmlformats.org/drawingml/2006/main" xmlns:r="http://schemas.openxmlformats.org/officeDocument/2006/relationships" xmlns:p188="http://schemas.microsoft.com/office/powerpoint/2018/8/main">
  <p188:cm id="{65CCE09B-3DDE-1446-9F9D-7E34C196F778}" authorId="{F25325AE-EB85-6CE7-4E2F-C266DB8ED5D0}" created="2025-11-03T19:09:46.195">
    <pc:sldMkLst xmlns:pc="http://schemas.microsoft.com/office/powerpoint/2013/main/command">
      <pc:docMk/>
      <pc:sldMk cId="3916682051" sldId="2147483602"/>
    </pc:sldMkLst>
    <p188:txBody>
      <a:bodyPr/>
      <a:lstStyle/>
      <a:p>
        <a:r>
          <a:rPr lang="en-US"/>
          <a:t>[@Alex Kopitsas] - the last sentence for adeel derailers needs to be toned down. He is high on skeptical- and tradition and he will be fine in a highly regulated environment of trading. I think we can write its not his natural propensity but having been in the industry long he must have always been thoughful and got complemented by the right people</a:t>
        </a:r>
      </a:p>
    </p188:txBody>
    <p188:extLst>
      <p:ext xmlns:p="http://schemas.openxmlformats.org/presentationml/2006/main" uri="{57CB4572-C831-44C2-8A1C-0ADB6CCDFE69}">
        <p223:reactions xmlns:p223="http://schemas.microsoft.com/office/powerpoint/2022/03/main">
          <p223:rxn type="👍">
            <p223:instance time="2025-11-04T07:11:00.599" authorId="{882E5139-7F59-4FF3-1519-A6F860DBA01A}"/>
          </p223:rxn>
        </p223:reactions>
      </p:ext>
    </p188:extLst>
  </p188:cm>
</p188:cmLst>
</file>

<file path=ppt/comments/modernComment_7FFFFFD3_35916FC2.xml><?xml version="1.0" encoding="utf-8"?>
<p188:cmLst xmlns:a="http://schemas.openxmlformats.org/drawingml/2006/main" xmlns:r="http://schemas.openxmlformats.org/officeDocument/2006/relationships" xmlns:p188="http://schemas.microsoft.com/office/powerpoint/2018/8/main">
  <p188:cm id="{94F45DD6-6D3A-484D-8725-5098805F2CDD}" authorId="{F25325AE-EB85-6CE7-4E2F-C266DB8ED5D0}" created="2025-11-06T22:30:50.357">
    <pc:sldMkLst xmlns:pc="http://schemas.microsoft.com/office/powerpoint/2013/main/command">
      <pc:docMk/>
      <pc:sldMk cId="2902907815" sldId="2147483603"/>
    </pc:sldMkLst>
    <p188:txBody>
      <a:bodyPr/>
      <a:lstStyle/>
      <a:p>
        <a:r>
          <a:rPr lang="en-US"/>
          <a:t>[@Alex Kopitsas] - vimal has high altruism- he can be directed to doing more collaborative work. Also he must be seeing the flaw of silos...</a:t>
        </a:r>
      </a:p>
    </p188:txBody>
  </p188:cm>
</p188:cmLst>
</file>

<file path=ppt/comments/modernComment_7FFFFFD8_ED7ABDAD.xml><?xml version="1.0" encoding="utf-8"?>
<p188:cmLst xmlns:a="http://schemas.openxmlformats.org/drawingml/2006/main" xmlns:r="http://schemas.openxmlformats.org/officeDocument/2006/relationships" xmlns:p188="http://schemas.microsoft.com/office/powerpoint/2018/8/main">
  <p188:cm id="{74389A43-C848-5E45-A6D1-7BDFDC0BCBC7}" authorId="{F57AB982-E33B-84F8-1519-36B5D2B193D8}" created="2025-11-13T19:13:03.045" startDate="2025-11-13T19:13:03.045" dueDate="2025-11-13T19:13:03.045" assignedTo="{882E5139-7F59-4FF3-1519-A6F860DBA01A}" title="@Alex Kopitsas surnames?">
    <ac:txMkLst xmlns:ac="http://schemas.microsoft.com/office/drawing/2013/main/command">
      <pc:docMk xmlns:pc="http://schemas.microsoft.com/office/powerpoint/2013/main/command"/>
      <pc:sldMk xmlns:pc="http://schemas.microsoft.com/office/powerpoint/2013/main/command" cId="3984244141" sldId="2147483608"/>
      <ac:graphicFrameMk id="3" creationId="{FF461926-27D7-2B56-3DC5-42D30EBB7A91}"/>
      <ac:tblMk/>
      <ac:tcMk rowId="2434202052" colId="1225452123"/>
      <ac:txMk cp="0" len="30">
        <ac:context len="31" hash="4002601427"/>
      </ac:txMk>
    </ac:txMkLst>
    <p188:pos x="1379517" y="2698489"/>
    <p188:txBody>
      <a:bodyPr/>
      <a:lstStyle/>
      <a:p>
        <a:r>
          <a:rPr lang="en-US"/>
          <a:t>[@Alex Kopitsas] surnames?</a:t>
        </a:r>
      </a:p>
    </p188:txBody>
    <p188:extLst>
      <p:ext xmlns:p="http://schemas.openxmlformats.org/presentationml/2006/main" uri="{5BB2D875-25FF-4072-B9AC-8F64D62656EB}">
        <p228:taskDetails xmlns:p228="http://schemas.microsoft.com/office/powerpoint/2022/08/main">
          <p228:history>
            <p228:event time="2025-11-13T19:13:03.045" id="{2C0E9134-6904-3348-9B05-3F12B7F7317B}">
              <p228:atrbtn authorId="{F57AB982-E33B-84F8-1519-36B5D2B193D8}"/>
              <p228:anchr>
                <p228:comment id="{74389A43-C848-5E45-A6D1-7BDFDC0BCBC7}"/>
              </p228:anchr>
              <p228:add/>
            </p228:event>
            <p228:event time="2025-11-13T19:13:03.045" id="{42C36561-FC6A-9D48-900A-452524B2FD8F}">
              <p228:atrbtn authorId="{F57AB982-E33B-84F8-1519-36B5D2B193D8}"/>
              <p228:anchr>
                <p228:comment id="{74389A43-C848-5E45-A6D1-7BDFDC0BCBC7}"/>
              </p228:anchr>
              <p228:asgn authorId="{882E5139-7F59-4FF3-1519-A6F860DBA01A}"/>
            </p228:event>
            <p228:event time="2025-11-13T19:13:03.045" id="{8587D781-BABF-3C4E-8498-743337B5A158}">
              <p228:atrbtn authorId="{F57AB982-E33B-84F8-1519-36B5D2B193D8}"/>
              <p228:anchr>
                <p228:comment id="{74389A43-C848-5E45-A6D1-7BDFDC0BCBC7}"/>
              </p228:anchr>
              <p228:title val="@Alex Kopitsas surnames?"/>
            </p228:event>
            <p228:event time="2025-11-13T19:13:03.045" id="{2FEA516D-1749-6F44-AA97-C758F2670D66}">
              <p228:atrbtn authorId="{F57AB982-E33B-84F8-1519-36B5D2B193D8}"/>
              <p228:anchr>
                <p228:comment id="{74389A43-C848-5E45-A6D1-7BDFDC0BCBC7}"/>
              </p228:anchr>
              <p228:date stDt="2025-11-13T19:13:03.045" endDt="2025-11-13T19:13:03.045"/>
            </p228:event>
          </p228:history>
        </p228:taskDetails>
      </p:ext>
    </p188:extLst>
  </p188:cm>
</p188:cmLst>
</file>

<file path=ppt/comments/modernComment_7FFFFFD9_7D983E74.xml><?xml version="1.0" encoding="utf-8"?>
<p188:cmLst xmlns:a="http://schemas.openxmlformats.org/drawingml/2006/main" xmlns:r="http://schemas.openxmlformats.org/officeDocument/2006/relationships" xmlns:p188="http://schemas.microsoft.com/office/powerpoint/2018/8/main">
  <p188:cm id="{FA4352D3-348C-204D-B58B-B296E1A92FAE}" authorId="{F25325AE-EB85-6CE7-4E2F-C266DB8ED5D0}" created="2025-11-11T21:19:00.482">
    <pc:sldMkLst xmlns:pc="http://schemas.microsoft.com/office/powerpoint/2013/main/command">
      <pc:docMk/>
      <pc:sldMk cId="2365491195" sldId="2147483584"/>
    </pc:sldMkLst>
    <p188:txBody>
      <a:bodyPr/>
      <a:lstStyle/>
      <a:p>
        <a:r>
          <a:rPr lang="en-US"/>
          <a:t>[@Alex Kopitsas] - for dan- he shd complement himself on processes etc</a:t>
        </a:r>
      </a:p>
    </p188:txBody>
  </p188:cm>
</p188:cmLst>
</file>

<file path=ppt/comments/modernComment_14A_F47CD0F0.xml><?xml version="1.0" encoding="utf-8"?>
<p188:cmLst xmlns:a="http://schemas.openxmlformats.org/drawingml/2006/main" xmlns:r="http://schemas.openxmlformats.org/officeDocument/2006/relationships" xmlns:p188="http://schemas.microsoft.com/office/powerpoint/2018/8/main">
  <p188:cm id="{2E6FDE3C-B988-4A4F-AEBF-9A44CD3EE587}" authorId="{F25325AE-EB85-6CE7-4E2F-C266DB8ED5D0}" created="2025-10-29T21:32:10.929" startDate="2025-10-30T13:07:11.817" dueDate="2025-10-30T13:07:11.817" assignedTo="{882E5139-7F59-4FF3-1519-A6F860DBA01A}" title="@Alex Kopitsas - can you check when he joined ADSS">
    <pc:sldMkLst xmlns:pc="http://schemas.microsoft.com/office/powerpoint/2013/main/command">
      <pc:docMk/>
      <pc:sldMk cId="4101820656" sldId="330"/>
    </pc:sldMkLst>
    <p188:replyLst>
      <p188:reply id="{625841BD-86D7-4021-B297-CE078D29A273}" authorId="{F25325AE-EB85-6CE7-4E2F-C266DB8ED5D0}" created="2025-10-30T13:07:11.817">
        <p188:txBody>
          <a:bodyPr/>
          <a:lstStyle/>
          <a:p>
            <a:r>
              <a:rPr lang="en-US"/>
              <a:t>[@Alex Kopitsas] - can you check when he joined ADSS</a:t>
            </a:r>
          </a:p>
        </p188:txBody>
      </p188:reply>
      <p188:reply id="{639082C3-D337-5846-91B6-BC693DFF74BB}" authorId="{882E5139-7F59-4FF3-1519-A6F860DBA01A}" created="2025-10-30T14:51:08.479">
        <p188:txBody>
          <a:bodyPr/>
          <a:lstStyle/>
          <a:p>
            <a:r>
              <a:rPr lang="en-US"/>
              <a:t>[@Shefali Salwan] must have joined Sept 2024</a:t>
            </a:r>
          </a:p>
        </p188:txBody>
      </p188:reply>
      <p188:reply id="{234DD69E-4576-490D-816B-A98C437FD414}" authorId="{F25325AE-EB85-6CE7-4E2F-C266DB8ED5D0}" created="2025-11-04T00:55:17.484">
        <p188:txBody>
          <a:bodyPr/>
          <a:lstStyle/>
          <a:p>
            <a:r>
              <a:rPr lang="en-US"/>
              <a:t>[@Alex Kopitsas] - please remove "deep institutional knowledge"</a:t>
            </a:r>
          </a:p>
        </p188:txBody>
      </p188:reply>
      <p188:reply id="{2DE94025-813A-4094-83E3-E828E64FE1EB}" authorId="{F25325AE-EB85-6CE7-4E2F-C266DB8ED5D0}" created="2025-11-04T00:57:18.546">
        <p188:txBody>
          <a:bodyPr/>
          <a:lstStyle/>
          <a:p>
            <a:r>
              <a:rPr lang="en-US"/>
              <a:t>[@Alex Kopitsas] - he needs to be more visible and assertive. I dont think he is that confident...</a:t>
            </a:r>
          </a:p>
        </p188:txBody>
      </p188:reply>
      <p188:reply id="{6430E603-C488-40A8-B30B-310C34F0EF21}" authorId="{F25325AE-EB85-6CE7-4E2F-C266DB8ED5D0}" created="2025-11-04T01:52:50.183">
        <p188:txBody>
          <a:bodyPr/>
          <a:lstStyle/>
          <a:p>
            <a:r>
              <a:rPr lang="en-US"/>
              <a:t>[@Alex Kopitsas] - i think he is not assertive and pushing himself - maybe due to the fear culture</a:t>
            </a:r>
          </a:p>
        </p188:txBody>
        <p188:extLst>
          <p:ext xmlns:p="http://schemas.openxmlformats.org/presentationml/2006/main" uri="{57CB4572-C831-44C2-8A1C-0ADB6CCDFE69}">
            <p223:reactions xmlns:p223="http://schemas.microsoft.com/office/powerpoint/2022/03/main">
              <p223:rxn type="👍">
                <p223:instance time="2025-11-04T07:03:51.064" authorId="{882E5139-7F59-4FF3-1519-A6F860DBA01A}"/>
              </p223:rxn>
            </p223:reactions>
          </p:ext>
        </p188:extLst>
      </p188:reply>
    </p188:replyLst>
    <p188:txBody>
      <a:bodyPr/>
      <a:lstStyle/>
      <a:p>
        <a:r>
          <a:rPr lang="en-US"/>
          <a:t>ammar joined only 1 year back?? or when?</a:t>
        </a:r>
      </a:p>
    </p188:txBody>
    <p188:extLst>
      <p:ext xmlns:p="http://schemas.openxmlformats.org/presentationml/2006/main" uri="{5BB2D875-25FF-4072-B9AC-8F64D62656EB}">
        <p228:taskDetails xmlns:p228="http://schemas.microsoft.com/office/powerpoint/2022/08/main">
          <p228:history>
            <p228:event time="2025-10-30T13:07:11.817" id="{0BEC600B-62A7-48EC-B0CA-3695B783ECCA}">
              <p228:atrbtn authorId="{F25325AE-EB85-6CE7-4E2F-C266DB8ED5D0}"/>
              <p228:anchr>
                <p228:comment id="{625841BD-86D7-4021-B297-CE078D29A273}"/>
              </p228:anchr>
              <p228:add/>
            </p228:event>
            <p228:event time="2025-10-30T13:07:11.817" id="{B7D00115-C71A-4BF5-B0D0-216925A2B152}">
              <p228:atrbtn authorId="{F25325AE-EB85-6CE7-4E2F-C266DB8ED5D0}"/>
              <p228:anchr>
                <p228:comment id="{625841BD-86D7-4021-B297-CE078D29A273}"/>
              </p228:anchr>
              <p228:asgn authorId="{882E5139-7F59-4FF3-1519-A6F860DBA01A}"/>
            </p228:event>
            <p228:event time="2025-10-30T13:07:11.817" id="{D8F47C3A-9D0B-42AF-B6CE-CF5F727F7A0B}">
              <p228:atrbtn authorId="{F25325AE-EB85-6CE7-4E2F-C266DB8ED5D0}"/>
              <p228:anchr>
                <p228:comment id="{625841BD-86D7-4021-B297-CE078D29A273}"/>
              </p228:anchr>
              <p228:date stDt="2025-10-30T13:07:11.817" endDt="2025-10-30T13:07:11.817"/>
            </p228:event>
            <p228:event time="2025-10-30T13:07:11.817" id="{E441073E-836D-4B9B-AC04-0B030EC4CE31}">
              <p228:atrbtn authorId="{F25325AE-EB85-6CE7-4E2F-C266DB8ED5D0}"/>
              <p228:anchr>
                <p228:comment id="{625841BD-86D7-4021-B297-CE078D29A273}"/>
              </p228:anchr>
              <p228:title val="@Alex Kopitsas - can you check when he joined ADSS"/>
            </p228:event>
            <p228:event time="2025-10-30T14:51:08.494" id="{4D081E05-00C2-4046-8F3F-9EF424D13C8F}">
              <p228:atrbtn authorId="{882E5139-7F59-4FF3-1519-A6F860DBA01A}"/>
              <p228:anchr>
                <p228:comment id="{639082C3-D337-5846-91B6-BC693DFF74BB}"/>
              </p228:anchr>
              <p228:unasgnAll/>
            </p228:event>
            <p228:event time="2025-10-30T14:51:08.494" id="{ECDF0C0F-E640-8A4F-A6CE-FC96D21BFF53}">
              <p228:atrbtn authorId="{882E5139-7F59-4FF3-1519-A6F860DBA01A}"/>
              <p228:anchr>
                <p228:comment id="{639082C3-D337-5846-91B6-BC693DFF74BB}"/>
              </p228:anchr>
              <p228:asgn authorId="{F25325AE-EB85-6CE7-4E2F-C266DB8ED5D0}"/>
            </p228:event>
            <p228:event time="2025-11-04T00:55:17.484" id="{671A5F68-9960-493A-807A-DE9A3E822C76}">
              <p228:atrbtn authorId="{F25325AE-EB85-6CE7-4E2F-C266DB8ED5D0}"/>
              <p228:anchr>
                <p228:comment id="{234DD69E-4576-490D-816B-A98C437FD414}"/>
              </p228:anchr>
              <p228:unasgnAll/>
            </p228:event>
            <p228:event time="2025-11-04T00:55:17.484" id="{BE0EE18E-19CB-4CCA-97F6-FB23F05EE9EF}">
              <p228:atrbtn authorId="{F25325AE-EB85-6CE7-4E2F-C266DB8ED5D0}"/>
              <p228:anchr>
                <p228:comment id="{234DD69E-4576-490D-816B-A98C437FD414}"/>
              </p228:anchr>
              <p228:asgn authorId="{882E5139-7F59-4FF3-1519-A6F860DBA01A}"/>
            </p228:event>
          </p228:history>
        </p228:taskDetails>
      </p:ext>
      <p:ext xmlns:p="http://schemas.openxmlformats.org/presentationml/2006/main" uri="{57CB4572-C831-44C2-8A1C-0ADB6CCDFE69}">
        <p223:reactions xmlns:p223="http://schemas.microsoft.com/office/powerpoint/2022/03/main">
          <p223:rxn type="👍">
            <p223:instance time="2025-11-04T00:55:23.282" authorId="{F25325AE-EB85-6CE7-4E2F-C266DB8ED5D0}"/>
          </p223:rxn>
        </p223:reactions>
      </p:ext>
    </p188:extLst>
  </p188:cm>
</p188:cmLst>
</file>

<file path=ppt/comments/modernComment_15C_4A52D448.xml><?xml version="1.0" encoding="utf-8"?>
<p188:cmLst xmlns:a="http://schemas.openxmlformats.org/drawingml/2006/main" xmlns:r="http://schemas.openxmlformats.org/officeDocument/2006/relationships" xmlns:p188="http://schemas.microsoft.com/office/powerpoint/2018/8/main">
  <p188:cm id="{9D96302F-77FE-40A8-A4EE-D437A6F1F3F1}" authorId="{F25325AE-EB85-6CE7-4E2F-C266DB8ED5D0}" created="2025-11-06T22:09:59.697" startDate="2025-11-06T22:09:59.697" dueDate="2025-11-06T22:09:59.697" assignedTo="{882E5139-7F59-4FF3-1519-A6F860DBA01A}" title="…or incremental shifts and cost effectiveness. I dont think its fragmented systems- they have a difference of opinion on best way to go ahead on the on creating the &quot;one platform&quot;- superap? Data has been moved out? Can u check your notes @Alex Kopitsas">
    <pc:sldMkLst xmlns:pc="http://schemas.microsoft.com/office/powerpoint/2013/main/command">
      <pc:docMk/>
      <pc:sldMk cId="1246942280" sldId="348"/>
    </pc:sldMkLst>
    <p188:txBody>
      <a:bodyPr/>
      <a:lstStyle/>
      <a:p>
        <a:r>
          <a:rPr lang="en-US"/>
          <a:t>i think its fair to say is that the misalignment between development of own ADSS platform vs the MT4 and MT5. Is this role about new and investment or incremental shifts and cost effectiveness. 
I dont think its fragmented systems- they have a difference of opinion on best way to go ahead on the on creating the "one platform"- superap? 
Data has been moved out?
Can u check your notes [@Alex Kopitsas] </a:t>
        </a:r>
      </a:p>
    </p188:txBody>
    <p188:extLst>
      <p:ext xmlns:p="http://schemas.openxmlformats.org/presentationml/2006/main" uri="{5BB2D875-25FF-4072-B9AC-8F64D62656EB}">
        <p228:taskDetails xmlns:p228="http://schemas.microsoft.com/office/powerpoint/2022/08/main">
          <p228:history>
            <p228:event time="2025-11-06T22:09:59.697" id="{3E6B859A-6474-48BB-B157-57301B879507}">
              <p228:atrbtn authorId="{F25325AE-EB85-6CE7-4E2F-C266DB8ED5D0}"/>
              <p228:anchr>
                <p228:comment id="{9D96302F-77FE-40A8-A4EE-D437A6F1F3F1}"/>
              </p228:anchr>
              <p228:add/>
            </p228:event>
            <p228:event time="2025-11-06T22:09:59.697" id="{97B23642-A089-4223-98A7-B6D2B7C906E7}">
              <p228:atrbtn authorId="{F25325AE-EB85-6CE7-4E2F-C266DB8ED5D0}"/>
              <p228:anchr>
                <p228:comment id="{9D96302F-77FE-40A8-A4EE-D437A6F1F3F1}"/>
              </p228:anchr>
              <p228:asgn authorId="{882E5139-7F59-4FF3-1519-A6F860DBA01A}"/>
            </p228:event>
            <p228:event time="2025-11-06T22:09:59.697" id="{B57B788D-D1A7-4490-8C99-7CBE9F77A055}">
              <p228:atrbtn authorId="{F25325AE-EB85-6CE7-4E2F-C266DB8ED5D0}"/>
              <p228:anchr>
                <p228:comment id="{9D96302F-77FE-40A8-A4EE-D437A6F1F3F1}"/>
              </p228:anchr>
              <p228:title val="…or incremental shifts and cost effectiveness. I dont think its fragmented systems- they have a difference of opinion on best way to go ahead on the on creating the &quot;one platform&quot;- superap? Data has been moved out? Can u check your notes @Alex Kopitsas"/>
            </p228:event>
            <p228:event time="2025-11-06T22:09:59.697" id="{0FA1C47F-1382-4489-B57E-7A3AC3287B07}">
              <p228:atrbtn authorId="{F25325AE-EB85-6CE7-4E2F-C266DB8ED5D0}"/>
              <p228:anchr>
                <p228:comment id="{9D96302F-77FE-40A8-A4EE-D437A6F1F3F1}"/>
              </p228:anchr>
              <p228:date stDt="2025-11-06T22:09:59.697" endDt="2025-11-06T22:09:59.697"/>
            </p228:event>
          </p228:history>
        </p228:taskDetails>
      </p:ext>
    </p188:extLst>
  </p188:cm>
</p188:cmLst>
</file>

<file path=ppt/comments/modernComment_16E_F57E7E49.xml><?xml version="1.0" encoding="utf-8"?>
<p188:cmLst xmlns:a="http://schemas.openxmlformats.org/drawingml/2006/main" xmlns:r="http://schemas.openxmlformats.org/officeDocument/2006/relationships" xmlns:p188="http://schemas.microsoft.com/office/powerpoint/2018/8/main">
  <p188:cm id="{81ECC4B3-CC79-4DF2-AB78-59B25232C523}" authorId="{F25325AE-EB85-6CE7-4E2F-C266DB8ED5D0}" created="2025-10-30T12:23:34.454">
    <pc:sldMkLst xmlns:pc="http://schemas.microsoft.com/office/powerpoint/2013/main/command">
      <pc:docMk/>
      <pc:sldMk cId="4118707785" sldId="366"/>
    </pc:sldMkLst>
    <p188:txBody>
      <a:bodyPr/>
      <a:lstStyle/>
      <a:p>
        <a:r>
          <a:rPr lang="en-US"/>
          <a:t>@alex oscillation of decisions</a:t>
        </a:r>
      </a:p>
    </p188:txBody>
  </p188:cm>
  <p188:cm id="{651AC3AE-F845-4EB4-B608-54E3A6539074}" authorId="{49E98816-7510-86B6-0309-D50AFAB61AEF}" created="2025-11-12T10:48:33.473">
    <ac:txMkLst xmlns:ac="http://schemas.microsoft.com/office/drawing/2013/main/command">
      <pc:docMk xmlns:pc="http://schemas.microsoft.com/office/powerpoint/2013/main/command"/>
      <pc:sldMk xmlns:pc="http://schemas.microsoft.com/office/powerpoint/2013/main/command" cId="4118707785" sldId="366"/>
      <ac:spMk id="8" creationId="{479DF5B4-639C-FDBD-457A-3795D262EA26}"/>
      <ac:txMk cp="535" len="66">
        <ac:context len="603" hash="804784296"/>
      </ac:txMk>
    </ac:txMkLst>
    <p188:pos x="689042" y="1840148"/>
    <p188:txBody>
      <a:bodyPr/>
      <a:lstStyle/>
      <a:p>
        <a:r>
          <a:rPr lang="en-US"/>
          <a:t>Complement your team with someone who can strengthen process and structure.</a:t>
        </a:r>
      </a:p>
    </p188:txBody>
  </p188:cm>
</p188:cmLst>
</file>

<file path=ppt/comments/modernComment_135_25241AEF.xml><?xml version="1.0" encoding="utf-8"?>
<p188:cmLst xmlns:a="http://schemas.openxmlformats.org/drawingml/2006/main" xmlns:r="http://schemas.openxmlformats.org/officeDocument/2006/relationships" xmlns:p188="http://schemas.microsoft.com/office/powerpoint/2018/8/main">
  <p188:cm id="{4216BF12-0635-459F-8EB7-934278B68DB1}" authorId="{F25325AE-EB85-6CE7-4E2F-C266DB8ED5D0}" created="2025-11-07T01:01:39.654">
    <pc:sldMkLst xmlns:pc="http://schemas.microsoft.com/office/powerpoint/2013/main/command">
      <pc:docMk/>
      <pc:sldMk cId="623123183" sldId="309"/>
    </pc:sldMkLst>
    <p188:txBody>
      <a:bodyPr/>
      <a:lstStyle/>
      <a:p>
        <a:r>
          <a:rPr lang="en-US"/>
          <a:t>@i sometimes see compliance being interchanged with risk- that shd not be</a:t>
        </a:r>
      </a:p>
    </p188:txBody>
  </p188:cm>
</p188:cmLst>
</file>

<file path=ppt/comments/modernComment_136_5998E6F8.xml><?xml version="1.0" encoding="utf-8"?>
<p188:cmLst xmlns:a="http://schemas.openxmlformats.org/drawingml/2006/main" xmlns:r="http://schemas.openxmlformats.org/officeDocument/2006/relationships" xmlns:p188="http://schemas.microsoft.com/office/powerpoint/2018/8/main">
  <p188:cm id="{6A7DE207-2FA2-6A4B-ABE2-0DC5E5F2F256}" authorId="{F25325AE-EB85-6CE7-4E2F-C266DB8ED5D0}" created="2025-11-03T19:13:49.172">
    <pc:sldMkLst xmlns:pc="http://schemas.microsoft.com/office/powerpoint/2013/main/command">
      <pc:docMk/>
      <pc:sldMk cId="352682899" sldId="310"/>
    </pc:sldMkLst>
    <p188:replyLst>
      <p188:reply id="{1F0DA0BD-D33E-48BB-BEB4-E98A7BE92E31}" authorId="{F25325AE-EB85-6CE7-4E2F-C266DB8ED5D0}" created="2025-11-03T19:15:12.051">
        <p188:txBody>
          <a:bodyPr/>
          <a:lstStyle/>
          <a:p>
            <a:r>
              <a:rPr lang="en-US"/>
              <a:t>[@Alex Kopitsas] - i think retaining good traders will be a good jtbd- as janestreet etc are getting into the market/ . Assuming that some people will leave so he will have to have. abigger JTBD on people issues including succession etc. n</a:t>
            </a:r>
          </a:p>
        </p188:txBody>
      </p188:reply>
    </p188:replyLst>
    <p188:txBody>
      <a:bodyPr/>
      <a:lstStyle/>
      <a:p>
        <a:r>
          <a:rPr lang="en-US"/>
          <a:t>[@Alex Kopitsas] - pricing and commercial strategy will have to DAN ..not adeel</a:t>
        </a:r>
      </a:p>
    </p188:txBody>
  </p188:cm>
</p188:cmLst>
</file>

<file path=ppt/comments/modernComment_150_787E0A17.xml><?xml version="1.0" encoding="utf-8"?>
<p188:cmLst xmlns:a="http://schemas.openxmlformats.org/drawingml/2006/main" xmlns:r="http://schemas.openxmlformats.org/officeDocument/2006/relationships" xmlns:p188="http://schemas.microsoft.com/office/powerpoint/2018/8/main">
  <p188:cm id="{A730ED46-D5AA-E540-A7D9-4CD7B9A3A1D3}" authorId="{F25325AE-EB85-6CE7-4E2F-C266DB8ED5D0}" created="2025-11-04T00:12:33.314">
    <pc:sldMkLst xmlns:pc="http://schemas.microsoft.com/office/powerpoint/2013/main/command">
      <pc:docMk/>
      <pc:sldMk cId="2668865399" sldId="336"/>
    </pc:sldMkLst>
    <p188:txBody>
      <a:bodyPr/>
      <a:lstStyle/>
      <a:p>
        <a:r>
          <a:rPr lang="en-US"/>
          <a:t>[@Alex Kopitsas] - the biggest challenge was that he has to start from scratch- his whole team left ....?? but it may be a good idea now to re build</a:t>
        </a:r>
      </a:p>
    </p188:txBody>
  </p188:cm>
</p188:cmLst>
</file>

<file path=ppt/comments/modernComment_151_C75BD213.xml><?xml version="1.0" encoding="utf-8"?>
<p188:cmLst xmlns:a="http://schemas.openxmlformats.org/drawingml/2006/main" xmlns:r="http://schemas.openxmlformats.org/officeDocument/2006/relationships" xmlns:p188="http://schemas.microsoft.com/office/powerpoint/2018/8/main">
  <p188:cm id="{1426DF27-8C06-7344-AA3B-3A634106E48D}" authorId="{F25325AE-EB85-6CE7-4E2F-C266DB8ED5D0}" created="2025-11-04T00:44:44.875">
    <pc:sldMkLst xmlns:pc="http://schemas.microsoft.com/office/powerpoint/2013/main/command">
      <pc:docMk/>
      <pc:sldMk cId="678026984" sldId="337"/>
    </pc:sldMkLst>
    <p188:txBody>
      <a:bodyPr/>
      <a:lstStyle/>
      <a:p>
        <a:r>
          <a:rPr lang="en-US"/>
          <a:t>@Alex - can we make all the detailers a bit less direct. For example- Dan may have less natural tendency around coordination etc 
In the next one- he could be less inclined for…..
[@Alex Kopitsas] </a:t>
        </a:r>
      </a:p>
    </p188:txBody>
    <p188:extLst>
      <p:ext xmlns:p="http://schemas.openxmlformats.org/presentationml/2006/main" uri="{57CB4572-C831-44C2-8A1C-0ADB6CCDFE69}">
        <p223:reactions xmlns:p223="http://schemas.microsoft.com/office/powerpoint/2022/03/main">
          <p223:rxn type="👍">
            <p223:instance time="2025-11-04T07:21:33.207" authorId="{882E5139-7F59-4FF3-1519-A6F860DBA01A}"/>
          </p223:rxn>
        </p223:reactions>
      </p:ext>
    </p188:extLst>
  </p188:cm>
</p188:cmLst>
</file>

<file path=ppt/comments/modernComment_156_F29C4BE3.xml><?xml version="1.0" encoding="utf-8"?>
<p188:cmLst xmlns:a="http://schemas.openxmlformats.org/drawingml/2006/main" xmlns:r="http://schemas.openxmlformats.org/officeDocument/2006/relationships" xmlns:p188="http://schemas.microsoft.com/office/powerpoint/2018/8/main">
  <p188:cm id="{BC7FC670-8DB8-E841-A4EB-F01F2F37E86E}" authorId="{F25325AE-EB85-6CE7-4E2F-C266DB8ED5D0}" created="2025-11-06T22:28:51.805">
    <pc:sldMkLst xmlns:pc="http://schemas.microsoft.com/office/powerpoint/2013/main/command">
      <pc:docMk/>
      <pc:sldMk cId="1343323347" sldId="342"/>
    </pc:sldMkLst>
    <p188:txBody>
      <a:bodyPr/>
      <a:lstStyle/>
      <a:p>
        <a:r>
          <a:rPr lang="en-US"/>
          <a:t>Lets talk about these wordings....i think you can say that his over use of his good network in AD creates a distrust. I cant say that his peers had a problem with him...lets rework the last 2 sentences. 
Typo of "his"
[@Alex Kopitsas] </a:t>
        </a:r>
      </a:p>
    </p188:txBody>
  </p188:cm>
</p188:cmLst>
</file>

<file path=ppt/comments/modernComment_165_74A6DE4D.xml><?xml version="1.0" encoding="utf-8"?>
<p188:cmLst xmlns:a="http://schemas.openxmlformats.org/drawingml/2006/main" xmlns:r="http://schemas.openxmlformats.org/officeDocument/2006/relationships" xmlns:p188="http://schemas.microsoft.com/office/powerpoint/2018/8/main">
  <p188:cm id="{37729719-28AB-BB44-8A00-DDF9DCB0DC86}" authorId="{F25325AE-EB85-6CE7-4E2F-C266DB8ED5D0}" created="2025-11-03T19:12:26.230">
    <pc:sldMkLst xmlns:pc="http://schemas.microsoft.com/office/powerpoint/2013/main/command">
      <pc:docMk/>
      <pc:sldMk cId="3077820901" sldId="357"/>
    </pc:sldMkLst>
    <p188:txBody>
      <a:bodyPr/>
      <a:lstStyle/>
      <a:p>
        <a:r>
          <a:rPr lang="en-US"/>
          <a:t>[@Alex Kopitsas] - lets remove integration on heading for 2nd para. Unless you tell me they are integrating- i guess they need to work closely but front office will have to be sepsrate. </a:t>
        </a:r>
      </a:p>
    </p188:txBody>
    <p188:extLst>
      <p:ext xmlns:p="http://schemas.openxmlformats.org/presentationml/2006/main" uri="{57CB4572-C831-44C2-8A1C-0ADB6CCDFE69}">
        <p223:reactions xmlns:p223="http://schemas.microsoft.com/office/powerpoint/2022/03/main">
          <p223:rxn type="👍">
            <p223:instance time="2025-11-07T06:20:21.568" authorId="{882E5139-7F59-4FF3-1519-A6F860DBA01A}"/>
          </p223:rxn>
        </p223:reactions>
      </p:ext>
    </p188:extLst>
  </p188:cm>
</p188:cmLst>
</file>

<file path=ppt/comments/modernComment_168_E9B1DBCB.xml><?xml version="1.0" encoding="utf-8"?>
<p188:cmLst xmlns:a="http://schemas.openxmlformats.org/drawingml/2006/main" xmlns:r="http://schemas.openxmlformats.org/officeDocument/2006/relationships" xmlns:p188="http://schemas.microsoft.com/office/powerpoint/2018/8/main">
  <p188:cm id="{1547FBD3-EEA6-412A-AADE-00E608C7903F}" authorId="{F25325AE-EB85-6CE7-4E2F-C266DB8ED5D0}" created="2025-10-29T21:30:41.585" startDate="2025-10-30T03:42:57.883" dueDate="2025-10-30T03:42:57.883" assignedTo="{F25325AE-EB85-6CE7-4E2F-C266DB8ED5D0}" title="@Shefali Salwan Vimal: Ahmed mentioned that Vimal’s probation was extended because he had not yet passed the required regulatory (ESCA) exams, and that support and mentoring were provided to help him achieve this. ">
    <pc:sldMkLst xmlns:pc="http://schemas.microsoft.com/office/powerpoint/2013/main/command">
      <pc:docMk/>
      <pc:sldMk cId="3920747467" sldId="360"/>
    </pc:sldMkLst>
    <p188:replyLst>
      <p188:reply id="{F91C617E-8BD3-1543-8DF9-98A9E8D33F13}" authorId="{882E5139-7F59-4FF3-1519-A6F860DBA01A}" created="2025-10-30T03:42:57.870">
        <p188:txBody>
          <a:bodyPr/>
          <a:lstStyle/>
          <a:p>
            <a:r>
              <a:rPr lang="en-US"/>
              <a:t>[@Shefali Salwan] Vimal: Ahmed  mentioned that Vimal’s probation was extended because he had not yet passed the required regulatory (ESCA) exams, and that support and mentoring were provided to help him achieve this. </a:t>
            </a:r>
          </a:p>
        </p188:txBody>
      </p188:reply>
    </p188:replyLst>
    <p188:txBody>
      <a:bodyPr/>
      <a:lstStyle/>
      <a:p>
        <a:r>
          <a:rPr lang="en-US"/>
          <a:t>[@Alex Kopitsas] - who missed the passing of the regulatory exam&gt;|?</a:t>
        </a:r>
      </a:p>
    </p188:txBody>
    <p188:extLst>
      <p:ext xmlns:p="http://schemas.openxmlformats.org/presentationml/2006/main" uri="{5BB2D875-25FF-4072-B9AC-8F64D62656EB}">
        <p228:taskDetails xmlns:p228="http://schemas.microsoft.com/office/powerpoint/2022/08/main">
          <p228:history>
            <p228:event time="2025-10-30T03:42:57.883" id="{16C17A01-C9F8-3946-8FEA-CFB983470CF9}">
              <p228:atrbtn authorId="{882E5139-7F59-4FF3-1519-A6F860DBA01A}"/>
              <p228:anchr>
                <p228:comment id="{F91C617E-8BD3-1543-8DF9-98A9E8D33F13}"/>
              </p228:anchr>
              <p228:add/>
            </p228:event>
            <p228:event time="2025-10-30T03:42:57.883" id="{DAF8D426-85DF-B948-9417-94208C35FF8A}">
              <p228:atrbtn authorId="{882E5139-7F59-4FF3-1519-A6F860DBA01A}"/>
              <p228:anchr>
                <p228:comment id="{F91C617E-8BD3-1543-8DF9-98A9E8D33F13}"/>
              </p228:anchr>
              <p228:asgn authorId="{F25325AE-EB85-6CE7-4E2F-C266DB8ED5D0}"/>
            </p228:event>
            <p228:event time="2025-10-30T03:42:57.883" id="{5E6ADF05-368F-0046-88AE-44B176A2ED97}">
              <p228:atrbtn authorId="{882E5139-7F59-4FF3-1519-A6F860DBA01A}"/>
              <p228:anchr>
                <p228:comment id="{F91C617E-8BD3-1543-8DF9-98A9E8D33F13}"/>
              </p228:anchr>
              <p228:date stDt="2025-10-30T03:42:57.883" endDt="2025-10-30T03:42:57.883"/>
            </p228:event>
            <p228:event time="2025-10-30T03:42:57.883" id="{9488053F-D315-064B-9BEC-5A5EEFA818A7}">
              <p228:atrbtn authorId="{882E5139-7F59-4FF3-1519-A6F860DBA01A}"/>
              <p228:anchr>
                <p228:comment id="{F91C617E-8BD3-1543-8DF9-98A9E8D33F13}"/>
              </p228:anchr>
              <p228:title val="@Shefali Salwan Vimal: Ahmed mentioned that Vimal’s probation was extended because he had not yet passed the required regulatory (ESCA) exams, and that support and mentoring were provided to help him achieve this. "/>
            </p228:event>
          </p228:history>
        </p228:taskDetails>
      </p:ext>
    </p188:extLst>
  </p188:cm>
  <p188:cm id="{79E3F236-C7DA-4C00-B484-637DA08F3648}" authorId="{F25325AE-EB85-6CE7-4E2F-C266DB8ED5D0}" created="2025-11-07T00:59:51.572">
    <pc:sldMkLst xmlns:pc="http://schemas.microsoft.com/office/powerpoint/2013/main/command">
      <pc:docMk/>
      <pc:sldMk cId="3920747467" sldId="360"/>
    </pc:sldMkLst>
    <p188:txBody>
      <a:bodyPr/>
      <a:lstStyle/>
      <a:p>
        <a:r>
          <a:rPr lang="en-US"/>
          <a:t>@ludovic team is very sparse anf they are not seen or visible ? can u check ur notes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Google Shape;3;n">
            <a:extLst>
              <a:ext uri="{FF2B5EF4-FFF2-40B4-BE49-F238E27FC236}">
                <a16:creationId xmlns:a16="http://schemas.microsoft.com/office/drawing/2014/main" id="{C747F5E3-E310-2474-45E1-EBF8E884DB1F}"/>
              </a:ext>
            </a:extLst>
          </p:cNvPr>
          <p:cNvSpPr txBox="1">
            <a:spLocks noGrp="1" noChangeArrowheads="1"/>
          </p:cNvSpPr>
          <p:nvPr>
            <p:ph type="hdr" idx="2"/>
          </p:nvPr>
        </p:nvSpPr>
        <p:spPr bwMode="auto">
          <a:xfrm>
            <a:off x="0" y="0"/>
            <a:ext cx="2971800" cy="458788"/>
          </a:xfrm>
          <a:prstGeom prst="rect">
            <a:avLst/>
          </a:prstGeom>
          <a:noFill/>
          <a:ln>
            <a:noFill/>
          </a:ln>
        </p:spPr>
        <p:txBody>
          <a:bodyPr vert="horz" wrap="square" lIns="91425" tIns="45700" rIns="91425" bIns="45700" numCol="1" anchor="t" anchorCtr="0" compatLnSpc="1">
            <a:prstTxWarp prst="textNoShape">
              <a:avLst/>
            </a:prstTxWarp>
          </a:bodyPr>
          <a:lstStyle>
            <a:lvl1pPr eaLnBrk="1" hangingPunct="1">
              <a:buClr>
                <a:srgbClr val="000000"/>
              </a:buClr>
              <a:buSzPts val="1400"/>
              <a:buFont typeface="Arial" panose="020B0604020202020204" pitchFamily="34" charset="0"/>
              <a:buNone/>
              <a:defRPr sz="1200"/>
            </a:lvl1pPr>
          </a:lstStyle>
          <a:p>
            <a:pPr>
              <a:defRPr/>
            </a:pPr>
            <a:endParaRPr lang="en-US" altLang="en-US"/>
          </a:p>
        </p:txBody>
      </p:sp>
      <p:sp>
        <p:nvSpPr>
          <p:cNvPr id="27651" name="Google Shape;4;n">
            <a:extLst>
              <a:ext uri="{FF2B5EF4-FFF2-40B4-BE49-F238E27FC236}">
                <a16:creationId xmlns:a16="http://schemas.microsoft.com/office/drawing/2014/main" id="{849D85B2-8C9B-5386-20D8-D820134F8593}"/>
              </a:ext>
            </a:extLst>
          </p:cNvPr>
          <p:cNvSpPr txBox="1">
            <a:spLocks noGrp="1" noChangeArrowheads="1"/>
          </p:cNvSpPr>
          <p:nvPr>
            <p:ph type="dt" idx="10"/>
          </p:nvPr>
        </p:nvSpPr>
        <p:spPr bwMode="auto">
          <a:xfrm>
            <a:off x="3884613" y="0"/>
            <a:ext cx="2971800" cy="458788"/>
          </a:xfrm>
          <a:prstGeom prst="rect">
            <a:avLst/>
          </a:prstGeom>
          <a:noFill/>
          <a:ln>
            <a:noFill/>
          </a:ln>
        </p:spPr>
        <p:txBody>
          <a:bodyPr vert="horz" wrap="square" lIns="91425" tIns="45700" rIns="91425" bIns="45700" numCol="1" anchor="t" anchorCtr="0" compatLnSpc="1">
            <a:prstTxWarp prst="textNoShape">
              <a:avLst/>
            </a:prstTxWarp>
          </a:bodyPr>
          <a:lstStyle>
            <a:lvl1pPr algn="r" eaLnBrk="1" hangingPunct="1">
              <a:buClr>
                <a:srgbClr val="000000"/>
              </a:buClr>
              <a:buSzPts val="1400"/>
              <a:buFont typeface="Arial" panose="020B0604020202020204" pitchFamily="34" charset="0"/>
              <a:buNone/>
              <a:defRPr sz="1200"/>
            </a:lvl1pPr>
          </a:lstStyle>
          <a:p>
            <a:pPr>
              <a:defRPr/>
            </a:pPr>
            <a:endParaRPr lang="en-US" altLang="en-US"/>
          </a:p>
        </p:txBody>
      </p:sp>
      <p:sp>
        <p:nvSpPr>
          <p:cNvPr id="18436" name="Google Shape;5;n">
            <a:extLst>
              <a:ext uri="{FF2B5EF4-FFF2-40B4-BE49-F238E27FC236}">
                <a16:creationId xmlns:a16="http://schemas.microsoft.com/office/drawing/2014/main" id="{50BDCF69-CC3D-BBE4-29AC-868286F5B10F}"/>
              </a:ext>
            </a:extLst>
          </p:cNvPr>
          <p:cNvSpPr>
            <a:spLocks noGrp="1" noRot="1" noChangeAspect="1"/>
          </p:cNvSpPr>
          <p:nvPr>
            <p:ph type="sldImg" idx="3"/>
          </p:nvPr>
        </p:nvSpPr>
        <p:spPr bwMode="auto">
          <a:xfrm>
            <a:off x="685800" y="1143000"/>
            <a:ext cx="5486400" cy="3086100"/>
          </a:xfrm>
          <a:custGeom>
            <a:avLst/>
            <a:gdLst>
              <a:gd name="T0" fmla="*/ 0 w 120000"/>
              <a:gd name="T1" fmla="*/ 0 h 120000"/>
              <a:gd name="T2" fmla="*/ 250838208 w 120000"/>
              <a:gd name="T3" fmla="*/ 0 h 120000"/>
              <a:gd name="T4" fmla="*/ 250838208 w 120000"/>
              <a:gd name="T5" fmla="*/ 79366777 h 120000"/>
              <a:gd name="T6" fmla="*/ 0 w 120000"/>
              <a:gd name="T7" fmla="*/ 79366777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12700" cap="flat"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sp>
      <p:sp>
        <p:nvSpPr>
          <p:cNvPr id="18437" name="Google Shape;6;n">
            <a:extLst>
              <a:ext uri="{FF2B5EF4-FFF2-40B4-BE49-F238E27FC236}">
                <a16:creationId xmlns:a16="http://schemas.microsoft.com/office/drawing/2014/main" id="{A00E1B26-4968-63FE-B786-19EF92C6380E}"/>
              </a:ext>
            </a:extLst>
          </p:cNvPr>
          <p:cNvSpPr txBox="1">
            <a:spLocks noGrp="1" noChangeArrowheads="1"/>
          </p:cNvSpPr>
          <p:nvPr>
            <p:ph type="body" idx="1"/>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t" anchorCtr="0" compatLnSpc="1">
            <a:prstTxWarp prst="textNoShape">
              <a:avLst/>
            </a:prstTxWarp>
          </a:bodyPr>
          <a:lstStyle/>
          <a:p>
            <a:pPr lvl="0"/>
            <a:endParaRPr lang="en-US" altLang="en-US">
              <a:sym typeface="Arial" panose="020B0604020202020204" pitchFamily="34" charset="0"/>
            </a:endParaRPr>
          </a:p>
        </p:txBody>
      </p:sp>
      <p:sp>
        <p:nvSpPr>
          <p:cNvPr id="27654" name="Google Shape;7;n">
            <a:extLst>
              <a:ext uri="{FF2B5EF4-FFF2-40B4-BE49-F238E27FC236}">
                <a16:creationId xmlns:a16="http://schemas.microsoft.com/office/drawing/2014/main" id="{FD1A054D-7113-32A5-E45D-27F4610F6E3A}"/>
              </a:ext>
            </a:extLst>
          </p:cNvPr>
          <p:cNvSpPr txBox="1">
            <a:spLocks noGrp="1" noChangeArrowheads="1"/>
          </p:cNvSpPr>
          <p:nvPr>
            <p:ph type="ftr" idx="11"/>
          </p:nvPr>
        </p:nvSpPr>
        <p:spPr bwMode="auto">
          <a:xfrm>
            <a:off x="0" y="8685213"/>
            <a:ext cx="2971800" cy="458787"/>
          </a:xfrm>
          <a:prstGeom prst="rect">
            <a:avLst/>
          </a:prstGeom>
          <a:noFill/>
          <a:ln>
            <a:noFill/>
          </a:ln>
        </p:spPr>
        <p:txBody>
          <a:bodyPr vert="horz" wrap="square" lIns="91425" tIns="45700" rIns="91425" bIns="45700" numCol="1" anchor="b" anchorCtr="0" compatLnSpc="1">
            <a:prstTxWarp prst="textNoShape">
              <a:avLst/>
            </a:prstTxWarp>
          </a:bodyPr>
          <a:lstStyle>
            <a:lvl1pPr eaLnBrk="1" hangingPunct="1">
              <a:buClr>
                <a:srgbClr val="000000"/>
              </a:buClr>
              <a:buSzPts val="1400"/>
              <a:buFont typeface="Arial" panose="020B0604020202020204" pitchFamily="34" charset="0"/>
              <a:buNone/>
              <a:defRPr sz="1200"/>
            </a:lvl1pPr>
          </a:lstStyle>
          <a:p>
            <a:pPr>
              <a:defRPr/>
            </a:pPr>
            <a:endParaRPr lang="en-US" altLang="en-US"/>
          </a:p>
        </p:txBody>
      </p:sp>
      <p:sp>
        <p:nvSpPr>
          <p:cNvPr id="27655" name="Google Shape;8;n">
            <a:extLst>
              <a:ext uri="{FF2B5EF4-FFF2-40B4-BE49-F238E27FC236}">
                <a16:creationId xmlns:a16="http://schemas.microsoft.com/office/drawing/2014/main" id="{47A9CFD2-8F35-CE7D-8A30-2B0FD8807ED5}"/>
              </a:ext>
            </a:extLst>
          </p:cNvPr>
          <p:cNvSpPr txBox="1">
            <a:spLocks noGrp="1" noChangeArrowheads="1"/>
          </p:cNvSpPr>
          <p:nvPr>
            <p:ph type="sldNum" idx="12"/>
          </p:nvPr>
        </p:nvSpPr>
        <p:spPr bwMode="auto">
          <a:xfrm>
            <a:off x="3884613" y="8685213"/>
            <a:ext cx="2971800" cy="458787"/>
          </a:xfrm>
          <a:prstGeom prst="rect">
            <a:avLst/>
          </a:prstGeom>
          <a:noFill/>
          <a:ln>
            <a:noFill/>
          </a:ln>
        </p:spPr>
        <p:txBody>
          <a:bodyPr vert="horz" wrap="square" lIns="91425" tIns="45700" rIns="91425" bIns="45700" numCol="1" anchor="b" anchorCtr="0" compatLnSpc="1">
            <a:prstTxWarp prst="textNoShape">
              <a:avLst/>
            </a:prstTxWarp>
          </a:bodyPr>
          <a:lstStyle>
            <a:lvl1pPr algn="r" eaLnBrk="1" hangingPunct="1">
              <a:buClr>
                <a:srgbClr val="000000"/>
              </a:buClr>
              <a:buFont typeface="Arial" panose="020B0604020202020204" pitchFamily="34" charset="0"/>
              <a:buNone/>
              <a:defRPr sz="1200"/>
            </a:lvl1pPr>
          </a:lstStyle>
          <a:p>
            <a:pPr>
              <a:defRPr/>
            </a:pPr>
            <a:fld id="{1CF4870A-202E-A74F-95B7-86B7EE8DBA94}" type="slidenum">
              <a:rPr lang="en-US" altLang="en-US"/>
              <a:pPr>
                <a:defRPr/>
              </a:pPr>
              <a:t>‹#›</a:t>
            </a:fld>
            <a:endParaRPr lang="en-US" altLang="en-US"/>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L="457200"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marL="914400" lvl="1"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marL="1371600" lvl="2"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marL="1828800" lvl="3"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marL="2286000" lvl="4" indent="-22860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97814-784F-39C3-5B26-36914935DF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5FFE87-55D3-EFE9-536A-7ECAE27A7F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036458-7D40-D031-B49C-BE4B04803235}"/>
              </a:ext>
            </a:extLst>
          </p:cNvPr>
          <p:cNvSpPr>
            <a:spLocks noGrp="1"/>
          </p:cNvSpPr>
          <p:nvPr>
            <p:ph type="body" idx="1"/>
          </p:nvPr>
        </p:nvSpPr>
        <p:spPr/>
        <p:txBody>
          <a:bodyPr/>
          <a:lstStyle/>
          <a:p>
            <a:pPr marL="0" indent="0">
              <a:buNone/>
            </a:pPr>
            <a:endParaRPr lang="en-US" b="0"/>
          </a:p>
        </p:txBody>
      </p:sp>
      <p:sp>
        <p:nvSpPr>
          <p:cNvPr id="4" name="Slide Number Placeholder 3">
            <a:extLst>
              <a:ext uri="{FF2B5EF4-FFF2-40B4-BE49-F238E27FC236}">
                <a16:creationId xmlns:a16="http://schemas.microsoft.com/office/drawing/2014/main" id="{94F68910-99F3-C51D-91F4-5D346762A10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6EB8CE-2F32-49FF-9DA5-2F9394664279}" type="slidenum">
              <a:rPr kumimoji="0" lang="en-US" sz="1200" b="0" i="0" u="none" strike="noStrike" kern="1200" cap="none" spc="0" normalizeH="0" baseline="0" noProof="0" smtClean="0">
                <a:ln>
                  <a:noFill/>
                </a:ln>
                <a:solidFill>
                  <a:prstClr val="black"/>
                </a:solidFill>
                <a:effectLst/>
                <a:uLnTx/>
                <a:uFillTx/>
                <a:latin typeface="Lato" panose="020F0502020204030203" pitchFamily="34"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Lato" panose="020F0502020204030203" pitchFamily="34" charset="77"/>
              <a:ea typeface="+mn-ea"/>
              <a:cs typeface="+mn-cs"/>
            </a:endParaRPr>
          </a:p>
        </p:txBody>
      </p:sp>
      <p:sp>
        <p:nvSpPr>
          <p:cNvPr id="5" name="Header Placeholder 4">
            <a:extLst>
              <a:ext uri="{FF2B5EF4-FFF2-40B4-BE49-F238E27FC236}">
                <a16:creationId xmlns:a16="http://schemas.microsoft.com/office/drawing/2014/main" id="{DAD177E8-08E5-895C-70AE-D9E332CC7F08}"/>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Lato" panose="020F0502020204030203" pitchFamily="34" charset="77"/>
                <a:ea typeface="+mn-ea"/>
                <a:cs typeface="+mn-cs"/>
              </a:rPr>
              <a:t>Confidential – Do not Circulate</a:t>
            </a:r>
          </a:p>
        </p:txBody>
      </p:sp>
    </p:spTree>
    <p:extLst>
      <p:ext uri="{BB962C8B-B14F-4D97-AF65-F5344CB8AC3E}">
        <p14:creationId xmlns:p14="http://schemas.microsoft.com/office/powerpoint/2010/main" val="1793402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CEE5D-C215-6EF0-1F59-BEEBC7D60B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DB350B-9EDB-DF77-E989-2855A672D1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DE5082-A9EA-DFC1-F55E-CDED4334A28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F2D4667-68A7-7EA7-3B14-C3BBD1EAB875}"/>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281598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1AD94-7167-DB7D-D551-10D2B045F5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9B393-CA6B-872C-9F8D-108EE64C3D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16FBA7-5045-E992-6712-A8FACA8E7DF5}"/>
              </a:ext>
            </a:extLst>
          </p:cNvPr>
          <p:cNvSpPr>
            <a:spLocks noGrp="1"/>
          </p:cNvSpPr>
          <p:nvPr>
            <p:ph type="body" idx="1"/>
          </p:nvPr>
        </p:nvSpPr>
        <p:spPr/>
        <p:txBody>
          <a:bodyPr/>
          <a:lstStyle/>
          <a:p>
            <a:br>
              <a:rPr lang="en-US"/>
            </a:br>
            <a:endParaRPr lang="en-US"/>
          </a:p>
        </p:txBody>
      </p:sp>
      <p:sp>
        <p:nvSpPr>
          <p:cNvPr id="4" name="Slide Number Placeholder 3">
            <a:extLst>
              <a:ext uri="{FF2B5EF4-FFF2-40B4-BE49-F238E27FC236}">
                <a16:creationId xmlns:a16="http://schemas.microsoft.com/office/drawing/2014/main" id="{F73FF40E-B245-6832-A49A-0B6358D10966}"/>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666455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86257-B3F2-9296-9BB1-D7FF3D20E1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B29198-1BE4-3D6E-1B29-92F3D1D6B7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A19A88-2A89-430F-837D-2ACB510292B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4B38E6-78B0-372E-AD86-1987A4D67303}"/>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280786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9DDD3-C27B-BCB6-E714-B63C35C48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05272F-5304-A6D6-2D70-A6DC95776A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89A8AA-B232-C6A4-FE85-C717B5B90D3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19CE4F2-C6AA-84AB-83DA-1867B4130E00}"/>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1020592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9FAA9-55A9-0DE9-9A55-F78498A5C8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EF5FFE-6065-4259-DDCD-5555DAD40C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DE56B1-D96D-DE9E-830D-0F0CCA35591C}"/>
              </a:ext>
            </a:extLst>
          </p:cNvPr>
          <p:cNvSpPr>
            <a:spLocks noGrp="1"/>
          </p:cNvSpPr>
          <p:nvPr>
            <p:ph type="body" idx="1"/>
          </p:nvPr>
        </p:nvSpPr>
        <p:spPr/>
        <p:txBody>
          <a:bodyPr/>
          <a:lstStyle/>
          <a:p>
            <a:pPr marL="171450" indent="-171450" algn="l">
              <a:buFont typeface="Arial" panose="020B0604020202020204" pitchFamily="34" charset="0"/>
              <a:buChar char="•"/>
              <a:defRPr/>
            </a:pPr>
            <a:endParaRPr lang="en-US"/>
          </a:p>
        </p:txBody>
      </p:sp>
      <p:sp>
        <p:nvSpPr>
          <p:cNvPr id="4" name="Slide Number Placeholder 3">
            <a:extLst>
              <a:ext uri="{FF2B5EF4-FFF2-40B4-BE49-F238E27FC236}">
                <a16:creationId xmlns:a16="http://schemas.microsoft.com/office/drawing/2014/main" id="{8DE43BDA-A9BE-FC0E-B44B-3103D40423F7}"/>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569731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5D5CB-6EF4-FEE4-5840-5094DD788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DA8A79-BD8F-C2CD-6FE2-9F47F3C85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00855C-993C-F99F-6CBC-ED25C33551D0}"/>
              </a:ext>
            </a:extLst>
          </p:cNvPr>
          <p:cNvSpPr>
            <a:spLocks noGrp="1"/>
          </p:cNvSpPr>
          <p:nvPr>
            <p:ph type="body" idx="1"/>
          </p:nvPr>
        </p:nvSpPr>
        <p:spPr/>
        <p:txBody>
          <a:bodyPr/>
          <a:lstStyle/>
          <a:p>
            <a:pPr marL="171450" indent="-171450" algn="l">
              <a:buFont typeface="Arial" panose="020B0604020202020204" pitchFamily="34" charset="0"/>
              <a:buChar char="•"/>
              <a:defRPr/>
            </a:pPr>
            <a:endParaRPr lang="en-US"/>
          </a:p>
        </p:txBody>
      </p:sp>
      <p:sp>
        <p:nvSpPr>
          <p:cNvPr id="4" name="Slide Number Placeholder 3">
            <a:extLst>
              <a:ext uri="{FF2B5EF4-FFF2-40B4-BE49-F238E27FC236}">
                <a16:creationId xmlns:a16="http://schemas.microsoft.com/office/drawing/2014/main" id="{BB0D316B-9B62-66BB-9F55-7055EE5D1D8D}"/>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0476538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D7C5D-6AA9-94E3-A2D5-AE33276BA5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7FF243-8D52-82AF-8FA0-3E0A177D40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4E8EED-D27E-4DD7-EB5E-214341EEC0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CBA04A3-DB9F-4059-C1CC-408D925CE4E2}"/>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7067428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531E7-EDD2-A839-46F8-1DC45E0B83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98418A-793E-97FA-DA69-E128377684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72B163-9A8C-CE7A-6000-04E03E0A41A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F2CE2A9-9AEC-0D81-334A-2D33C99EF1B4}"/>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10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8811583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69340-3DB7-4EEC-1D3E-19A4183D79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3485C1-A4BA-0607-4AB6-6EF1E512BC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369F19-991B-1FE6-A2A1-7DADF65CCA0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EEEDA3A-E86C-B9A2-D445-BD76744B1132}"/>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12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3964761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7FA9B-3A50-C00E-CD3C-F40E3980EB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8B96E4-CD6B-2EFE-BB98-4C8114055B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B58DB9-F557-8D41-2CBD-6961279E036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3838B2F-11F1-02EE-6E96-ABCFD0C14FD9}"/>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13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747661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7F2CF-A239-CEC4-59F5-FED65E8CB9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EB6D9-3A5D-EC69-4B6C-3A5F7A18A8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21C99E-25CE-4505-7F51-F373BB73BFE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28AC48-CC80-542E-0093-22B080E0E0E3}"/>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14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954232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FAA41-09AA-FEEF-C290-69F16FF33A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6675C1-BBD8-A313-A610-37B117A7DD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0EE243-2DBA-C3B8-E813-23CB4B0BA73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925705-A579-3297-5A35-24F775AD24D9}"/>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15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3033045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73F49-E95F-CEC6-FCD9-E906FB83CD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84502F-F93D-73F2-6CD9-2AC3987824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A45C3D-15A7-B499-722E-D638841F49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807BEC5-46E7-67F5-928B-AEFB44846D61}"/>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16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9380162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C4D94-7CAF-CF8E-1EAD-6CFBF3DF00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064441-CEB0-4258-38F8-655AE785FC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78289C-9E09-FB2B-4EF5-4E5B383A93F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82635F7-EDE8-102A-D393-746742E0B473}"/>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18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8320777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9D6F9-2EA8-59AA-B183-CD3E5CD852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44A951-0173-B709-64B8-7A904AE4FB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B0E8B-6A0F-A2C9-379B-76F8EB28A5A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95BED3D-7327-2B90-5593-7AD9D6296842}"/>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19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9904181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61530-5DA3-7E07-910E-F8CD38D704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D8F01C-19A3-13E2-833E-FC7BB8FA65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13B0F1-4F5F-B3AF-CE2E-B39326D9AB1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90D3743-782A-1AFE-EE4A-84459C32A178}"/>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20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1604758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D33E7-272D-6E9A-35A8-EFD3539BB4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A7967-C792-02DF-CA49-26C103C7F1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C759B0-FC95-02EE-8942-5EC3088B25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D9581E7-00B0-3B90-2659-FECBF8FF855F}"/>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23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2204289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894AF-E429-EABC-0D91-F3594B29F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0EC3B0-751F-E3F9-7EE6-2AA4C3FAB1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59267D-8B33-4D02-E2DE-5424E06D85F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03BA6AA-F581-F5FE-E2A8-9AA28FDAB6D6}"/>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24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648861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CA59B-24D4-06B5-84C4-421DCBDE2D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3889C3-30C4-1E10-C5E0-567C24AD12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3822C1-A14D-08A5-966A-185569E466C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C3766F2-17AD-FA3D-07C5-9267BF038144}"/>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25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0082501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4EBB0-EC64-E860-048E-B5AAA3CA78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557AE2-DE5A-033B-EEDB-5DDDDCDE3B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6178BE-5DF7-B72E-CA29-19B456AB4F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3D7A8C3-E79E-CE26-02B4-6B9C3A59A42D}"/>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26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805439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41660-897C-7BCB-26A9-4F5921D67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C733A-7213-A7BE-DFC3-BEF3BA4DC2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77117E-9384-E544-B123-5420023A5537}"/>
              </a:ext>
            </a:extLst>
          </p:cNvPr>
          <p:cNvSpPr>
            <a:spLocks noGrp="1"/>
          </p:cNvSpPr>
          <p:nvPr>
            <p:ph type="body" idx="1"/>
          </p:nvPr>
        </p:nvSpPr>
        <p:spPr/>
        <p:txBody>
          <a:bodyPr/>
          <a:lstStyle/>
          <a:p>
            <a:pPr marL="309880" marR="201930" lvl="0" indent="-171450">
              <a:lnSpc>
                <a:spcPct val="100000"/>
              </a:lnSpc>
              <a:spcBef>
                <a:spcPts val="240"/>
              </a:spcBef>
              <a:buFont typeface="Arial" panose="020B0604020202020204" pitchFamily="34" charset="0"/>
              <a:buChar char="•"/>
            </a:pPr>
            <a:endParaRPr lang="en-US" sz="1400">
              <a:latin typeface="Helvetica Neue"/>
              <a:ea typeface="Helvetica Neue" panose="02000503000000020004" pitchFamily="2" charset="0"/>
              <a:cs typeface="Helvetica Neue" panose="02000503000000020004" pitchFamily="2" charset="0"/>
            </a:endParaRPr>
          </a:p>
          <a:p>
            <a:endParaRPr lang="en-US"/>
          </a:p>
        </p:txBody>
      </p:sp>
      <p:sp>
        <p:nvSpPr>
          <p:cNvPr id="4" name="Slide Number Placeholder 3">
            <a:extLst>
              <a:ext uri="{FF2B5EF4-FFF2-40B4-BE49-F238E27FC236}">
                <a16:creationId xmlns:a16="http://schemas.microsoft.com/office/drawing/2014/main" id="{CA7BAB1C-1059-A693-264E-850CD0F3E75F}"/>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27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7853246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3935A-E9F2-89D2-D3AB-B62E3EE43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C907C7-30CF-2545-1A81-CA61E981AD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6635DC-51F3-1C78-B8F2-E0C767EA6B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147B10-9DAB-2039-173A-31748EBF62A0}"/>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29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089487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B1823-7932-59E8-EF66-B15B4FFE15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0748A5-9FCC-A168-2872-D438412601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CF8916-48B7-A714-A4BE-C08D1134C19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8C5301E-1BB6-7A67-A8A8-A9AC6A04D34F}"/>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30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947654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354ED-C342-06F2-DFAA-6EDE6EF9E9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2E434-2FC5-DB22-7489-2EDCE3B532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2C614-DB10-9453-C9D5-64DBD8ACC26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2C9C616-EF15-1AC2-38F2-B5B0B6226CF7}"/>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31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404988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7337F-5DC5-A991-E4DA-82979226A5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D58170-A674-DD21-120D-386B93B5D0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4535BD-A276-436C-B2A1-E6DA3DC1E2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6D8D21-140B-1E35-4C5D-12A2277ABFF7}"/>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32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3807552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A7083-4CF8-F0F0-604C-8CCD009543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4147BC-99C9-EC03-6A9C-CC7BE2C38A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EAF133-207D-2E36-D76D-CF3B9E79C47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2F34553-8D6C-4B68-00A7-B3B806CA4796}"/>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34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4151760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8C2F0-7FB0-9311-44BA-4249D79F92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5CD038-D47E-367E-975A-E609A70C6B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5D8BAB-74F6-9674-7F4A-274C2BCF087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5DA809A-E75D-85C4-3ACF-6FF933355530}"/>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35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3226918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3595E-2EEC-1BFB-D1CB-B8DAF0BF7D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360052-8E91-E68D-4DAA-975AD84F5C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913701-B47E-39BB-AC73-62972879E9D7}"/>
              </a:ext>
            </a:extLst>
          </p:cNvPr>
          <p:cNvSpPr>
            <a:spLocks noGrp="1"/>
          </p:cNvSpPr>
          <p:nvPr>
            <p:ph type="body" idx="1"/>
          </p:nvPr>
        </p:nvSpPr>
        <p:spPr/>
        <p:txBody>
          <a:bodyPr/>
          <a:lstStyle/>
          <a:p>
            <a:r>
              <a:rPr lang="en-US" sz="1400" b="0" i="0" u="none" strike="noStrike">
                <a:solidFill>
                  <a:srgbClr val="000000"/>
                </a:solidFill>
                <a:effectLst/>
                <a:latin typeface="Arial"/>
                <a:ea typeface="Arial"/>
                <a:cs typeface="Arial"/>
                <a:sym typeface="Arial" panose="020B0604020202020204" pitchFamily="34" charset="0"/>
              </a:rPr>
              <a:t>Head of Risk</a:t>
            </a:r>
            <a:endParaRPr lang="en-US"/>
          </a:p>
        </p:txBody>
      </p:sp>
      <p:sp>
        <p:nvSpPr>
          <p:cNvPr id="4" name="Slide Number Placeholder 3">
            <a:extLst>
              <a:ext uri="{FF2B5EF4-FFF2-40B4-BE49-F238E27FC236}">
                <a16:creationId xmlns:a16="http://schemas.microsoft.com/office/drawing/2014/main" id="{D2362B00-18FC-A9F5-7268-980AEFA78255}"/>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36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899799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2F6D3-5F6C-24A4-853C-2C69240D2B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357A70-700A-9BD5-4B99-D01AB345DA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079830-CF6F-811F-6BEC-F8E713B156E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37B4CB3-C1EC-E829-8FAA-C2E35FE8A94A}"/>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37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2667696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89E06-BF79-4CEA-BEF0-195C7922FA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D0EC2C-C5A9-DE7D-4312-4C39BF2C20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A9AE1F-1100-5BEE-81C4-607C0D441B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C7FAE9C-ACB9-7D37-7365-6C3E79FC1D35}"/>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39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8585189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9C018-2762-1F41-6A05-AFC16F7386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01C08F-3B82-BC74-7E36-834DCA8E0B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15F24E-3C8F-584B-95D0-4F9ABE22FB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166A858-D6CE-2D9B-CB3D-0D225E6B65E1}"/>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40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085147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F39A7-AB58-4797-D4DE-DDDA6F44B5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9D9719-D09B-DB0A-0DA4-A75D3FCB89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9A2E4F-34D6-8D1E-23BF-50EC8F990F6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7C7F657-D6E1-1FF6-E6C7-28A78F0ECB8A}"/>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41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0865837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D62C0-BA1E-3A86-BD98-1EA73BD8DB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535DF3-8ABD-4E68-3A42-858938B259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71F90F-885B-CB0A-7C4D-B4B18BA145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06C2D02-DEED-2A74-1700-EC754D475C11}"/>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42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6143594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8E660-B3C9-E19D-AB0C-C605F29B77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AB8B39-3D65-81B1-B2B5-329A7EE4B3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916738-258A-F6B9-73E4-0A472D096BF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85F67D9-DADF-4B88-D6D7-21C0AB3E29EF}"/>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44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1848694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21A3B-1B98-B1B2-1C0F-F2D7514BA9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F0AC78-7E85-7458-D1CD-863E92B850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EEE0A3-7557-D4FE-A7A9-4393008233D3}"/>
              </a:ext>
            </a:extLst>
          </p:cNvPr>
          <p:cNvSpPr>
            <a:spLocks noGrp="1"/>
          </p:cNvSpPr>
          <p:nvPr>
            <p:ph type="body" idx="1"/>
          </p:nvPr>
        </p:nvSpPr>
        <p:spPr/>
        <p:txBody>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endParaRPr lang="en-US"/>
          </a:p>
        </p:txBody>
      </p:sp>
      <p:sp>
        <p:nvSpPr>
          <p:cNvPr id="4" name="Slide Number Placeholder 3">
            <a:extLst>
              <a:ext uri="{FF2B5EF4-FFF2-40B4-BE49-F238E27FC236}">
                <a16:creationId xmlns:a16="http://schemas.microsoft.com/office/drawing/2014/main" id="{CAFEBB08-E2D3-FB9B-B8C0-9BA0DCACD50A}"/>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45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960105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EC1BF-A68F-5F0F-1860-3CD74F8DCF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11780A-760C-9C89-263A-AE0A25044D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14B8B0-ED0D-1A86-AD9D-829D9DB4FDF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9FC5914-CA53-BCC9-DF76-CACDAB96C9F4}"/>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46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628367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93B98-0975-E85E-F7AA-C831B87899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3AE087-0A7F-525F-D61B-7CAB78B1BB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036937-3818-B497-57CA-79A516D9E42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5C25E45-7918-CF51-9154-12D132BBD5AD}"/>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47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2095774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6AEAD-7FB1-F524-A8AE-21BBE05728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747E6E-77F3-B6D3-EA84-974D445343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E4A671-8263-3F2A-DB24-610FDFB2A7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FF52C3C-4232-F109-B253-7D5C0366A76E}"/>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49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9404390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20F2F-055D-22F2-8E6B-F3170874FB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B17890-3F7E-2C6A-EAFA-B6B29DA962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BC7C8-F28C-D203-CEFF-63D4DCE4108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C93707-5219-5C6A-86A6-04A254C60B51}"/>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50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0434478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F0F32-CB75-9248-F6C3-82F4E7AE2C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1082D6-C109-8E63-CCF5-863F09240A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5EEE15-9CB4-A27D-1104-39CE105E515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CF3296-8325-4889-E97D-676991BB9C82}"/>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51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0343413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5405B-3E62-CE4E-2912-BA116D1A04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5A3810-E8B0-4C2D-A592-FA619600CD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D602ED-CAC3-3A52-61EE-35745CACF81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F7456F7-6B72-5CBB-3C35-CD2023CF98F5}"/>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52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7279947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FF596-32AE-434C-81D4-1CA338A7E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59D58B-0097-BDEC-D182-44F71420E5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6F4A29-2069-126D-A879-1127C06771E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7E7A81F-628F-7474-7D87-A57F52CDE346}"/>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54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8957444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652BE-E55D-45CA-6C70-1E0DE4D87A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B17204-F37F-3E2F-60EB-E31722CE89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333144-5B94-2FD8-0D1F-FC2731732E4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9A1CC7C-D0FF-4C45-C218-F50D9006D46D}"/>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55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9438271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EF0FF-7084-E63C-B195-F46C5F7857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7B7FC7-25FA-FE2D-DB10-E9662374FB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64DC0A-EC5D-BC78-BD6E-2F880C9AF1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8A17151-9C0B-A00E-A700-822F2ED823E3}"/>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56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02811445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3FDE1-D8BB-C354-065D-26B20A9459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A8DD57-1B8A-CC8D-A228-FE9BFAC46F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6A3FC1-C83E-3519-6F6D-67C61ED8E03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5ADDE0F-33B6-DC7E-2B1C-B559D1C4D785}"/>
              </a:ext>
            </a:extLst>
          </p:cNvPr>
          <p:cNvSpPr>
            <a:spLocks noGrp="1"/>
          </p:cNvSpPr>
          <p:nvPr>
            <p:ph type="sldNum" idx="12"/>
          </p:nvPr>
        </p:nvSpPr>
        <p:spPr/>
        <p:txBody>
          <a:bodyPr/>
          <a:lstStyle/>
          <a:p>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1CF4870A-202E-A74F-95B7-86B7EE8DBA94}"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57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1174310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3.xml"/><Relationship Id="rId5" Type="http://schemas.openxmlformats.org/officeDocument/2006/relationships/image" Target="../media/image11.pn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8"/>
        <p:cNvGrpSpPr/>
        <p:nvPr/>
      </p:nvGrpSpPr>
      <p:grpSpPr>
        <a:xfrm>
          <a:off x="0" y="0"/>
          <a:ext cx="0" cy="0"/>
          <a:chOff x="0" y="0"/>
          <a:chExt cx="0" cy="0"/>
        </a:xfrm>
      </p:grpSpPr>
      <p:sp>
        <p:nvSpPr>
          <p:cNvPr id="2" name="Google Shape;29;p15">
            <a:extLst>
              <a:ext uri="{FF2B5EF4-FFF2-40B4-BE49-F238E27FC236}">
                <a16:creationId xmlns:a16="http://schemas.microsoft.com/office/drawing/2014/main" id="{931AB939-90B4-9231-BCD0-3D87079A4171}"/>
              </a:ext>
            </a:extLst>
          </p:cNvPr>
          <p:cNvSpPr>
            <a:spLocks noChangeArrowheads="1"/>
          </p:cNvSpPr>
          <p:nvPr/>
        </p:nvSpPr>
        <p:spPr bwMode="auto">
          <a:xfrm>
            <a:off x="0" y="252413"/>
            <a:ext cx="557213" cy="557212"/>
          </a:xfrm>
          <a:prstGeom prst="rect">
            <a:avLst/>
          </a:prstGeom>
          <a:solidFill>
            <a:srgbClr val="001F5B"/>
          </a:solidFill>
          <a:ln>
            <a:noFill/>
          </a:ln>
        </p:spPr>
        <p:txBody>
          <a:bodyPr lIns="91425" tIns="45700" rIns="91425" bIns="457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endParaRPr lang="en-US" altLang="en-US" sz="1600">
              <a:solidFill>
                <a:srgbClr val="FFFFFF"/>
              </a:solidFill>
              <a:latin typeface="Lato Light" panose="020F0302020204030204" pitchFamily="34" charset="0"/>
              <a:sym typeface="Lato Light" panose="020F0302020204030204" pitchFamily="34" charset="0"/>
            </a:endParaRPr>
          </a:p>
        </p:txBody>
      </p:sp>
      <p:pic>
        <p:nvPicPr>
          <p:cNvPr id="3" name="Picture 2">
            <a:extLst>
              <a:ext uri="{FF2B5EF4-FFF2-40B4-BE49-F238E27FC236}">
                <a16:creationId xmlns:a16="http://schemas.microsoft.com/office/drawing/2014/main" id="{18805CC6-26EC-E84D-832B-3DABF8B1E55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27075" y="6202363"/>
            <a:ext cx="1585913"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88A6490E-FBD2-CFB5-6B09-DA192C6E1E7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34700" y="320675"/>
            <a:ext cx="9525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Google Shape;30;p15"/>
          <p:cNvSpPr txBox="1">
            <a:spLocks noGrp="1"/>
          </p:cNvSpPr>
          <p:nvPr>
            <p:ph type="body" idx="1"/>
          </p:nvPr>
        </p:nvSpPr>
        <p:spPr>
          <a:xfrm>
            <a:off x="726539" y="308795"/>
            <a:ext cx="11160661" cy="45687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Helvetica Neue Light"/>
                <a:ea typeface="Helvetica Neue Light"/>
                <a:cs typeface="Helvetica Neue Light"/>
                <a:sym typeface="Helvetica Neue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 name="Google Shape;31;p15">
            <a:extLst>
              <a:ext uri="{FF2B5EF4-FFF2-40B4-BE49-F238E27FC236}">
                <a16:creationId xmlns:a16="http://schemas.microsoft.com/office/drawing/2014/main" id="{FE999B2B-AE9C-59E3-ACDD-154A319862E3}"/>
              </a:ext>
            </a:extLst>
          </p:cNvPr>
          <p:cNvSpPr txBox="1">
            <a:spLocks noGrp="1" noChangeArrowheads="1"/>
          </p:cNvSpPr>
          <p:nvPr>
            <p:ph type="sldNum" idx="10"/>
          </p:nvPr>
        </p:nvSpPr>
        <p:spPr bwMode="auto">
          <a:xfrm>
            <a:off x="0" y="252413"/>
            <a:ext cx="557213" cy="557212"/>
          </a:xfrm>
          <a:prstGeom prst="rect">
            <a:avLst/>
          </a:prstGeom>
        </p:spPr>
        <p:txBody>
          <a:bodyPr vert="horz" wrap="square" lIns="91425" tIns="45700" rIns="91425" bIns="45700" numCol="1" anchor="ctr" anchorCtr="0" compatLnSpc="1">
            <a:prstTxWarp prst="textNoShape">
              <a:avLst/>
            </a:prstTxWarp>
          </a:bodyPr>
          <a:lstStyle>
            <a:lvl1pPr algn="ctr" eaLnBrk="1" hangingPunct="1">
              <a:buClr>
                <a:srgbClr val="000000"/>
              </a:buClr>
              <a:buFont typeface="Arial" panose="020B0604020202020204" pitchFamily="34" charset="0"/>
              <a:buNone/>
              <a:defRPr sz="1800">
                <a:solidFill>
                  <a:srgbClr val="FFFFFF"/>
                </a:solidFill>
                <a:latin typeface="Helvetica Neue Roman" panose="02000503000000020004" pitchFamily="2" charset="0"/>
                <a:sym typeface="Helvetica Neue" panose="02000503000000020004" pitchFamily="2" charset="0"/>
              </a:defRPr>
            </a:lvl1pPr>
          </a:lstStyle>
          <a:p>
            <a:pPr>
              <a:defRPr/>
            </a:pPr>
            <a:fld id="{A36DE47B-33B2-FE47-B5D6-2FEEF3F18514}" type="slidenum">
              <a:rPr lang="en-US" altLang="en-US"/>
              <a:pPr>
                <a:defRPr/>
              </a:pPr>
              <a:t>‹#›</a:t>
            </a:fld>
            <a:endParaRPr lang="en-US" altLang="en-US"/>
          </a:p>
        </p:txBody>
      </p:sp>
      <p:pic>
        <p:nvPicPr>
          <p:cNvPr id="8" name="Picture 7">
            <a:extLst>
              <a:ext uri="{FF2B5EF4-FFF2-40B4-BE49-F238E27FC236}">
                <a16:creationId xmlns:a16="http://schemas.microsoft.com/office/drawing/2014/main" id="{A177260A-CCF0-A0D6-DAF6-5E17246C4356}"/>
              </a:ext>
            </a:extLst>
          </p:cNvPr>
          <p:cNvPicPr>
            <a:picLocks noChangeAspect="1"/>
          </p:cNvPicPr>
          <p:nvPr userDrawn="1"/>
        </p:nvPicPr>
        <p:blipFill>
          <a:blip r:embed="rId4"/>
          <a:stretch>
            <a:fillRect/>
          </a:stretch>
        </p:blipFill>
        <p:spPr>
          <a:xfrm>
            <a:off x="10663530" y="6150135"/>
            <a:ext cx="915432" cy="415606"/>
          </a:xfrm>
          <a:prstGeom prst="rect">
            <a:avLst/>
          </a:prstGeom>
        </p:spPr>
      </p:pic>
      <p:sp>
        <p:nvSpPr>
          <p:cNvPr id="5" name="TextBox 4">
            <a:extLst>
              <a:ext uri="{FF2B5EF4-FFF2-40B4-BE49-F238E27FC236}">
                <a16:creationId xmlns:a16="http://schemas.microsoft.com/office/drawing/2014/main" id="{EB1C343D-CBEE-A253-F4A0-E3F9EE1C9B29}"/>
              </a:ext>
            </a:extLst>
          </p:cNvPr>
          <p:cNvSpPr txBox="1"/>
          <p:nvPr userDrawn="1"/>
        </p:nvSpPr>
        <p:spPr>
          <a:xfrm>
            <a:off x="8762999" y="1"/>
            <a:ext cx="3580627" cy="252412"/>
          </a:xfrm>
          <a:prstGeom prst="rect">
            <a:avLst/>
          </a:prstGeom>
          <a:noFill/>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4C608C"/>
                </a:solidFill>
                <a:effectLst/>
                <a:uLnTx/>
                <a:uFillTx/>
                <a:latin typeface="Helvetica Neue" panose="02000503000000020004" pitchFamily="2" charset="0"/>
                <a:ea typeface="Helvetica Neue" panose="02000503000000020004" pitchFamily="2" charset="0"/>
                <a:cs typeface="Helvetica Neue" panose="02000503000000020004" pitchFamily="2" charset="0"/>
              </a:rPr>
              <a:t>CONFIDENTIAL |  NOT FOR CIRCULATION</a:t>
            </a:r>
            <a:endParaRPr kumimoji="0" lang="en-GB" sz="1050" b="0" i="0" u="none" strike="noStrike" kern="1200" cap="none" spc="0" normalizeH="0" baseline="0" noProof="0">
              <a:ln>
                <a:noFill/>
              </a:ln>
              <a:solidFill>
                <a:srgbClr val="4C608C"/>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619277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2"/>
        <p:cNvGrpSpPr/>
        <p:nvPr/>
      </p:nvGrpSpPr>
      <p:grpSpPr>
        <a:xfrm>
          <a:off x="0" y="0"/>
          <a:ext cx="0" cy="0"/>
          <a:chOff x="0" y="0"/>
          <a:chExt cx="0" cy="0"/>
        </a:xfrm>
      </p:grpSpPr>
      <p:pic>
        <p:nvPicPr>
          <p:cNvPr id="6" name="Picture 5">
            <a:extLst>
              <a:ext uri="{FF2B5EF4-FFF2-40B4-BE49-F238E27FC236}">
                <a16:creationId xmlns:a16="http://schemas.microsoft.com/office/drawing/2014/main" id="{07FB507E-FC4D-64A8-3D4A-8DB11524CBE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22275" y="439738"/>
            <a:ext cx="962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EB2C5139-5187-068F-D496-41744F63C76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2275" y="6040438"/>
            <a:ext cx="18843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Google Shape;36;p20"/>
          <p:cNvSpPr txBox="1">
            <a:spLocks noGrp="1"/>
          </p:cNvSpPr>
          <p:nvPr>
            <p:ph type="body" idx="1"/>
          </p:nvPr>
        </p:nvSpPr>
        <p:spPr>
          <a:xfrm>
            <a:off x="421930" y="4914976"/>
            <a:ext cx="10859342" cy="73667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5400"/>
              <a:buFont typeface="Arial"/>
              <a:buNone/>
              <a:defRPr sz="5400" b="0" i="0" u="none" strike="noStrike" cap="none">
                <a:solidFill>
                  <a:schemeClr val="dk1"/>
                </a:solidFill>
                <a:latin typeface="Helvetica Neue Roman"/>
                <a:ea typeface="Helvetica Neue Roman"/>
                <a:cs typeface="Helvetica Neue Roman"/>
                <a:sym typeface="Helvetica Neue"/>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20"/>
          <p:cNvSpPr txBox="1">
            <a:spLocks noGrp="1"/>
          </p:cNvSpPr>
          <p:nvPr>
            <p:ph type="body" idx="2"/>
          </p:nvPr>
        </p:nvSpPr>
        <p:spPr>
          <a:xfrm>
            <a:off x="421930" y="5651654"/>
            <a:ext cx="10859342" cy="73667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000"/>
              <a:buFont typeface="Arial"/>
              <a:buNone/>
              <a:defRPr sz="2000" b="0" i="0" u="none" strike="noStrike" cap="none">
                <a:solidFill>
                  <a:schemeClr val="dk1"/>
                </a:solidFill>
                <a:latin typeface="Helvetica Neue Light"/>
                <a:ea typeface="Helvetica Neue Light"/>
                <a:cs typeface="Helvetica Neue Light"/>
                <a:sym typeface="Helvetica Neue Light"/>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2" name="Picture 1" descr="A screenshot of a phone and a tablet&#10;&#10;AI-generated content may be incorrect.">
            <a:extLst>
              <a:ext uri="{FF2B5EF4-FFF2-40B4-BE49-F238E27FC236}">
                <a16:creationId xmlns:a16="http://schemas.microsoft.com/office/drawing/2014/main" id="{DB0D6615-8E74-AF43-4D3E-03C2D1D544D3}"/>
              </a:ext>
            </a:extLst>
          </p:cNvPr>
          <p:cNvPicPr>
            <a:picLocks noChangeAspect="1"/>
          </p:cNvPicPr>
          <p:nvPr userDrawn="1"/>
        </p:nvPicPr>
        <p:blipFill>
          <a:blip r:embed="rId4"/>
          <a:srcRect l="17992" t="3154" r="5535" b="5743"/>
          <a:stretch>
            <a:fillRect/>
          </a:stretch>
        </p:blipFill>
        <p:spPr>
          <a:xfrm>
            <a:off x="5238307" y="-1"/>
            <a:ext cx="6953693" cy="6858001"/>
          </a:xfrm>
          <a:prstGeom prst="rect">
            <a:avLst/>
          </a:prstGeom>
        </p:spPr>
      </p:pic>
    </p:spTree>
    <p:extLst>
      <p:ext uri="{BB962C8B-B14F-4D97-AF65-F5344CB8AC3E}">
        <p14:creationId xmlns:p14="http://schemas.microsoft.com/office/powerpoint/2010/main" val="1279619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F29D7AD-502E-464C-93A2-5D27E5FB5EFB}"/>
              </a:ext>
            </a:extLst>
          </p:cNvPr>
          <p:cNvSpPr/>
          <p:nvPr/>
        </p:nvSpPr>
        <p:spPr>
          <a:xfrm>
            <a:off x="0" y="253040"/>
            <a:ext cx="557048" cy="557048"/>
          </a:xfrm>
          <a:prstGeom prst="rect">
            <a:avLst/>
          </a:prstGeom>
          <a:solidFill>
            <a:srgbClr val="B20B2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b="0" i="0">
              <a:latin typeface="Lato" panose="020F0502020204030203" pitchFamily="34" charset="77"/>
              <a:cs typeface="Calibri" panose="020F0502020204030204" pitchFamily="34" charset="0"/>
            </a:endParaRPr>
          </a:p>
        </p:txBody>
      </p:sp>
      <p:sp>
        <p:nvSpPr>
          <p:cNvPr id="9" name="Holder 4">
            <a:extLst>
              <a:ext uri="{FF2B5EF4-FFF2-40B4-BE49-F238E27FC236}">
                <a16:creationId xmlns:a16="http://schemas.microsoft.com/office/drawing/2014/main" id="{2B37DAE3-CD0A-2649-B6D2-CDF2BE26185F}"/>
              </a:ext>
            </a:extLst>
          </p:cNvPr>
          <p:cNvSpPr>
            <a:spLocks noGrp="1"/>
          </p:cNvSpPr>
          <p:nvPr>
            <p:ph type="ftr" sz="quarter" idx="3"/>
          </p:nvPr>
        </p:nvSpPr>
        <p:spPr>
          <a:xfrm>
            <a:off x="7771314" y="6437073"/>
            <a:ext cx="2812112" cy="266146"/>
          </a:xfrm>
          <a:prstGeom prst="rect">
            <a:avLst/>
          </a:prstGeom>
        </p:spPr>
        <p:txBody>
          <a:bodyPr wrap="square" lIns="0" tIns="0" rIns="0" bIns="0" anchor="ctr">
            <a:noAutofit/>
          </a:bodyPr>
          <a:lstStyle>
            <a:lvl1pPr algn="r">
              <a:defRPr sz="900" b="0" i="0">
                <a:solidFill>
                  <a:schemeClr val="accent3"/>
                </a:solidFill>
                <a:latin typeface="Lato" panose="020F0502020204030203" pitchFamily="34" charset="77"/>
                <a:cs typeface="Calibri" panose="020F0502020204030204" pitchFamily="34" charset="0"/>
              </a:defRPr>
            </a:lvl1pPr>
          </a:lstStyle>
          <a:p>
            <a:r>
              <a:rPr lang="en-US"/>
              <a:t>©2021  |  All rights reserved.</a:t>
            </a:r>
          </a:p>
        </p:txBody>
      </p:sp>
      <p:sp>
        <p:nvSpPr>
          <p:cNvPr id="10" name="Text Placeholder 13">
            <a:extLst>
              <a:ext uri="{FF2B5EF4-FFF2-40B4-BE49-F238E27FC236}">
                <a16:creationId xmlns:a16="http://schemas.microsoft.com/office/drawing/2014/main" id="{74E1E285-7CC1-6B41-95D3-A862C60AC9BA}"/>
              </a:ext>
            </a:extLst>
          </p:cNvPr>
          <p:cNvSpPr>
            <a:spLocks noGrp="1"/>
          </p:cNvSpPr>
          <p:nvPr>
            <p:ph type="body" sz="quarter" idx="10" hasCustomPrompt="1"/>
          </p:nvPr>
        </p:nvSpPr>
        <p:spPr>
          <a:xfrm>
            <a:off x="726539" y="308795"/>
            <a:ext cx="11303879" cy="456878"/>
          </a:xfrm>
          <a:prstGeom prst="rect">
            <a:avLst/>
          </a:prstGeom>
        </p:spPr>
        <p:txBody>
          <a:bodyPr/>
          <a:lstStyle>
            <a:lvl1pPr marL="0" indent="0">
              <a:buNone/>
              <a:defRPr sz="2800" b="0" i="0" spc="300">
                <a:latin typeface="Lato" panose="020F0502020204030203" pitchFamily="34" charset="77"/>
                <a:ea typeface="Lato" panose="020F0502020204030203" pitchFamily="34" charset="77"/>
              </a:defRPr>
            </a:lvl1pPr>
          </a:lstStyle>
          <a:p>
            <a:pPr lvl="0"/>
            <a:r>
              <a:rPr lang="en-US"/>
              <a:t>EDIT MASTER TEXT STYLES</a:t>
            </a:r>
          </a:p>
        </p:txBody>
      </p:sp>
      <p:sp>
        <p:nvSpPr>
          <p:cNvPr id="5" name="Slide Number Placeholder 1">
            <a:extLst>
              <a:ext uri="{FF2B5EF4-FFF2-40B4-BE49-F238E27FC236}">
                <a16:creationId xmlns:a16="http://schemas.microsoft.com/office/drawing/2014/main" id="{042A2C85-AD88-CE4C-B1E6-BC302FC3CC48}"/>
              </a:ext>
            </a:extLst>
          </p:cNvPr>
          <p:cNvSpPr>
            <a:spLocks noGrp="1"/>
          </p:cNvSpPr>
          <p:nvPr>
            <p:ph type="sldNum" sz="quarter" idx="4"/>
          </p:nvPr>
        </p:nvSpPr>
        <p:spPr>
          <a:xfrm>
            <a:off x="6205" y="253040"/>
            <a:ext cx="557048" cy="557048"/>
          </a:xfrm>
          <a:prstGeom prst="rect">
            <a:avLst/>
          </a:prstGeom>
        </p:spPr>
        <p:txBody>
          <a:bodyPr vert="horz" lIns="91440" tIns="45720" rIns="91440" bIns="45720" rtlCol="0" anchor="ctr"/>
          <a:lstStyle>
            <a:lvl1pPr algn="ctr">
              <a:defRPr sz="1800" b="0" i="0">
                <a:solidFill>
                  <a:schemeClr val="bg1"/>
                </a:solidFill>
                <a:latin typeface="Lato" panose="020F0502020204030203" pitchFamily="34" charset="77"/>
                <a:ea typeface="Lato" panose="020F0502020204030203" pitchFamily="34" charset="77"/>
                <a:cs typeface="Calibri" panose="020F0502020204030204" pitchFamily="34" charset="0"/>
              </a:defRPr>
            </a:lvl1pPr>
          </a:lstStyle>
          <a:p>
            <a:fld id="{5F806934-C460-1C47-AF5D-CC9E191BC089}" type="slidenum">
              <a:rPr lang="en-US" smtClean="0"/>
              <a:pPr/>
              <a:t>‹#›</a:t>
            </a:fld>
            <a:endParaRPr lang="en-US"/>
          </a:p>
        </p:txBody>
      </p:sp>
      <p:sp>
        <p:nvSpPr>
          <p:cNvPr id="2" name="Rectangle 2">
            <a:extLst>
              <a:ext uri="{FF2B5EF4-FFF2-40B4-BE49-F238E27FC236}">
                <a16:creationId xmlns:a16="http://schemas.microsoft.com/office/drawing/2014/main" id="{59720AE5-AC60-6149-9FD5-98BF144B6163}"/>
              </a:ext>
            </a:extLst>
          </p:cNvPr>
          <p:cNvSpPr>
            <a:spLocks noChangeArrowheads="1"/>
          </p:cNvSpPr>
          <p:nvPr userDrawn="1"/>
        </p:nvSpPr>
        <p:spPr bwMode="auto">
          <a:xfrm>
            <a:off x="1002535" y="1423171"/>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b="0" i="0">
              <a:latin typeface="Lato" panose="020F0502020204030203" pitchFamily="34" charset="77"/>
            </a:endParaRPr>
          </a:p>
        </p:txBody>
      </p:sp>
      <p:sp>
        <p:nvSpPr>
          <p:cNvPr id="22" name="Rectangle 21">
            <a:extLst>
              <a:ext uri="{FF2B5EF4-FFF2-40B4-BE49-F238E27FC236}">
                <a16:creationId xmlns:a16="http://schemas.microsoft.com/office/drawing/2014/main" id="{EE3AD3F7-7A1B-1D44-8AB3-4FF2686CABF6}"/>
              </a:ext>
            </a:extLst>
          </p:cNvPr>
          <p:cNvSpPr/>
          <p:nvPr userDrawn="1"/>
        </p:nvSpPr>
        <p:spPr>
          <a:xfrm>
            <a:off x="-945040" y="1"/>
            <a:ext cx="537422" cy="53742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Lato" panose="020F0502020204030203" pitchFamily="34" charset="77"/>
            </a:endParaRPr>
          </a:p>
        </p:txBody>
      </p:sp>
      <p:sp>
        <p:nvSpPr>
          <p:cNvPr id="23" name="Rectangle 22">
            <a:extLst>
              <a:ext uri="{FF2B5EF4-FFF2-40B4-BE49-F238E27FC236}">
                <a16:creationId xmlns:a16="http://schemas.microsoft.com/office/drawing/2014/main" id="{0F444C63-55AB-1649-B273-0A254E7B8037}"/>
              </a:ext>
            </a:extLst>
          </p:cNvPr>
          <p:cNvSpPr/>
          <p:nvPr userDrawn="1"/>
        </p:nvSpPr>
        <p:spPr>
          <a:xfrm>
            <a:off x="-945045" y="531693"/>
            <a:ext cx="537422" cy="53742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Lato" panose="020F0502020204030203" pitchFamily="34" charset="77"/>
            </a:endParaRPr>
          </a:p>
        </p:txBody>
      </p:sp>
      <p:sp>
        <p:nvSpPr>
          <p:cNvPr id="24" name="Rectangle 23">
            <a:extLst>
              <a:ext uri="{FF2B5EF4-FFF2-40B4-BE49-F238E27FC236}">
                <a16:creationId xmlns:a16="http://schemas.microsoft.com/office/drawing/2014/main" id="{309A255E-F880-8645-9F2B-F4BC4D5868A6}"/>
              </a:ext>
            </a:extLst>
          </p:cNvPr>
          <p:cNvSpPr/>
          <p:nvPr userDrawn="1"/>
        </p:nvSpPr>
        <p:spPr>
          <a:xfrm>
            <a:off x="-945045" y="1063385"/>
            <a:ext cx="537422" cy="53742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Lato" panose="020F0502020204030203" pitchFamily="34" charset="77"/>
            </a:endParaRPr>
          </a:p>
        </p:txBody>
      </p:sp>
      <p:sp>
        <p:nvSpPr>
          <p:cNvPr id="25" name="Rectangle 24">
            <a:extLst>
              <a:ext uri="{FF2B5EF4-FFF2-40B4-BE49-F238E27FC236}">
                <a16:creationId xmlns:a16="http://schemas.microsoft.com/office/drawing/2014/main" id="{1379A244-E756-F647-9C97-C8FD0DEAFE8D}"/>
              </a:ext>
            </a:extLst>
          </p:cNvPr>
          <p:cNvSpPr/>
          <p:nvPr userDrawn="1"/>
        </p:nvSpPr>
        <p:spPr>
          <a:xfrm>
            <a:off x="-945045" y="1595077"/>
            <a:ext cx="537422" cy="53742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Lato" panose="020F0502020204030203" pitchFamily="34" charset="77"/>
            </a:endParaRPr>
          </a:p>
        </p:txBody>
      </p:sp>
      <p:sp>
        <p:nvSpPr>
          <p:cNvPr id="26" name="Rectangle 25">
            <a:extLst>
              <a:ext uri="{FF2B5EF4-FFF2-40B4-BE49-F238E27FC236}">
                <a16:creationId xmlns:a16="http://schemas.microsoft.com/office/drawing/2014/main" id="{D51D2FDA-CBE3-3D47-831C-4580D3FBA759}"/>
              </a:ext>
            </a:extLst>
          </p:cNvPr>
          <p:cNvSpPr/>
          <p:nvPr userDrawn="1"/>
        </p:nvSpPr>
        <p:spPr>
          <a:xfrm>
            <a:off x="-945045" y="2126769"/>
            <a:ext cx="537422" cy="53742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Lato" panose="020F0502020204030203" pitchFamily="34" charset="77"/>
            </a:endParaRPr>
          </a:p>
        </p:txBody>
      </p:sp>
      <p:sp>
        <p:nvSpPr>
          <p:cNvPr id="27" name="Rectangle 26">
            <a:extLst>
              <a:ext uri="{FF2B5EF4-FFF2-40B4-BE49-F238E27FC236}">
                <a16:creationId xmlns:a16="http://schemas.microsoft.com/office/drawing/2014/main" id="{2E2756DB-F329-A84D-A5E8-190F9FD72B85}"/>
              </a:ext>
            </a:extLst>
          </p:cNvPr>
          <p:cNvSpPr/>
          <p:nvPr userDrawn="1"/>
        </p:nvSpPr>
        <p:spPr>
          <a:xfrm>
            <a:off x="-945045" y="2658461"/>
            <a:ext cx="537422" cy="53742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Lato" panose="020F0502020204030203" pitchFamily="34" charset="77"/>
            </a:endParaRPr>
          </a:p>
        </p:txBody>
      </p:sp>
      <p:sp>
        <p:nvSpPr>
          <p:cNvPr id="28" name="Rectangle 27">
            <a:extLst>
              <a:ext uri="{FF2B5EF4-FFF2-40B4-BE49-F238E27FC236}">
                <a16:creationId xmlns:a16="http://schemas.microsoft.com/office/drawing/2014/main" id="{8338EA1A-C96A-774E-8B42-0982B389999F}"/>
              </a:ext>
            </a:extLst>
          </p:cNvPr>
          <p:cNvSpPr/>
          <p:nvPr userDrawn="1"/>
        </p:nvSpPr>
        <p:spPr>
          <a:xfrm>
            <a:off x="-945045" y="3190153"/>
            <a:ext cx="537422" cy="537422"/>
          </a:xfrm>
          <a:prstGeom prst="rect">
            <a:avLst/>
          </a:prstGeom>
          <a:solidFill>
            <a:srgbClr val="8DC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Lato" panose="020F0502020204030203" pitchFamily="34" charset="77"/>
            </a:endParaRPr>
          </a:p>
        </p:txBody>
      </p:sp>
      <p:sp>
        <p:nvSpPr>
          <p:cNvPr id="29" name="Rectangle 28">
            <a:extLst>
              <a:ext uri="{FF2B5EF4-FFF2-40B4-BE49-F238E27FC236}">
                <a16:creationId xmlns:a16="http://schemas.microsoft.com/office/drawing/2014/main" id="{7263CE13-47B6-E04C-80EE-BDD10F3646F3}"/>
              </a:ext>
            </a:extLst>
          </p:cNvPr>
          <p:cNvSpPr/>
          <p:nvPr userDrawn="1"/>
        </p:nvSpPr>
        <p:spPr>
          <a:xfrm>
            <a:off x="-945045" y="3721845"/>
            <a:ext cx="537422" cy="537422"/>
          </a:xfrm>
          <a:prstGeom prst="rect">
            <a:avLst/>
          </a:prstGeom>
          <a:solidFill>
            <a:srgbClr val="FDB9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Lato" panose="020F0502020204030203" pitchFamily="34" charset="77"/>
            </a:endParaRPr>
          </a:p>
        </p:txBody>
      </p:sp>
      <p:sp>
        <p:nvSpPr>
          <p:cNvPr id="30" name="Rectangle 29">
            <a:extLst>
              <a:ext uri="{FF2B5EF4-FFF2-40B4-BE49-F238E27FC236}">
                <a16:creationId xmlns:a16="http://schemas.microsoft.com/office/drawing/2014/main" id="{9653505B-F2D9-AD4E-A29D-179521F3D3DA}"/>
              </a:ext>
            </a:extLst>
          </p:cNvPr>
          <p:cNvSpPr/>
          <p:nvPr userDrawn="1"/>
        </p:nvSpPr>
        <p:spPr>
          <a:xfrm>
            <a:off x="-945045" y="4253537"/>
            <a:ext cx="537422" cy="537422"/>
          </a:xfrm>
          <a:prstGeom prst="rect">
            <a:avLst/>
          </a:prstGeom>
          <a:solidFill>
            <a:srgbClr val="E51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Lato" panose="020F0502020204030203" pitchFamily="34" charset="77"/>
            </a:endParaRPr>
          </a:p>
        </p:txBody>
      </p:sp>
      <p:sp>
        <p:nvSpPr>
          <p:cNvPr id="31" name="Rectangle 30">
            <a:extLst>
              <a:ext uri="{FF2B5EF4-FFF2-40B4-BE49-F238E27FC236}">
                <a16:creationId xmlns:a16="http://schemas.microsoft.com/office/drawing/2014/main" id="{8BD28386-2315-944F-98D1-BDE8DF95A976}"/>
              </a:ext>
            </a:extLst>
          </p:cNvPr>
          <p:cNvSpPr/>
          <p:nvPr userDrawn="1"/>
        </p:nvSpPr>
        <p:spPr>
          <a:xfrm>
            <a:off x="-945045" y="4785229"/>
            <a:ext cx="537422" cy="537422"/>
          </a:xfrm>
          <a:prstGeom prst="rect">
            <a:avLst/>
          </a:prstGeom>
          <a:solidFill>
            <a:srgbClr val="AB8C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Lato" panose="020F0502020204030203" pitchFamily="34" charset="77"/>
            </a:endParaRPr>
          </a:p>
        </p:txBody>
      </p:sp>
      <p:sp>
        <p:nvSpPr>
          <p:cNvPr id="32" name="Rectangle 31">
            <a:extLst>
              <a:ext uri="{FF2B5EF4-FFF2-40B4-BE49-F238E27FC236}">
                <a16:creationId xmlns:a16="http://schemas.microsoft.com/office/drawing/2014/main" id="{10B677E9-BB9C-5D40-BC42-4728C9393A3E}"/>
              </a:ext>
            </a:extLst>
          </p:cNvPr>
          <p:cNvSpPr/>
          <p:nvPr userDrawn="1"/>
        </p:nvSpPr>
        <p:spPr>
          <a:xfrm>
            <a:off x="-945045" y="5316924"/>
            <a:ext cx="537422" cy="537422"/>
          </a:xfrm>
          <a:prstGeom prst="rect">
            <a:avLst/>
          </a:prstGeom>
          <a:solidFill>
            <a:srgbClr val="145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Lato" panose="020F0502020204030203" pitchFamily="34" charset="77"/>
            </a:endParaRPr>
          </a:p>
        </p:txBody>
      </p:sp>
      <p:sp>
        <p:nvSpPr>
          <p:cNvPr id="3" name="TextBox 2">
            <a:extLst>
              <a:ext uri="{FF2B5EF4-FFF2-40B4-BE49-F238E27FC236}">
                <a16:creationId xmlns:a16="http://schemas.microsoft.com/office/drawing/2014/main" id="{0756DF42-85D1-BBFA-4F67-023D07BBDEE3}"/>
              </a:ext>
            </a:extLst>
          </p:cNvPr>
          <p:cNvSpPr txBox="1"/>
          <p:nvPr userDrawn="1"/>
        </p:nvSpPr>
        <p:spPr>
          <a:xfrm>
            <a:off x="8762999" y="1"/>
            <a:ext cx="3580627" cy="252412"/>
          </a:xfrm>
          <a:prstGeom prst="rect">
            <a:avLst/>
          </a:prstGeom>
          <a:noFill/>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4C608C"/>
                </a:solidFill>
                <a:effectLst/>
                <a:uLnTx/>
                <a:uFillTx/>
                <a:latin typeface="Helvetica Neue" panose="02000503000000020004" pitchFamily="2" charset="0"/>
                <a:ea typeface="Helvetica Neue" panose="02000503000000020004" pitchFamily="2" charset="0"/>
                <a:cs typeface="Helvetica Neue" panose="02000503000000020004" pitchFamily="2" charset="0"/>
              </a:rPr>
              <a:t>CONFIDENTIAL |  NOT FOR CIRCULATION</a:t>
            </a:r>
            <a:endParaRPr kumimoji="0" lang="en-GB" sz="1050" b="0" i="0" u="none" strike="noStrike" kern="1200" cap="none" spc="0" normalizeH="0" baseline="0" noProof="0">
              <a:ln>
                <a:noFill/>
              </a:ln>
              <a:solidFill>
                <a:srgbClr val="4C608C"/>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673488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F29D7AD-502E-464C-93A2-5D27E5FB5EFB}"/>
              </a:ext>
            </a:extLst>
          </p:cNvPr>
          <p:cNvSpPr/>
          <p:nvPr/>
        </p:nvSpPr>
        <p:spPr>
          <a:xfrm>
            <a:off x="0" y="253040"/>
            <a:ext cx="557048" cy="557048"/>
          </a:xfrm>
          <a:prstGeom prst="rect">
            <a:avLst/>
          </a:prstGeom>
          <a:solidFill>
            <a:srgbClr val="B20B2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b="0" i="0">
              <a:latin typeface="Lato" panose="020F0502020204030203" pitchFamily="34" charset="77"/>
              <a:cs typeface="Calibri" panose="020F0502020204030204" pitchFamily="34" charset="0"/>
            </a:endParaRPr>
          </a:p>
        </p:txBody>
      </p:sp>
      <p:sp>
        <p:nvSpPr>
          <p:cNvPr id="9" name="Holder 4">
            <a:extLst>
              <a:ext uri="{FF2B5EF4-FFF2-40B4-BE49-F238E27FC236}">
                <a16:creationId xmlns:a16="http://schemas.microsoft.com/office/drawing/2014/main" id="{2B37DAE3-CD0A-2649-B6D2-CDF2BE26185F}"/>
              </a:ext>
            </a:extLst>
          </p:cNvPr>
          <p:cNvSpPr>
            <a:spLocks noGrp="1"/>
          </p:cNvSpPr>
          <p:nvPr>
            <p:ph type="ftr" sz="quarter" idx="3"/>
          </p:nvPr>
        </p:nvSpPr>
        <p:spPr>
          <a:xfrm>
            <a:off x="7771314" y="6437073"/>
            <a:ext cx="2812112" cy="266146"/>
          </a:xfrm>
          <a:prstGeom prst="rect">
            <a:avLst/>
          </a:prstGeom>
        </p:spPr>
        <p:txBody>
          <a:bodyPr wrap="square" lIns="0" tIns="0" rIns="0" bIns="0" anchor="ctr">
            <a:noAutofit/>
          </a:bodyPr>
          <a:lstStyle>
            <a:lvl1pPr algn="r">
              <a:defRPr sz="900" b="0" i="0">
                <a:solidFill>
                  <a:schemeClr val="accent3"/>
                </a:solidFill>
                <a:latin typeface="Lato" panose="020F0502020204030203" pitchFamily="34" charset="77"/>
                <a:cs typeface="Calibri" panose="020F0502020204030204" pitchFamily="34" charset="0"/>
              </a:defRPr>
            </a:lvl1pPr>
          </a:lstStyle>
          <a:p>
            <a:r>
              <a:rPr lang="en-US"/>
              <a:t>©2021  |  All rights reserved.</a:t>
            </a:r>
          </a:p>
        </p:txBody>
      </p:sp>
      <p:sp>
        <p:nvSpPr>
          <p:cNvPr id="10" name="Text Placeholder 13">
            <a:extLst>
              <a:ext uri="{FF2B5EF4-FFF2-40B4-BE49-F238E27FC236}">
                <a16:creationId xmlns:a16="http://schemas.microsoft.com/office/drawing/2014/main" id="{74E1E285-7CC1-6B41-95D3-A862C60AC9BA}"/>
              </a:ext>
            </a:extLst>
          </p:cNvPr>
          <p:cNvSpPr>
            <a:spLocks noGrp="1"/>
          </p:cNvSpPr>
          <p:nvPr>
            <p:ph type="body" sz="quarter" idx="10" hasCustomPrompt="1"/>
          </p:nvPr>
        </p:nvSpPr>
        <p:spPr>
          <a:xfrm>
            <a:off x="726539" y="308795"/>
            <a:ext cx="11303879" cy="456878"/>
          </a:xfrm>
          <a:prstGeom prst="rect">
            <a:avLst/>
          </a:prstGeom>
        </p:spPr>
        <p:txBody>
          <a:bodyPr/>
          <a:lstStyle>
            <a:lvl1pPr marL="0" indent="0">
              <a:buNone/>
              <a:defRPr sz="2800" b="0" i="0" spc="300">
                <a:latin typeface="Lato" panose="020F0502020204030203" pitchFamily="34" charset="77"/>
                <a:ea typeface="Lato" panose="020F0502020204030203" pitchFamily="34" charset="77"/>
              </a:defRPr>
            </a:lvl1pPr>
          </a:lstStyle>
          <a:p>
            <a:pPr lvl="0"/>
            <a:r>
              <a:rPr lang="en-US"/>
              <a:t>EDIT MASTER TEXT STYLES</a:t>
            </a:r>
          </a:p>
        </p:txBody>
      </p:sp>
      <p:sp>
        <p:nvSpPr>
          <p:cNvPr id="5" name="Slide Number Placeholder 1">
            <a:extLst>
              <a:ext uri="{FF2B5EF4-FFF2-40B4-BE49-F238E27FC236}">
                <a16:creationId xmlns:a16="http://schemas.microsoft.com/office/drawing/2014/main" id="{042A2C85-AD88-CE4C-B1E6-BC302FC3CC48}"/>
              </a:ext>
            </a:extLst>
          </p:cNvPr>
          <p:cNvSpPr>
            <a:spLocks noGrp="1"/>
          </p:cNvSpPr>
          <p:nvPr>
            <p:ph type="sldNum" sz="quarter" idx="4"/>
          </p:nvPr>
        </p:nvSpPr>
        <p:spPr>
          <a:xfrm>
            <a:off x="6205" y="253040"/>
            <a:ext cx="557048" cy="557048"/>
          </a:xfrm>
          <a:prstGeom prst="rect">
            <a:avLst/>
          </a:prstGeom>
        </p:spPr>
        <p:txBody>
          <a:bodyPr vert="horz" lIns="91440" tIns="45720" rIns="91440" bIns="45720" rtlCol="0" anchor="ctr"/>
          <a:lstStyle>
            <a:lvl1pPr algn="ctr">
              <a:defRPr sz="1800" b="0" i="0">
                <a:solidFill>
                  <a:schemeClr val="bg1"/>
                </a:solidFill>
                <a:latin typeface="Lato" panose="020F0502020204030203" pitchFamily="34" charset="77"/>
                <a:ea typeface="Lato" panose="020F0502020204030203" pitchFamily="34" charset="77"/>
                <a:cs typeface="Calibri" panose="020F0502020204030204" pitchFamily="34" charset="0"/>
              </a:defRPr>
            </a:lvl1pPr>
          </a:lstStyle>
          <a:p>
            <a:fld id="{5F806934-C460-1C47-AF5D-CC9E191BC089}" type="slidenum">
              <a:rPr lang="en-US" smtClean="0"/>
              <a:pPr/>
              <a:t>‹#›</a:t>
            </a:fld>
            <a:endParaRPr lang="en-US"/>
          </a:p>
        </p:txBody>
      </p:sp>
      <p:sp>
        <p:nvSpPr>
          <p:cNvPr id="2" name="Rectangle 2">
            <a:extLst>
              <a:ext uri="{FF2B5EF4-FFF2-40B4-BE49-F238E27FC236}">
                <a16:creationId xmlns:a16="http://schemas.microsoft.com/office/drawing/2014/main" id="{59720AE5-AC60-6149-9FD5-98BF144B6163}"/>
              </a:ext>
            </a:extLst>
          </p:cNvPr>
          <p:cNvSpPr>
            <a:spLocks noChangeArrowheads="1"/>
          </p:cNvSpPr>
          <p:nvPr userDrawn="1"/>
        </p:nvSpPr>
        <p:spPr bwMode="auto">
          <a:xfrm>
            <a:off x="1002535" y="1423171"/>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b="0" i="0">
              <a:latin typeface="Lato" panose="020F0502020204030203" pitchFamily="34" charset="77"/>
            </a:endParaRPr>
          </a:p>
        </p:txBody>
      </p:sp>
      <p:sp>
        <p:nvSpPr>
          <p:cNvPr id="22" name="Rectangle 21">
            <a:extLst>
              <a:ext uri="{FF2B5EF4-FFF2-40B4-BE49-F238E27FC236}">
                <a16:creationId xmlns:a16="http://schemas.microsoft.com/office/drawing/2014/main" id="{EE3AD3F7-7A1B-1D44-8AB3-4FF2686CABF6}"/>
              </a:ext>
            </a:extLst>
          </p:cNvPr>
          <p:cNvSpPr/>
          <p:nvPr userDrawn="1"/>
        </p:nvSpPr>
        <p:spPr>
          <a:xfrm>
            <a:off x="-945040" y="1"/>
            <a:ext cx="537422" cy="53742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Lato" panose="020F0502020204030203" pitchFamily="34" charset="77"/>
            </a:endParaRPr>
          </a:p>
        </p:txBody>
      </p:sp>
      <p:sp>
        <p:nvSpPr>
          <p:cNvPr id="23" name="Rectangle 22">
            <a:extLst>
              <a:ext uri="{FF2B5EF4-FFF2-40B4-BE49-F238E27FC236}">
                <a16:creationId xmlns:a16="http://schemas.microsoft.com/office/drawing/2014/main" id="{0F444C63-55AB-1649-B273-0A254E7B8037}"/>
              </a:ext>
            </a:extLst>
          </p:cNvPr>
          <p:cNvSpPr/>
          <p:nvPr userDrawn="1"/>
        </p:nvSpPr>
        <p:spPr>
          <a:xfrm>
            <a:off x="-945045" y="531693"/>
            <a:ext cx="537422" cy="53742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Lato" panose="020F0502020204030203" pitchFamily="34" charset="77"/>
            </a:endParaRPr>
          </a:p>
        </p:txBody>
      </p:sp>
      <p:sp>
        <p:nvSpPr>
          <p:cNvPr id="24" name="Rectangle 23">
            <a:extLst>
              <a:ext uri="{FF2B5EF4-FFF2-40B4-BE49-F238E27FC236}">
                <a16:creationId xmlns:a16="http://schemas.microsoft.com/office/drawing/2014/main" id="{309A255E-F880-8645-9F2B-F4BC4D5868A6}"/>
              </a:ext>
            </a:extLst>
          </p:cNvPr>
          <p:cNvSpPr/>
          <p:nvPr userDrawn="1"/>
        </p:nvSpPr>
        <p:spPr>
          <a:xfrm>
            <a:off x="-945045" y="1063385"/>
            <a:ext cx="537422" cy="53742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Lato" panose="020F0502020204030203" pitchFamily="34" charset="77"/>
            </a:endParaRPr>
          </a:p>
        </p:txBody>
      </p:sp>
      <p:sp>
        <p:nvSpPr>
          <p:cNvPr id="25" name="Rectangle 24">
            <a:extLst>
              <a:ext uri="{FF2B5EF4-FFF2-40B4-BE49-F238E27FC236}">
                <a16:creationId xmlns:a16="http://schemas.microsoft.com/office/drawing/2014/main" id="{1379A244-E756-F647-9C97-C8FD0DEAFE8D}"/>
              </a:ext>
            </a:extLst>
          </p:cNvPr>
          <p:cNvSpPr/>
          <p:nvPr userDrawn="1"/>
        </p:nvSpPr>
        <p:spPr>
          <a:xfrm>
            <a:off x="-945045" y="1595077"/>
            <a:ext cx="537422" cy="53742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Lato" panose="020F0502020204030203" pitchFamily="34" charset="77"/>
            </a:endParaRPr>
          </a:p>
        </p:txBody>
      </p:sp>
      <p:sp>
        <p:nvSpPr>
          <p:cNvPr id="26" name="Rectangle 25">
            <a:extLst>
              <a:ext uri="{FF2B5EF4-FFF2-40B4-BE49-F238E27FC236}">
                <a16:creationId xmlns:a16="http://schemas.microsoft.com/office/drawing/2014/main" id="{D51D2FDA-CBE3-3D47-831C-4580D3FBA759}"/>
              </a:ext>
            </a:extLst>
          </p:cNvPr>
          <p:cNvSpPr/>
          <p:nvPr userDrawn="1"/>
        </p:nvSpPr>
        <p:spPr>
          <a:xfrm>
            <a:off x="-945045" y="2126769"/>
            <a:ext cx="537422" cy="53742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Lato" panose="020F0502020204030203" pitchFamily="34" charset="77"/>
            </a:endParaRPr>
          </a:p>
        </p:txBody>
      </p:sp>
      <p:sp>
        <p:nvSpPr>
          <p:cNvPr id="27" name="Rectangle 26">
            <a:extLst>
              <a:ext uri="{FF2B5EF4-FFF2-40B4-BE49-F238E27FC236}">
                <a16:creationId xmlns:a16="http://schemas.microsoft.com/office/drawing/2014/main" id="{2E2756DB-F329-A84D-A5E8-190F9FD72B85}"/>
              </a:ext>
            </a:extLst>
          </p:cNvPr>
          <p:cNvSpPr/>
          <p:nvPr userDrawn="1"/>
        </p:nvSpPr>
        <p:spPr>
          <a:xfrm>
            <a:off x="-945045" y="2658461"/>
            <a:ext cx="537422" cy="53742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Lato" panose="020F0502020204030203" pitchFamily="34" charset="77"/>
            </a:endParaRPr>
          </a:p>
        </p:txBody>
      </p:sp>
      <p:sp>
        <p:nvSpPr>
          <p:cNvPr id="28" name="Rectangle 27">
            <a:extLst>
              <a:ext uri="{FF2B5EF4-FFF2-40B4-BE49-F238E27FC236}">
                <a16:creationId xmlns:a16="http://schemas.microsoft.com/office/drawing/2014/main" id="{8338EA1A-C96A-774E-8B42-0982B389999F}"/>
              </a:ext>
            </a:extLst>
          </p:cNvPr>
          <p:cNvSpPr/>
          <p:nvPr userDrawn="1"/>
        </p:nvSpPr>
        <p:spPr>
          <a:xfrm>
            <a:off x="-945045" y="3190153"/>
            <a:ext cx="537422" cy="537422"/>
          </a:xfrm>
          <a:prstGeom prst="rect">
            <a:avLst/>
          </a:prstGeom>
          <a:solidFill>
            <a:srgbClr val="8DC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Lato" panose="020F0502020204030203" pitchFamily="34" charset="77"/>
            </a:endParaRPr>
          </a:p>
        </p:txBody>
      </p:sp>
      <p:sp>
        <p:nvSpPr>
          <p:cNvPr id="29" name="Rectangle 28">
            <a:extLst>
              <a:ext uri="{FF2B5EF4-FFF2-40B4-BE49-F238E27FC236}">
                <a16:creationId xmlns:a16="http://schemas.microsoft.com/office/drawing/2014/main" id="{7263CE13-47B6-E04C-80EE-BDD10F3646F3}"/>
              </a:ext>
            </a:extLst>
          </p:cNvPr>
          <p:cNvSpPr/>
          <p:nvPr userDrawn="1"/>
        </p:nvSpPr>
        <p:spPr>
          <a:xfrm>
            <a:off x="-945045" y="3721845"/>
            <a:ext cx="537422" cy="537422"/>
          </a:xfrm>
          <a:prstGeom prst="rect">
            <a:avLst/>
          </a:prstGeom>
          <a:solidFill>
            <a:srgbClr val="FDB9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Lato" panose="020F0502020204030203" pitchFamily="34" charset="77"/>
            </a:endParaRPr>
          </a:p>
        </p:txBody>
      </p:sp>
      <p:sp>
        <p:nvSpPr>
          <p:cNvPr id="30" name="Rectangle 29">
            <a:extLst>
              <a:ext uri="{FF2B5EF4-FFF2-40B4-BE49-F238E27FC236}">
                <a16:creationId xmlns:a16="http://schemas.microsoft.com/office/drawing/2014/main" id="{9653505B-F2D9-AD4E-A29D-179521F3D3DA}"/>
              </a:ext>
            </a:extLst>
          </p:cNvPr>
          <p:cNvSpPr/>
          <p:nvPr userDrawn="1"/>
        </p:nvSpPr>
        <p:spPr>
          <a:xfrm>
            <a:off x="-945045" y="4253537"/>
            <a:ext cx="537422" cy="537422"/>
          </a:xfrm>
          <a:prstGeom prst="rect">
            <a:avLst/>
          </a:prstGeom>
          <a:solidFill>
            <a:srgbClr val="E51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Lato" panose="020F0502020204030203" pitchFamily="34" charset="77"/>
            </a:endParaRPr>
          </a:p>
        </p:txBody>
      </p:sp>
      <p:sp>
        <p:nvSpPr>
          <p:cNvPr id="31" name="Rectangle 30">
            <a:extLst>
              <a:ext uri="{FF2B5EF4-FFF2-40B4-BE49-F238E27FC236}">
                <a16:creationId xmlns:a16="http://schemas.microsoft.com/office/drawing/2014/main" id="{8BD28386-2315-944F-98D1-BDE8DF95A976}"/>
              </a:ext>
            </a:extLst>
          </p:cNvPr>
          <p:cNvSpPr/>
          <p:nvPr userDrawn="1"/>
        </p:nvSpPr>
        <p:spPr>
          <a:xfrm>
            <a:off x="-945045" y="4785229"/>
            <a:ext cx="537422" cy="537422"/>
          </a:xfrm>
          <a:prstGeom prst="rect">
            <a:avLst/>
          </a:prstGeom>
          <a:solidFill>
            <a:srgbClr val="AB8C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Lato" panose="020F0502020204030203" pitchFamily="34" charset="77"/>
            </a:endParaRPr>
          </a:p>
        </p:txBody>
      </p:sp>
      <p:sp>
        <p:nvSpPr>
          <p:cNvPr id="32" name="Rectangle 31">
            <a:extLst>
              <a:ext uri="{FF2B5EF4-FFF2-40B4-BE49-F238E27FC236}">
                <a16:creationId xmlns:a16="http://schemas.microsoft.com/office/drawing/2014/main" id="{10B677E9-BB9C-5D40-BC42-4728C9393A3E}"/>
              </a:ext>
            </a:extLst>
          </p:cNvPr>
          <p:cNvSpPr/>
          <p:nvPr userDrawn="1"/>
        </p:nvSpPr>
        <p:spPr>
          <a:xfrm>
            <a:off x="-945045" y="5316924"/>
            <a:ext cx="537422" cy="537422"/>
          </a:xfrm>
          <a:prstGeom prst="rect">
            <a:avLst/>
          </a:prstGeom>
          <a:solidFill>
            <a:srgbClr val="145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Lato" panose="020F0502020204030203" pitchFamily="34" charset="77"/>
            </a:endParaRPr>
          </a:p>
        </p:txBody>
      </p:sp>
    </p:spTree>
    <p:extLst>
      <p:ext uri="{BB962C8B-B14F-4D97-AF65-F5344CB8AC3E}">
        <p14:creationId xmlns:p14="http://schemas.microsoft.com/office/powerpoint/2010/main" val="974483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1_Title_Only">
    <p:spTree>
      <p:nvGrpSpPr>
        <p:cNvPr id="1" name=""/>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91EF3751-9726-6E43-BC01-CA50F58D9F81}"/>
              </a:ext>
            </a:extLst>
          </p:cNvPr>
          <p:cNvSpPr>
            <a:spLocks noGrp="1"/>
          </p:cNvSpPr>
          <p:nvPr>
            <p:ph type="sldNum" sz="quarter" idx="11"/>
          </p:nvPr>
        </p:nvSpPr>
        <p:spPr/>
        <p:txBody>
          <a:bodyPr/>
          <a:lstStyle>
            <a:lvl1pPr>
              <a:defRPr b="0" i="0">
                <a:latin typeface="Lato" panose="020F0502020204030203" pitchFamily="34" charset="77"/>
              </a:defRPr>
            </a:lvl1pPr>
          </a:lstStyle>
          <a:p>
            <a:fld id="{B6F15528-21DE-4FAA-801E-634DDDAF4B2B}" type="slidenum">
              <a:rPr lang="en-US" smtClean="0"/>
              <a:pPr/>
              <a:t>‹#›</a:t>
            </a:fld>
            <a:endParaRPr lang="en-US"/>
          </a:p>
        </p:txBody>
      </p:sp>
      <p:sp>
        <p:nvSpPr>
          <p:cNvPr id="2" name="Footer Placeholder 1">
            <a:extLst>
              <a:ext uri="{FF2B5EF4-FFF2-40B4-BE49-F238E27FC236}">
                <a16:creationId xmlns:a16="http://schemas.microsoft.com/office/drawing/2014/main" id="{4B1460D9-7321-3543-8EDF-76BF0750049D}"/>
              </a:ext>
            </a:extLst>
          </p:cNvPr>
          <p:cNvSpPr>
            <a:spLocks noGrp="1"/>
          </p:cNvSpPr>
          <p:nvPr>
            <p:ph type="ftr" sz="quarter" idx="12"/>
          </p:nvPr>
        </p:nvSpPr>
        <p:spPr/>
        <p:txBody>
          <a:bodyPr/>
          <a:lstStyle>
            <a:lvl1pPr>
              <a:defRPr b="0" i="0">
                <a:latin typeface="Lato" panose="020F0502020204030203" pitchFamily="34" charset="77"/>
              </a:defRPr>
            </a:lvl1pPr>
          </a:lstStyle>
          <a:p>
            <a:r>
              <a:rPr lang="en-US"/>
              <a:t>©2021 CEO Works LLC. All rights reserved.</a:t>
            </a:r>
          </a:p>
        </p:txBody>
      </p:sp>
      <p:sp>
        <p:nvSpPr>
          <p:cNvPr id="3" name="Title 2">
            <a:extLst>
              <a:ext uri="{FF2B5EF4-FFF2-40B4-BE49-F238E27FC236}">
                <a16:creationId xmlns:a16="http://schemas.microsoft.com/office/drawing/2014/main" id="{CFB4BD8C-4081-D04F-9152-E3B5AD734D00}"/>
              </a:ext>
            </a:extLst>
          </p:cNvPr>
          <p:cNvSpPr>
            <a:spLocks noGrp="1"/>
          </p:cNvSpPr>
          <p:nvPr>
            <p:ph type="title" hasCustomPrompt="1"/>
          </p:nvPr>
        </p:nvSpPr>
        <p:spPr>
          <a:xfrm>
            <a:off x="724054" y="88161"/>
            <a:ext cx="10743893" cy="402747"/>
          </a:xfrm>
        </p:spPr>
        <p:txBody>
          <a:bodyPr/>
          <a:lstStyle>
            <a:lvl1pPr>
              <a:defRPr b="0" i="0">
                <a:latin typeface="Lato Light" panose="020F0302020204030203" pitchFamily="34" charset="77"/>
              </a:defRPr>
            </a:lvl1pPr>
          </a:lstStyle>
          <a:p>
            <a:r>
              <a:rPr lang="en-US"/>
              <a:t>CLICK TO EDIT MASTER TITLE STYLE</a:t>
            </a:r>
          </a:p>
        </p:txBody>
      </p:sp>
    </p:spTree>
    <p:extLst>
      <p:ext uri="{BB962C8B-B14F-4D97-AF65-F5344CB8AC3E}">
        <p14:creationId xmlns:p14="http://schemas.microsoft.com/office/powerpoint/2010/main" val="384919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5_Title_Slide">
    <p:spTree>
      <p:nvGrpSpPr>
        <p:cNvPr id="1" name=""/>
        <p:cNvGrpSpPr/>
        <p:nvPr/>
      </p:nvGrpSpPr>
      <p:grpSpPr>
        <a:xfrm>
          <a:off x="0" y="0"/>
          <a:ext cx="0" cy="0"/>
          <a:chOff x="0" y="0"/>
          <a:chExt cx="0" cy="0"/>
        </a:xfrm>
      </p:grpSpPr>
      <p:pic>
        <p:nvPicPr>
          <p:cNvPr id="4" name="Picture 3" descr="A close up of a wire fence&#10;&#10;Description automatically generated">
            <a:extLst>
              <a:ext uri="{FF2B5EF4-FFF2-40B4-BE49-F238E27FC236}">
                <a16:creationId xmlns:a16="http://schemas.microsoft.com/office/drawing/2014/main" id="{46FD5BE9-3056-B346-A2F9-A9AF245C7C35}"/>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04516DEB-0B29-18D7-9778-57520C33C270}"/>
              </a:ext>
            </a:extLst>
          </p:cNvPr>
          <p:cNvSpPr/>
          <p:nvPr userDrawn="1"/>
        </p:nvSpPr>
        <p:spPr>
          <a:xfrm>
            <a:off x="2240" y="0"/>
            <a:ext cx="4388921" cy="6858000"/>
          </a:xfrm>
          <a:prstGeom prst="rect">
            <a:avLst/>
          </a:prstGeom>
          <a:solidFill>
            <a:schemeClr val="bg1"/>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Title 6">
            <a:extLst>
              <a:ext uri="{FF2B5EF4-FFF2-40B4-BE49-F238E27FC236}">
                <a16:creationId xmlns:a16="http://schemas.microsoft.com/office/drawing/2014/main" id="{273E95E6-9D53-964B-9DB8-805822C783A8}"/>
              </a:ext>
            </a:extLst>
          </p:cNvPr>
          <p:cNvSpPr>
            <a:spLocks noGrp="1"/>
          </p:cNvSpPr>
          <p:nvPr>
            <p:ph type="title" hasCustomPrompt="1"/>
          </p:nvPr>
        </p:nvSpPr>
        <p:spPr>
          <a:xfrm>
            <a:off x="646244" y="1047332"/>
            <a:ext cx="3436088" cy="2326721"/>
          </a:xfrm>
        </p:spPr>
        <p:txBody>
          <a:bodyPr anchor="b"/>
          <a:lstStyle>
            <a:lvl1pPr>
              <a:defRPr sz="3600" b="0" i="0">
                <a:solidFill>
                  <a:schemeClr val="tx1">
                    <a:lumMod val="75000"/>
                    <a:lumOff val="25000"/>
                  </a:schemeClr>
                </a:solidFill>
                <a:latin typeface="Calibri" panose="020F0502020204030204" pitchFamily="34" charset="0"/>
                <a:cs typeface="Calibri" panose="020F0502020204030204" pitchFamily="34" charset="0"/>
              </a:defRPr>
            </a:lvl1pPr>
          </a:lstStyle>
          <a:p>
            <a:r>
              <a:rPr lang="en-US"/>
              <a:t>CLICK TO EDIT MASTER TITLE STYLE</a:t>
            </a:r>
          </a:p>
        </p:txBody>
      </p:sp>
      <p:pic>
        <p:nvPicPr>
          <p:cNvPr id="7" name="Picture 6">
            <a:extLst>
              <a:ext uri="{FF2B5EF4-FFF2-40B4-BE49-F238E27FC236}">
                <a16:creationId xmlns:a16="http://schemas.microsoft.com/office/drawing/2014/main" id="{FC056C66-43E0-4476-B5B9-FE466443F4E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505338" y="5719914"/>
            <a:ext cx="2386805" cy="468000"/>
          </a:xfrm>
          <a:prstGeom prst="rect">
            <a:avLst/>
          </a:prstGeom>
        </p:spPr>
      </p:pic>
    </p:spTree>
    <p:extLst>
      <p:ext uri="{BB962C8B-B14F-4D97-AF65-F5344CB8AC3E}">
        <p14:creationId xmlns:p14="http://schemas.microsoft.com/office/powerpoint/2010/main" val="3297646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8"/>
        <p:cNvGrpSpPr/>
        <p:nvPr/>
      </p:nvGrpSpPr>
      <p:grpSpPr>
        <a:xfrm>
          <a:off x="0" y="0"/>
          <a:ext cx="0" cy="0"/>
          <a:chOff x="0" y="0"/>
          <a:chExt cx="0" cy="0"/>
        </a:xfrm>
      </p:grpSpPr>
      <p:sp>
        <p:nvSpPr>
          <p:cNvPr id="2" name="Google Shape;29;p15">
            <a:extLst>
              <a:ext uri="{FF2B5EF4-FFF2-40B4-BE49-F238E27FC236}">
                <a16:creationId xmlns:a16="http://schemas.microsoft.com/office/drawing/2014/main" id="{931AB939-90B4-9231-BCD0-3D87079A4171}"/>
              </a:ext>
            </a:extLst>
          </p:cNvPr>
          <p:cNvSpPr>
            <a:spLocks noChangeArrowheads="1"/>
          </p:cNvSpPr>
          <p:nvPr/>
        </p:nvSpPr>
        <p:spPr bwMode="auto">
          <a:xfrm>
            <a:off x="0" y="252413"/>
            <a:ext cx="557213" cy="557212"/>
          </a:xfrm>
          <a:prstGeom prst="rect">
            <a:avLst/>
          </a:prstGeom>
          <a:solidFill>
            <a:srgbClr val="001F5B"/>
          </a:solidFill>
          <a:ln>
            <a:noFill/>
          </a:ln>
        </p:spPr>
        <p:txBody>
          <a:bodyPr lIns="91425" tIns="45700" rIns="91425" bIns="457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defRPr/>
            </a:pPr>
            <a:endParaRPr lang="en-US" altLang="en-US" sz="1600">
              <a:solidFill>
                <a:srgbClr val="FFFFFF"/>
              </a:solidFill>
              <a:latin typeface="Lato Light" panose="020F0302020204030204" pitchFamily="34" charset="0"/>
              <a:sym typeface="Lato Light" panose="020F0302020204030204" pitchFamily="34" charset="0"/>
            </a:endParaRPr>
          </a:p>
        </p:txBody>
      </p:sp>
      <p:pic>
        <p:nvPicPr>
          <p:cNvPr id="3" name="Picture 2">
            <a:extLst>
              <a:ext uri="{FF2B5EF4-FFF2-40B4-BE49-F238E27FC236}">
                <a16:creationId xmlns:a16="http://schemas.microsoft.com/office/drawing/2014/main" id="{18805CC6-26EC-E84D-832B-3DABF8B1E55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27075" y="6202363"/>
            <a:ext cx="1585913"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88A6490E-FBD2-CFB5-6B09-DA192C6E1E7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34700" y="320675"/>
            <a:ext cx="9525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Google Shape;30;p15"/>
          <p:cNvSpPr txBox="1">
            <a:spLocks noGrp="1"/>
          </p:cNvSpPr>
          <p:nvPr>
            <p:ph type="body" idx="1"/>
          </p:nvPr>
        </p:nvSpPr>
        <p:spPr>
          <a:xfrm>
            <a:off x="726539" y="308795"/>
            <a:ext cx="11303879" cy="45687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Helvetica Neue Light"/>
                <a:ea typeface="Helvetica Neue Light"/>
                <a:cs typeface="Helvetica Neue Light"/>
                <a:sym typeface="Helvetica Neue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 name="Google Shape;31;p15">
            <a:extLst>
              <a:ext uri="{FF2B5EF4-FFF2-40B4-BE49-F238E27FC236}">
                <a16:creationId xmlns:a16="http://schemas.microsoft.com/office/drawing/2014/main" id="{FE999B2B-AE9C-59E3-ACDD-154A319862E3}"/>
              </a:ext>
            </a:extLst>
          </p:cNvPr>
          <p:cNvSpPr txBox="1">
            <a:spLocks noGrp="1" noChangeArrowheads="1"/>
          </p:cNvSpPr>
          <p:nvPr>
            <p:ph type="sldNum" idx="10"/>
          </p:nvPr>
        </p:nvSpPr>
        <p:spPr bwMode="auto">
          <a:xfrm>
            <a:off x="0" y="252413"/>
            <a:ext cx="557213" cy="557212"/>
          </a:xfrm>
          <a:prstGeom prst="rect">
            <a:avLst/>
          </a:prstGeom>
        </p:spPr>
        <p:txBody>
          <a:bodyPr vert="horz" wrap="square" lIns="91425" tIns="45700" rIns="91425" bIns="45700" numCol="1" anchor="ctr" anchorCtr="0" compatLnSpc="1">
            <a:prstTxWarp prst="textNoShape">
              <a:avLst/>
            </a:prstTxWarp>
          </a:bodyPr>
          <a:lstStyle>
            <a:lvl1pPr algn="ctr" eaLnBrk="1" hangingPunct="1">
              <a:buClr>
                <a:srgbClr val="000000"/>
              </a:buClr>
              <a:buFont typeface="Arial" panose="020B0604020202020204" pitchFamily="34" charset="0"/>
              <a:buNone/>
              <a:defRPr sz="1800">
                <a:solidFill>
                  <a:srgbClr val="FFFFFF"/>
                </a:solidFill>
                <a:latin typeface="Helvetica Neue Roman" panose="02000503000000020004" pitchFamily="2" charset="0"/>
                <a:sym typeface="Helvetica Neue" panose="02000503000000020004" pitchFamily="2" charset="0"/>
              </a:defRPr>
            </a:lvl1pPr>
          </a:lstStyle>
          <a:p>
            <a:pPr>
              <a:defRPr/>
            </a:pPr>
            <a:fld id="{A36DE47B-33B2-FE47-B5D6-2FEEF3F18514}" type="slidenum">
              <a:rPr lang="en-US" altLang="en-US"/>
              <a:pPr>
                <a:defRPr/>
              </a:pPr>
              <a:t>‹#›</a:t>
            </a:fld>
            <a:endParaRPr lang="en-US" altLang="en-US"/>
          </a:p>
        </p:txBody>
      </p:sp>
      <p:pic>
        <p:nvPicPr>
          <p:cNvPr id="8" name="Picture 7">
            <a:extLst>
              <a:ext uri="{FF2B5EF4-FFF2-40B4-BE49-F238E27FC236}">
                <a16:creationId xmlns:a16="http://schemas.microsoft.com/office/drawing/2014/main" id="{A177260A-CCF0-A0D6-DAF6-5E17246C4356}"/>
              </a:ext>
            </a:extLst>
          </p:cNvPr>
          <p:cNvPicPr>
            <a:picLocks noChangeAspect="1"/>
          </p:cNvPicPr>
          <p:nvPr userDrawn="1"/>
        </p:nvPicPr>
        <p:blipFill>
          <a:blip r:embed="rId4"/>
          <a:stretch>
            <a:fillRect/>
          </a:stretch>
        </p:blipFill>
        <p:spPr>
          <a:xfrm>
            <a:off x="10663530" y="6150135"/>
            <a:ext cx="915432" cy="415606"/>
          </a:xfrm>
          <a:prstGeom prst="rect">
            <a:avLst/>
          </a:prstGeom>
        </p:spPr>
      </p:pic>
    </p:spTree>
    <p:extLst>
      <p:ext uri="{BB962C8B-B14F-4D97-AF65-F5344CB8AC3E}">
        <p14:creationId xmlns:p14="http://schemas.microsoft.com/office/powerpoint/2010/main" val="3335646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2"/>
        <p:cNvGrpSpPr/>
        <p:nvPr/>
      </p:nvGrpSpPr>
      <p:grpSpPr>
        <a:xfrm>
          <a:off x="0" y="0"/>
          <a:ext cx="0" cy="0"/>
          <a:chOff x="0" y="0"/>
          <a:chExt cx="0" cy="0"/>
        </a:xfrm>
      </p:grpSpPr>
      <p:pic>
        <p:nvPicPr>
          <p:cNvPr id="8" name="Picture 7" descr="A screenshot of a website&#10;&#10;AI-generated content may be incorrect.">
            <a:extLst>
              <a:ext uri="{FF2B5EF4-FFF2-40B4-BE49-F238E27FC236}">
                <a16:creationId xmlns:a16="http://schemas.microsoft.com/office/drawing/2014/main" id="{8E59B847-1A37-E5FB-43B7-0E6EE43071E4}"/>
              </a:ext>
            </a:extLst>
          </p:cNvPr>
          <p:cNvPicPr>
            <a:picLocks noChangeAspect="1"/>
          </p:cNvPicPr>
          <p:nvPr userDrawn="1"/>
        </p:nvPicPr>
        <p:blipFill>
          <a:blip r:embed="rId2"/>
          <a:srcRect l="8462" r="16420"/>
          <a:stretch>
            <a:fillRect/>
          </a:stretch>
        </p:blipFill>
        <p:spPr>
          <a:xfrm>
            <a:off x="4868863" y="0"/>
            <a:ext cx="7430948" cy="6858000"/>
          </a:xfrm>
          <a:prstGeom prst="rect">
            <a:avLst/>
          </a:prstGeom>
        </p:spPr>
      </p:pic>
      <p:pic>
        <p:nvPicPr>
          <p:cNvPr id="6" name="Picture 5">
            <a:extLst>
              <a:ext uri="{FF2B5EF4-FFF2-40B4-BE49-F238E27FC236}">
                <a16:creationId xmlns:a16="http://schemas.microsoft.com/office/drawing/2014/main" id="{07FB507E-FC4D-64A8-3D4A-8DB11524CBE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2275" y="439738"/>
            <a:ext cx="962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EB2C5139-5187-068F-D496-41744F63C764}"/>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22275" y="6040438"/>
            <a:ext cx="18843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Google Shape;36;p20"/>
          <p:cNvSpPr txBox="1">
            <a:spLocks noGrp="1"/>
          </p:cNvSpPr>
          <p:nvPr>
            <p:ph type="body" idx="1"/>
          </p:nvPr>
        </p:nvSpPr>
        <p:spPr>
          <a:xfrm>
            <a:off x="421930" y="4914976"/>
            <a:ext cx="10859342" cy="73667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5400"/>
              <a:buFont typeface="Arial"/>
              <a:buNone/>
              <a:defRPr sz="5400" b="0" i="0" u="none" strike="noStrike" cap="none">
                <a:solidFill>
                  <a:schemeClr val="dk1"/>
                </a:solidFill>
                <a:latin typeface="Helvetica Neue Roman"/>
                <a:ea typeface="Helvetica Neue Roman"/>
                <a:cs typeface="Helvetica Neue Roman"/>
                <a:sym typeface="Helvetica Neue"/>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20"/>
          <p:cNvSpPr txBox="1">
            <a:spLocks noGrp="1"/>
          </p:cNvSpPr>
          <p:nvPr>
            <p:ph type="body" idx="2"/>
          </p:nvPr>
        </p:nvSpPr>
        <p:spPr>
          <a:xfrm>
            <a:off x="421930" y="5651654"/>
            <a:ext cx="10859342" cy="73667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000"/>
              <a:buFont typeface="Arial"/>
              <a:buNone/>
              <a:defRPr sz="2000" b="0" i="0" u="none" strike="noStrike" cap="none">
                <a:solidFill>
                  <a:schemeClr val="dk1"/>
                </a:solidFill>
                <a:latin typeface="Helvetica Neue Light"/>
                <a:ea typeface="Helvetica Neue Light"/>
                <a:cs typeface="Helvetica Neue Light"/>
                <a:sym typeface="Helvetica Neue Light"/>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4" name="Picture 13" descr="A blue and black background&#10;&#10;AI-generated content may be incorrect.">
            <a:extLst>
              <a:ext uri="{FF2B5EF4-FFF2-40B4-BE49-F238E27FC236}">
                <a16:creationId xmlns:a16="http://schemas.microsoft.com/office/drawing/2014/main" id="{B5EDD32B-0DB3-0C96-DEC5-41FBD73A8788}"/>
              </a:ext>
            </a:extLst>
          </p:cNvPr>
          <p:cNvPicPr>
            <a:picLocks noChangeAspect="1"/>
          </p:cNvPicPr>
          <p:nvPr userDrawn="1"/>
        </p:nvPicPr>
        <p:blipFill>
          <a:blip r:embed="rId5"/>
          <a:stretch>
            <a:fillRect/>
          </a:stretch>
        </p:blipFill>
        <p:spPr>
          <a:xfrm rot="210327">
            <a:off x="8778700" y="1666805"/>
            <a:ext cx="852488" cy="255532"/>
          </a:xfrm>
          <a:prstGeom prst="rect">
            <a:avLst/>
          </a:prstGeom>
        </p:spPr>
      </p:pic>
    </p:spTree>
    <p:extLst>
      <p:ext uri="{BB962C8B-B14F-4D97-AF65-F5344CB8AC3E}">
        <p14:creationId xmlns:p14="http://schemas.microsoft.com/office/powerpoint/2010/main" val="15414386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6.xml"/><Relationship Id="rId7" Type="http://schemas.openxmlformats.org/officeDocument/2006/relationships/image" Target="../media/image6.emf"/><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oleObject" Target="../embeddings/oleObject1.bin"/><Relationship Id="rId5" Type="http://schemas.openxmlformats.org/officeDocument/2006/relationships/tags" Target="../tags/tag1.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74" r:id="rId1"/>
    <p:sldLayoutId id="2147483775" r:id="rId2"/>
    <p:sldLayoutId id="2147483776" r:id="rId3"/>
  </p:sldLayoutIdLst>
  <p:hf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B68FF72B-59B2-4753-87B1-6DB27E2FF078}"/>
              </a:ext>
            </a:extLst>
          </p:cNvPr>
          <p:cNvGraphicFramePr>
            <a:graphicFrameLocks noChangeAspect="1"/>
          </p:cNvGraphicFramePr>
          <p:nvPr userDrawn="1">
            <p:custDataLst>
              <p:tags r:id="rId5"/>
            </p:custDataLst>
            <p:extLst>
              <p:ext uri="{D42A27DB-BD31-4B8C-83A1-F6EECF244321}">
                <p14:modId xmlns:p14="http://schemas.microsoft.com/office/powerpoint/2010/main" val="40770039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2" name="Object 1" hidden="1">
                        <a:extLst>
                          <a:ext uri="{FF2B5EF4-FFF2-40B4-BE49-F238E27FC236}">
                            <a16:creationId xmlns:a16="http://schemas.microsoft.com/office/drawing/2014/main" id="{B68FF72B-59B2-4753-87B1-6DB27E2FF07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pic>
        <p:nvPicPr>
          <p:cNvPr id="8" name="Picture 7" descr="A close up of a logo&#10;&#10;Description automatically generated with low confidence">
            <a:extLst>
              <a:ext uri="{FF2B5EF4-FFF2-40B4-BE49-F238E27FC236}">
                <a16:creationId xmlns:a16="http://schemas.microsoft.com/office/drawing/2014/main" id="{CE016DFB-081C-F94C-8C6E-6B46B745DFB2}"/>
              </a:ext>
            </a:extLst>
          </p:cNvPr>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10775881" y="6494836"/>
            <a:ext cx="1086530" cy="129600"/>
          </a:xfrm>
          <a:prstGeom prst="rect">
            <a:avLst/>
          </a:prstGeom>
        </p:spPr>
      </p:pic>
      <p:sp>
        <p:nvSpPr>
          <p:cNvPr id="9" name="Holder 4">
            <a:extLst>
              <a:ext uri="{FF2B5EF4-FFF2-40B4-BE49-F238E27FC236}">
                <a16:creationId xmlns:a16="http://schemas.microsoft.com/office/drawing/2014/main" id="{3EE912C5-1EE9-EB4F-A87C-78C990A8E423}"/>
              </a:ext>
            </a:extLst>
          </p:cNvPr>
          <p:cNvSpPr>
            <a:spLocks noGrp="1"/>
          </p:cNvSpPr>
          <p:nvPr>
            <p:ph type="ftr" sz="quarter" idx="3"/>
          </p:nvPr>
        </p:nvSpPr>
        <p:spPr>
          <a:xfrm>
            <a:off x="7771314" y="6437073"/>
            <a:ext cx="2812112" cy="266146"/>
          </a:xfrm>
          <a:prstGeom prst="rect">
            <a:avLst/>
          </a:prstGeom>
        </p:spPr>
        <p:txBody>
          <a:bodyPr wrap="square" lIns="0" tIns="0" rIns="0" bIns="0" anchor="ctr">
            <a:noAutofit/>
          </a:bodyPr>
          <a:lstStyle>
            <a:lvl1pPr algn="r">
              <a:defRPr sz="900" b="0" i="0">
                <a:solidFill>
                  <a:schemeClr val="accent3"/>
                </a:solidFill>
                <a:latin typeface="Lato" panose="020F0502020204030203" pitchFamily="34" charset="77"/>
                <a:cs typeface="Calibri" panose="020F0502020204030204" pitchFamily="34" charset="0"/>
              </a:defRPr>
            </a:lvl1pPr>
          </a:lstStyle>
          <a:p>
            <a:r>
              <a:rPr lang="en-US"/>
              <a:t>©2021  |  All rights reserved.</a:t>
            </a:r>
          </a:p>
        </p:txBody>
      </p:sp>
      <p:sp>
        <p:nvSpPr>
          <p:cNvPr id="3" name="TextBox 2">
            <a:extLst>
              <a:ext uri="{FF2B5EF4-FFF2-40B4-BE49-F238E27FC236}">
                <a16:creationId xmlns:a16="http://schemas.microsoft.com/office/drawing/2014/main" id="{2BED0A75-FB54-57F8-4CEE-A9FFEC7F63FA}"/>
              </a:ext>
            </a:extLst>
          </p:cNvPr>
          <p:cNvSpPr txBox="1"/>
          <p:nvPr userDrawn="1"/>
        </p:nvSpPr>
        <p:spPr>
          <a:xfrm>
            <a:off x="8762999" y="1"/>
            <a:ext cx="3580627" cy="252412"/>
          </a:xfrm>
          <a:prstGeom prst="rect">
            <a:avLst/>
          </a:prstGeom>
          <a:noFill/>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4C608C"/>
                </a:solidFill>
                <a:effectLst/>
                <a:uLnTx/>
                <a:uFillTx/>
                <a:latin typeface="Helvetica Neue" panose="02000503000000020004" pitchFamily="2" charset="0"/>
                <a:ea typeface="Helvetica Neue" panose="02000503000000020004" pitchFamily="2" charset="0"/>
                <a:cs typeface="Helvetica Neue" panose="02000503000000020004" pitchFamily="2" charset="0"/>
              </a:rPr>
              <a:t>CONFIDENTIAL |  NOT FOR CIRCULATION</a:t>
            </a:r>
            <a:endParaRPr kumimoji="0" lang="en-GB" sz="1050" b="0" i="0" u="none" strike="noStrike" kern="1200" cap="none" spc="0" normalizeH="0" baseline="0" noProof="0">
              <a:ln>
                <a:noFill/>
              </a:ln>
              <a:solidFill>
                <a:srgbClr val="4C608C"/>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299453969"/>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EBF14B-D09E-D8EE-AB4D-5FE0B53F589D}"/>
              </a:ext>
            </a:extLst>
          </p:cNvPr>
          <p:cNvSpPr txBox="1"/>
          <p:nvPr userDrawn="1"/>
        </p:nvSpPr>
        <p:spPr>
          <a:xfrm>
            <a:off x="8762999" y="1"/>
            <a:ext cx="3580627" cy="252412"/>
          </a:xfrm>
          <a:prstGeom prst="rect">
            <a:avLst/>
          </a:prstGeom>
          <a:noFill/>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4C608C"/>
                </a:solidFill>
                <a:effectLst/>
                <a:uLnTx/>
                <a:uFillTx/>
                <a:latin typeface="Helvetica Neue" panose="02000503000000020004" pitchFamily="2" charset="0"/>
                <a:ea typeface="Helvetica Neue" panose="02000503000000020004" pitchFamily="2" charset="0"/>
                <a:cs typeface="Helvetica Neue" panose="02000503000000020004" pitchFamily="2" charset="0"/>
              </a:rPr>
              <a:t>CONFIDENTIAL |  NOT FOR CIRCULATION</a:t>
            </a:r>
            <a:endParaRPr kumimoji="0" lang="en-GB" sz="1050" b="0" i="0" u="none" strike="noStrike" kern="1200" cap="none" spc="0" normalizeH="0" baseline="0" noProof="0">
              <a:ln>
                <a:noFill/>
              </a:ln>
              <a:solidFill>
                <a:srgbClr val="4C608C"/>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246104446"/>
      </p:ext>
    </p:extLst>
  </p:cSld>
  <p:clrMap bg1="lt1" tx1="dk1" bg2="dk2" tx2="lt2" accent1="accent1" accent2="accent2" accent3="accent3" accent4="accent4" accent5="accent5" accent6="accent6" hlink="hlink" folHlink="folHlink"/>
  <p:sldLayoutIdLst>
    <p:sldLayoutId id="2147483782" r:id="rId1"/>
    <p:sldLayoutId id="2147483783" r:id="rId2"/>
  </p:sldLayoutIdLst>
  <p:hf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microsoft.com/office/2018/10/relationships/comments" Target="../comments/modernComment_7FFFFFBC_158DE5F5.xml"/><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18/10/relationships/comments" Target="../comments/modernComment_7FFFFFCD_8DD9C3EA.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2.emf"/></Relationships>
</file>

<file path=ppt/slides/_rels/slide5.xml.rels><?xml version="1.0" encoding="UTF-8" standalone="yes"?>
<Relationships xmlns="http://schemas.openxmlformats.org/package/2006/relationships"><Relationship Id="rId3" Type="http://schemas.microsoft.com/office/2018/10/relationships/comments" Target="../comments/modernComment_7FFFFFBE_96F7C6FF.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microsoft.com/office/2018/10/relationships/comments" Target="../comments/modernComment_7FFFFFCA_F4444600.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18/10/relationships/comments" Target="../comments/modernComment_7FFFFFCB_5BB01E40.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emf"/><Relationship Id="rId5" Type="http://schemas.openxmlformats.org/officeDocument/2006/relationships/image" Target="../media/image15.emf"/><Relationship Id="rId4" Type="http://schemas.openxmlformats.org/officeDocument/2006/relationships/image" Target="../media/image14.emf"/></Relationships>
</file>

<file path=ppt/slides/_rels/slide8.xml.rels><?xml version="1.0" encoding="UTF-8" standalone="yes"?>
<Relationships xmlns="http://schemas.openxmlformats.org/package/2006/relationships"><Relationship Id="rId3" Type="http://schemas.microsoft.com/office/2018/10/relationships/comments" Target="../comments/modernComment_7FFFFFD8_ED7ABDAD.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emf"/><Relationship Id="rId5" Type="http://schemas.openxmlformats.org/officeDocument/2006/relationships/image" Target="../media/image15.emf"/><Relationship Id="rId4" Type="http://schemas.openxmlformats.org/officeDocument/2006/relationships/image" Target="../media/image14.emf"/></Relationships>
</file>

<file path=ppt/slides/_rels/slide9.xml.rels><?xml version="1.0" encoding="UTF-8" standalone="yes"?>
<Relationships xmlns="http://schemas.openxmlformats.org/package/2006/relationships"><Relationship Id="rId3" Type="http://schemas.microsoft.com/office/2018/10/relationships/comments" Target="../comments/modernComment_7FFFFFD9_7D983E7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sv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8.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16E_F57E7E49.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7FFFFFC2_E5047BF.xml"/><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4.emf"/><Relationship Id="rId4" Type="http://schemas.openxmlformats.org/officeDocument/2006/relationships/image" Target="../media/image33.emf"/></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2.emf"/><Relationship Id="rId4" Type="http://schemas.openxmlformats.org/officeDocument/2006/relationships/image" Target="../media/image15.e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microsoft.com/office/2018/10/relationships/comments" Target="../comments/modernComment_7FFFFFCE_9C6E338.xml"/><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microsoft.com/office/2018/10/relationships/comments" Target="../comments/modernComment_150_787E0A17.xm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microsoft.com/office/2018/10/relationships/comments" Target="../comments/modernComment_151_C75BD213.xml"/><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microsoft.com/office/2018/10/relationships/comments" Target="../comments/modernComment_135_25241AEF.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microsoft.com/office/2018/10/relationships/comments" Target="../comments/modernComment_168_E9B1DBCB.xml"/><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microsoft.com/office/2018/10/relationships/comments" Target="../comments/modernComment_136_5998E6F8.xml"/><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microsoft.com/office/2018/10/relationships/comments" Target="../comments/modernComment_7FFFFFD2_5B21DF1.xml"/><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3" Type="http://schemas.microsoft.com/office/2018/10/relationships/comments" Target="../comments/modernComment_165_74A6DE4D.xml"/><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microsoft.com/office/2018/10/relationships/comments" Target="../comments/modernComment_156_F29C4BE3.xml"/><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microsoft.com/office/2018/10/relationships/comments" Target="../comments/modernComment_7FFFFFD3_35916FC2.xml"/><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microsoft.com/office/2018/10/relationships/comments" Target="../comments/modernComment_14A_F47CD0F0.xml"/><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microsoft.com/office/2018/10/relationships/comments" Target="../comments/modernComment_7FFFFFD1_341F636B.xml"/><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microsoft.com/office/2018/10/relationships/comments" Target="../comments/modernComment_15C_4A52D448.xml"/><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ext Placeholder 1">
            <a:extLst>
              <a:ext uri="{FF2B5EF4-FFF2-40B4-BE49-F238E27FC236}">
                <a16:creationId xmlns:a16="http://schemas.microsoft.com/office/drawing/2014/main" id="{4EA89C5B-371E-4F91-4B14-39B9F4D56C97}"/>
              </a:ext>
            </a:extLst>
          </p:cNvPr>
          <p:cNvSpPr>
            <a:spLocks noGrp="1" noChangeArrowheads="1"/>
          </p:cNvSpPr>
          <p:nvPr>
            <p:ph type="body" idx="1"/>
          </p:nvPr>
        </p:nvSpPr>
        <p:spPr bwMode="auto">
          <a:xfrm>
            <a:off x="143668" y="3608388"/>
            <a:ext cx="4841875" cy="1966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a:spcBef>
                <a:spcPct val="0"/>
              </a:spcBef>
              <a:spcAft>
                <a:spcPct val="0"/>
              </a:spcAft>
              <a:buClr>
                <a:srgbClr val="000000"/>
              </a:buClr>
              <a:buFont typeface="Arial" panose="020B0604020202020204" pitchFamily="34" charset="0"/>
              <a:buNone/>
            </a:pPr>
            <a:r>
              <a:rPr lang="en-US" altLang="en-US" sz="4000" b="1">
                <a:solidFill>
                  <a:srgbClr val="112D59"/>
                </a:solidFill>
                <a:latin typeface="Helvetica Neue" panose="02000503000000020004" pitchFamily="2" charset="0"/>
                <a:cs typeface="Arial" panose="020B0604020202020204" pitchFamily="34" charset="0"/>
                <a:sym typeface="Helvetica Neue" panose="02000503000000020004" pitchFamily="2" charset="0"/>
              </a:rPr>
              <a:t>ENABLING</a:t>
            </a:r>
          </a:p>
          <a:p>
            <a:pPr>
              <a:spcBef>
                <a:spcPct val="0"/>
              </a:spcBef>
              <a:spcAft>
                <a:spcPct val="0"/>
              </a:spcAft>
              <a:buClr>
                <a:srgbClr val="000000"/>
              </a:buClr>
              <a:buFont typeface="Arial" panose="020B0604020202020204" pitchFamily="34" charset="0"/>
              <a:buNone/>
            </a:pPr>
            <a:r>
              <a:rPr lang="en-US" altLang="en-US" sz="4000" b="1">
                <a:solidFill>
                  <a:srgbClr val="112D59"/>
                </a:solidFill>
                <a:latin typeface="Helvetica Neue" panose="02000503000000020004" pitchFamily="2" charset="0"/>
                <a:cs typeface="Arial" panose="020B0604020202020204" pitchFamily="34" charset="0"/>
                <a:sym typeface="Helvetica Neue" panose="02000503000000020004" pitchFamily="2" charset="0"/>
              </a:rPr>
              <a:t>SUCCESS</a:t>
            </a:r>
          </a:p>
        </p:txBody>
      </p:sp>
      <p:sp>
        <p:nvSpPr>
          <p:cNvPr id="19458" name="Text Placeholder 2">
            <a:extLst>
              <a:ext uri="{FF2B5EF4-FFF2-40B4-BE49-F238E27FC236}">
                <a16:creationId xmlns:a16="http://schemas.microsoft.com/office/drawing/2014/main" id="{4E626B21-C5AE-F649-9318-DDF22289320B}"/>
              </a:ext>
            </a:extLst>
          </p:cNvPr>
          <p:cNvSpPr>
            <a:spLocks noGrp="1" noChangeArrowheads="1"/>
          </p:cNvSpPr>
          <p:nvPr>
            <p:ph type="body" idx="2"/>
          </p:nvPr>
        </p:nvSpPr>
        <p:spPr bwMode="auto">
          <a:xfrm>
            <a:off x="158750" y="5043488"/>
            <a:ext cx="4703763" cy="736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a:spcAft>
                <a:spcPct val="0"/>
              </a:spcAft>
              <a:buClr>
                <a:srgbClr val="000000"/>
              </a:buClr>
              <a:buFont typeface="Arial" panose="020B0604020202020204" pitchFamily="34" charset="0"/>
              <a:buNone/>
            </a:pPr>
            <a:r>
              <a:rPr lang="en-US" altLang="en-US" sz="180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sym typeface="Helvetica Neue Light" panose="02000403000000020004" pitchFamily="2" charset="0"/>
              </a:rPr>
              <a:t>Nov 13, 2025 </a:t>
            </a:r>
          </a:p>
        </p:txBody>
      </p:sp>
      <p:cxnSp>
        <p:nvCxnSpPr>
          <p:cNvPr id="8" name="Straight Connector 7">
            <a:extLst>
              <a:ext uri="{FF2B5EF4-FFF2-40B4-BE49-F238E27FC236}">
                <a16:creationId xmlns:a16="http://schemas.microsoft.com/office/drawing/2014/main" id="{DB773F43-36EA-20C6-C6A3-116C399C7872}"/>
              </a:ext>
            </a:extLst>
          </p:cNvPr>
          <p:cNvCxnSpPr/>
          <p:nvPr/>
        </p:nvCxnSpPr>
        <p:spPr>
          <a:xfrm>
            <a:off x="471488" y="5043488"/>
            <a:ext cx="41862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5D4E9D82-A8D1-E789-9527-319451F69BFC}"/>
              </a:ext>
            </a:extLst>
          </p:cNvPr>
          <p:cNvPicPr>
            <a:picLocks noChangeAspect="1"/>
          </p:cNvPicPr>
          <p:nvPr/>
        </p:nvPicPr>
        <p:blipFill>
          <a:blip r:embed="rId2"/>
          <a:stretch>
            <a:fillRect/>
          </a:stretch>
        </p:blipFill>
        <p:spPr>
          <a:xfrm>
            <a:off x="257731" y="2475232"/>
            <a:ext cx="1705683" cy="7743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CFD12-E50C-ED68-A4ED-84ECB4C58FBC}"/>
            </a:ext>
          </a:extLst>
        </p:cNvPr>
        <p:cNvGrpSpPr/>
        <p:nvPr/>
      </p:nvGrpSpPr>
      <p:grpSpPr>
        <a:xfrm>
          <a:off x="0" y="0"/>
          <a:ext cx="0" cy="0"/>
          <a:chOff x="0" y="0"/>
          <a:chExt cx="0" cy="0"/>
        </a:xfrm>
      </p:grpSpPr>
      <p:sp>
        <p:nvSpPr>
          <p:cNvPr id="23" name="Text Placeholder 22">
            <a:extLst>
              <a:ext uri="{FF2B5EF4-FFF2-40B4-BE49-F238E27FC236}">
                <a16:creationId xmlns:a16="http://schemas.microsoft.com/office/drawing/2014/main" id="{5FC8D9A2-6039-FEEF-5282-8BE1773EEF7C}"/>
              </a:ext>
            </a:extLst>
          </p:cNvPr>
          <p:cNvSpPr>
            <a:spLocks noGrp="1"/>
          </p:cNvSpPr>
          <p:nvPr>
            <p:ph type="body" sz="quarter" idx="10"/>
          </p:nvPr>
        </p:nvSpPr>
        <p:spPr/>
        <p:txBody>
          <a:bodyPr/>
          <a:lstStyle/>
          <a:p>
            <a:r>
              <a:rPr lang="en-US" sz="2000" spc="0">
                <a:latin typeface="Helvetica Neue" panose="02000503000000020004" pitchFamily="2" charset="0"/>
                <a:ea typeface="Helvetica Neue" panose="02000503000000020004" pitchFamily="2" charset="0"/>
                <a:cs typeface="Helvetica Neue" panose="02000503000000020004" pitchFamily="2" charset="0"/>
              </a:rPr>
              <a:t>STAKEHOLDER INTERVIEWS AND INPUTS</a:t>
            </a:r>
            <a:endParaRPr lang="en-US" sz="200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4" name="Slide Number Placeholder 2">
            <a:extLst>
              <a:ext uri="{FF2B5EF4-FFF2-40B4-BE49-F238E27FC236}">
                <a16:creationId xmlns:a16="http://schemas.microsoft.com/office/drawing/2014/main" id="{54388F33-A9D5-9EF0-2EEF-3AFC0E332FB8}"/>
              </a:ext>
            </a:extLst>
          </p:cNvPr>
          <p:cNvSpPr>
            <a:spLocks noGrp="1"/>
          </p:cNvSpPr>
          <p:nvPr>
            <p:ph type="sldNum" sz="quarter" idx="4"/>
          </p:nvPr>
        </p:nvSpPr>
        <p:spPr>
          <a:xfrm>
            <a:off x="6205" y="253040"/>
            <a:ext cx="557048" cy="557048"/>
          </a:xfrm>
          <a:solidFill>
            <a:srgbClr val="001E5A"/>
          </a:solidFill>
        </p:spPr>
        <p:txBody>
          <a:bodyPr vert="horz" wrap="square" lIns="91425" tIns="45700" rIns="91425" bIns="45700" numCol="1" anchor="ctr" anchorCtr="0" compatLnSpc="1">
            <a:prstTxWarp prst="textNoShape">
              <a:avLst/>
            </a:prstTxWarp>
          </a:bodyPr>
          <a:lstStyle/>
          <a:p>
            <a:pPr eaLnBrk="1" hangingPunct="1">
              <a:buClr>
                <a:srgbClr val="000000"/>
              </a:buClr>
            </a:pPr>
            <a:fld id="{5F806934-C460-1C47-AF5D-CC9E191BC089}" type="slidenum">
              <a:rPr lang="en-US">
                <a:solidFill>
                  <a:srgbClr val="FFFFFF"/>
                </a:solidFill>
                <a:latin typeface="Helvetica Neue Roman" panose="02000503000000020004" pitchFamily="2" charset="0"/>
                <a:ea typeface="+mn-ea"/>
                <a:cs typeface="Arial" panose="020B0604020202020204" pitchFamily="34" charset="0"/>
                <a:sym typeface="Helvetica Neue" panose="02000503000000020004" pitchFamily="2" charset="0"/>
              </a:rPr>
              <a:pPr eaLnBrk="1" hangingPunct="1">
                <a:buClr>
                  <a:srgbClr val="000000"/>
                </a:buClr>
              </a:pPr>
              <a:t>2</a:t>
            </a:fld>
            <a:endParaRPr lang="en-US">
              <a:solidFill>
                <a:srgbClr val="FFFFFF"/>
              </a:solidFill>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15" name="object 48">
            <a:extLst>
              <a:ext uri="{FF2B5EF4-FFF2-40B4-BE49-F238E27FC236}">
                <a16:creationId xmlns:a16="http://schemas.microsoft.com/office/drawing/2014/main" id="{1A785ABD-1FCE-6608-2A99-6ACE746EF7F2}"/>
              </a:ext>
            </a:extLst>
          </p:cNvPr>
          <p:cNvSpPr/>
          <p:nvPr/>
        </p:nvSpPr>
        <p:spPr>
          <a:xfrm>
            <a:off x="3415048" y="3845504"/>
            <a:ext cx="7192181" cy="73249"/>
          </a:xfrm>
          <a:custGeom>
            <a:avLst/>
            <a:gdLst/>
            <a:ahLst/>
            <a:cxnLst/>
            <a:rect l="l" t="t" r="r" b="b"/>
            <a:pathLst>
              <a:path w="8338820">
                <a:moveTo>
                  <a:pt x="0" y="0"/>
                </a:moveTo>
                <a:lnTo>
                  <a:pt x="8338756" y="0"/>
                </a:lnTo>
              </a:path>
            </a:pathLst>
          </a:custGeom>
          <a:ln w="9525">
            <a:solidFill>
              <a:srgbClr val="C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31" name="object 94">
            <a:extLst>
              <a:ext uri="{FF2B5EF4-FFF2-40B4-BE49-F238E27FC236}">
                <a16:creationId xmlns:a16="http://schemas.microsoft.com/office/drawing/2014/main" id="{DEC83C23-DCEA-A10F-3155-C516687EFE9E}"/>
              </a:ext>
            </a:extLst>
          </p:cNvPr>
          <p:cNvSpPr/>
          <p:nvPr/>
        </p:nvSpPr>
        <p:spPr>
          <a:xfrm>
            <a:off x="8210425" y="1384972"/>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Abdullah </a:t>
            </a:r>
            <a:r>
              <a:rPr kumimoji="0" lang="en-GB" sz="1100" b="0" i="0" u="none" strike="noStrike" kern="1200" cap="none" spc="0" normalizeH="0" baseline="0" noProof="0" err="1">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Tahlak</a:t>
            </a:r>
            <a:endPar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(ADQ)</a:t>
            </a:r>
          </a:p>
        </p:txBody>
      </p:sp>
      <p:sp>
        <p:nvSpPr>
          <p:cNvPr id="32" name="object 94">
            <a:extLst>
              <a:ext uri="{FF2B5EF4-FFF2-40B4-BE49-F238E27FC236}">
                <a16:creationId xmlns:a16="http://schemas.microsoft.com/office/drawing/2014/main" id="{4126D09A-2D8E-E0BD-AFA1-8A82E448875D}"/>
              </a:ext>
            </a:extLst>
          </p:cNvPr>
          <p:cNvSpPr/>
          <p:nvPr/>
        </p:nvSpPr>
        <p:spPr>
          <a:xfrm>
            <a:off x="3415049" y="1381484"/>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marL="85725" algn="ctr">
              <a:spcBef>
                <a:spcPts val="0"/>
              </a:spcBef>
              <a:spcAft>
                <a:spcPts val="0"/>
              </a:spcAft>
              <a:defRPr/>
            </a:pPr>
            <a:r>
              <a:rPr lang="en-GB" sz="1100" b="1">
                <a:latin typeface="Helvetica Neue" panose="02000503000000020004" pitchFamily="2" charset="0"/>
              </a:rPr>
              <a:t>Jawad Shafique </a:t>
            </a:r>
            <a:endParaRPr lang="en-US" sz="1100" b="1">
              <a:latin typeface="Helvetica Neue" panose="02000503000000020004" pitchFamily="2" charset="0"/>
            </a:endParaRPr>
          </a:p>
          <a:p>
            <a:pPr marL="85725" algn="ctr">
              <a:spcBef>
                <a:spcPts val="0"/>
              </a:spcBef>
              <a:spcAft>
                <a:spcPts val="0"/>
              </a:spcAft>
              <a:defRPr/>
            </a:pPr>
            <a:r>
              <a:rPr kumimoji="0" lang="en-GB" sz="1100" b="1" i="0" u="none" strike="noStrike" kern="1200" cap="none" spc="0" normalizeH="0" baseline="0" noProof="0">
                <a:ln>
                  <a:noFill/>
                </a:ln>
                <a:solidFill>
                  <a:srgbClr val="000000"/>
                </a:solidFill>
                <a:effectLst/>
                <a:uLnTx/>
                <a:uFillTx/>
                <a:latin typeface="Helvetica Neue"/>
                <a:ea typeface="Helvetica Neue" panose="02000503000000020004" pitchFamily="2" charset="0"/>
                <a:cs typeface="Helvetica Neue" panose="02000503000000020004" pitchFamily="2" charset="0"/>
              </a:rPr>
              <a:t>(ADQ)</a:t>
            </a:r>
            <a:endParaRPr lang="en-US" b="1">
              <a:latin typeface="Helvetica Neue"/>
            </a:endParaRPr>
          </a:p>
        </p:txBody>
      </p:sp>
      <p:sp>
        <p:nvSpPr>
          <p:cNvPr id="33" name="object 94">
            <a:extLst>
              <a:ext uri="{FF2B5EF4-FFF2-40B4-BE49-F238E27FC236}">
                <a16:creationId xmlns:a16="http://schemas.microsoft.com/office/drawing/2014/main" id="{E26E87DC-CEA0-8136-DE37-A22A0B2BA4EA}"/>
              </a:ext>
            </a:extLst>
          </p:cNvPr>
          <p:cNvSpPr/>
          <p:nvPr/>
        </p:nvSpPr>
        <p:spPr>
          <a:xfrm>
            <a:off x="5853534" y="1867092"/>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Lucasz Wozniak</a:t>
            </a:r>
          </a:p>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(ADQ)</a:t>
            </a:r>
          </a:p>
        </p:txBody>
      </p:sp>
      <p:sp>
        <p:nvSpPr>
          <p:cNvPr id="34" name="object 94">
            <a:extLst>
              <a:ext uri="{FF2B5EF4-FFF2-40B4-BE49-F238E27FC236}">
                <a16:creationId xmlns:a16="http://schemas.microsoft.com/office/drawing/2014/main" id="{2F98F885-67AA-D613-D148-E3444CFDCB09}"/>
              </a:ext>
            </a:extLst>
          </p:cNvPr>
          <p:cNvSpPr/>
          <p:nvPr/>
        </p:nvSpPr>
        <p:spPr>
          <a:xfrm>
            <a:off x="5853534" y="1384973"/>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Mansoor </a:t>
            </a:r>
            <a:r>
              <a:rPr kumimoji="0" lang="en-GB" sz="1100" b="0" i="0" u="none" strike="noStrike" kern="1200" cap="none" spc="0" normalizeH="0" baseline="0" noProof="0" err="1">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Almarzooqi</a:t>
            </a:r>
            <a:endPar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(ADQ)</a:t>
            </a:r>
          </a:p>
        </p:txBody>
      </p:sp>
      <p:sp>
        <p:nvSpPr>
          <p:cNvPr id="35" name="object 94">
            <a:extLst>
              <a:ext uri="{FF2B5EF4-FFF2-40B4-BE49-F238E27FC236}">
                <a16:creationId xmlns:a16="http://schemas.microsoft.com/office/drawing/2014/main" id="{A554E1E1-396C-044C-2366-9991160032EC}"/>
              </a:ext>
            </a:extLst>
          </p:cNvPr>
          <p:cNvSpPr/>
          <p:nvPr/>
        </p:nvSpPr>
        <p:spPr>
          <a:xfrm>
            <a:off x="8292019" y="3313475"/>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Daniel Squires</a:t>
            </a:r>
          </a:p>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(Chief Commercial Officer)</a:t>
            </a:r>
          </a:p>
        </p:txBody>
      </p:sp>
      <p:sp>
        <p:nvSpPr>
          <p:cNvPr id="36" name="object 94">
            <a:extLst>
              <a:ext uri="{FF2B5EF4-FFF2-40B4-BE49-F238E27FC236}">
                <a16:creationId xmlns:a16="http://schemas.microsoft.com/office/drawing/2014/main" id="{FB2F26D9-834D-133E-BD1B-48AE36B6165D}"/>
              </a:ext>
            </a:extLst>
          </p:cNvPr>
          <p:cNvSpPr/>
          <p:nvPr/>
        </p:nvSpPr>
        <p:spPr>
          <a:xfrm>
            <a:off x="3415049" y="3313475"/>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Ludovic Lombard</a:t>
            </a:r>
          </a:p>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(Head of Risk)</a:t>
            </a:r>
          </a:p>
        </p:txBody>
      </p:sp>
      <p:sp>
        <p:nvSpPr>
          <p:cNvPr id="37" name="object 94">
            <a:extLst>
              <a:ext uri="{FF2B5EF4-FFF2-40B4-BE49-F238E27FC236}">
                <a16:creationId xmlns:a16="http://schemas.microsoft.com/office/drawing/2014/main" id="{578CCAEA-D500-7FE3-0853-6190D0646BB8}"/>
              </a:ext>
            </a:extLst>
          </p:cNvPr>
          <p:cNvSpPr/>
          <p:nvPr/>
        </p:nvSpPr>
        <p:spPr>
          <a:xfrm>
            <a:off x="3415049" y="4009774"/>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lvl="0" algn="ctr" eaLnBrk="1" fontAlgn="auto" hangingPunct="1">
              <a:spcBef>
                <a:spcPts val="0"/>
              </a:spcBef>
              <a:spcAft>
                <a:spcPts val="0"/>
              </a:spcAf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Deji </a:t>
            </a:r>
            <a:r>
              <a:rPr kumimoji="0" lang="en-GB" sz="1100" b="0" i="0" u="none" strike="noStrike" kern="1200" cap="none" spc="0" normalizeH="0" baseline="0" noProof="0" err="1">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Fatiregun</a:t>
            </a: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r>
              <a:rPr lang="en-GB" sz="1100">
                <a:latin typeface="Helvetica Neue" panose="02000503000000020004" pitchFamily="2" charset="0"/>
                <a:ea typeface="Helvetica Neue" panose="02000503000000020004" pitchFamily="2" charset="0"/>
                <a:cs typeface="Helvetica Neue" panose="02000503000000020004" pitchFamily="2" charset="0"/>
              </a:rPr>
              <a:t>– Head </a:t>
            </a: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of Core Systems IT</a:t>
            </a:r>
          </a:p>
        </p:txBody>
      </p:sp>
      <p:sp>
        <p:nvSpPr>
          <p:cNvPr id="38" name="object 94">
            <a:extLst>
              <a:ext uri="{FF2B5EF4-FFF2-40B4-BE49-F238E27FC236}">
                <a16:creationId xmlns:a16="http://schemas.microsoft.com/office/drawing/2014/main" id="{B7716851-7867-D47A-3F89-4EF3178D848D}"/>
              </a:ext>
            </a:extLst>
          </p:cNvPr>
          <p:cNvSpPr/>
          <p:nvPr/>
        </p:nvSpPr>
        <p:spPr>
          <a:xfrm>
            <a:off x="5853534" y="3313855"/>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Vimal Kumar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(Acting Chief Operation Officer)</a:t>
            </a:r>
          </a:p>
        </p:txBody>
      </p:sp>
      <p:sp>
        <p:nvSpPr>
          <p:cNvPr id="39" name="object 94">
            <a:extLst>
              <a:ext uri="{FF2B5EF4-FFF2-40B4-BE49-F238E27FC236}">
                <a16:creationId xmlns:a16="http://schemas.microsoft.com/office/drawing/2014/main" id="{353902B7-AE79-219A-2153-70E3DEE92978}"/>
              </a:ext>
            </a:extLst>
          </p:cNvPr>
          <p:cNvSpPr/>
          <p:nvPr/>
        </p:nvSpPr>
        <p:spPr>
          <a:xfrm>
            <a:off x="5853534" y="2878473"/>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Ammar Mian</a:t>
            </a:r>
          </a:p>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(Acting Chief Financial Officer)</a:t>
            </a:r>
          </a:p>
        </p:txBody>
      </p:sp>
      <p:sp>
        <p:nvSpPr>
          <p:cNvPr id="40" name="object 94">
            <a:extLst>
              <a:ext uri="{FF2B5EF4-FFF2-40B4-BE49-F238E27FC236}">
                <a16:creationId xmlns:a16="http://schemas.microsoft.com/office/drawing/2014/main" id="{E08D1814-EC8E-A36C-6006-33C8665145FC}"/>
              </a:ext>
            </a:extLst>
          </p:cNvPr>
          <p:cNvSpPr/>
          <p:nvPr/>
        </p:nvSpPr>
        <p:spPr>
          <a:xfrm>
            <a:off x="8292019" y="2870691"/>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Christoffer Nielsen</a:t>
            </a:r>
          </a:p>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(Chief Information Officer)</a:t>
            </a:r>
          </a:p>
        </p:txBody>
      </p:sp>
      <p:sp>
        <p:nvSpPr>
          <p:cNvPr id="41" name="object 94">
            <a:extLst>
              <a:ext uri="{FF2B5EF4-FFF2-40B4-BE49-F238E27FC236}">
                <a16:creationId xmlns:a16="http://schemas.microsoft.com/office/drawing/2014/main" id="{A9B54929-CBDF-08D2-EAC7-A0239EA125D3}"/>
              </a:ext>
            </a:extLst>
          </p:cNvPr>
          <p:cNvSpPr/>
          <p:nvPr/>
        </p:nvSpPr>
        <p:spPr>
          <a:xfrm>
            <a:off x="3415049" y="2841550"/>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Adeel Ghias</a:t>
            </a:r>
          </a:p>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(Head of Front Office)</a:t>
            </a:r>
          </a:p>
        </p:txBody>
      </p:sp>
      <p:sp>
        <p:nvSpPr>
          <p:cNvPr id="42" name="object 94">
            <a:extLst>
              <a:ext uri="{FF2B5EF4-FFF2-40B4-BE49-F238E27FC236}">
                <a16:creationId xmlns:a16="http://schemas.microsoft.com/office/drawing/2014/main" id="{CD396CFF-7038-E2C5-91D4-92559FA9B65F}"/>
              </a:ext>
            </a:extLst>
          </p:cNvPr>
          <p:cNvSpPr/>
          <p:nvPr/>
        </p:nvSpPr>
        <p:spPr>
          <a:xfrm>
            <a:off x="3415049" y="2314298"/>
            <a:ext cx="7192180" cy="477119"/>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solidFill>
            <a:srgbClr val="4C608C"/>
          </a:solidFill>
          <a:ln w="9525">
            <a:noFill/>
          </a:ln>
        </p:spPr>
        <p:txBody>
          <a:bodyPr wrap="square" lIns="0" tIns="0" rIns="0" bIns="0" rtlCol="0" anchor="ctr"/>
          <a:lstStyle/>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Ahmed </a:t>
            </a:r>
            <a:r>
              <a:rPr kumimoji="0" lang="en-GB" sz="1400" b="1" i="0" u="none" strike="noStrike" kern="1200" cap="none" spc="0" normalizeH="0" baseline="0" noProof="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AlMehairi</a:t>
            </a:r>
            <a:endParaRPr kumimoji="0" lang="en-GB" sz="1400" b="1" i="0" u="none" strike="noStrike" kern="1200" cap="none" spc="0" normalizeH="0" baseline="0" noProof="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Group CEO</a:t>
            </a:r>
          </a:p>
        </p:txBody>
      </p:sp>
      <p:sp>
        <p:nvSpPr>
          <p:cNvPr id="44" name="object 94">
            <a:extLst>
              <a:ext uri="{FF2B5EF4-FFF2-40B4-BE49-F238E27FC236}">
                <a16:creationId xmlns:a16="http://schemas.microsoft.com/office/drawing/2014/main" id="{C05041BC-8DE0-7FD7-15D3-77996810ED08}"/>
              </a:ext>
            </a:extLst>
          </p:cNvPr>
          <p:cNvSpPr/>
          <p:nvPr/>
        </p:nvSpPr>
        <p:spPr>
          <a:xfrm>
            <a:off x="3415049" y="4445185"/>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marL="85725" lvl="0" algn="ctr" eaLnBrk="1" fontAlgn="auto" hangingPunct="1">
              <a:spcBef>
                <a:spcPts val="0"/>
              </a:spcBef>
              <a:spcAft>
                <a:spcPts val="0"/>
              </a:spcAf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Hosam </a:t>
            </a:r>
            <a:r>
              <a:rPr kumimoji="0" lang="en-GB" sz="1100" b="0" i="0" u="none" strike="noStrike" kern="1200" cap="none" spc="0" normalizeH="0" baseline="0" noProof="0" err="1">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Hittini</a:t>
            </a: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r>
              <a:rPr lang="en-GB" sz="1100">
                <a:latin typeface="Helvetica Neue" panose="02000503000000020004" pitchFamily="2" charset="0"/>
                <a:ea typeface="Helvetica Neue" panose="02000503000000020004" pitchFamily="2" charset="0"/>
                <a:cs typeface="Helvetica Neue" panose="02000503000000020004" pitchFamily="2" charset="0"/>
              </a:rPr>
              <a:t>– </a:t>
            </a: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SOC Manager Cybersecurity, Risk</a:t>
            </a:r>
          </a:p>
        </p:txBody>
      </p:sp>
      <p:sp>
        <p:nvSpPr>
          <p:cNvPr id="45" name="object 94">
            <a:extLst>
              <a:ext uri="{FF2B5EF4-FFF2-40B4-BE49-F238E27FC236}">
                <a16:creationId xmlns:a16="http://schemas.microsoft.com/office/drawing/2014/main" id="{F94A9C9F-37ED-07A8-5ED5-2821413E25D6}"/>
              </a:ext>
            </a:extLst>
          </p:cNvPr>
          <p:cNvSpPr/>
          <p:nvPr/>
        </p:nvSpPr>
        <p:spPr>
          <a:xfrm>
            <a:off x="5854604" y="4433822"/>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Saikat Sengupta – Head of Data Engineering – Analytics</a:t>
            </a:r>
          </a:p>
        </p:txBody>
      </p:sp>
      <p:sp>
        <p:nvSpPr>
          <p:cNvPr id="46" name="object 94">
            <a:extLst>
              <a:ext uri="{FF2B5EF4-FFF2-40B4-BE49-F238E27FC236}">
                <a16:creationId xmlns:a16="http://schemas.microsoft.com/office/drawing/2014/main" id="{1C1397B0-54A6-3FBF-6B5F-D75563E42322}"/>
              </a:ext>
            </a:extLst>
          </p:cNvPr>
          <p:cNvSpPr/>
          <p:nvPr/>
        </p:nvSpPr>
        <p:spPr>
          <a:xfrm>
            <a:off x="8210425" y="1867668"/>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algn="ctr">
              <a:defRPr/>
            </a:pPr>
            <a:r>
              <a:rPr lang="en-GB" sz="1100">
                <a:latin typeface="Helvetica Neue"/>
                <a:ea typeface="Helvetica Neue" panose="02000503000000020004" pitchFamily="2" charset="0"/>
                <a:cs typeface="Helvetica Neue" panose="02000503000000020004" pitchFamily="2" charset="0"/>
              </a:rPr>
              <a:t>Hamad Al Shehhi</a:t>
            </a:r>
          </a:p>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a:ea typeface="Helvetica Neue" panose="02000503000000020004" pitchFamily="2" charset="0"/>
                <a:cs typeface="Helvetica Neue" panose="02000503000000020004" pitchFamily="2" charset="0"/>
              </a:rPr>
              <a:t>(ADQ)</a:t>
            </a:r>
            <a:endParaRPr lang="en-GB" sz="1100" b="0" i="0" u="none" strike="noStrike" kern="1200" cap="none" spc="0" normalizeH="0" baseline="0" noProof="0">
              <a:ln>
                <a:noFill/>
              </a:ln>
              <a:solidFill>
                <a:srgbClr val="000000"/>
              </a:solidFill>
              <a:effectLst/>
              <a:uLnTx/>
              <a:uFillTx/>
              <a:latin typeface="Helvetica Neue"/>
              <a:ea typeface="Helvetica Neue" panose="02000503000000020004" pitchFamily="2" charset="0"/>
              <a:cs typeface="Helvetica Neue" panose="02000503000000020004" pitchFamily="2" charset="0"/>
            </a:endParaRPr>
          </a:p>
        </p:txBody>
      </p:sp>
      <p:sp>
        <p:nvSpPr>
          <p:cNvPr id="47" name="object 94">
            <a:extLst>
              <a:ext uri="{FF2B5EF4-FFF2-40B4-BE49-F238E27FC236}">
                <a16:creationId xmlns:a16="http://schemas.microsoft.com/office/drawing/2014/main" id="{C176EA2C-3231-89DF-001E-77FEE7E94881}"/>
              </a:ext>
            </a:extLst>
          </p:cNvPr>
          <p:cNvSpPr/>
          <p:nvPr/>
        </p:nvSpPr>
        <p:spPr>
          <a:xfrm>
            <a:off x="5854604" y="4009774"/>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Odafe </a:t>
            </a:r>
            <a:r>
              <a:rPr kumimoji="0" lang="en-GB" sz="1100" b="0" i="0" u="none" strike="noStrike" kern="1200" cap="none" spc="0" normalizeH="0" baseline="0" noProof="0" err="1">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Ojenikoh</a:t>
            </a: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 – Head of Engineering IT</a:t>
            </a:r>
          </a:p>
        </p:txBody>
      </p:sp>
      <p:sp>
        <p:nvSpPr>
          <p:cNvPr id="48" name="object 37">
            <a:extLst>
              <a:ext uri="{FF2B5EF4-FFF2-40B4-BE49-F238E27FC236}">
                <a16:creationId xmlns:a16="http://schemas.microsoft.com/office/drawing/2014/main" id="{51DC55F6-18F9-ACA1-2E89-B0CBA572252F}"/>
              </a:ext>
            </a:extLst>
          </p:cNvPr>
          <p:cNvSpPr/>
          <p:nvPr/>
        </p:nvSpPr>
        <p:spPr>
          <a:xfrm>
            <a:off x="1256524" y="2929885"/>
            <a:ext cx="1071880" cy="1071880"/>
          </a:xfrm>
          <a:prstGeom prst="roundRect">
            <a:avLst/>
          </a:prstGeom>
          <a:solidFill>
            <a:srgbClr val="001E5A"/>
          </a:solidFill>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6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STRATEGIC PIVOTS</a:t>
            </a:r>
            <a:endParaRPr kumimoji="0" sz="1200" b="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0" name="object 39">
            <a:extLst>
              <a:ext uri="{FF2B5EF4-FFF2-40B4-BE49-F238E27FC236}">
                <a16:creationId xmlns:a16="http://schemas.microsoft.com/office/drawing/2014/main" id="{F943F2E4-4F48-AC68-1B23-5945C77262B6}"/>
              </a:ext>
            </a:extLst>
          </p:cNvPr>
          <p:cNvSpPr/>
          <p:nvPr/>
        </p:nvSpPr>
        <p:spPr>
          <a:xfrm>
            <a:off x="1242808" y="1528059"/>
            <a:ext cx="1071880" cy="1071880"/>
          </a:xfrm>
          <a:prstGeom prst="roundRect">
            <a:avLst/>
          </a:prstGeom>
          <a:solidFill>
            <a:srgbClr val="001E5A"/>
          </a:solidFill>
        </p:spPr>
        <p:txBody>
          <a:bodyPr wrap="square" lIns="0" tIns="0" rIns="0" bIns="0" rtlCol="0" anchor="ctr"/>
          <a:lstStyle/>
          <a:p>
            <a:pPr marL="12065" marR="5080" lvl="0" indent="-3810" algn="ctr" defTabSz="914400" rtl="0" eaLnBrk="1" fontAlgn="auto" latinLnBrk="0" hangingPunct="1">
              <a:lnSpc>
                <a:spcPct val="100000"/>
              </a:lnSpc>
              <a:spcBef>
                <a:spcPts val="95"/>
              </a:spcBef>
              <a:spcAft>
                <a:spcPts val="0"/>
              </a:spcAft>
              <a:buClrTx/>
              <a:buSzTx/>
              <a:buFontTx/>
              <a:buNone/>
              <a:tabLst/>
              <a:defRPr/>
            </a:pPr>
            <a:r>
              <a:rPr kumimoji="0" lang="en-IN" sz="1200" b="0" i="0" u="none" strike="noStrike" kern="1200" cap="none" spc="6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p>
          <a:p>
            <a:pPr marL="12065" marR="5080" lvl="0" indent="-3810" algn="ctr" defTabSz="914400" rtl="0" eaLnBrk="1" fontAlgn="auto" latinLnBrk="0" hangingPunct="1">
              <a:lnSpc>
                <a:spcPct val="100000"/>
              </a:lnSpc>
              <a:spcBef>
                <a:spcPts val="95"/>
              </a:spcBef>
              <a:spcAft>
                <a:spcPts val="0"/>
              </a:spcAft>
              <a:buClrTx/>
              <a:buSzTx/>
              <a:buFontTx/>
              <a:buNone/>
              <a:tabLst/>
              <a:defRPr/>
            </a:pPr>
            <a:r>
              <a:rPr kumimoji="0" lang="en-IN" sz="1200" b="0" i="0" u="none" strike="noStrike" kern="1200" cap="none" spc="6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VALUE</a:t>
            </a:r>
            <a:endParaRPr kumimoji="0" sz="1200" b="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2" name="object 41">
            <a:extLst>
              <a:ext uri="{FF2B5EF4-FFF2-40B4-BE49-F238E27FC236}">
                <a16:creationId xmlns:a16="http://schemas.microsoft.com/office/drawing/2014/main" id="{51D30C00-916D-80D2-FEE4-5CB18F69CE58}"/>
              </a:ext>
            </a:extLst>
          </p:cNvPr>
          <p:cNvSpPr/>
          <p:nvPr/>
        </p:nvSpPr>
        <p:spPr>
          <a:xfrm>
            <a:off x="1256524" y="4331712"/>
            <a:ext cx="1071880" cy="1071880"/>
          </a:xfrm>
          <a:prstGeom prst="roundRect">
            <a:avLst/>
          </a:prstGeom>
          <a:solidFill>
            <a:srgbClr val="001E5A"/>
          </a:solidFill>
        </p:spPr>
        <p:txBody>
          <a:bodyPr wrap="square" lIns="0" tIns="0" rIns="0" bIns="0" rtlCol="0" anchor="ct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lang="en-IN" sz="1200" b="0" i="0" u="none" strike="noStrike" kern="1200" cap="none" spc="6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rPr>
              <a:t>HOGAN</a:t>
            </a:r>
            <a:endParaRPr kumimoji="0" lang="en-IN" sz="1200" b="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4" name="object 44">
            <a:extLst>
              <a:ext uri="{FF2B5EF4-FFF2-40B4-BE49-F238E27FC236}">
                <a16:creationId xmlns:a16="http://schemas.microsoft.com/office/drawing/2014/main" id="{FD3EC260-D3BE-CEA2-9579-D189E207BA2E}"/>
              </a:ext>
            </a:extLst>
          </p:cNvPr>
          <p:cNvSpPr/>
          <p:nvPr/>
        </p:nvSpPr>
        <p:spPr>
          <a:xfrm>
            <a:off x="2669032" y="3238429"/>
            <a:ext cx="395363" cy="455717"/>
          </a:xfrm>
          <a:custGeom>
            <a:avLst/>
            <a:gdLst/>
            <a:ahLst/>
            <a:cxnLst/>
            <a:rect l="l" t="t" r="r" b="b"/>
            <a:pathLst>
              <a:path w="287019" h="330835">
                <a:moveTo>
                  <a:pt x="0" y="0"/>
                </a:moveTo>
                <a:lnTo>
                  <a:pt x="0" y="330708"/>
                </a:lnTo>
                <a:lnTo>
                  <a:pt x="286512" y="165354"/>
                </a:lnTo>
                <a:lnTo>
                  <a:pt x="0" y="0"/>
                </a:lnTo>
                <a:close/>
              </a:path>
            </a:pathLst>
          </a:custGeom>
          <a:solidFill>
            <a:srgbClr val="001E5A"/>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5" name="object 46">
            <a:extLst>
              <a:ext uri="{FF2B5EF4-FFF2-40B4-BE49-F238E27FC236}">
                <a16:creationId xmlns:a16="http://schemas.microsoft.com/office/drawing/2014/main" id="{7C6BFFA6-5DE1-6347-E515-7A1078110448}"/>
              </a:ext>
            </a:extLst>
          </p:cNvPr>
          <p:cNvSpPr/>
          <p:nvPr/>
        </p:nvSpPr>
        <p:spPr>
          <a:xfrm>
            <a:off x="1200135" y="5765836"/>
            <a:ext cx="1775207" cy="61769"/>
          </a:xfrm>
          <a:custGeom>
            <a:avLst/>
            <a:gdLst/>
            <a:ahLst/>
            <a:cxnLst/>
            <a:rect l="l" t="t" r="r" b="b"/>
            <a:pathLst>
              <a:path w="1214120">
                <a:moveTo>
                  <a:pt x="0" y="0"/>
                </a:moveTo>
                <a:lnTo>
                  <a:pt x="1214043" y="0"/>
                </a:lnTo>
              </a:path>
            </a:pathLst>
          </a:custGeom>
          <a:ln w="9525">
            <a:solidFill>
              <a:srgbClr val="C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6" name="object 47">
            <a:extLst>
              <a:ext uri="{FF2B5EF4-FFF2-40B4-BE49-F238E27FC236}">
                <a16:creationId xmlns:a16="http://schemas.microsoft.com/office/drawing/2014/main" id="{D0561BF3-ECC9-133C-BB02-8C34611D1BEE}"/>
              </a:ext>
            </a:extLst>
          </p:cNvPr>
          <p:cNvSpPr txBox="1"/>
          <p:nvPr/>
        </p:nvSpPr>
        <p:spPr>
          <a:xfrm>
            <a:off x="1200135" y="5934300"/>
            <a:ext cx="1775207" cy="153888"/>
          </a:xfrm>
          <a:prstGeom prst="rect">
            <a:avLst/>
          </a:prstGeom>
        </p:spPr>
        <p:txBody>
          <a:bodyPr vert="horz" wrap="square" lIns="0" tIns="12700" rIns="0" bIns="0" rtlCol="0">
            <a:spAutoFit/>
          </a:bodyPr>
          <a:lstStyle/>
          <a:p>
            <a:pPr marL="0" marR="0" lvl="0" indent="0" algn="ctr" defTabSz="914400" rtl="0" eaLnBrk="1" fontAlgn="auto" latinLnBrk="0" hangingPunct="1">
              <a:lnSpc>
                <a:spcPts val="1080"/>
              </a:lnSpc>
              <a:spcBef>
                <a:spcPts val="100"/>
              </a:spcBef>
              <a:spcAft>
                <a:spcPts val="0"/>
              </a:spcAft>
              <a:buClrTx/>
              <a:buSzTx/>
              <a:buFontTx/>
              <a:buNone/>
              <a:tabLst/>
              <a:defRPr/>
            </a:pPr>
            <a:r>
              <a:rPr kumimoji="0" sz="1000" b="0" i="0" u="none" strike="noStrike" kern="1200" cap="none" spc="5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DOCUMENTS</a:t>
            </a:r>
            <a:r>
              <a:rPr kumimoji="0" sz="1000" b="0" i="0" u="none" strike="noStrike" kern="1200" cap="none" spc="-15"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r>
              <a:rPr kumimoji="0" sz="1000" b="0" i="0" u="none" strike="noStrike" kern="1200" cap="none" spc="6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r>
              <a:rPr kumimoji="0" sz="1000" b="0" i="0" u="none" strike="noStrike" kern="1200" cap="none" spc="-4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r>
              <a:rPr kumimoji="0" sz="1000" b="0" i="0" u="none" strike="noStrike" kern="1200" cap="none" spc="-1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INTAKE</a:t>
            </a:r>
            <a:endParaRPr kumimoji="0" sz="1000" b="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 name="object 94">
            <a:extLst>
              <a:ext uri="{FF2B5EF4-FFF2-40B4-BE49-F238E27FC236}">
                <a16:creationId xmlns:a16="http://schemas.microsoft.com/office/drawing/2014/main" id="{7BBEAB00-0F60-AB7B-4AF5-B2DE0389E55B}"/>
              </a:ext>
            </a:extLst>
          </p:cNvPr>
          <p:cNvSpPr/>
          <p:nvPr/>
        </p:nvSpPr>
        <p:spPr>
          <a:xfrm>
            <a:off x="8268300" y="4419672"/>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Muhammad Zuhaib – Financial Controller </a:t>
            </a:r>
          </a:p>
        </p:txBody>
      </p:sp>
      <p:sp>
        <p:nvSpPr>
          <p:cNvPr id="5" name="object 94">
            <a:extLst>
              <a:ext uri="{FF2B5EF4-FFF2-40B4-BE49-F238E27FC236}">
                <a16:creationId xmlns:a16="http://schemas.microsoft.com/office/drawing/2014/main" id="{94EB2CB1-8B36-1CDD-3929-9714EC53B76F}"/>
              </a:ext>
            </a:extLst>
          </p:cNvPr>
          <p:cNvSpPr/>
          <p:nvPr/>
        </p:nvSpPr>
        <p:spPr>
          <a:xfrm>
            <a:off x="3415049" y="4906957"/>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Chris Dale – Head of Trading &amp; Quant Analytics, Front Office</a:t>
            </a:r>
          </a:p>
        </p:txBody>
      </p:sp>
      <p:sp>
        <p:nvSpPr>
          <p:cNvPr id="6" name="object 94">
            <a:extLst>
              <a:ext uri="{FF2B5EF4-FFF2-40B4-BE49-F238E27FC236}">
                <a16:creationId xmlns:a16="http://schemas.microsoft.com/office/drawing/2014/main" id="{D657F7E5-4A63-6789-FCAA-6E9A3B7BAC3F}"/>
              </a:ext>
            </a:extLst>
          </p:cNvPr>
          <p:cNvSpPr/>
          <p:nvPr/>
        </p:nvSpPr>
        <p:spPr>
          <a:xfrm>
            <a:off x="5862320" y="4899175"/>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Nikos </a:t>
            </a:r>
            <a:r>
              <a:rPr kumimoji="0" lang="en-GB" sz="1100" b="0" i="0" u="none" strike="noStrike" kern="1200" cap="none" spc="0" normalizeH="0" baseline="0" noProof="0" err="1">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Tsoskounoglou</a:t>
            </a: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 – Head  Quant Research, Front Of</a:t>
            </a:r>
            <a:r>
              <a:rPr lang="en-GB" sz="1100" err="1">
                <a:latin typeface="Helvetica Neue" panose="02000503000000020004" pitchFamily="2" charset="0"/>
                <a:ea typeface="Helvetica Neue" panose="02000503000000020004" pitchFamily="2" charset="0"/>
                <a:cs typeface="Helvetica Neue" panose="02000503000000020004" pitchFamily="2" charset="0"/>
              </a:rPr>
              <a:t>fice</a:t>
            </a:r>
            <a:endPar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object 94">
            <a:extLst>
              <a:ext uri="{FF2B5EF4-FFF2-40B4-BE49-F238E27FC236}">
                <a16:creationId xmlns:a16="http://schemas.microsoft.com/office/drawing/2014/main" id="{4B20B21C-7B60-AE5A-CDC6-48540C6A87B3}"/>
              </a:ext>
            </a:extLst>
          </p:cNvPr>
          <p:cNvSpPr/>
          <p:nvPr/>
        </p:nvSpPr>
        <p:spPr>
          <a:xfrm>
            <a:off x="8268300" y="4002600"/>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Vijay Kumar </a:t>
            </a:r>
            <a:r>
              <a:rPr kumimoji="0" lang="en-GB" sz="1100" b="0" i="0" u="none" strike="noStrike" kern="1200" cap="none" spc="0" normalizeH="0" baseline="0" noProof="0" err="1">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Boyina</a:t>
            </a: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 – Senior Finance Manager</a:t>
            </a:r>
          </a:p>
        </p:txBody>
      </p:sp>
      <p:sp>
        <p:nvSpPr>
          <p:cNvPr id="8" name="object 94">
            <a:extLst>
              <a:ext uri="{FF2B5EF4-FFF2-40B4-BE49-F238E27FC236}">
                <a16:creationId xmlns:a16="http://schemas.microsoft.com/office/drawing/2014/main" id="{FA8C69E9-E2CC-F657-8C1B-2B7374D88B96}"/>
              </a:ext>
            </a:extLst>
          </p:cNvPr>
          <p:cNvSpPr/>
          <p:nvPr/>
        </p:nvSpPr>
        <p:spPr>
          <a:xfrm>
            <a:off x="3415049" y="5373578"/>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Alia El </a:t>
            </a:r>
            <a:r>
              <a:rPr kumimoji="0" lang="en-GB" sz="1100" b="0" i="0" u="none" strike="noStrike" kern="1200" cap="none" spc="0" normalizeH="0" baseline="0" noProof="0" err="1">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Shazly</a:t>
            </a: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 – Head of Middle Office</a:t>
            </a:r>
          </a:p>
        </p:txBody>
      </p:sp>
      <p:sp>
        <p:nvSpPr>
          <p:cNvPr id="9" name="object 94">
            <a:extLst>
              <a:ext uri="{FF2B5EF4-FFF2-40B4-BE49-F238E27FC236}">
                <a16:creationId xmlns:a16="http://schemas.microsoft.com/office/drawing/2014/main" id="{EF5A72BF-4ABC-E001-556A-44CE41D21CBB}"/>
              </a:ext>
            </a:extLst>
          </p:cNvPr>
          <p:cNvSpPr/>
          <p:nvPr/>
        </p:nvSpPr>
        <p:spPr>
          <a:xfrm>
            <a:off x="8268300" y="4887599"/>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Srijan Katyal – Global Head of Strategy and Client Services</a:t>
            </a:r>
          </a:p>
        </p:txBody>
      </p:sp>
      <p:sp>
        <p:nvSpPr>
          <p:cNvPr id="16" name="object 94">
            <a:extLst>
              <a:ext uri="{FF2B5EF4-FFF2-40B4-BE49-F238E27FC236}">
                <a16:creationId xmlns:a16="http://schemas.microsoft.com/office/drawing/2014/main" id="{6DBCC4D5-DD12-935C-4C72-AD7E95A9EAB5}"/>
              </a:ext>
            </a:extLst>
          </p:cNvPr>
          <p:cNvSpPr/>
          <p:nvPr/>
        </p:nvSpPr>
        <p:spPr>
          <a:xfrm>
            <a:off x="5862320" y="5364528"/>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Shady Mohamed – Director of Client Onboarding</a:t>
            </a:r>
          </a:p>
        </p:txBody>
      </p:sp>
      <p:sp>
        <p:nvSpPr>
          <p:cNvPr id="17" name="object 94">
            <a:extLst>
              <a:ext uri="{FF2B5EF4-FFF2-40B4-BE49-F238E27FC236}">
                <a16:creationId xmlns:a16="http://schemas.microsoft.com/office/drawing/2014/main" id="{D3E10DFE-0340-A148-5C73-45AABEECFEE2}"/>
              </a:ext>
            </a:extLst>
          </p:cNvPr>
          <p:cNvSpPr/>
          <p:nvPr/>
        </p:nvSpPr>
        <p:spPr>
          <a:xfrm>
            <a:off x="8268300" y="5352952"/>
            <a:ext cx="2315210" cy="395063"/>
          </a:xfrm>
          <a:custGeom>
            <a:avLst/>
            <a:gdLst/>
            <a:ahLst/>
            <a:cxnLst/>
            <a:rect l="l" t="t" r="r" b="b"/>
            <a:pathLst>
              <a:path w="2315210" h="372110">
                <a:moveTo>
                  <a:pt x="0" y="62000"/>
                </a:moveTo>
                <a:lnTo>
                  <a:pt x="4872" y="37866"/>
                </a:lnTo>
                <a:lnTo>
                  <a:pt x="18159" y="18159"/>
                </a:lnTo>
                <a:lnTo>
                  <a:pt x="37866" y="4872"/>
                </a:lnTo>
                <a:lnTo>
                  <a:pt x="62000" y="0"/>
                </a:lnTo>
                <a:lnTo>
                  <a:pt x="2252755" y="0"/>
                </a:lnTo>
                <a:lnTo>
                  <a:pt x="2276888" y="4872"/>
                </a:lnTo>
                <a:lnTo>
                  <a:pt x="2296595" y="18159"/>
                </a:lnTo>
                <a:lnTo>
                  <a:pt x="2309882" y="37866"/>
                </a:lnTo>
                <a:lnTo>
                  <a:pt x="2314755" y="62000"/>
                </a:lnTo>
                <a:lnTo>
                  <a:pt x="2314755" y="309998"/>
                </a:lnTo>
                <a:lnTo>
                  <a:pt x="2309882" y="334132"/>
                </a:lnTo>
                <a:lnTo>
                  <a:pt x="2296595" y="353839"/>
                </a:lnTo>
                <a:lnTo>
                  <a:pt x="2276888" y="367126"/>
                </a:lnTo>
                <a:lnTo>
                  <a:pt x="2252755" y="371999"/>
                </a:lnTo>
                <a:lnTo>
                  <a:pt x="62000" y="371999"/>
                </a:lnTo>
                <a:lnTo>
                  <a:pt x="37866" y="367126"/>
                </a:lnTo>
                <a:lnTo>
                  <a:pt x="18159" y="353839"/>
                </a:lnTo>
                <a:lnTo>
                  <a:pt x="4872" y="334132"/>
                </a:lnTo>
                <a:lnTo>
                  <a:pt x="0" y="309998"/>
                </a:lnTo>
                <a:lnTo>
                  <a:pt x="0" y="62000"/>
                </a:lnTo>
                <a:close/>
              </a:path>
            </a:pathLst>
          </a:custGeom>
          <a:ln w="9525">
            <a:solidFill>
              <a:schemeClr val="tx1"/>
            </a:solidFill>
          </a:ln>
        </p:spPr>
        <p:txBody>
          <a:bodyPr wrap="square" lIns="0" tIns="0" rIns="0" bIns="0" rtlCol="0" anchor="ctr"/>
          <a:lstStyle/>
          <a:p>
            <a:pPr marL="85725"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Andrew Sherwood – Acting Head of Marketing</a:t>
            </a:r>
          </a:p>
        </p:txBody>
      </p:sp>
    </p:spTree>
    <p:extLst>
      <p:ext uri="{BB962C8B-B14F-4D97-AF65-F5344CB8AC3E}">
        <p14:creationId xmlns:p14="http://schemas.microsoft.com/office/powerpoint/2010/main" val="361620981"/>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F326CFFF-F145-C1F7-21BA-09983BC04413}"/>
            </a:ext>
          </a:extLst>
        </p:cNvPr>
        <p:cNvGrpSpPr/>
        <p:nvPr/>
      </p:nvGrpSpPr>
      <p:grpSpPr>
        <a:xfrm>
          <a:off x="0" y="0"/>
          <a:ext cx="0" cy="0"/>
          <a:chOff x="0" y="0"/>
          <a:chExt cx="0" cy="0"/>
        </a:xfrm>
      </p:grpSpPr>
      <p:sp>
        <p:nvSpPr>
          <p:cNvPr id="39" name="Rounded Rectangle 38">
            <a:extLst>
              <a:ext uri="{FF2B5EF4-FFF2-40B4-BE49-F238E27FC236}">
                <a16:creationId xmlns:a16="http://schemas.microsoft.com/office/drawing/2014/main" id="{68EF6C69-F5DD-FBB6-CBF1-2AD48854C94E}"/>
              </a:ext>
            </a:extLst>
          </p:cNvPr>
          <p:cNvSpPr/>
          <p:nvPr/>
        </p:nvSpPr>
        <p:spPr>
          <a:xfrm>
            <a:off x="619125" y="1136154"/>
            <a:ext cx="10906125" cy="2685667"/>
          </a:xfrm>
          <a:prstGeom prst="roundRect">
            <a:avLst>
              <a:gd name="adj" fmla="val 7477"/>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sym typeface="Arial" panose="020B0604020202020204" pitchFamily="34" charset="0"/>
            </a:endParaRPr>
          </a:p>
        </p:txBody>
      </p:sp>
      <p:sp>
        <p:nvSpPr>
          <p:cNvPr id="21507" name="Text Placeholder 1">
            <a:extLst>
              <a:ext uri="{FF2B5EF4-FFF2-40B4-BE49-F238E27FC236}">
                <a16:creationId xmlns:a16="http://schemas.microsoft.com/office/drawing/2014/main" id="{CBE77D99-E5A1-9F6C-1CA2-B3D5254FA71B}"/>
              </a:ext>
            </a:extLst>
          </p:cNvPr>
          <p:cNvSpPr>
            <a:spLocks noGrp="1" noChangeArrowheads="1"/>
          </p:cNvSpPr>
          <p:nvPr>
            <p:ph type="body" idx="1"/>
          </p:nvPr>
        </p:nvSpPr>
        <p:spPr bwMode="auto">
          <a:xfrm>
            <a:off x="727075" y="374650"/>
            <a:ext cx="7559675" cy="334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marL="0" indent="0">
              <a:spcBef>
                <a:spcPct val="0"/>
              </a:spcBef>
              <a:spcAft>
                <a:spcPct val="0"/>
              </a:spcAft>
              <a:buClr>
                <a:srgbClr val="000000"/>
              </a:buClr>
              <a:buSzPts val="2400"/>
              <a:buFont typeface="Arial" panose="020B0604020202020204" pitchFamily="34" charset="0"/>
              <a:buNone/>
            </a:pPr>
            <a:r>
              <a:rPr lang="en-US" altLang="en-US" sz="2000">
                <a:solidFill>
                  <a:srgbClr val="002060"/>
                </a:solidFill>
                <a:latin typeface="Helvetica Neue" panose="02000503000000020004" pitchFamily="2" charset="0"/>
                <a:ea typeface="Helvetica Neue" panose="02000503000000020004" pitchFamily="2" charset="0"/>
                <a:cs typeface="Helvetica Neue" panose="02000503000000020004" pitchFamily="2" charset="0"/>
                <a:sym typeface="Helvetica Neue Light" panose="02000403000000020004" pitchFamily="2" charset="0"/>
              </a:rPr>
              <a:t>STRATEGIC PIVOTS | ADSS GROUP JOURNEY</a:t>
            </a:r>
          </a:p>
        </p:txBody>
      </p:sp>
      <p:sp>
        <p:nvSpPr>
          <p:cNvPr id="21508" name="Slide Number Placeholder 2">
            <a:extLst>
              <a:ext uri="{FF2B5EF4-FFF2-40B4-BE49-F238E27FC236}">
                <a16:creationId xmlns:a16="http://schemas.microsoft.com/office/drawing/2014/main" id="{CA9C582D-E1AC-D0B0-2D63-8D5DE3C11360}"/>
              </a:ext>
            </a:extLst>
          </p:cNvPr>
          <p:cNvSpPr>
            <a:spLocks noGrp="1" noChangeArrowheads="1"/>
          </p:cNvSpPr>
          <p:nvPr>
            <p:ph type="sldNum" sz="quarter" idx="10"/>
          </p:nvPr>
        </p:nvSpPr>
        <p:spPr>
          <a:xfrm>
            <a:off x="0" y="238125"/>
            <a:ext cx="557213" cy="557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94E6AC2-D12E-1843-971E-E4F9DE4AA8B8}"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3</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1517" name="TextBox 37">
            <a:extLst>
              <a:ext uri="{FF2B5EF4-FFF2-40B4-BE49-F238E27FC236}">
                <a16:creationId xmlns:a16="http://schemas.microsoft.com/office/drawing/2014/main" id="{0B52038D-68CA-7BE4-E5A1-5716A3A06334}"/>
              </a:ext>
            </a:extLst>
          </p:cNvPr>
          <p:cNvSpPr txBox="1">
            <a:spLocks noChangeArrowheads="1"/>
          </p:cNvSpPr>
          <p:nvPr/>
        </p:nvSpPr>
        <p:spPr bwMode="auto">
          <a:xfrm>
            <a:off x="4613573" y="831354"/>
            <a:ext cx="274895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400" b="1" i="0" u="none" strike="noStrike" kern="1200" cap="none" spc="0" normalizeH="0" baseline="0" noProof="0">
                <a:ln>
                  <a:noFill/>
                </a:ln>
                <a:solidFill>
                  <a:srgbClr val="364878"/>
                </a:solidFill>
                <a:effectLst/>
                <a:uLnTx/>
                <a:uFillTx/>
                <a:latin typeface="Helvetica Neue" panose="02000503000000020004" pitchFamily="2" charset="0"/>
                <a:ea typeface="+mn-ea"/>
                <a:cs typeface="Arial" panose="020B0604020202020204" pitchFamily="34" charset="0"/>
                <a:sym typeface="Arial" panose="020B0604020202020204" pitchFamily="34" charset="0"/>
              </a:rPr>
              <a:t>ALIGNED STRATEGIC PIVOTS</a:t>
            </a:r>
          </a:p>
        </p:txBody>
      </p:sp>
      <p:graphicFrame>
        <p:nvGraphicFramePr>
          <p:cNvPr id="50" name="Table 49">
            <a:extLst>
              <a:ext uri="{FF2B5EF4-FFF2-40B4-BE49-F238E27FC236}">
                <a16:creationId xmlns:a16="http://schemas.microsoft.com/office/drawing/2014/main" id="{6D0FF0CA-775D-8C74-EDB2-6E2617287644}"/>
              </a:ext>
            </a:extLst>
          </p:cNvPr>
          <p:cNvGraphicFramePr>
            <a:graphicFrameLocks noGrp="1"/>
          </p:cNvGraphicFramePr>
          <p:nvPr>
            <p:extLst>
              <p:ext uri="{D42A27DB-BD31-4B8C-83A1-F6EECF244321}">
                <p14:modId xmlns:p14="http://schemas.microsoft.com/office/powerpoint/2010/main" val="1196237504"/>
              </p:ext>
            </p:extLst>
          </p:nvPr>
        </p:nvGraphicFramePr>
        <p:xfrm>
          <a:off x="642937" y="1185295"/>
          <a:ext cx="10906125" cy="2636527"/>
        </p:xfrm>
        <a:graphic>
          <a:graphicData uri="http://schemas.openxmlformats.org/drawingml/2006/table">
            <a:tbl>
              <a:tblPr/>
              <a:tblGrid>
                <a:gridCol w="5189537">
                  <a:extLst>
                    <a:ext uri="{9D8B030D-6E8A-4147-A177-3AD203B41FA5}">
                      <a16:colId xmlns:a16="http://schemas.microsoft.com/office/drawing/2014/main" val="2907086215"/>
                    </a:ext>
                  </a:extLst>
                </a:gridCol>
                <a:gridCol w="393700">
                  <a:extLst>
                    <a:ext uri="{9D8B030D-6E8A-4147-A177-3AD203B41FA5}">
                      <a16:colId xmlns:a16="http://schemas.microsoft.com/office/drawing/2014/main" val="514660018"/>
                    </a:ext>
                  </a:extLst>
                </a:gridCol>
                <a:gridCol w="5322888">
                  <a:extLst>
                    <a:ext uri="{9D8B030D-6E8A-4147-A177-3AD203B41FA5}">
                      <a16:colId xmlns:a16="http://schemas.microsoft.com/office/drawing/2014/main" val="1241288393"/>
                    </a:ext>
                  </a:extLst>
                </a:gridCol>
              </a:tblGrid>
              <a:tr h="461963">
                <a:tc>
                  <a:txBody>
                    <a:bodyPr/>
                    <a:lstStyle/>
                    <a:p>
                      <a:pPr marL="0" marR="0" lvl="0" indent="0" algn="r" defTabSz="914400" rtl="0" eaLnBrk="1" fontAlgn="base" latinLnBrk="0" hangingPunct="0">
                        <a:lnSpc>
                          <a:spcPct val="100000"/>
                        </a:lnSpc>
                        <a:spcBef>
                          <a:spcPct val="0"/>
                        </a:spcBef>
                        <a:spcAft>
                          <a:spcPct val="0"/>
                        </a:spcAft>
                        <a:buClr>
                          <a:srgbClr val="000000"/>
                        </a:buClr>
                        <a:buSzTx/>
                        <a:buFont typeface="Arial" panose="020B0604020202020204" pitchFamily="34" charset="0"/>
                        <a:buNone/>
                        <a:tabLst/>
                      </a:pPr>
                      <a:r>
                        <a:rPr kumimoji="0" lang="en-US" altLang="en-US" sz="900" b="0" i="0" u="none" strike="noStrike" cap="none" normalizeH="0" baseline="0">
                          <a:ln>
                            <a:noFill/>
                          </a:ln>
                          <a:solidFill>
                            <a:schemeClr val="tx1"/>
                          </a:solidFill>
                          <a:effectLst/>
                          <a:latin typeface="Helvetica Neue" panose="02000503000000020004" pitchFamily="2" charset="0"/>
                          <a:cs typeface="Arial" panose="020B0604020202020204" pitchFamily="34" charset="0"/>
                          <a:sym typeface="Arial" panose="020B0604020202020204" pitchFamily="34" charset="0"/>
                        </a:rPr>
                        <a:t> Transformation/clean-up approach focused on cost reductions and legacy issue resolution</a:t>
                      </a:r>
                    </a:p>
                  </a:txBody>
                  <a:tcPr marT="45723" marB="45723" anchor="ctr" horzOverflow="overflow">
                    <a:lnL>
                      <a:noFill/>
                    </a:lnL>
                    <a:lnR>
                      <a:noFill/>
                    </a:lnR>
                    <a:lnT>
                      <a:noFill/>
                    </a:lnT>
                    <a:lnB>
                      <a:noFill/>
                    </a:lnB>
                    <a:lnTlToBr>
                      <a:noFill/>
                    </a:lnTlToBr>
                    <a:lnBlToTr>
                      <a:noFill/>
                    </a:lnBlToTr>
                    <a:noFill/>
                  </a:tcPr>
                </a:tc>
                <a:tc>
                  <a:txBody>
                    <a:bodyPr/>
                    <a:lstStyle/>
                    <a:p>
                      <a:pPr marL="0" marR="0" lvl="2"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pPr>
                      <a:endParaRPr kumimoji="0" lang="en-US" altLang="en-US" sz="900" b="0" i="0" u="none" strike="noStrike" cap="none" normalizeH="0" baseline="0">
                        <a:ln>
                          <a:noFill/>
                        </a:ln>
                        <a:solidFill>
                          <a:srgbClr val="B3092D"/>
                        </a:solidFill>
                        <a:effectLst/>
                        <a:latin typeface="Helvetica Neue" panose="02000503000000020004" pitchFamily="2" charset="0"/>
                        <a:cs typeface="Arial" panose="020B0604020202020204" pitchFamily="34" charset="0"/>
                        <a:sym typeface="Arial" panose="020B0604020202020204" pitchFamily="34" charset="0"/>
                      </a:endParaRPr>
                    </a:p>
                  </a:txBody>
                  <a:tcPr marT="45723" marB="45723"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0">
                        <a:lnSpc>
                          <a:spcPct val="100000"/>
                        </a:lnSpc>
                        <a:spcBef>
                          <a:spcPct val="0"/>
                        </a:spcBef>
                        <a:spcAft>
                          <a:spcPct val="0"/>
                        </a:spcAft>
                        <a:buClrTx/>
                        <a:buSzTx/>
                        <a:buFont typeface="Arial" panose="020B0604020202020204" pitchFamily="34" charset="0"/>
                        <a:buNone/>
                        <a:tabLst/>
                      </a:pPr>
                      <a:r>
                        <a:rPr kumimoji="0" lang="en-GB" altLang="en-US" sz="900" b="0" i="0" u="none" strike="noStrike" cap="none" normalizeH="0" baseline="0">
                          <a:ln>
                            <a:noFill/>
                          </a:ln>
                          <a:solidFill>
                            <a:schemeClr val="tx1"/>
                          </a:solidFill>
                          <a:effectLst/>
                          <a:latin typeface="Helvetica Neue" panose="02000503000000020004" pitchFamily="2" charset="0"/>
                          <a:cs typeface="Arial" panose="020B0604020202020204" pitchFamily="34" charset="0"/>
                          <a:sym typeface="Arial" panose="020B0604020202020204" pitchFamily="34" charset="0"/>
                        </a:rPr>
                        <a:t>Strategic, value-driven cost management that prioritizes investment in growth, digital transformation, and talent—ensuring every dollar saved directly enables ADSS’s long-term competitiveness and scalable business outcomes</a:t>
                      </a:r>
                    </a:p>
                  </a:txBody>
                  <a:tcPr marT="45723" marB="45723"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3639924223"/>
                  </a:ext>
                </a:extLst>
              </a:tr>
              <a:tr h="461963">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r" defTabSz="914400" rtl="0" eaLnBrk="1"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900" b="0" i="0" u="none" strike="noStrike" cap="none" normalizeH="0" baseline="0">
                          <a:ln>
                            <a:noFill/>
                          </a:ln>
                          <a:solidFill>
                            <a:schemeClr val="tx1"/>
                          </a:solidFill>
                          <a:effectLst/>
                          <a:latin typeface="Helvetica Neue" panose="02000503000000020004" pitchFamily="2" charset="0"/>
                          <a:cs typeface="Arial" panose="020B0604020202020204" pitchFamily="34" charset="0"/>
                          <a:sym typeface="Arial" panose="020B0604020202020204" pitchFamily="34" charset="0"/>
                        </a:rPr>
                        <a:t>Single‑product CFD broker</a:t>
                      </a:r>
                    </a:p>
                  </a:txBody>
                  <a:tcPr marT="45723" marB="45723" anchor="ctr" horzOverflow="overflow">
                    <a:lnL>
                      <a:noFill/>
                    </a:lnL>
                    <a:lnR>
                      <a:noFill/>
                    </a:lnR>
                    <a:lnT>
                      <a:noFill/>
                    </a:lnT>
                    <a:lnB>
                      <a:noFill/>
                    </a:lnB>
                    <a:lnTlToBr>
                      <a:noFill/>
                    </a:lnTlToBr>
                    <a:lnBlToTr>
                      <a:noFill/>
                    </a:lnBlToTr>
                    <a:noFill/>
                  </a:tcPr>
                </a:tc>
                <a:tc>
                  <a:txBody>
                    <a:bodyPr/>
                    <a:lstStyle>
                      <a:lvl1pPr marL="342900" indent="-3429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2"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pPr>
                      <a:endParaRPr kumimoji="0" lang="en-IN" altLang="en-US" sz="900" b="0" i="0" u="none" strike="noStrike" cap="none" normalizeH="0" baseline="0">
                        <a:ln>
                          <a:noFill/>
                        </a:ln>
                        <a:solidFill>
                          <a:schemeClr val="tx1"/>
                        </a:solidFill>
                        <a:effectLst/>
                        <a:latin typeface="Helvetica Neue" panose="02000503000000020004" pitchFamily="2" charset="0"/>
                        <a:cs typeface="Arial" panose="020B0604020202020204" pitchFamily="34" charset="0"/>
                        <a:sym typeface="Arial" panose="020B0604020202020204" pitchFamily="34" charset="0"/>
                      </a:endParaRPr>
                    </a:p>
                  </a:txBody>
                  <a:tcPr marT="45723" marB="45723" anchor="ctr" horzOverflow="overflow">
                    <a:lnL>
                      <a:noFill/>
                    </a:lnL>
                    <a:lnR>
                      <a:noFill/>
                    </a:lnR>
                    <a:lnT>
                      <a:noFill/>
                    </a:lnT>
                    <a:lnB>
                      <a:noFill/>
                    </a:lnB>
                    <a:lnTlToBr>
                      <a:noFill/>
                    </a:lnTlToBr>
                    <a:lnBlToTr>
                      <a:noFill/>
                    </a:lnBlToTr>
                    <a:no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0">
                        <a:lnSpc>
                          <a:spcPct val="100000"/>
                        </a:lnSpc>
                        <a:spcBef>
                          <a:spcPct val="0"/>
                        </a:spcBef>
                        <a:spcAft>
                          <a:spcPct val="0"/>
                        </a:spcAft>
                        <a:buClrTx/>
                        <a:buSzTx/>
                        <a:buFont typeface="Arial" panose="020B0604020202020204" pitchFamily="34" charset="0"/>
                        <a:buNone/>
                        <a:tabLst/>
                        <a:defRPr/>
                      </a:pPr>
                      <a:r>
                        <a:rPr kumimoji="0" lang="en-GB" altLang="en-US" sz="900" b="0" i="0" u="none" strike="noStrike" cap="none" normalizeH="0" baseline="0">
                          <a:ln>
                            <a:noFill/>
                          </a:ln>
                          <a:solidFill>
                            <a:schemeClr val="tx1"/>
                          </a:solidFill>
                          <a:effectLst/>
                          <a:latin typeface="Helvetica Neue" panose="02000503000000020004" pitchFamily="2" charset="0"/>
                          <a:cs typeface="Arial" panose="020B0604020202020204" pitchFamily="34" charset="0"/>
                          <a:sym typeface="Arial" panose="020B0604020202020204" pitchFamily="34" charset="0"/>
                        </a:rPr>
                        <a:t>Multi‑product regional brokerage &amp; wealth platform (cash equities, ETFs, ETDs, crypto, savings, institutional FX, white-label)</a:t>
                      </a:r>
                    </a:p>
                  </a:txBody>
                  <a:tcPr marT="45723" marB="45723"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125582085"/>
                  </a:ext>
                </a:extLst>
              </a:tr>
              <a:tr h="533400">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r" defTabSz="914400" rtl="0" eaLnBrk="1" fontAlgn="base" latinLnBrk="0" hangingPunct="0">
                        <a:lnSpc>
                          <a:spcPct val="100000"/>
                        </a:lnSpc>
                        <a:spcBef>
                          <a:spcPct val="0"/>
                        </a:spcBef>
                        <a:spcAft>
                          <a:spcPct val="0"/>
                        </a:spcAft>
                        <a:buClrTx/>
                        <a:buSzTx/>
                        <a:buFont typeface="Arial" panose="020B0604020202020204" pitchFamily="34" charset="0"/>
                        <a:buNone/>
                        <a:tabLst/>
                      </a:pPr>
                      <a:r>
                        <a:rPr kumimoji="0" lang="en-GB" altLang="en-US" sz="900" b="0" i="0" u="none" strike="noStrike" cap="none" normalizeH="0" baseline="0">
                          <a:ln>
                            <a:noFill/>
                          </a:ln>
                          <a:solidFill>
                            <a:schemeClr val="tx1"/>
                          </a:solidFill>
                          <a:effectLst/>
                          <a:latin typeface="Helvetica Neue" panose="02000503000000020004" pitchFamily="2" charset="0"/>
                          <a:cs typeface="Arial" panose="020B0604020202020204" pitchFamily="34" charset="0"/>
                          <a:sym typeface="Arial" panose="020B0604020202020204" pitchFamily="34" charset="0"/>
                        </a:rPr>
                        <a:t>High‑concentration retail base with high churn</a:t>
                      </a:r>
                    </a:p>
                  </a:txBody>
                  <a:tcPr marT="45723" marB="45723" anchor="ctr" horzOverflow="overflow">
                    <a:lnL>
                      <a:noFill/>
                    </a:lnL>
                    <a:lnR>
                      <a:noFill/>
                    </a:lnR>
                    <a:lnT>
                      <a:noFill/>
                    </a:lnT>
                    <a:lnB>
                      <a:noFill/>
                    </a:lnB>
                    <a:lnTlToBr>
                      <a:noFill/>
                    </a:lnTlToBr>
                    <a:lnBlToTr>
                      <a:noFill/>
                    </a:lnBlToTr>
                    <a:noFill/>
                  </a:tcPr>
                </a:tc>
                <a:tc>
                  <a:txBody>
                    <a:bodyPr/>
                    <a:lstStyle>
                      <a:lvl1pPr marL="342900" indent="-3429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2"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pPr>
                      <a:endParaRPr kumimoji="0" lang="en-IN" altLang="en-US" sz="900" b="0" i="0" u="none" strike="noStrike" cap="none" normalizeH="0" baseline="0">
                        <a:ln>
                          <a:noFill/>
                        </a:ln>
                        <a:solidFill>
                          <a:schemeClr val="tx1"/>
                        </a:solidFill>
                        <a:effectLst/>
                        <a:latin typeface="Helvetica Neue" panose="02000503000000020004" pitchFamily="2" charset="0"/>
                        <a:cs typeface="Arial" panose="020B0604020202020204" pitchFamily="34" charset="0"/>
                        <a:sym typeface="Arial" panose="020B0604020202020204" pitchFamily="34" charset="0"/>
                      </a:endParaRPr>
                    </a:p>
                  </a:txBody>
                  <a:tcPr marT="45723" marB="45723" anchor="ctr" horzOverflow="overflow">
                    <a:lnL>
                      <a:noFill/>
                    </a:lnL>
                    <a:lnR>
                      <a:noFill/>
                    </a:lnR>
                    <a:lnT>
                      <a:noFill/>
                    </a:lnT>
                    <a:lnB>
                      <a:noFill/>
                    </a:lnB>
                    <a:lnTlToBr>
                      <a:noFill/>
                    </a:lnTlToBr>
                    <a:lnBlToTr>
                      <a:noFill/>
                    </a:lnBlToTr>
                    <a:no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0">
                        <a:lnSpc>
                          <a:spcPct val="100000"/>
                        </a:lnSpc>
                        <a:spcBef>
                          <a:spcPct val="0"/>
                        </a:spcBef>
                        <a:spcAft>
                          <a:spcPct val="0"/>
                        </a:spcAft>
                        <a:buClrTx/>
                        <a:buSzTx/>
                        <a:buFont typeface="Arial" panose="020B0604020202020204" pitchFamily="34" charset="0"/>
                        <a:buNone/>
                        <a:tabLst/>
                        <a:defRPr/>
                      </a:pPr>
                      <a:r>
                        <a:rPr kumimoji="0" lang="en-GB" altLang="en-US" sz="900" b="0" i="0" u="none" strike="noStrike" cap="none" normalizeH="0" baseline="0">
                          <a:ln>
                            <a:noFill/>
                          </a:ln>
                          <a:solidFill>
                            <a:schemeClr val="tx1"/>
                          </a:solidFill>
                          <a:effectLst/>
                          <a:latin typeface="Helvetica Neue" panose="02000503000000020004" pitchFamily="2" charset="0"/>
                          <a:cs typeface="Arial" panose="020B0604020202020204" pitchFamily="34" charset="0"/>
                          <a:sym typeface="Arial" panose="020B0604020202020204" pitchFamily="34" charset="0"/>
                        </a:rPr>
                        <a:t>Diversified client mix (mass savers, affluent, HNWI, institutions) and a retention‑first commercial model (savings accounts, </a:t>
                      </a:r>
                      <a:r>
                        <a:rPr kumimoji="0" lang="en-GB" altLang="en-US" sz="900" b="0" i="0" u="none" strike="noStrike" cap="none" normalizeH="0" baseline="0" err="1">
                          <a:ln>
                            <a:noFill/>
                          </a:ln>
                          <a:solidFill>
                            <a:schemeClr val="tx1"/>
                          </a:solidFill>
                          <a:effectLst/>
                          <a:latin typeface="Helvetica Neue" panose="02000503000000020004" pitchFamily="2" charset="0"/>
                          <a:cs typeface="Arial" panose="020B0604020202020204" pitchFamily="34" charset="0"/>
                          <a:sym typeface="Arial" panose="020B0604020202020204" pitchFamily="34" charset="0"/>
                        </a:rPr>
                        <a:t>robo</a:t>
                      </a:r>
                      <a:r>
                        <a:rPr kumimoji="0" lang="en-GB" altLang="en-US" sz="900" b="0" i="0" u="none" strike="noStrike" cap="none" normalizeH="0" baseline="0">
                          <a:ln>
                            <a:noFill/>
                          </a:ln>
                          <a:solidFill>
                            <a:schemeClr val="tx1"/>
                          </a:solidFill>
                          <a:effectLst/>
                          <a:latin typeface="Helvetica Neue" panose="02000503000000020004" pitchFamily="2" charset="0"/>
                          <a:cs typeface="Arial" panose="020B0604020202020204" pitchFamily="34" charset="0"/>
                          <a:sym typeface="Arial" panose="020B0604020202020204" pitchFamily="34" charset="0"/>
                        </a:rPr>
                        <a:t>/advisory)</a:t>
                      </a:r>
                    </a:p>
                  </a:txBody>
                  <a:tcPr marT="45723" marB="45723"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4154813964"/>
                  </a:ext>
                </a:extLst>
              </a:tr>
              <a:tr h="533400">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r" defTabSz="914400" rtl="0" eaLnBrk="1" fontAlgn="base" latinLnBrk="0" hangingPunct="0">
                        <a:lnSpc>
                          <a:spcPct val="100000"/>
                        </a:lnSpc>
                        <a:spcBef>
                          <a:spcPct val="0"/>
                        </a:spcBef>
                        <a:spcAft>
                          <a:spcPct val="0"/>
                        </a:spcAft>
                        <a:buClrTx/>
                        <a:buSzTx/>
                        <a:buFont typeface="Arial" panose="020B0604020202020204" pitchFamily="34" charset="0"/>
                        <a:buNone/>
                        <a:tabLst/>
                      </a:pPr>
                      <a:r>
                        <a:rPr kumimoji="0" lang="en-GB" altLang="en-US" sz="900" b="0" i="0" u="none" strike="noStrike" cap="none" normalizeH="0" baseline="0">
                          <a:ln>
                            <a:noFill/>
                          </a:ln>
                          <a:solidFill>
                            <a:schemeClr val="tx1"/>
                          </a:solidFill>
                          <a:effectLst/>
                          <a:latin typeface="Helvetica Neue" panose="02000503000000020004" pitchFamily="2" charset="0"/>
                          <a:cs typeface="Arial" panose="020B0604020202020204" pitchFamily="34" charset="0"/>
                          <a:sym typeface="Arial" panose="020B0604020202020204" pitchFamily="34" charset="0"/>
                        </a:rPr>
                        <a:t>Fragmented legacy tech &amp; manual operations</a:t>
                      </a:r>
                      <a:endParaRPr kumimoji="0" lang="en-GB" altLang="en-US" sz="900" b="0" i="0" u="none" strike="noStrike" cap="none" normalizeH="0" baseline="0">
                        <a:ln>
                          <a:noFill/>
                        </a:ln>
                        <a:solidFill>
                          <a:srgbClr val="000000"/>
                        </a:solidFill>
                        <a:effectLst/>
                        <a:latin typeface="Helvetica Neue" panose="02000503000000020004" pitchFamily="2" charset="0"/>
                        <a:cs typeface="Arial" panose="020B0604020202020204" pitchFamily="34" charset="0"/>
                        <a:sym typeface="Arial" panose="020B0604020202020204" pitchFamily="34" charset="0"/>
                      </a:endParaRPr>
                    </a:p>
                  </a:txBody>
                  <a:tcPr marT="45723" marB="45723" anchor="ctr" horzOverflow="overflow">
                    <a:lnL>
                      <a:noFill/>
                    </a:lnL>
                    <a:lnR>
                      <a:noFill/>
                    </a:lnR>
                    <a:lnT>
                      <a:noFill/>
                    </a:lnT>
                    <a:lnB>
                      <a:noFill/>
                    </a:lnB>
                    <a:lnTlToBr>
                      <a:noFill/>
                    </a:lnTlToBr>
                    <a:lnBlToTr>
                      <a:noFill/>
                    </a:lnBlToTr>
                    <a:noFill/>
                  </a:tcPr>
                </a:tc>
                <a:tc>
                  <a:txBody>
                    <a:bodyPr/>
                    <a:lstStyle>
                      <a:lvl1pPr marL="342900" indent="-3429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2"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pPr>
                      <a:endParaRPr kumimoji="0" lang="en-US" altLang="en-US" sz="900" b="0" i="0" u="none" strike="noStrike" cap="none" normalizeH="0" baseline="0">
                        <a:ln>
                          <a:noFill/>
                        </a:ln>
                        <a:solidFill>
                          <a:schemeClr val="tx1"/>
                        </a:solidFill>
                        <a:effectLst/>
                        <a:latin typeface="Helvetica Neue" panose="02000503000000020004" pitchFamily="2" charset="0"/>
                        <a:cs typeface="Arial" panose="020B0604020202020204" pitchFamily="34" charset="0"/>
                        <a:sym typeface="Arial" panose="020B0604020202020204" pitchFamily="34" charset="0"/>
                      </a:endParaRPr>
                    </a:p>
                  </a:txBody>
                  <a:tcPr marT="45723" marB="45723" anchor="ctr" horzOverflow="overflow">
                    <a:lnL>
                      <a:noFill/>
                    </a:lnL>
                    <a:lnR>
                      <a:noFill/>
                    </a:lnR>
                    <a:lnT>
                      <a:noFill/>
                    </a:lnT>
                    <a:lnB>
                      <a:noFill/>
                    </a:lnB>
                    <a:lnTlToBr>
                      <a:noFill/>
                    </a:lnTlToBr>
                    <a:lnBlToTr>
                      <a:noFill/>
                    </a:lnBlToTr>
                    <a:no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0">
                        <a:lnSpc>
                          <a:spcPct val="100000"/>
                        </a:lnSpc>
                        <a:spcBef>
                          <a:spcPct val="0"/>
                        </a:spcBef>
                        <a:spcAft>
                          <a:spcPct val="0"/>
                        </a:spcAft>
                        <a:buClrTx/>
                        <a:buSzTx/>
                        <a:buFont typeface="Arial" panose="020B0604020202020204" pitchFamily="34" charset="0"/>
                        <a:buNone/>
                        <a:tabLst/>
                      </a:pPr>
                      <a:r>
                        <a:rPr kumimoji="0" lang="en-GB" altLang="en-US" sz="900" b="0" i="0" u="none" strike="noStrike" cap="none" normalizeH="0" baseline="0">
                          <a:ln>
                            <a:noFill/>
                          </a:ln>
                          <a:solidFill>
                            <a:schemeClr val="tx1"/>
                          </a:solidFill>
                          <a:effectLst/>
                          <a:latin typeface="Helvetica Neue" panose="02000503000000020004" pitchFamily="2" charset="0"/>
                          <a:cs typeface="Arial" panose="020B0604020202020204" pitchFamily="34" charset="0"/>
                          <a:sym typeface="Arial" panose="020B0604020202020204" pitchFamily="34" charset="0"/>
                        </a:rPr>
                        <a:t>Unified digital backbone, scalable with exchange connectivity, APIs and automated client journeys</a:t>
                      </a:r>
                    </a:p>
                  </a:txBody>
                  <a:tcPr marT="45723" marB="45723"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992319856"/>
                  </a:ext>
                </a:extLst>
              </a:tr>
              <a:tr h="604838">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r" defTabSz="914400" rtl="0" eaLnBrk="1"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900" b="0" i="0" u="none" strike="noStrike" cap="none" normalizeH="0" baseline="0">
                          <a:ln>
                            <a:noFill/>
                          </a:ln>
                          <a:solidFill>
                            <a:schemeClr val="tx1"/>
                          </a:solidFill>
                          <a:effectLst/>
                          <a:latin typeface="Helvetica Neue" panose="02000503000000020004" pitchFamily="2" charset="0"/>
                          <a:cs typeface="Arial" panose="020B0604020202020204" pitchFamily="34" charset="0"/>
                          <a:sym typeface="Arial" panose="020B0604020202020204" pitchFamily="34" charset="0"/>
                        </a:rPr>
                        <a:t>UAE‑only operations</a:t>
                      </a:r>
                    </a:p>
                  </a:txBody>
                  <a:tcPr marT="45723" marB="45723" anchor="ctr" horzOverflow="overflow">
                    <a:lnL>
                      <a:noFill/>
                    </a:lnL>
                    <a:lnR>
                      <a:noFill/>
                    </a:lnR>
                    <a:lnT>
                      <a:noFill/>
                    </a:lnT>
                    <a:lnB>
                      <a:noFill/>
                    </a:lnB>
                    <a:lnTlToBr>
                      <a:noFill/>
                    </a:lnTlToBr>
                    <a:lnBlToTr>
                      <a:noFill/>
                    </a:lnBlToTr>
                    <a:noFill/>
                  </a:tcPr>
                </a:tc>
                <a:tc>
                  <a:txBody>
                    <a:bodyPr/>
                    <a:lstStyle>
                      <a:lvl1pPr marL="342900" indent="-3429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2" indent="0" algn="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pPr>
                      <a:endParaRPr kumimoji="0" lang="en-US" altLang="en-US" sz="900" b="0" i="0" u="none" strike="noStrike" cap="none" normalizeH="0" baseline="0">
                        <a:ln>
                          <a:noFill/>
                        </a:ln>
                        <a:solidFill>
                          <a:schemeClr val="tx1"/>
                        </a:solidFill>
                        <a:effectLst/>
                        <a:latin typeface="Helvetica Neue" panose="02000503000000020004" pitchFamily="2" charset="0"/>
                        <a:cs typeface="Arial" panose="020B0604020202020204" pitchFamily="34" charset="0"/>
                        <a:sym typeface="Arial" panose="020B0604020202020204" pitchFamily="34" charset="0"/>
                      </a:endParaRPr>
                    </a:p>
                  </a:txBody>
                  <a:tcPr marT="45723" marB="45723" anchor="ctr" horzOverflow="overflow">
                    <a:lnL>
                      <a:noFill/>
                    </a:lnL>
                    <a:lnR>
                      <a:noFill/>
                    </a:lnR>
                    <a:lnT>
                      <a:noFill/>
                    </a:lnT>
                    <a:lnB>
                      <a:noFill/>
                    </a:lnB>
                    <a:lnTlToBr>
                      <a:noFill/>
                    </a:lnTlToBr>
                    <a:lnBlToTr>
                      <a:noFill/>
                    </a:lnBlToTr>
                    <a:no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0">
                        <a:lnSpc>
                          <a:spcPct val="100000"/>
                        </a:lnSpc>
                        <a:spcBef>
                          <a:spcPct val="0"/>
                        </a:spcBef>
                        <a:spcAft>
                          <a:spcPct val="0"/>
                        </a:spcAft>
                        <a:buClrTx/>
                        <a:buSzTx/>
                        <a:buFont typeface="Arial" panose="020B0604020202020204" pitchFamily="34" charset="0"/>
                        <a:buNone/>
                        <a:tabLst/>
                        <a:defRPr/>
                      </a:pPr>
                      <a:r>
                        <a:rPr kumimoji="0" lang="en-GB" altLang="en-US" sz="900" b="0" i="0" u="none" strike="noStrike" cap="none" normalizeH="0" baseline="0">
                          <a:ln>
                            <a:noFill/>
                          </a:ln>
                          <a:solidFill>
                            <a:schemeClr val="tx1"/>
                          </a:solidFill>
                          <a:effectLst/>
                          <a:latin typeface="Helvetica Neue" panose="02000503000000020004" pitchFamily="2" charset="0"/>
                          <a:cs typeface="Arial" panose="020B0604020202020204" pitchFamily="34" charset="0"/>
                          <a:sym typeface="Arial" panose="020B0604020202020204" pitchFamily="34" charset="0"/>
                        </a:rPr>
                        <a:t>MENA + Africa regional footprint with targeted local presence (local offices in KSA and South Africa; partnerships/remote servicing for Turkey and other markets)</a:t>
                      </a:r>
                    </a:p>
                  </a:txBody>
                  <a:tcPr marT="45723" marB="45723"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394241924"/>
                  </a:ext>
                </a:extLst>
              </a:tr>
            </a:tbl>
          </a:graphicData>
        </a:graphic>
      </p:graphicFrame>
      <p:cxnSp>
        <p:nvCxnSpPr>
          <p:cNvPr id="52" name="Straight Connector 51">
            <a:extLst>
              <a:ext uri="{FF2B5EF4-FFF2-40B4-BE49-F238E27FC236}">
                <a16:creationId xmlns:a16="http://schemas.microsoft.com/office/drawing/2014/main" id="{11606074-1469-D9E2-26C1-D9E6BBC9A175}"/>
              </a:ext>
            </a:extLst>
          </p:cNvPr>
          <p:cNvCxnSpPr>
            <a:cxnSpLocks/>
          </p:cNvCxnSpPr>
          <p:nvPr/>
        </p:nvCxnSpPr>
        <p:spPr>
          <a:xfrm>
            <a:off x="619125" y="1663204"/>
            <a:ext cx="109061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87F0E97-3A28-2C8E-4B68-36D654BC2273}"/>
              </a:ext>
            </a:extLst>
          </p:cNvPr>
          <p:cNvCxnSpPr>
            <a:cxnSpLocks/>
          </p:cNvCxnSpPr>
          <p:nvPr/>
        </p:nvCxnSpPr>
        <p:spPr>
          <a:xfrm>
            <a:off x="619125" y="2201367"/>
            <a:ext cx="109061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E244491-8C4D-BBA9-EA15-8473CCD8FE09}"/>
              </a:ext>
            </a:extLst>
          </p:cNvPr>
          <p:cNvCxnSpPr>
            <a:cxnSpLocks/>
          </p:cNvCxnSpPr>
          <p:nvPr/>
        </p:nvCxnSpPr>
        <p:spPr>
          <a:xfrm>
            <a:off x="619125" y="2741779"/>
            <a:ext cx="109061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BF3CB1D-0D51-0D32-1AA5-B7279E1E3579}"/>
              </a:ext>
            </a:extLst>
          </p:cNvPr>
          <p:cNvCxnSpPr>
            <a:cxnSpLocks/>
          </p:cNvCxnSpPr>
          <p:nvPr/>
        </p:nvCxnSpPr>
        <p:spPr>
          <a:xfrm>
            <a:off x="619125" y="3302314"/>
            <a:ext cx="109061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7" name="Triangle 56">
            <a:extLst>
              <a:ext uri="{FF2B5EF4-FFF2-40B4-BE49-F238E27FC236}">
                <a16:creationId xmlns:a16="http://schemas.microsoft.com/office/drawing/2014/main" id="{788CFF85-A3DB-B30E-9487-A4B78E60E275}"/>
              </a:ext>
            </a:extLst>
          </p:cNvPr>
          <p:cNvSpPr/>
          <p:nvPr/>
        </p:nvSpPr>
        <p:spPr>
          <a:xfrm rot="5400000">
            <a:off x="5945187" y="1361580"/>
            <a:ext cx="161925" cy="139700"/>
          </a:xfrm>
          <a:prstGeom prst="triangl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sym typeface="Arial" panose="020B0604020202020204" pitchFamily="34" charset="0"/>
            </a:endParaRPr>
          </a:p>
        </p:txBody>
      </p:sp>
      <p:sp>
        <p:nvSpPr>
          <p:cNvPr id="58" name="Triangle 57">
            <a:extLst>
              <a:ext uri="{FF2B5EF4-FFF2-40B4-BE49-F238E27FC236}">
                <a16:creationId xmlns:a16="http://schemas.microsoft.com/office/drawing/2014/main" id="{EA753874-95AC-144B-762E-A559F14C387C}"/>
              </a:ext>
            </a:extLst>
          </p:cNvPr>
          <p:cNvSpPr/>
          <p:nvPr/>
        </p:nvSpPr>
        <p:spPr>
          <a:xfrm rot="5400000">
            <a:off x="5945187" y="1855292"/>
            <a:ext cx="161925" cy="139700"/>
          </a:xfrm>
          <a:prstGeom prst="triangl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sym typeface="Arial" panose="020B0604020202020204" pitchFamily="34" charset="0"/>
            </a:endParaRPr>
          </a:p>
        </p:txBody>
      </p:sp>
      <p:sp>
        <p:nvSpPr>
          <p:cNvPr id="59" name="Triangle 58">
            <a:extLst>
              <a:ext uri="{FF2B5EF4-FFF2-40B4-BE49-F238E27FC236}">
                <a16:creationId xmlns:a16="http://schemas.microsoft.com/office/drawing/2014/main" id="{29607FC4-FC4A-13F5-FA39-863266E2A7C5}"/>
              </a:ext>
            </a:extLst>
          </p:cNvPr>
          <p:cNvSpPr/>
          <p:nvPr/>
        </p:nvSpPr>
        <p:spPr>
          <a:xfrm rot="5400000">
            <a:off x="5945187" y="2357955"/>
            <a:ext cx="161925" cy="139700"/>
          </a:xfrm>
          <a:prstGeom prst="triangl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sym typeface="Arial" panose="020B0604020202020204" pitchFamily="34" charset="0"/>
            </a:endParaRPr>
          </a:p>
        </p:txBody>
      </p:sp>
      <p:sp>
        <p:nvSpPr>
          <p:cNvPr id="60" name="Triangle 59">
            <a:extLst>
              <a:ext uri="{FF2B5EF4-FFF2-40B4-BE49-F238E27FC236}">
                <a16:creationId xmlns:a16="http://schemas.microsoft.com/office/drawing/2014/main" id="{474A8DB0-96A1-9A29-3D88-91152028F88C}"/>
              </a:ext>
            </a:extLst>
          </p:cNvPr>
          <p:cNvSpPr/>
          <p:nvPr/>
        </p:nvSpPr>
        <p:spPr>
          <a:xfrm rot="5400000">
            <a:off x="5945187" y="2924692"/>
            <a:ext cx="161925" cy="139700"/>
          </a:xfrm>
          <a:prstGeom prst="triangl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sym typeface="Arial" panose="020B0604020202020204" pitchFamily="34" charset="0"/>
            </a:endParaRPr>
          </a:p>
        </p:txBody>
      </p:sp>
      <p:sp>
        <p:nvSpPr>
          <p:cNvPr id="61" name="Triangle 60">
            <a:extLst>
              <a:ext uri="{FF2B5EF4-FFF2-40B4-BE49-F238E27FC236}">
                <a16:creationId xmlns:a16="http://schemas.microsoft.com/office/drawing/2014/main" id="{315FFE7A-561E-0E58-A3A1-260466DE9D0C}"/>
              </a:ext>
            </a:extLst>
          </p:cNvPr>
          <p:cNvSpPr/>
          <p:nvPr/>
        </p:nvSpPr>
        <p:spPr>
          <a:xfrm rot="5400000">
            <a:off x="5945981" y="3443011"/>
            <a:ext cx="160337" cy="139700"/>
          </a:xfrm>
          <a:prstGeom prst="triangl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sym typeface="Arial" panose="020B0604020202020204" pitchFamily="34" charset="0"/>
            </a:endParaRPr>
          </a:p>
        </p:txBody>
      </p:sp>
      <p:sp>
        <p:nvSpPr>
          <p:cNvPr id="5" name="Rounded Rectangle 4">
            <a:extLst>
              <a:ext uri="{FF2B5EF4-FFF2-40B4-BE49-F238E27FC236}">
                <a16:creationId xmlns:a16="http://schemas.microsoft.com/office/drawing/2014/main" id="{952E8B02-7B57-2FF3-F4B1-4C24AF375B9F}"/>
              </a:ext>
            </a:extLst>
          </p:cNvPr>
          <p:cNvSpPr/>
          <p:nvPr/>
        </p:nvSpPr>
        <p:spPr>
          <a:xfrm>
            <a:off x="773909" y="5234374"/>
            <a:ext cx="1600199" cy="667725"/>
          </a:xfrm>
          <a:prstGeom prst="roundRect">
            <a:avLst>
              <a:gd name="adj" fmla="val 12240"/>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Lato"/>
                <a:ea typeface="Lato"/>
                <a:cs typeface="Lato"/>
                <a:sym typeface="Lato"/>
              </a:rPr>
              <a:t>TRANSFORMATION / COST / LEGACY ISSUES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solidFill>
                  <a:srgbClr val="FFFFFF"/>
                </a:solidFill>
                <a:latin typeface="Helvetica Neue"/>
                <a:ea typeface="Helvetica Neue" panose="02000503000000020004" pitchFamily="2" charset="0"/>
                <a:cs typeface="Helvetica Neue" panose="02000503000000020004" pitchFamily="2" charset="0"/>
                <a:sym typeface="Lato"/>
              </a:rPr>
              <a:t>2</a:t>
            </a:r>
            <a:r>
              <a:rPr kumimoji="0" lang="en-US" sz="1600" b="1" i="0" u="none" strike="noStrike" kern="1200" cap="none" spc="0" normalizeH="0" baseline="0" noProof="0">
                <a:ln>
                  <a:noFill/>
                </a:ln>
                <a:solidFill>
                  <a:srgbClr val="FFFFFF"/>
                </a:solidFill>
                <a:effectLst/>
                <a:uLnTx/>
                <a:uFillTx/>
                <a:latin typeface="Helvetica Neue"/>
                <a:ea typeface="Helvetica Neue" panose="02000503000000020004" pitchFamily="2" charset="0"/>
                <a:cs typeface="Helvetica Neue" panose="02000503000000020004" pitchFamily="2" charset="0"/>
                <a:sym typeface="Lato"/>
              </a:rPr>
              <a:t>0%</a:t>
            </a:r>
            <a:endParaRPr kumimoji="0" lang="en-US" sz="1600" b="0" i="0" u="none" strike="noStrike" kern="1200" cap="none" spc="0" normalizeH="0" baseline="0" noProof="0">
              <a:ln>
                <a:noFill/>
              </a:ln>
              <a:solidFill>
                <a:srgbClr val="FFFFFF"/>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endParaRPr>
          </a:p>
        </p:txBody>
      </p:sp>
      <p:sp>
        <p:nvSpPr>
          <p:cNvPr id="6" name="Rounded Rectangle 5">
            <a:extLst>
              <a:ext uri="{FF2B5EF4-FFF2-40B4-BE49-F238E27FC236}">
                <a16:creationId xmlns:a16="http://schemas.microsoft.com/office/drawing/2014/main" id="{C86EBEB8-EB08-EE86-4610-79E761F29615}"/>
              </a:ext>
            </a:extLst>
          </p:cNvPr>
          <p:cNvSpPr/>
          <p:nvPr/>
        </p:nvSpPr>
        <p:spPr>
          <a:xfrm>
            <a:off x="2459835" y="5234374"/>
            <a:ext cx="1600199" cy="667725"/>
          </a:xfrm>
          <a:prstGeom prst="roundRect">
            <a:avLst>
              <a:gd name="adj" fmla="val 12240"/>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anchor="t"/>
          <a:lstStyle/>
          <a:p>
            <a:pPr marL="0" marR="0" lvl="0" indent="0" algn="l" defTabSz="914400" rtl="0" eaLnBrk="0" fontAlgn="base" latinLnBrk="0" hangingPunct="0">
              <a:lnSpc>
                <a:spcPct val="100000"/>
              </a:lnSpc>
              <a:spcBef>
                <a:spcPts val="0"/>
              </a:spcBef>
              <a:spcAft>
                <a:spcPts val="0"/>
              </a:spcAft>
              <a:buClr>
                <a:srgbClr val="FFFFFF"/>
              </a:buClr>
              <a:buSzPts val="1200"/>
              <a:buFont typeface="Lato"/>
              <a:buNone/>
              <a:tabLst/>
              <a:defRPr/>
            </a:pPr>
            <a:r>
              <a:rPr kumimoji="0" lang="en-US" sz="800" b="1" i="0" u="none" strike="noStrike" kern="1200" cap="none" spc="0" normalizeH="0" baseline="0" noProof="0">
                <a:ln>
                  <a:noFill/>
                </a:ln>
                <a:solidFill>
                  <a:srgbClr val="FFFFFF"/>
                </a:solidFill>
                <a:effectLst/>
                <a:uLnTx/>
                <a:uFillTx/>
                <a:latin typeface="Lato"/>
                <a:ea typeface="Lato"/>
                <a:cs typeface="Lato"/>
                <a:sym typeface="Lato"/>
              </a:rPr>
              <a:t>GROWTH</a:t>
            </a:r>
            <a:br>
              <a:rPr kumimoji="0" lang="en-US" sz="800" b="1" i="0" u="none" strike="noStrike" kern="1200" cap="none" spc="0" normalizeH="0" baseline="0" noProof="0">
                <a:ln>
                  <a:noFill/>
                </a:ln>
                <a:solidFill>
                  <a:srgbClr val="FFFFFF"/>
                </a:solidFill>
                <a:effectLst/>
                <a:uLnTx/>
                <a:uFillTx/>
                <a:latin typeface="Lato"/>
                <a:ea typeface="Lato"/>
                <a:cs typeface="Lato"/>
                <a:sym typeface="Lato"/>
              </a:rPr>
            </a:br>
            <a:endParaRPr kumimoji="0" lang="en-US" sz="800" b="1" i="0" u="none" strike="noStrike" kern="1200" cap="none" spc="0" normalizeH="0" baseline="0" noProof="0">
              <a:ln>
                <a:noFill/>
              </a:ln>
              <a:solidFill>
                <a:srgbClr val="FFFFFF"/>
              </a:solidFill>
              <a:effectLst/>
              <a:uLnTx/>
              <a:uFillTx/>
              <a:latin typeface="Lato"/>
              <a:ea typeface="Lato"/>
              <a:cs typeface="Lato"/>
              <a:sym typeface="Lato"/>
            </a:endParaRPr>
          </a:p>
          <a:p>
            <a:pPr marL="0" marR="0" lvl="0" indent="0" algn="l" defTabSz="914400" rtl="0" eaLnBrk="0" fontAlgn="base" latinLnBrk="0" hangingPunct="0">
              <a:lnSpc>
                <a:spcPct val="100000"/>
              </a:lnSpc>
              <a:spcBef>
                <a:spcPts val="0"/>
              </a:spcBef>
              <a:spcAft>
                <a:spcPts val="0"/>
              </a:spcAft>
              <a:buClr>
                <a:srgbClr val="FFFFFF"/>
              </a:buClr>
              <a:buSzPts val="1200"/>
              <a:buFont typeface="Lato"/>
              <a:buNone/>
              <a:tabLst/>
              <a:defRPr/>
            </a:pPr>
            <a:r>
              <a:rPr kumimoji="0" lang="en-US" sz="1600" b="1"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5</a:t>
            </a:r>
            <a:r>
              <a:rPr kumimoji="0" lang="el-GR" sz="1600" b="1"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0</a:t>
            </a:r>
            <a:r>
              <a:rPr kumimoji="0" lang="en-US" sz="1600" b="1"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a:t>
            </a:r>
            <a:endParaRPr kumimoji="0" lang="en-US" sz="16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7" name="Rounded Rectangle 6">
            <a:extLst>
              <a:ext uri="{FF2B5EF4-FFF2-40B4-BE49-F238E27FC236}">
                <a16:creationId xmlns:a16="http://schemas.microsoft.com/office/drawing/2014/main" id="{D15E11AC-9BC6-C00A-2A81-A81FD94201C9}"/>
              </a:ext>
            </a:extLst>
          </p:cNvPr>
          <p:cNvSpPr/>
          <p:nvPr/>
        </p:nvSpPr>
        <p:spPr>
          <a:xfrm>
            <a:off x="4119037" y="5238859"/>
            <a:ext cx="1600199" cy="667725"/>
          </a:xfrm>
          <a:prstGeom prst="roundRect">
            <a:avLst>
              <a:gd name="adj" fmla="val 12240"/>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anchor="t"/>
          <a:lstStyle/>
          <a:p>
            <a:pPr marL="0" marR="0" lvl="0" indent="0" algn="l" defTabSz="914400" rtl="0" eaLnBrk="0" fontAlgn="base" latinLnBrk="0" hangingPunct="0">
              <a:lnSpc>
                <a:spcPct val="100000"/>
              </a:lnSpc>
              <a:spcBef>
                <a:spcPts val="0"/>
              </a:spcBef>
              <a:spcAft>
                <a:spcPts val="0"/>
              </a:spcAft>
              <a:buClr>
                <a:srgbClr val="FFFFFF"/>
              </a:buClr>
              <a:buSzPts val="1200"/>
              <a:buFont typeface="Lato"/>
              <a:buNone/>
              <a:tabLst/>
              <a:defRPr/>
            </a:pPr>
            <a:r>
              <a:rPr kumimoji="0" lang="en-US" sz="800" b="1" i="0" u="none" strike="noStrike" kern="1200" cap="none" spc="0" normalizeH="0" baseline="0" noProof="0">
                <a:ln>
                  <a:noFill/>
                </a:ln>
                <a:solidFill>
                  <a:srgbClr val="FFFFFF"/>
                </a:solidFill>
                <a:effectLst/>
                <a:uLnTx/>
                <a:uFillTx/>
                <a:latin typeface="Lato"/>
                <a:ea typeface="Lato"/>
                <a:cs typeface="Lato"/>
                <a:sym typeface="Lato"/>
              </a:rPr>
              <a:t>DIGITAL</a:t>
            </a:r>
            <a:br>
              <a:rPr kumimoji="0" lang="en-US" sz="800" b="1" i="0" u="none" strike="noStrike" kern="1200" cap="none" spc="0" normalizeH="0" baseline="0" noProof="0">
                <a:ln>
                  <a:noFill/>
                </a:ln>
                <a:solidFill>
                  <a:srgbClr val="FFFFFF"/>
                </a:solidFill>
                <a:effectLst/>
                <a:uLnTx/>
                <a:uFillTx/>
                <a:latin typeface="Lato"/>
                <a:ea typeface="Lato"/>
                <a:cs typeface="Lato"/>
                <a:sym typeface="Lato"/>
              </a:rPr>
            </a:br>
            <a:endParaRPr kumimoji="0" lang="en-US" sz="800" b="1" i="0" u="none" strike="noStrike" kern="1200" cap="none" spc="0" normalizeH="0" baseline="0" noProof="0">
              <a:ln>
                <a:noFill/>
              </a:ln>
              <a:solidFill>
                <a:srgbClr val="FFFFFF"/>
              </a:solidFill>
              <a:effectLst/>
              <a:uLnTx/>
              <a:uFillTx/>
              <a:latin typeface="Lato"/>
              <a:ea typeface="Lato"/>
              <a:cs typeface="Lato"/>
              <a:sym typeface="Lato"/>
            </a:endParaRPr>
          </a:p>
          <a:p>
            <a:pPr marL="0" marR="0" lvl="0" indent="0" algn="l" defTabSz="914400" rtl="0" eaLnBrk="0" fontAlgn="base" latinLnBrk="0" hangingPunct="0">
              <a:lnSpc>
                <a:spcPct val="100000"/>
              </a:lnSpc>
              <a:spcBef>
                <a:spcPts val="0"/>
              </a:spcBef>
              <a:spcAft>
                <a:spcPts val="0"/>
              </a:spcAft>
              <a:buClr>
                <a:srgbClr val="FFFFFF"/>
              </a:buClr>
              <a:buSzPts val="1200"/>
              <a:buFont typeface="Lato"/>
              <a:buNone/>
              <a:tabLst/>
              <a:defRPr/>
            </a:pPr>
            <a:r>
              <a:rPr kumimoji="0" lang="en-US" sz="1600" b="1"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30%</a:t>
            </a:r>
            <a:endParaRPr kumimoji="0" lang="en-US" sz="16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8" name="Trapezoid 7">
            <a:extLst>
              <a:ext uri="{FF2B5EF4-FFF2-40B4-BE49-F238E27FC236}">
                <a16:creationId xmlns:a16="http://schemas.microsoft.com/office/drawing/2014/main" id="{E3EDC1BB-0741-59A2-A02D-2CA55402F70B}"/>
              </a:ext>
            </a:extLst>
          </p:cNvPr>
          <p:cNvSpPr/>
          <p:nvPr/>
        </p:nvSpPr>
        <p:spPr>
          <a:xfrm rot="10800000" flipH="1">
            <a:off x="1125883" y="3870961"/>
            <a:ext cx="9876732" cy="255660"/>
          </a:xfrm>
          <a:custGeom>
            <a:avLst/>
            <a:gdLst>
              <a:gd name="connsiteX0" fmla="*/ 0 w 5296629"/>
              <a:gd name="connsiteY0" fmla="*/ 663388 h 663388"/>
              <a:gd name="connsiteX1" fmla="*/ 165847 w 5296629"/>
              <a:gd name="connsiteY1" fmla="*/ 0 h 663388"/>
              <a:gd name="connsiteX2" fmla="*/ 5130782 w 5296629"/>
              <a:gd name="connsiteY2" fmla="*/ 0 h 663388"/>
              <a:gd name="connsiteX3" fmla="*/ 5296629 w 5296629"/>
              <a:gd name="connsiteY3" fmla="*/ 663388 h 663388"/>
              <a:gd name="connsiteX4" fmla="*/ 0 w 5296629"/>
              <a:gd name="connsiteY4" fmla="*/ 663388 h 663388"/>
              <a:gd name="connsiteX0" fmla="*/ 0 w 5296629"/>
              <a:gd name="connsiteY0" fmla="*/ 663388 h 663388"/>
              <a:gd name="connsiteX1" fmla="*/ 165847 w 5296629"/>
              <a:gd name="connsiteY1" fmla="*/ 0 h 663388"/>
              <a:gd name="connsiteX2" fmla="*/ 4743030 w 5296629"/>
              <a:gd name="connsiteY2" fmla="*/ 5788 h 663388"/>
              <a:gd name="connsiteX3" fmla="*/ 5296629 w 5296629"/>
              <a:gd name="connsiteY3" fmla="*/ 663388 h 663388"/>
              <a:gd name="connsiteX4" fmla="*/ 0 w 5296629"/>
              <a:gd name="connsiteY4" fmla="*/ 663388 h 663388"/>
              <a:gd name="connsiteX0" fmla="*/ 0 w 5296629"/>
              <a:gd name="connsiteY0" fmla="*/ 663388 h 663388"/>
              <a:gd name="connsiteX1" fmla="*/ 165847 w 5296629"/>
              <a:gd name="connsiteY1" fmla="*/ 0 h 663388"/>
              <a:gd name="connsiteX2" fmla="*/ 4725668 w 5296629"/>
              <a:gd name="connsiteY2" fmla="*/ 0 h 663388"/>
              <a:gd name="connsiteX3" fmla="*/ 5296629 w 5296629"/>
              <a:gd name="connsiteY3" fmla="*/ 663388 h 663388"/>
              <a:gd name="connsiteX4" fmla="*/ 0 w 5296629"/>
              <a:gd name="connsiteY4" fmla="*/ 663388 h 663388"/>
              <a:gd name="connsiteX0" fmla="*/ 0 w 5296629"/>
              <a:gd name="connsiteY0" fmla="*/ 669173 h 669173"/>
              <a:gd name="connsiteX1" fmla="*/ 588323 w 5296629"/>
              <a:gd name="connsiteY1" fmla="*/ 0 h 669173"/>
              <a:gd name="connsiteX2" fmla="*/ 4725668 w 5296629"/>
              <a:gd name="connsiteY2" fmla="*/ 5785 h 669173"/>
              <a:gd name="connsiteX3" fmla="*/ 5296629 w 5296629"/>
              <a:gd name="connsiteY3" fmla="*/ 669173 h 669173"/>
              <a:gd name="connsiteX4" fmla="*/ 0 w 5296629"/>
              <a:gd name="connsiteY4" fmla="*/ 669173 h 669173"/>
              <a:gd name="connsiteX0" fmla="*/ 0 w 5386593"/>
              <a:gd name="connsiteY0" fmla="*/ 669173 h 669173"/>
              <a:gd name="connsiteX1" fmla="*/ 588323 w 5386593"/>
              <a:gd name="connsiteY1" fmla="*/ 0 h 669173"/>
              <a:gd name="connsiteX2" fmla="*/ 4725668 w 5386593"/>
              <a:gd name="connsiteY2" fmla="*/ 5785 h 669173"/>
              <a:gd name="connsiteX3" fmla="*/ 5386593 w 5386593"/>
              <a:gd name="connsiteY3" fmla="*/ 669172 h 669173"/>
              <a:gd name="connsiteX4" fmla="*/ 0 w 5386593"/>
              <a:gd name="connsiteY4" fmla="*/ 669173 h 669173"/>
              <a:gd name="connsiteX0" fmla="*/ 1 w 5420331"/>
              <a:gd name="connsiteY0" fmla="*/ 669176 h 669177"/>
              <a:gd name="connsiteX1" fmla="*/ 622061 w 5420331"/>
              <a:gd name="connsiteY1" fmla="*/ 0 h 669177"/>
              <a:gd name="connsiteX2" fmla="*/ 4759406 w 5420331"/>
              <a:gd name="connsiteY2" fmla="*/ 5785 h 669177"/>
              <a:gd name="connsiteX3" fmla="*/ 5420331 w 5420331"/>
              <a:gd name="connsiteY3" fmla="*/ 669172 h 669177"/>
              <a:gd name="connsiteX4" fmla="*/ 1 w 5420331"/>
              <a:gd name="connsiteY4" fmla="*/ 669176 h 669177"/>
              <a:gd name="connsiteX0" fmla="*/ 0 w 5420330"/>
              <a:gd name="connsiteY0" fmla="*/ 669176 h 669176"/>
              <a:gd name="connsiteX1" fmla="*/ 622060 w 5420330"/>
              <a:gd name="connsiteY1" fmla="*/ 0 h 669176"/>
              <a:gd name="connsiteX2" fmla="*/ 3562782 w 5420330"/>
              <a:gd name="connsiteY2" fmla="*/ 34902 h 669176"/>
              <a:gd name="connsiteX3" fmla="*/ 5420330 w 5420330"/>
              <a:gd name="connsiteY3" fmla="*/ 669172 h 669176"/>
              <a:gd name="connsiteX4" fmla="*/ 0 w 5420330"/>
              <a:gd name="connsiteY4" fmla="*/ 669176 h 669176"/>
              <a:gd name="connsiteX0" fmla="*/ 0 w 5420330"/>
              <a:gd name="connsiteY0" fmla="*/ 686686 h 686686"/>
              <a:gd name="connsiteX1" fmla="*/ 622060 w 5420330"/>
              <a:gd name="connsiteY1" fmla="*/ 17510 h 686686"/>
              <a:gd name="connsiteX2" fmla="*/ 3288856 w 5420330"/>
              <a:gd name="connsiteY2" fmla="*/ 0 h 686686"/>
              <a:gd name="connsiteX3" fmla="*/ 5420330 w 5420330"/>
              <a:gd name="connsiteY3" fmla="*/ 686682 h 686686"/>
              <a:gd name="connsiteX4" fmla="*/ 0 w 5420330"/>
              <a:gd name="connsiteY4" fmla="*/ 686686 h 686686"/>
              <a:gd name="connsiteX0" fmla="*/ 0 w 5420330"/>
              <a:gd name="connsiteY0" fmla="*/ 680861 h 680861"/>
              <a:gd name="connsiteX1" fmla="*/ 622060 w 5420330"/>
              <a:gd name="connsiteY1" fmla="*/ 11685 h 680861"/>
              <a:gd name="connsiteX2" fmla="*/ 3255215 w 5420330"/>
              <a:gd name="connsiteY2" fmla="*/ 0 h 680861"/>
              <a:gd name="connsiteX3" fmla="*/ 5420330 w 5420330"/>
              <a:gd name="connsiteY3" fmla="*/ 680857 h 680861"/>
              <a:gd name="connsiteX4" fmla="*/ 0 w 5420330"/>
              <a:gd name="connsiteY4" fmla="*/ 680861 h 680861"/>
              <a:gd name="connsiteX0" fmla="*/ 0 w 5420330"/>
              <a:gd name="connsiteY0" fmla="*/ 692471 h 692471"/>
              <a:gd name="connsiteX1" fmla="*/ 2174306 w 5420330"/>
              <a:gd name="connsiteY1" fmla="*/ 0 h 692471"/>
              <a:gd name="connsiteX2" fmla="*/ 3255215 w 5420330"/>
              <a:gd name="connsiteY2" fmla="*/ 11610 h 692471"/>
              <a:gd name="connsiteX3" fmla="*/ 5420330 w 5420330"/>
              <a:gd name="connsiteY3" fmla="*/ 692467 h 692471"/>
              <a:gd name="connsiteX4" fmla="*/ 0 w 5420330"/>
              <a:gd name="connsiteY4" fmla="*/ 692471 h 692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0330" h="692471">
                <a:moveTo>
                  <a:pt x="0" y="692471"/>
                </a:moveTo>
                <a:lnTo>
                  <a:pt x="2174306" y="0"/>
                </a:lnTo>
                <a:lnTo>
                  <a:pt x="3255215" y="11610"/>
                </a:lnTo>
                <a:lnTo>
                  <a:pt x="5420330" y="692467"/>
                </a:lnTo>
                <a:lnTo>
                  <a:pt x="0" y="692471"/>
                </a:lnTo>
                <a:close/>
              </a:path>
            </a:pathLst>
          </a:custGeom>
          <a:pattFill prst="ltHorz">
            <a:fgClr>
              <a:schemeClr val="bg1">
                <a:lumMod val="7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ptos" panose="020B0004020202020204" pitchFamily="34" charset="0"/>
              <a:ea typeface="+mn-ea"/>
              <a:cs typeface="+mn-cs"/>
              <a:sym typeface="Arial" panose="020B0604020202020204" pitchFamily="34" charset="0"/>
            </a:endParaRPr>
          </a:p>
        </p:txBody>
      </p:sp>
      <p:sp>
        <p:nvSpPr>
          <p:cNvPr id="9" name="TextBox 8">
            <a:extLst>
              <a:ext uri="{FF2B5EF4-FFF2-40B4-BE49-F238E27FC236}">
                <a16:creationId xmlns:a16="http://schemas.microsoft.com/office/drawing/2014/main" id="{1D5EA1FB-F7F2-0F3A-9AA7-625C54B71DED}"/>
              </a:ext>
            </a:extLst>
          </p:cNvPr>
          <p:cNvSpPr txBox="1"/>
          <p:nvPr/>
        </p:nvSpPr>
        <p:spPr>
          <a:xfrm>
            <a:off x="2998924" y="4182628"/>
            <a:ext cx="6782540" cy="307777"/>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364878"/>
                </a:solidFill>
                <a:effectLst/>
                <a:uLnTx/>
                <a:uFillTx/>
                <a:latin typeface="Helvetica Neue" panose="02000503000000020004" pitchFamily="2" charset="0"/>
                <a:ea typeface="+mn-ea"/>
                <a:cs typeface="Arial" panose="020B0604020202020204" pitchFamily="34" charset="0"/>
                <a:sym typeface="Arial" panose="020B0604020202020204" pitchFamily="34" charset="0"/>
              </a:rPr>
              <a:t>Aligned on the Value Hotspots</a:t>
            </a:r>
            <a:r>
              <a:rPr lang="en-US" b="1">
                <a:solidFill>
                  <a:srgbClr val="364878"/>
                </a:solidFill>
                <a:latin typeface="Helvetica Neue" panose="02000503000000020004" pitchFamily="2" charset="0"/>
              </a:rPr>
              <a:t>;</a:t>
            </a:r>
            <a:r>
              <a:rPr kumimoji="0" lang="en-US" sz="1400" b="1" i="0" u="none" strike="noStrike" kern="1200" cap="none" spc="0" normalizeH="0" baseline="0" noProof="0">
                <a:ln>
                  <a:noFill/>
                </a:ln>
                <a:solidFill>
                  <a:srgbClr val="364878"/>
                </a:solidFill>
                <a:effectLst/>
                <a:uLnTx/>
                <a:uFillTx/>
                <a:latin typeface="Helvetica Neue" panose="02000503000000020004" pitchFamily="2" charset="0"/>
                <a:ea typeface="+mn-ea"/>
                <a:cs typeface="Arial" panose="020B0604020202020204" pitchFamily="34" charset="0"/>
                <a:sym typeface="Arial" panose="020B0604020202020204" pitchFamily="34" charset="0"/>
              </a:rPr>
              <a:t> Differences in Their Relative Importance</a:t>
            </a:r>
          </a:p>
        </p:txBody>
      </p:sp>
      <p:sp>
        <p:nvSpPr>
          <p:cNvPr id="12" name="Rounded Rectangle 11">
            <a:extLst>
              <a:ext uri="{FF2B5EF4-FFF2-40B4-BE49-F238E27FC236}">
                <a16:creationId xmlns:a16="http://schemas.microsoft.com/office/drawing/2014/main" id="{090C38C6-AAFF-1BF5-A802-BDE97F5C978A}"/>
              </a:ext>
            </a:extLst>
          </p:cNvPr>
          <p:cNvSpPr/>
          <p:nvPr/>
        </p:nvSpPr>
        <p:spPr>
          <a:xfrm>
            <a:off x="6937375" y="5212374"/>
            <a:ext cx="1600199" cy="667725"/>
          </a:xfrm>
          <a:prstGeom prst="roundRect">
            <a:avLst>
              <a:gd name="adj" fmla="val 12240"/>
            </a:avLst>
          </a:prstGeom>
          <a:solidFill>
            <a:srgbClr val="4C608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Lato"/>
                <a:ea typeface="Lato"/>
                <a:cs typeface="Lato"/>
                <a:sym typeface="Lato"/>
              </a:rPr>
              <a:t>TRANSFORMATION / COST / LEGACY ISSUES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Helvetica Neue"/>
                <a:ea typeface="Helvetica Neue" panose="02000503000000020004" pitchFamily="2" charset="0"/>
                <a:cs typeface="Helvetica Neue" panose="02000503000000020004" pitchFamily="2" charset="0"/>
                <a:sym typeface="Lato"/>
              </a:rPr>
              <a:t>50%</a:t>
            </a:r>
            <a:endParaRPr kumimoji="0" lang="en-US" sz="1600" b="0" i="0" u="none" strike="noStrike" kern="1200" cap="none" spc="0" normalizeH="0" baseline="0" noProof="0">
              <a:ln>
                <a:noFill/>
              </a:ln>
              <a:solidFill>
                <a:srgbClr val="FFFFFF"/>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endParaRPr>
          </a:p>
        </p:txBody>
      </p:sp>
      <p:sp>
        <p:nvSpPr>
          <p:cNvPr id="13" name="Rounded Rectangle 12">
            <a:extLst>
              <a:ext uri="{FF2B5EF4-FFF2-40B4-BE49-F238E27FC236}">
                <a16:creationId xmlns:a16="http://schemas.microsoft.com/office/drawing/2014/main" id="{B6908EAB-556B-FB7A-FA73-26CE9B99BDD3}"/>
              </a:ext>
            </a:extLst>
          </p:cNvPr>
          <p:cNvSpPr/>
          <p:nvPr/>
        </p:nvSpPr>
        <p:spPr>
          <a:xfrm>
            <a:off x="8623301" y="5212374"/>
            <a:ext cx="1600199" cy="667725"/>
          </a:xfrm>
          <a:prstGeom prst="roundRect">
            <a:avLst>
              <a:gd name="adj" fmla="val 12240"/>
            </a:avLst>
          </a:prstGeom>
          <a:solidFill>
            <a:srgbClr val="4C608C"/>
          </a:solidFill>
          <a:ln>
            <a:noFill/>
          </a:ln>
        </p:spPr>
        <p:style>
          <a:lnRef idx="2">
            <a:schemeClr val="accent1">
              <a:shade val="15000"/>
            </a:schemeClr>
          </a:lnRef>
          <a:fillRef idx="1">
            <a:schemeClr val="accent1"/>
          </a:fillRef>
          <a:effectRef idx="0">
            <a:schemeClr val="accent1"/>
          </a:effectRef>
          <a:fontRef idx="minor">
            <a:schemeClr val="lt1"/>
          </a:fontRef>
        </p:style>
        <p:txBody>
          <a:bodyPr anchor="t"/>
          <a:lstStyle/>
          <a:p>
            <a:pPr marL="0" marR="0" lvl="0" indent="0" algn="l" defTabSz="914400" rtl="0" eaLnBrk="0" fontAlgn="base" latinLnBrk="0" hangingPunct="0">
              <a:lnSpc>
                <a:spcPct val="100000"/>
              </a:lnSpc>
              <a:spcBef>
                <a:spcPts val="0"/>
              </a:spcBef>
              <a:spcAft>
                <a:spcPts val="0"/>
              </a:spcAft>
              <a:buClr>
                <a:srgbClr val="FFFFFF"/>
              </a:buClr>
              <a:buSzPts val="1200"/>
              <a:buFont typeface="Lato"/>
              <a:buNone/>
              <a:tabLst/>
              <a:defRPr/>
            </a:pPr>
            <a:r>
              <a:rPr kumimoji="0" lang="en-US" sz="800" b="1" i="0" u="none" strike="noStrike" kern="1200" cap="none" spc="0" normalizeH="0" baseline="0" noProof="0">
                <a:ln>
                  <a:noFill/>
                </a:ln>
                <a:solidFill>
                  <a:srgbClr val="FFFFFF"/>
                </a:solidFill>
                <a:effectLst/>
                <a:uLnTx/>
                <a:uFillTx/>
                <a:latin typeface="Lato"/>
                <a:ea typeface="Lato"/>
                <a:cs typeface="Lato"/>
                <a:sym typeface="Lato"/>
              </a:rPr>
              <a:t>GROWTH</a:t>
            </a:r>
            <a:br>
              <a:rPr kumimoji="0" lang="en-US" sz="800" b="1" i="0" u="none" strike="noStrike" kern="1200" cap="none" spc="0" normalizeH="0" baseline="0" noProof="0">
                <a:ln>
                  <a:noFill/>
                </a:ln>
                <a:solidFill>
                  <a:srgbClr val="FFFFFF"/>
                </a:solidFill>
                <a:effectLst/>
                <a:uLnTx/>
                <a:uFillTx/>
                <a:latin typeface="Lato"/>
                <a:ea typeface="Lato"/>
                <a:cs typeface="Lato"/>
                <a:sym typeface="Lato"/>
              </a:rPr>
            </a:br>
            <a:endParaRPr kumimoji="0" lang="en-US" sz="800" b="1" i="0" u="none" strike="noStrike" kern="1200" cap="none" spc="0" normalizeH="0" baseline="0" noProof="0">
              <a:ln>
                <a:noFill/>
              </a:ln>
              <a:solidFill>
                <a:srgbClr val="FFFFFF"/>
              </a:solidFill>
              <a:effectLst/>
              <a:uLnTx/>
              <a:uFillTx/>
              <a:latin typeface="Lato"/>
              <a:ea typeface="Lato"/>
              <a:cs typeface="Lato"/>
              <a:sym typeface="Lato"/>
            </a:endParaRPr>
          </a:p>
          <a:p>
            <a:pPr marL="0" marR="0" lvl="0" indent="0" algn="l" defTabSz="914400" rtl="0" eaLnBrk="0" fontAlgn="base" latinLnBrk="0" hangingPunct="0">
              <a:lnSpc>
                <a:spcPct val="100000"/>
              </a:lnSpc>
              <a:spcBef>
                <a:spcPts val="0"/>
              </a:spcBef>
              <a:spcAft>
                <a:spcPts val="0"/>
              </a:spcAft>
              <a:buClr>
                <a:srgbClr val="FFFFFF"/>
              </a:buClr>
              <a:buSzPts val="1200"/>
              <a:buFont typeface="Lato"/>
              <a:buNone/>
              <a:tabLst/>
              <a:defRPr/>
            </a:pPr>
            <a:r>
              <a:rPr lang="en-US" sz="1600" b="1">
                <a:solidFill>
                  <a:srgbClr val="FFFFFF"/>
                </a:solidFill>
                <a:latin typeface="Helvetica Neue" panose="02000503000000020004" pitchFamily="2" charset="0"/>
                <a:ea typeface="Helvetica Neue" panose="02000503000000020004" pitchFamily="2" charset="0"/>
                <a:cs typeface="Helvetica Neue" panose="02000503000000020004" pitchFamily="2" charset="0"/>
                <a:sym typeface="Lato"/>
              </a:rPr>
              <a:t>3</a:t>
            </a:r>
            <a:r>
              <a:rPr kumimoji="0" lang="el-GR" sz="1600" b="1"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0</a:t>
            </a:r>
            <a:r>
              <a:rPr kumimoji="0" lang="en-US" sz="1600" b="1"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a:t>
            </a:r>
            <a:endParaRPr kumimoji="0" lang="en-US" sz="16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14" name="Rounded Rectangle 13">
            <a:extLst>
              <a:ext uri="{FF2B5EF4-FFF2-40B4-BE49-F238E27FC236}">
                <a16:creationId xmlns:a16="http://schemas.microsoft.com/office/drawing/2014/main" id="{6E6BB409-18D6-58C5-18D1-C11E3DA5537A}"/>
              </a:ext>
            </a:extLst>
          </p:cNvPr>
          <p:cNvSpPr/>
          <p:nvPr/>
        </p:nvSpPr>
        <p:spPr>
          <a:xfrm>
            <a:off x="10309227" y="5212374"/>
            <a:ext cx="1600199" cy="667725"/>
          </a:xfrm>
          <a:prstGeom prst="roundRect">
            <a:avLst>
              <a:gd name="adj" fmla="val 12240"/>
            </a:avLst>
          </a:prstGeom>
          <a:solidFill>
            <a:srgbClr val="4C608C"/>
          </a:solidFill>
          <a:ln>
            <a:noFill/>
          </a:ln>
        </p:spPr>
        <p:style>
          <a:lnRef idx="2">
            <a:schemeClr val="accent1">
              <a:shade val="15000"/>
            </a:schemeClr>
          </a:lnRef>
          <a:fillRef idx="1">
            <a:schemeClr val="accent1"/>
          </a:fillRef>
          <a:effectRef idx="0">
            <a:schemeClr val="accent1"/>
          </a:effectRef>
          <a:fontRef idx="minor">
            <a:schemeClr val="lt1"/>
          </a:fontRef>
        </p:style>
        <p:txBody>
          <a:bodyPr anchor="t"/>
          <a:lstStyle/>
          <a:p>
            <a:pPr marL="0" marR="0" lvl="0" indent="0" algn="l" defTabSz="914400" rtl="0" eaLnBrk="0" fontAlgn="base" latinLnBrk="0" hangingPunct="0">
              <a:lnSpc>
                <a:spcPct val="100000"/>
              </a:lnSpc>
              <a:spcBef>
                <a:spcPts val="0"/>
              </a:spcBef>
              <a:spcAft>
                <a:spcPts val="0"/>
              </a:spcAft>
              <a:buClr>
                <a:srgbClr val="FFFFFF"/>
              </a:buClr>
              <a:buSzPts val="1200"/>
              <a:buFont typeface="Lato"/>
              <a:buNone/>
              <a:tabLst/>
              <a:defRPr/>
            </a:pPr>
            <a:r>
              <a:rPr kumimoji="0" lang="en-US" sz="800" b="1" i="0" u="none" strike="noStrike" kern="1200" cap="none" spc="0" normalizeH="0" baseline="0" noProof="0">
                <a:ln>
                  <a:noFill/>
                </a:ln>
                <a:solidFill>
                  <a:srgbClr val="FFFFFF"/>
                </a:solidFill>
                <a:effectLst/>
                <a:uLnTx/>
                <a:uFillTx/>
                <a:latin typeface="Lato"/>
                <a:ea typeface="Lato"/>
                <a:cs typeface="Lato"/>
                <a:sym typeface="Lato"/>
              </a:rPr>
              <a:t>DIGITAL</a:t>
            </a:r>
            <a:br>
              <a:rPr kumimoji="0" lang="en-US" sz="800" b="1" i="0" u="none" strike="noStrike" kern="1200" cap="none" spc="0" normalizeH="0" baseline="0" noProof="0">
                <a:ln>
                  <a:noFill/>
                </a:ln>
                <a:solidFill>
                  <a:srgbClr val="FFFFFF"/>
                </a:solidFill>
                <a:effectLst/>
                <a:uLnTx/>
                <a:uFillTx/>
                <a:latin typeface="Lato"/>
                <a:ea typeface="Lato"/>
                <a:cs typeface="Lato"/>
                <a:sym typeface="Lato"/>
              </a:rPr>
            </a:br>
            <a:endParaRPr kumimoji="0" lang="en-US" sz="800" b="1" i="0" u="none" strike="noStrike" kern="1200" cap="none" spc="0" normalizeH="0" baseline="0" noProof="0">
              <a:ln>
                <a:noFill/>
              </a:ln>
              <a:solidFill>
                <a:srgbClr val="FFFFFF"/>
              </a:solidFill>
              <a:effectLst/>
              <a:uLnTx/>
              <a:uFillTx/>
              <a:latin typeface="Lato"/>
              <a:ea typeface="Lato"/>
              <a:cs typeface="Lato"/>
              <a:sym typeface="Lato"/>
            </a:endParaRPr>
          </a:p>
          <a:p>
            <a:pPr marL="0" marR="0" lvl="0" indent="0" algn="l" defTabSz="914400" rtl="0" eaLnBrk="0" fontAlgn="base" latinLnBrk="0" hangingPunct="0">
              <a:lnSpc>
                <a:spcPct val="100000"/>
              </a:lnSpc>
              <a:spcBef>
                <a:spcPts val="0"/>
              </a:spcBef>
              <a:spcAft>
                <a:spcPts val="0"/>
              </a:spcAft>
              <a:buClr>
                <a:srgbClr val="FFFFFF"/>
              </a:buClr>
              <a:buSzPts val="1200"/>
              <a:buFont typeface="Lato"/>
              <a:buNone/>
              <a:tabLst/>
              <a:defRPr/>
            </a:pPr>
            <a:r>
              <a:rPr kumimoji="0" lang="en-US" sz="1600" b="1"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20%</a:t>
            </a:r>
            <a:endParaRPr kumimoji="0" lang="en-US" sz="16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16" name="TextBox 15">
            <a:extLst>
              <a:ext uri="{FF2B5EF4-FFF2-40B4-BE49-F238E27FC236}">
                <a16:creationId xmlns:a16="http://schemas.microsoft.com/office/drawing/2014/main" id="{2FF262CC-D086-754B-7707-61909639FDA4}"/>
              </a:ext>
            </a:extLst>
          </p:cNvPr>
          <p:cNvSpPr txBox="1"/>
          <p:nvPr/>
        </p:nvSpPr>
        <p:spPr>
          <a:xfrm>
            <a:off x="5776472" y="5353644"/>
            <a:ext cx="1103666" cy="307777"/>
          </a:xfrm>
          <a:prstGeom prst="rect">
            <a:avLst/>
          </a:prstGeom>
          <a:noFill/>
        </p:spPr>
        <p:txBody>
          <a:bodyPr wrap="square" anchor="t">
            <a:spAutoFit/>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400" b="1" i="0" u="none" strike="noStrike" kern="1200" cap="none" spc="0" normalizeH="0" baseline="0" noProof="0">
                <a:ln>
                  <a:noFill/>
                </a:ln>
                <a:solidFill>
                  <a:srgbClr val="364878"/>
                </a:solidFill>
                <a:effectLst/>
                <a:uLnTx/>
                <a:uFillTx/>
                <a:latin typeface="Helvetica Neue" panose="02000503000000020004" pitchFamily="2" charset="0"/>
                <a:ea typeface="+mn-ea"/>
                <a:cs typeface="Arial" panose="020B0604020202020204" pitchFamily="34" charset="0"/>
                <a:sym typeface="Arial" panose="020B0604020202020204" pitchFamily="34" charset="0"/>
              </a:rPr>
              <a:t>VS.</a:t>
            </a:r>
          </a:p>
        </p:txBody>
      </p:sp>
      <p:pic>
        <p:nvPicPr>
          <p:cNvPr id="17" name="Picture 16">
            <a:extLst>
              <a:ext uri="{FF2B5EF4-FFF2-40B4-BE49-F238E27FC236}">
                <a16:creationId xmlns:a16="http://schemas.microsoft.com/office/drawing/2014/main" id="{FEC86AB2-E96C-553E-A1E0-D189DA16BE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5503" y="4746711"/>
            <a:ext cx="868862" cy="415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16503707-86F3-4516-46A5-7D219B58818C}"/>
              </a:ext>
            </a:extLst>
          </p:cNvPr>
          <p:cNvSpPr txBox="1"/>
          <p:nvPr/>
        </p:nvSpPr>
        <p:spPr>
          <a:xfrm>
            <a:off x="8643007" y="4726410"/>
            <a:ext cx="1560786" cy="461665"/>
          </a:xfrm>
          <a:prstGeom prst="rect">
            <a:avLst/>
          </a:prstGeom>
          <a:noFill/>
        </p:spPr>
        <p:txBody>
          <a:bodyPr wrap="square" rtlCol="0">
            <a:spAutoFit/>
          </a:bodyPr>
          <a:lstStyle/>
          <a:p>
            <a:pPr algn="ctr"/>
            <a:r>
              <a:rPr lang="en-US" sz="2400" b="1">
                <a:solidFill>
                  <a:srgbClr val="001E5A"/>
                </a:solidFill>
                <a:latin typeface="Helvetica Neue" panose="02000503000000020004" pitchFamily="2" charset="0"/>
                <a:ea typeface="Helvetica Neue" panose="02000503000000020004" pitchFamily="2" charset="0"/>
                <a:cs typeface="Helvetica Neue" panose="02000503000000020004" pitchFamily="2" charset="0"/>
              </a:rPr>
              <a:t>CEO</a:t>
            </a:r>
          </a:p>
        </p:txBody>
      </p:sp>
    </p:spTree>
    <p:extLst>
      <p:ext uri="{BB962C8B-B14F-4D97-AF65-F5344CB8AC3E}">
        <p14:creationId xmlns:p14="http://schemas.microsoft.com/office/powerpoint/2010/main" val="1767836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05D997B5-CB80-BD85-BDD7-71CC18E0CD33}"/>
            </a:ext>
          </a:extLst>
        </p:cNvPr>
        <p:cNvGrpSpPr/>
        <p:nvPr/>
      </p:nvGrpSpPr>
      <p:grpSpPr>
        <a:xfrm>
          <a:off x="0" y="0"/>
          <a:ext cx="0" cy="0"/>
          <a:chOff x="0" y="0"/>
          <a:chExt cx="0" cy="0"/>
        </a:xfrm>
      </p:grpSpPr>
      <p:sp>
        <p:nvSpPr>
          <p:cNvPr id="21507" name="Text Placeholder 1">
            <a:extLst>
              <a:ext uri="{FF2B5EF4-FFF2-40B4-BE49-F238E27FC236}">
                <a16:creationId xmlns:a16="http://schemas.microsoft.com/office/drawing/2014/main" id="{EDD1DF7A-FACD-1279-11C0-1986C0D6CFB4}"/>
              </a:ext>
            </a:extLst>
          </p:cNvPr>
          <p:cNvSpPr>
            <a:spLocks noGrp="1" noChangeArrowheads="1"/>
          </p:cNvSpPr>
          <p:nvPr>
            <p:ph type="body" idx="1"/>
          </p:nvPr>
        </p:nvSpPr>
        <p:spPr bwMode="auto">
          <a:xfrm>
            <a:off x="727075" y="374650"/>
            <a:ext cx="9158330" cy="334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marL="0" indent="0">
              <a:spcBef>
                <a:spcPct val="0"/>
              </a:spcBef>
              <a:spcAft>
                <a:spcPct val="0"/>
              </a:spcAft>
              <a:buClr>
                <a:srgbClr val="000000"/>
              </a:buClr>
              <a:buSzPts val="2400"/>
              <a:buFont typeface="Arial" panose="020B0604020202020204" pitchFamily="34" charset="0"/>
              <a:buNone/>
            </a:pPr>
            <a:r>
              <a:rPr lang="en-US" altLang="en-US" sz="2000">
                <a:solidFill>
                  <a:srgbClr val="002060"/>
                </a:solidFill>
                <a:latin typeface="Helvetica Neue" panose="02000503000000020004" pitchFamily="2" charset="0"/>
                <a:ea typeface="Helvetica Neue" panose="02000503000000020004" pitchFamily="2" charset="0"/>
                <a:cs typeface="Helvetica Neue" panose="02000503000000020004" pitchFamily="2" charset="0"/>
                <a:sym typeface="Helvetica Neue Light" panose="02000403000000020004" pitchFamily="2" charset="0"/>
              </a:rPr>
              <a:t>DIAGNOSTICS AND PRESENTING CHALLENGES AGAINST THE PIVOTS</a:t>
            </a:r>
          </a:p>
        </p:txBody>
      </p:sp>
      <p:sp>
        <p:nvSpPr>
          <p:cNvPr id="21508" name="Slide Number Placeholder 2">
            <a:extLst>
              <a:ext uri="{FF2B5EF4-FFF2-40B4-BE49-F238E27FC236}">
                <a16:creationId xmlns:a16="http://schemas.microsoft.com/office/drawing/2014/main" id="{243D81B2-1BA6-641F-302F-26C92D7F9461}"/>
              </a:ext>
            </a:extLst>
          </p:cNvPr>
          <p:cNvSpPr>
            <a:spLocks noGrp="1" noChangeArrowheads="1"/>
          </p:cNvSpPr>
          <p:nvPr>
            <p:ph type="sldNum" sz="quarter" idx="10"/>
          </p:nvPr>
        </p:nvSpPr>
        <p:spPr>
          <a:xfrm>
            <a:off x="0" y="238125"/>
            <a:ext cx="557213" cy="557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94E6AC2-D12E-1843-971E-E4F9DE4AA8B8}"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4</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3" name="Freeform: Shape 90">
            <a:extLst>
              <a:ext uri="{FF2B5EF4-FFF2-40B4-BE49-F238E27FC236}">
                <a16:creationId xmlns:a16="http://schemas.microsoft.com/office/drawing/2014/main" id="{3AD91D8B-7B59-6738-F445-27E43C31CA8A}"/>
              </a:ext>
            </a:extLst>
          </p:cNvPr>
          <p:cNvSpPr/>
          <p:nvPr/>
        </p:nvSpPr>
        <p:spPr>
          <a:xfrm>
            <a:off x="598989" y="3803649"/>
            <a:ext cx="5477333" cy="2755778"/>
          </a:xfrm>
          <a:custGeom>
            <a:avLst/>
            <a:gdLst>
              <a:gd name="connsiteX0" fmla="*/ 0 w 5524500"/>
              <a:gd name="connsiteY0" fmla="*/ 0 h 2755778"/>
              <a:gd name="connsiteX1" fmla="*/ 255897 w 5524500"/>
              <a:gd name="connsiteY1" fmla="*/ 0 h 2755778"/>
              <a:gd name="connsiteX2" fmla="*/ 255897 w 5524500"/>
              <a:gd name="connsiteY2" fmla="*/ 1 h 2755778"/>
              <a:gd name="connsiteX3" fmla="*/ 2359301 w 5524500"/>
              <a:gd name="connsiteY3" fmla="*/ 1 h 2755778"/>
              <a:gd name="connsiteX4" fmla="*/ 2346095 w 5524500"/>
              <a:gd name="connsiteY4" fmla="*/ 23873 h 2755778"/>
              <a:gd name="connsiteX5" fmla="*/ 2319647 w 5524500"/>
              <a:gd name="connsiteY5" fmla="*/ 152401 h 2755778"/>
              <a:gd name="connsiteX6" fmla="*/ 2656197 w 5524500"/>
              <a:gd name="connsiteY6" fmla="*/ 482601 h 2755778"/>
              <a:gd name="connsiteX7" fmla="*/ 2992747 w 5524500"/>
              <a:gd name="connsiteY7" fmla="*/ 152401 h 2755778"/>
              <a:gd name="connsiteX8" fmla="*/ 2966299 w 5524500"/>
              <a:gd name="connsiteY8" fmla="*/ 23873 h 2755778"/>
              <a:gd name="connsiteX9" fmla="*/ 2953093 w 5524500"/>
              <a:gd name="connsiteY9" fmla="*/ 1 h 2755778"/>
              <a:gd name="connsiteX10" fmla="*/ 5054600 w 5524500"/>
              <a:gd name="connsiteY10" fmla="*/ 1 h 2755778"/>
              <a:gd name="connsiteX11" fmla="*/ 5054600 w 5524500"/>
              <a:gd name="connsiteY11" fmla="*/ 885253 h 2755778"/>
              <a:gd name="connsiteX12" fmla="*/ 5056950 w 5524500"/>
              <a:gd name="connsiteY12" fmla="*/ 884002 h 2755778"/>
              <a:gd name="connsiteX13" fmla="*/ 5187950 w 5524500"/>
              <a:gd name="connsiteY13" fmla="*/ 858053 h 2755778"/>
              <a:gd name="connsiteX14" fmla="*/ 5524500 w 5524500"/>
              <a:gd name="connsiteY14" fmla="*/ 1188253 h 2755778"/>
              <a:gd name="connsiteX15" fmla="*/ 5187950 w 5524500"/>
              <a:gd name="connsiteY15" fmla="*/ 1518453 h 2755778"/>
              <a:gd name="connsiteX16" fmla="*/ 5056950 w 5524500"/>
              <a:gd name="connsiteY16" fmla="*/ 1492504 h 2755778"/>
              <a:gd name="connsiteX17" fmla="*/ 5054600 w 5524500"/>
              <a:gd name="connsiteY17" fmla="*/ 1491253 h 2755778"/>
              <a:gd name="connsiteX18" fmla="*/ 5054600 w 5524500"/>
              <a:gd name="connsiteY18" fmla="*/ 2219663 h 2755778"/>
              <a:gd name="connsiteX19" fmla="*/ 5054600 w 5524500"/>
              <a:gd name="connsiteY19" fmla="*/ 2549866 h 2755778"/>
              <a:gd name="connsiteX20" fmla="*/ 5054600 w 5524500"/>
              <a:gd name="connsiteY20" fmla="*/ 2755777 h 2755778"/>
              <a:gd name="connsiteX21" fmla="*/ 1426186 w 5524500"/>
              <a:gd name="connsiteY21" fmla="*/ 2755777 h 2755778"/>
              <a:gd name="connsiteX22" fmla="*/ 1426176 w 5524500"/>
              <a:gd name="connsiteY22" fmla="*/ 2755778 h 2755778"/>
              <a:gd name="connsiteX23" fmla="*/ 250224 w 5524500"/>
              <a:gd name="connsiteY23" fmla="*/ 2755778 h 2755778"/>
              <a:gd name="connsiteX24" fmla="*/ 0 w 5524500"/>
              <a:gd name="connsiteY24" fmla="*/ 2505554 h 2755778"/>
              <a:gd name="connsiteX25" fmla="*/ 0 w 5524500"/>
              <a:gd name="connsiteY25" fmla="*/ 1858270 h 275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524500" h="2755778">
                <a:moveTo>
                  <a:pt x="0" y="0"/>
                </a:moveTo>
                <a:lnTo>
                  <a:pt x="255897" y="0"/>
                </a:lnTo>
                <a:lnTo>
                  <a:pt x="255897" y="1"/>
                </a:lnTo>
                <a:lnTo>
                  <a:pt x="2359301" y="1"/>
                </a:lnTo>
                <a:lnTo>
                  <a:pt x="2346095" y="23873"/>
                </a:lnTo>
                <a:cubicBezTo>
                  <a:pt x="2329065" y="63377"/>
                  <a:pt x="2319647" y="106810"/>
                  <a:pt x="2319647" y="152401"/>
                </a:cubicBezTo>
                <a:cubicBezTo>
                  <a:pt x="2319647" y="334765"/>
                  <a:pt x="2470326" y="482601"/>
                  <a:pt x="2656197" y="482601"/>
                </a:cubicBezTo>
                <a:cubicBezTo>
                  <a:pt x="2842068" y="482601"/>
                  <a:pt x="2992747" y="334765"/>
                  <a:pt x="2992747" y="152401"/>
                </a:cubicBezTo>
                <a:cubicBezTo>
                  <a:pt x="2992747" y="106810"/>
                  <a:pt x="2983330" y="63377"/>
                  <a:pt x="2966299" y="23873"/>
                </a:cubicBezTo>
                <a:lnTo>
                  <a:pt x="2953093" y="1"/>
                </a:lnTo>
                <a:lnTo>
                  <a:pt x="5054600" y="1"/>
                </a:lnTo>
                <a:lnTo>
                  <a:pt x="5054600" y="885253"/>
                </a:lnTo>
                <a:lnTo>
                  <a:pt x="5056950" y="884002"/>
                </a:lnTo>
                <a:cubicBezTo>
                  <a:pt x="5097214" y="867293"/>
                  <a:pt x="5141483" y="858053"/>
                  <a:pt x="5187950" y="858053"/>
                </a:cubicBezTo>
                <a:cubicBezTo>
                  <a:pt x="5373821" y="858053"/>
                  <a:pt x="5524500" y="1005889"/>
                  <a:pt x="5524500" y="1188253"/>
                </a:cubicBezTo>
                <a:cubicBezTo>
                  <a:pt x="5524500" y="1370617"/>
                  <a:pt x="5373821" y="1518453"/>
                  <a:pt x="5187950" y="1518453"/>
                </a:cubicBezTo>
                <a:cubicBezTo>
                  <a:pt x="5141483" y="1518453"/>
                  <a:pt x="5097214" y="1509213"/>
                  <a:pt x="5056950" y="1492504"/>
                </a:cubicBezTo>
                <a:lnTo>
                  <a:pt x="5054600" y="1491253"/>
                </a:lnTo>
                <a:lnTo>
                  <a:pt x="5054600" y="2219663"/>
                </a:lnTo>
                <a:lnTo>
                  <a:pt x="5054600" y="2549866"/>
                </a:lnTo>
                <a:lnTo>
                  <a:pt x="5054600" y="2755777"/>
                </a:lnTo>
                <a:lnTo>
                  <a:pt x="1426186" y="2755777"/>
                </a:lnTo>
                <a:lnTo>
                  <a:pt x="1426176" y="2755778"/>
                </a:lnTo>
                <a:lnTo>
                  <a:pt x="250224" y="2755778"/>
                </a:lnTo>
                <a:cubicBezTo>
                  <a:pt x="112029" y="2755778"/>
                  <a:pt x="0" y="2643749"/>
                  <a:pt x="0" y="2505554"/>
                </a:cubicBezTo>
                <a:lnTo>
                  <a:pt x="0" y="1858270"/>
                </a:lnTo>
                <a:close/>
              </a:path>
            </a:pathLst>
          </a:custGeom>
          <a:solidFill>
            <a:schemeClr val="bg1">
              <a:lumMod val="95000"/>
            </a:schemeClr>
          </a:solidFill>
          <a:ln w="28575">
            <a:solidFill>
              <a:srgbClr val="001E5A"/>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6" name="Freeform: Shape 94">
            <a:extLst>
              <a:ext uri="{FF2B5EF4-FFF2-40B4-BE49-F238E27FC236}">
                <a16:creationId xmlns:a16="http://schemas.microsoft.com/office/drawing/2014/main" id="{D9423A5F-1C9D-481F-6773-0E8761D6DDB2}"/>
              </a:ext>
            </a:extLst>
          </p:cNvPr>
          <p:cNvSpPr/>
          <p:nvPr/>
        </p:nvSpPr>
        <p:spPr>
          <a:xfrm>
            <a:off x="5100320" y="1027256"/>
            <a:ext cx="5564497" cy="2796714"/>
          </a:xfrm>
          <a:custGeom>
            <a:avLst/>
            <a:gdLst>
              <a:gd name="connsiteX0" fmla="*/ 508000 w 5564497"/>
              <a:gd name="connsiteY0" fmla="*/ 0 h 2796714"/>
              <a:gd name="connsiteX1" fmla="*/ 4136424 w 5564497"/>
              <a:gd name="connsiteY1" fmla="*/ 0 h 2796714"/>
              <a:gd name="connsiteX2" fmla="*/ 4484997 w 5564497"/>
              <a:gd name="connsiteY2" fmla="*/ 0 h 2796714"/>
              <a:gd name="connsiteX3" fmla="*/ 5312376 w 5564497"/>
              <a:gd name="connsiteY3" fmla="*/ 0 h 2796714"/>
              <a:gd name="connsiteX4" fmla="*/ 5562600 w 5564497"/>
              <a:gd name="connsiteY4" fmla="*/ 250224 h 2796714"/>
              <a:gd name="connsiteX5" fmla="*/ 5562600 w 5564497"/>
              <a:gd name="connsiteY5" fmla="*/ 938442 h 2796714"/>
              <a:gd name="connsiteX6" fmla="*/ 5564497 w 5564497"/>
              <a:gd name="connsiteY6" fmla="*/ 938442 h 2796714"/>
              <a:gd name="connsiteX7" fmla="*/ 5564497 w 5564497"/>
              <a:gd name="connsiteY7" fmla="*/ 2796713 h 2796714"/>
              <a:gd name="connsiteX8" fmla="*/ 5308600 w 5564497"/>
              <a:gd name="connsiteY8" fmla="*/ 2796713 h 2796714"/>
              <a:gd name="connsiteX9" fmla="*/ 4991100 w 5564497"/>
              <a:gd name="connsiteY9" fmla="*/ 2796713 h 2796714"/>
              <a:gd name="connsiteX10" fmla="*/ 4991100 w 5564497"/>
              <a:gd name="connsiteY10" fmla="*/ 2796714 h 2796714"/>
              <a:gd name="connsiteX11" fmla="*/ 3191144 w 5564497"/>
              <a:gd name="connsiteY11" fmla="*/ 2796714 h 2796714"/>
              <a:gd name="connsiteX12" fmla="*/ 3218402 w 5564497"/>
              <a:gd name="connsiteY12" fmla="*/ 2747442 h 2796714"/>
              <a:gd name="connsiteX13" fmla="*/ 3244850 w 5564497"/>
              <a:gd name="connsiteY13" fmla="*/ 2618914 h 2796714"/>
              <a:gd name="connsiteX14" fmla="*/ 2908300 w 5564497"/>
              <a:gd name="connsiteY14" fmla="*/ 2288714 h 2796714"/>
              <a:gd name="connsiteX15" fmla="*/ 2571750 w 5564497"/>
              <a:gd name="connsiteY15" fmla="*/ 2618914 h 2796714"/>
              <a:gd name="connsiteX16" fmla="*/ 2598198 w 5564497"/>
              <a:gd name="connsiteY16" fmla="*/ 2747442 h 2796714"/>
              <a:gd name="connsiteX17" fmla="*/ 2625456 w 5564497"/>
              <a:gd name="connsiteY17" fmla="*/ 2796714 h 2796714"/>
              <a:gd name="connsiteX18" fmla="*/ 508000 w 5564497"/>
              <a:gd name="connsiteY18" fmla="*/ 2796714 h 2796714"/>
              <a:gd name="connsiteX19" fmla="*/ 508000 w 5564497"/>
              <a:gd name="connsiteY19" fmla="*/ 1717811 h 2796714"/>
              <a:gd name="connsiteX20" fmla="*/ 467551 w 5564497"/>
              <a:gd name="connsiteY20" fmla="*/ 1739352 h 2796714"/>
              <a:gd name="connsiteX21" fmla="*/ 336550 w 5564497"/>
              <a:gd name="connsiteY21" fmla="*/ 1765301 h 2796714"/>
              <a:gd name="connsiteX22" fmla="*/ 0 w 5564497"/>
              <a:gd name="connsiteY22" fmla="*/ 1435101 h 2796714"/>
              <a:gd name="connsiteX23" fmla="*/ 336550 w 5564497"/>
              <a:gd name="connsiteY23" fmla="*/ 1104901 h 2796714"/>
              <a:gd name="connsiteX24" fmla="*/ 467551 w 5564497"/>
              <a:gd name="connsiteY24" fmla="*/ 1130850 h 2796714"/>
              <a:gd name="connsiteX25" fmla="*/ 508000 w 5564497"/>
              <a:gd name="connsiteY25" fmla="*/ 1152391 h 2796714"/>
              <a:gd name="connsiteX26" fmla="*/ 508000 w 5564497"/>
              <a:gd name="connsiteY26" fmla="*/ 536114 h 2796714"/>
              <a:gd name="connsiteX27" fmla="*/ 508000 w 5564497"/>
              <a:gd name="connsiteY27" fmla="*/ 246848 h 279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564497" h="2796714">
                <a:moveTo>
                  <a:pt x="508000" y="0"/>
                </a:moveTo>
                <a:lnTo>
                  <a:pt x="4136424" y="0"/>
                </a:lnTo>
                <a:lnTo>
                  <a:pt x="4484997" y="0"/>
                </a:lnTo>
                <a:lnTo>
                  <a:pt x="5312376" y="0"/>
                </a:lnTo>
                <a:cubicBezTo>
                  <a:pt x="5450571" y="0"/>
                  <a:pt x="5562600" y="112029"/>
                  <a:pt x="5562600" y="250224"/>
                </a:cubicBezTo>
                <a:lnTo>
                  <a:pt x="5562600" y="938442"/>
                </a:lnTo>
                <a:lnTo>
                  <a:pt x="5564497" y="938442"/>
                </a:lnTo>
                <a:lnTo>
                  <a:pt x="5564497" y="2796713"/>
                </a:lnTo>
                <a:lnTo>
                  <a:pt x="5308600" y="2796713"/>
                </a:lnTo>
                <a:lnTo>
                  <a:pt x="4991100" y="2796713"/>
                </a:lnTo>
                <a:lnTo>
                  <a:pt x="4991100" y="2796714"/>
                </a:lnTo>
                <a:lnTo>
                  <a:pt x="3191144" y="2796714"/>
                </a:lnTo>
                <a:lnTo>
                  <a:pt x="3218402" y="2747442"/>
                </a:lnTo>
                <a:cubicBezTo>
                  <a:pt x="3235433" y="2707938"/>
                  <a:pt x="3244850" y="2664505"/>
                  <a:pt x="3244850" y="2618914"/>
                </a:cubicBezTo>
                <a:cubicBezTo>
                  <a:pt x="3244850" y="2436550"/>
                  <a:pt x="3094171" y="2288714"/>
                  <a:pt x="2908300" y="2288714"/>
                </a:cubicBezTo>
                <a:cubicBezTo>
                  <a:pt x="2722429" y="2288714"/>
                  <a:pt x="2571750" y="2436550"/>
                  <a:pt x="2571750" y="2618914"/>
                </a:cubicBezTo>
                <a:cubicBezTo>
                  <a:pt x="2571750" y="2664505"/>
                  <a:pt x="2581167" y="2707938"/>
                  <a:pt x="2598198" y="2747442"/>
                </a:cubicBezTo>
                <a:lnTo>
                  <a:pt x="2625456" y="2796714"/>
                </a:lnTo>
                <a:lnTo>
                  <a:pt x="508000" y="2796714"/>
                </a:lnTo>
                <a:lnTo>
                  <a:pt x="508000" y="1717811"/>
                </a:lnTo>
                <a:lnTo>
                  <a:pt x="467551" y="1739352"/>
                </a:lnTo>
                <a:cubicBezTo>
                  <a:pt x="427286" y="1756061"/>
                  <a:pt x="383018" y="1765301"/>
                  <a:pt x="336550" y="1765301"/>
                </a:cubicBezTo>
                <a:cubicBezTo>
                  <a:pt x="150679" y="1765301"/>
                  <a:pt x="0" y="1617465"/>
                  <a:pt x="0" y="1435101"/>
                </a:cubicBezTo>
                <a:cubicBezTo>
                  <a:pt x="0" y="1252737"/>
                  <a:pt x="150679" y="1104901"/>
                  <a:pt x="336550" y="1104901"/>
                </a:cubicBezTo>
                <a:cubicBezTo>
                  <a:pt x="383018" y="1104901"/>
                  <a:pt x="427286" y="1114141"/>
                  <a:pt x="467551" y="1130850"/>
                </a:cubicBezTo>
                <a:lnTo>
                  <a:pt x="508000" y="1152391"/>
                </a:lnTo>
                <a:lnTo>
                  <a:pt x="508000" y="536114"/>
                </a:lnTo>
                <a:lnTo>
                  <a:pt x="508000" y="246848"/>
                </a:lnTo>
                <a:close/>
              </a:path>
            </a:pathLst>
          </a:cu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7" name="Freeform: Shape 93">
            <a:extLst>
              <a:ext uri="{FF2B5EF4-FFF2-40B4-BE49-F238E27FC236}">
                <a16:creationId xmlns:a16="http://schemas.microsoft.com/office/drawing/2014/main" id="{E225F600-1864-80CA-F1B5-9A03C4CFC7C6}"/>
              </a:ext>
            </a:extLst>
          </p:cNvPr>
          <p:cNvSpPr/>
          <p:nvPr/>
        </p:nvSpPr>
        <p:spPr>
          <a:xfrm>
            <a:off x="5608320" y="3305810"/>
            <a:ext cx="5056497" cy="3263777"/>
          </a:xfrm>
          <a:custGeom>
            <a:avLst/>
            <a:gdLst>
              <a:gd name="connsiteX0" fmla="*/ 2400300 w 5056497"/>
              <a:gd name="connsiteY0" fmla="*/ 0 h 3263777"/>
              <a:gd name="connsiteX1" fmla="*/ 2736850 w 5056497"/>
              <a:gd name="connsiteY1" fmla="*/ 330200 h 3263777"/>
              <a:gd name="connsiteX2" fmla="*/ 2710402 w 5056497"/>
              <a:gd name="connsiteY2" fmla="*/ 458728 h 3263777"/>
              <a:gd name="connsiteX3" fmla="*/ 2683144 w 5056497"/>
              <a:gd name="connsiteY3" fmla="*/ 508000 h 3263777"/>
              <a:gd name="connsiteX4" fmla="*/ 4483100 w 5056497"/>
              <a:gd name="connsiteY4" fmla="*/ 508000 h 3263777"/>
              <a:gd name="connsiteX5" fmla="*/ 4483100 w 5056497"/>
              <a:gd name="connsiteY5" fmla="*/ 507999 h 3263777"/>
              <a:gd name="connsiteX6" fmla="*/ 5056497 w 5056497"/>
              <a:gd name="connsiteY6" fmla="*/ 507999 h 3263777"/>
              <a:gd name="connsiteX7" fmla="*/ 5056497 w 5056497"/>
              <a:gd name="connsiteY7" fmla="*/ 2366270 h 3263777"/>
              <a:gd name="connsiteX8" fmla="*/ 5054600 w 5056497"/>
              <a:gd name="connsiteY8" fmla="*/ 2366270 h 3263777"/>
              <a:gd name="connsiteX9" fmla="*/ 5054600 w 5056497"/>
              <a:gd name="connsiteY9" fmla="*/ 3013553 h 3263777"/>
              <a:gd name="connsiteX10" fmla="*/ 4804376 w 5056497"/>
              <a:gd name="connsiteY10" fmla="*/ 3263777 h 3263777"/>
              <a:gd name="connsiteX11" fmla="*/ 3976997 w 5056497"/>
              <a:gd name="connsiteY11" fmla="*/ 3263777 h 3263777"/>
              <a:gd name="connsiteX12" fmla="*/ 3628424 w 5056497"/>
              <a:gd name="connsiteY12" fmla="*/ 3263777 h 3263777"/>
              <a:gd name="connsiteX13" fmla="*/ 0 w 5056497"/>
              <a:gd name="connsiteY13" fmla="*/ 3263777 h 3263777"/>
              <a:gd name="connsiteX14" fmla="*/ 0 w 5056497"/>
              <a:gd name="connsiteY14" fmla="*/ 3057866 h 3263777"/>
              <a:gd name="connsiteX15" fmla="*/ 0 w 5056497"/>
              <a:gd name="connsiteY15" fmla="*/ 2727663 h 3263777"/>
              <a:gd name="connsiteX16" fmla="*/ 0 w 5056497"/>
              <a:gd name="connsiteY16" fmla="*/ 2000264 h 3263777"/>
              <a:gd name="connsiteX17" fmla="*/ 452 w 5056497"/>
              <a:gd name="connsiteY17" fmla="*/ 2000504 h 3263777"/>
              <a:gd name="connsiteX18" fmla="*/ 131452 w 5056497"/>
              <a:gd name="connsiteY18" fmla="*/ 2026453 h 3263777"/>
              <a:gd name="connsiteX19" fmla="*/ 468002 w 5056497"/>
              <a:gd name="connsiteY19" fmla="*/ 1696253 h 3263777"/>
              <a:gd name="connsiteX20" fmla="*/ 131452 w 5056497"/>
              <a:gd name="connsiteY20" fmla="*/ 1366053 h 3263777"/>
              <a:gd name="connsiteX21" fmla="*/ 452 w 5056497"/>
              <a:gd name="connsiteY21" fmla="*/ 1392002 h 3263777"/>
              <a:gd name="connsiteX22" fmla="*/ 0 w 5056497"/>
              <a:gd name="connsiteY22" fmla="*/ 1392243 h 3263777"/>
              <a:gd name="connsiteX23" fmla="*/ 0 w 5056497"/>
              <a:gd name="connsiteY23" fmla="*/ 508000 h 3263777"/>
              <a:gd name="connsiteX24" fmla="*/ 2117456 w 5056497"/>
              <a:gd name="connsiteY24" fmla="*/ 508000 h 3263777"/>
              <a:gd name="connsiteX25" fmla="*/ 2090198 w 5056497"/>
              <a:gd name="connsiteY25" fmla="*/ 458728 h 3263777"/>
              <a:gd name="connsiteX26" fmla="*/ 2063750 w 5056497"/>
              <a:gd name="connsiteY26" fmla="*/ 330200 h 3263777"/>
              <a:gd name="connsiteX27" fmla="*/ 2400300 w 5056497"/>
              <a:gd name="connsiteY27" fmla="*/ 0 h 326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056497" h="3263777">
                <a:moveTo>
                  <a:pt x="2400300" y="0"/>
                </a:moveTo>
                <a:cubicBezTo>
                  <a:pt x="2586171" y="0"/>
                  <a:pt x="2736850" y="147836"/>
                  <a:pt x="2736850" y="330200"/>
                </a:cubicBezTo>
                <a:cubicBezTo>
                  <a:pt x="2736850" y="375791"/>
                  <a:pt x="2727433" y="419224"/>
                  <a:pt x="2710402" y="458728"/>
                </a:cubicBezTo>
                <a:lnTo>
                  <a:pt x="2683144" y="508000"/>
                </a:lnTo>
                <a:lnTo>
                  <a:pt x="4483100" y="508000"/>
                </a:lnTo>
                <a:lnTo>
                  <a:pt x="4483100" y="507999"/>
                </a:lnTo>
                <a:lnTo>
                  <a:pt x="5056497" y="507999"/>
                </a:lnTo>
                <a:lnTo>
                  <a:pt x="5056497" y="2366270"/>
                </a:lnTo>
                <a:lnTo>
                  <a:pt x="5054600" y="2366270"/>
                </a:lnTo>
                <a:lnTo>
                  <a:pt x="5054600" y="3013553"/>
                </a:lnTo>
                <a:cubicBezTo>
                  <a:pt x="5054600" y="3151748"/>
                  <a:pt x="4942571" y="3263777"/>
                  <a:pt x="4804376" y="3263777"/>
                </a:cubicBezTo>
                <a:lnTo>
                  <a:pt x="3976997" y="3263777"/>
                </a:lnTo>
                <a:lnTo>
                  <a:pt x="3628424" y="3263777"/>
                </a:lnTo>
                <a:lnTo>
                  <a:pt x="0" y="3263777"/>
                </a:lnTo>
                <a:lnTo>
                  <a:pt x="0" y="3057866"/>
                </a:lnTo>
                <a:lnTo>
                  <a:pt x="0" y="2727663"/>
                </a:lnTo>
                <a:lnTo>
                  <a:pt x="0" y="2000264"/>
                </a:lnTo>
                <a:lnTo>
                  <a:pt x="452" y="2000504"/>
                </a:lnTo>
                <a:cubicBezTo>
                  <a:pt x="40716" y="2017213"/>
                  <a:pt x="84985" y="2026453"/>
                  <a:pt x="131452" y="2026453"/>
                </a:cubicBezTo>
                <a:cubicBezTo>
                  <a:pt x="317323" y="2026453"/>
                  <a:pt x="468002" y="1878617"/>
                  <a:pt x="468002" y="1696253"/>
                </a:cubicBezTo>
                <a:cubicBezTo>
                  <a:pt x="468002" y="1513889"/>
                  <a:pt x="317323" y="1366053"/>
                  <a:pt x="131452" y="1366053"/>
                </a:cubicBezTo>
                <a:cubicBezTo>
                  <a:pt x="84985" y="1366053"/>
                  <a:pt x="40716" y="1375293"/>
                  <a:pt x="452" y="1392002"/>
                </a:cubicBezTo>
                <a:lnTo>
                  <a:pt x="0" y="1392243"/>
                </a:lnTo>
                <a:lnTo>
                  <a:pt x="0" y="508000"/>
                </a:lnTo>
                <a:lnTo>
                  <a:pt x="2117456" y="508000"/>
                </a:lnTo>
                <a:lnTo>
                  <a:pt x="2090198" y="458728"/>
                </a:lnTo>
                <a:cubicBezTo>
                  <a:pt x="2073167" y="419224"/>
                  <a:pt x="2063750" y="375791"/>
                  <a:pt x="2063750" y="330200"/>
                </a:cubicBezTo>
                <a:cubicBezTo>
                  <a:pt x="2063750" y="147836"/>
                  <a:pt x="2214429" y="0"/>
                  <a:pt x="2400300" y="0"/>
                </a:cubicBezTo>
                <a:close/>
              </a:path>
            </a:pathLst>
          </a:custGeom>
          <a:solidFill>
            <a:schemeClr val="bg1">
              <a:lumMod val="95000"/>
            </a:schemeClr>
          </a:solidFill>
          <a:ln w="28575">
            <a:solidFill>
              <a:srgbClr val="001E5A"/>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8" name="Freeform: Shape 92">
            <a:extLst>
              <a:ext uri="{FF2B5EF4-FFF2-40B4-BE49-F238E27FC236}">
                <a16:creationId xmlns:a16="http://schemas.microsoft.com/office/drawing/2014/main" id="{1B299295-98DE-C077-B21C-5E8FB92BDAC2}"/>
              </a:ext>
            </a:extLst>
          </p:cNvPr>
          <p:cNvSpPr/>
          <p:nvPr/>
        </p:nvSpPr>
        <p:spPr>
          <a:xfrm>
            <a:off x="594994" y="1036528"/>
            <a:ext cx="5013326" cy="3279314"/>
          </a:xfrm>
          <a:custGeom>
            <a:avLst/>
            <a:gdLst>
              <a:gd name="connsiteX0" fmla="*/ 1079500 w 5056497"/>
              <a:gd name="connsiteY0" fmla="*/ 0 h 3279314"/>
              <a:gd name="connsiteX1" fmla="*/ 5056497 w 5056497"/>
              <a:gd name="connsiteY1" fmla="*/ 0 h 3279314"/>
              <a:gd name="connsiteX2" fmla="*/ 5056497 w 5056497"/>
              <a:gd name="connsiteY2" fmla="*/ 246848 h 3279314"/>
              <a:gd name="connsiteX3" fmla="*/ 5056497 w 5056497"/>
              <a:gd name="connsiteY3" fmla="*/ 536114 h 3279314"/>
              <a:gd name="connsiteX4" fmla="*/ 5056497 w 5056497"/>
              <a:gd name="connsiteY4" fmla="*/ 1152391 h 3279314"/>
              <a:gd name="connsiteX5" fmla="*/ 5016048 w 5056497"/>
              <a:gd name="connsiteY5" fmla="*/ 1130850 h 3279314"/>
              <a:gd name="connsiteX6" fmla="*/ 4885047 w 5056497"/>
              <a:gd name="connsiteY6" fmla="*/ 1104901 h 3279314"/>
              <a:gd name="connsiteX7" fmla="*/ 4548497 w 5056497"/>
              <a:gd name="connsiteY7" fmla="*/ 1435101 h 3279314"/>
              <a:gd name="connsiteX8" fmla="*/ 4885047 w 5056497"/>
              <a:gd name="connsiteY8" fmla="*/ 1765301 h 3279314"/>
              <a:gd name="connsiteX9" fmla="*/ 5016048 w 5056497"/>
              <a:gd name="connsiteY9" fmla="*/ 1739352 h 3279314"/>
              <a:gd name="connsiteX10" fmla="*/ 5056497 w 5056497"/>
              <a:gd name="connsiteY10" fmla="*/ 1717811 h 3279314"/>
              <a:gd name="connsiteX11" fmla="*/ 5056497 w 5056497"/>
              <a:gd name="connsiteY11" fmla="*/ 2796714 h 3279314"/>
              <a:gd name="connsiteX12" fmla="*/ 2953093 w 5056497"/>
              <a:gd name="connsiteY12" fmla="*/ 2796714 h 3279314"/>
              <a:gd name="connsiteX13" fmla="*/ 2966299 w 5056497"/>
              <a:gd name="connsiteY13" fmla="*/ 2820586 h 3279314"/>
              <a:gd name="connsiteX14" fmla="*/ 2992747 w 5056497"/>
              <a:gd name="connsiteY14" fmla="*/ 2949114 h 3279314"/>
              <a:gd name="connsiteX15" fmla="*/ 2656197 w 5056497"/>
              <a:gd name="connsiteY15" fmla="*/ 3279314 h 3279314"/>
              <a:gd name="connsiteX16" fmla="*/ 2319647 w 5056497"/>
              <a:gd name="connsiteY16" fmla="*/ 2949114 h 3279314"/>
              <a:gd name="connsiteX17" fmla="*/ 2346095 w 5056497"/>
              <a:gd name="connsiteY17" fmla="*/ 2820586 h 3279314"/>
              <a:gd name="connsiteX18" fmla="*/ 2359301 w 5056497"/>
              <a:gd name="connsiteY18" fmla="*/ 2796714 h 3279314"/>
              <a:gd name="connsiteX19" fmla="*/ 255897 w 5056497"/>
              <a:gd name="connsiteY19" fmla="*/ 2796714 h 3279314"/>
              <a:gd name="connsiteX20" fmla="*/ 255897 w 5056497"/>
              <a:gd name="connsiteY20" fmla="*/ 2796713 h 3279314"/>
              <a:gd name="connsiteX21" fmla="*/ 0 w 5056497"/>
              <a:gd name="connsiteY21" fmla="*/ 2796713 h 3279314"/>
              <a:gd name="connsiteX22" fmla="*/ 0 w 5056497"/>
              <a:gd name="connsiteY22" fmla="*/ 938442 h 3279314"/>
              <a:gd name="connsiteX23" fmla="*/ 1897 w 5056497"/>
              <a:gd name="connsiteY23" fmla="*/ 938442 h 3279314"/>
              <a:gd name="connsiteX24" fmla="*/ 1897 w 5056497"/>
              <a:gd name="connsiteY24" fmla="*/ 250225 h 3279314"/>
              <a:gd name="connsiteX25" fmla="*/ 252121 w 5056497"/>
              <a:gd name="connsiteY25" fmla="*/ 1 h 3279314"/>
              <a:gd name="connsiteX26" fmla="*/ 1079500 w 5056497"/>
              <a:gd name="connsiteY26" fmla="*/ 1 h 3279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056497" h="3279314">
                <a:moveTo>
                  <a:pt x="1079500" y="0"/>
                </a:moveTo>
                <a:lnTo>
                  <a:pt x="5056497" y="0"/>
                </a:lnTo>
                <a:lnTo>
                  <a:pt x="5056497" y="246848"/>
                </a:lnTo>
                <a:lnTo>
                  <a:pt x="5056497" y="536114"/>
                </a:lnTo>
                <a:lnTo>
                  <a:pt x="5056497" y="1152391"/>
                </a:lnTo>
                <a:lnTo>
                  <a:pt x="5016048" y="1130850"/>
                </a:lnTo>
                <a:cubicBezTo>
                  <a:pt x="4975783" y="1114141"/>
                  <a:pt x="4931515" y="1104901"/>
                  <a:pt x="4885047" y="1104901"/>
                </a:cubicBezTo>
                <a:cubicBezTo>
                  <a:pt x="4699176" y="1104901"/>
                  <a:pt x="4548497" y="1252737"/>
                  <a:pt x="4548497" y="1435101"/>
                </a:cubicBezTo>
                <a:cubicBezTo>
                  <a:pt x="4548497" y="1617465"/>
                  <a:pt x="4699176" y="1765301"/>
                  <a:pt x="4885047" y="1765301"/>
                </a:cubicBezTo>
                <a:cubicBezTo>
                  <a:pt x="4931515" y="1765301"/>
                  <a:pt x="4975783" y="1756061"/>
                  <a:pt x="5016048" y="1739352"/>
                </a:cubicBezTo>
                <a:lnTo>
                  <a:pt x="5056497" y="1717811"/>
                </a:lnTo>
                <a:lnTo>
                  <a:pt x="5056497" y="2796714"/>
                </a:lnTo>
                <a:lnTo>
                  <a:pt x="2953093" y="2796714"/>
                </a:lnTo>
                <a:lnTo>
                  <a:pt x="2966299" y="2820586"/>
                </a:lnTo>
                <a:cubicBezTo>
                  <a:pt x="2983330" y="2860090"/>
                  <a:pt x="2992747" y="2903523"/>
                  <a:pt x="2992747" y="2949114"/>
                </a:cubicBezTo>
                <a:cubicBezTo>
                  <a:pt x="2992747" y="3131478"/>
                  <a:pt x="2842068" y="3279314"/>
                  <a:pt x="2656197" y="3279314"/>
                </a:cubicBezTo>
                <a:cubicBezTo>
                  <a:pt x="2470326" y="3279314"/>
                  <a:pt x="2319647" y="3131478"/>
                  <a:pt x="2319647" y="2949114"/>
                </a:cubicBezTo>
                <a:cubicBezTo>
                  <a:pt x="2319647" y="2903523"/>
                  <a:pt x="2329065" y="2860090"/>
                  <a:pt x="2346095" y="2820586"/>
                </a:cubicBezTo>
                <a:lnTo>
                  <a:pt x="2359301" y="2796714"/>
                </a:lnTo>
                <a:lnTo>
                  <a:pt x="255897" y="2796714"/>
                </a:lnTo>
                <a:lnTo>
                  <a:pt x="255897" y="2796713"/>
                </a:lnTo>
                <a:lnTo>
                  <a:pt x="0" y="2796713"/>
                </a:lnTo>
                <a:lnTo>
                  <a:pt x="0" y="938442"/>
                </a:lnTo>
                <a:lnTo>
                  <a:pt x="1897" y="938442"/>
                </a:lnTo>
                <a:lnTo>
                  <a:pt x="1897" y="250225"/>
                </a:lnTo>
                <a:cubicBezTo>
                  <a:pt x="1897" y="112030"/>
                  <a:pt x="113926" y="1"/>
                  <a:pt x="252121" y="1"/>
                </a:cubicBezTo>
                <a:lnTo>
                  <a:pt x="1079500" y="1"/>
                </a:lnTo>
                <a:close/>
              </a:path>
            </a:pathLst>
          </a:custGeom>
          <a:solidFill>
            <a:schemeClr val="bg1">
              <a:lumMod val="95000"/>
            </a:schemeClr>
          </a:solidFill>
          <a:ln w="28575">
            <a:solidFill>
              <a:srgbClr val="001E5A"/>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olidFill>
                <a:srgbClr val="001E5A"/>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2" name="TextBox 51">
            <a:extLst>
              <a:ext uri="{FF2B5EF4-FFF2-40B4-BE49-F238E27FC236}">
                <a16:creationId xmlns:a16="http://schemas.microsoft.com/office/drawing/2014/main" id="{CB0234D2-8843-B9AA-D4BC-2983F2AB1ABF}"/>
              </a:ext>
            </a:extLst>
          </p:cNvPr>
          <p:cNvSpPr txBox="1"/>
          <p:nvPr/>
        </p:nvSpPr>
        <p:spPr>
          <a:xfrm>
            <a:off x="2279964" y="1072679"/>
            <a:ext cx="1664238" cy="307777"/>
          </a:xfrm>
          <a:prstGeom prst="rect">
            <a:avLst/>
          </a:prstGeom>
          <a:solidFill>
            <a:schemeClr val="bg1">
              <a:lumMod val="95000"/>
            </a:schemeClr>
          </a:solid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b="1" kern="0">
                <a:ln/>
                <a:solidFill>
                  <a:srgbClr val="001E5A"/>
                </a:solidFill>
                <a:latin typeface="Helvetica Neue" panose="02000503000000020004" pitchFamily="2" charset="0"/>
                <a:ea typeface="Helvetica Neue" panose="02000503000000020004" pitchFamily="2" charset="0"/>
                <a:cs typeface="Helvetica Neue" panose="02000503000000020004" pitchFamily="2" charset="0"/>
                <a:rtl val="0"/>
              </a:rPr>
              <a:t>CEO READINESS</a:t>
            </a:r>
          </a:p>
        </p:txBody>
      </p:sp>
      <p:sp>
        <p:nvSpPr>
          <p:cNvPr id="54" name="TextBox 53">
            <a:extLst>
              <a:ext uri="{FF2B5EF4-FFF2-40B4-BE49-F238E27FC236}">
                <a16:creationId xmlns:a16="http://schemas.microsoft.com/office/drawing/2014/main" id="{AB26AC22-48A0-F935-A216-13EB85064FF1}"/>
              </a:ext>
            </a:extLst>
          </p:cNvPr>
          <p:cNvSpPr txBox="1"/>
          <p:nvPr/>
        </p:nvSpPr>
        <p:spPr>
          <a:xfrm>
            <a:off x="5917595" y="1045594"/>
            <a:ext cx="4494373" cy="307777"/>
          </a:xfrm>
          <a:prstGeom prst="rect">
            <a:avLst/>
          </a:prstGeom>
          <a:solidFill>
            <a:schemeClr val="bg1">
              <a:lumMod val="95000"/>
            </a:schemeClr>
          </a:solidFill>
          <a:ln>
            <a:noFill/>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tl val="0"/>
              </a:rPr>
              <a:t>ARE THE STAKEHOLDERS ALIGNED? </a:t>
            </a:r>
          </a:p>
        </p:txBody>
      </p:sp>
      <p:sp>
        <p:nvSpPr>
          <p:cNvPr id="55" name="TextBox 54">
            <a:extLst>
              <a:ext uri="{FF2B5EF4-FFF2-40B4-BE49-F238E27FC236}">
                <a16:creationId xmlns:a16="http://schemas.microsoft.com/office/drawing/2014/main" id="{0F79939A-261A-D417-7669-425BFAF944DD}"/>
              </a:ext>
            </a:extLst>
          </p:cNvPr>
          <p:cNvSpPr txBox="1"/>
          <p:nvPr/>
        </p:nvSpPr>
        <p:spPr>
          <a:xfrm>
            <a:off x="5629905" y="3852191"/>
            <a:ext cx="5013326" cy="523220"/>
          </a:xfrm>
          <a:prstGeom prst="rect">
            <a:avLst/>
          </a:prstGeom>
          <a:solidFill>
            <a:schemeClr val="bg1">
              <a:lumMod val="95000"/>
            </a:schemeClr>
          </a:solidFill>
          <a:ln>
            <a:noFill/>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tl val="0"/>
              </a:rPr>
              <a:t>ARE WE TALENTED ENOUGH AT THE POINTS OF VALUE?</a:t>
            </a:r>
          </a:p>
        </p:txBody>
      </p:sp>
      <p:sp>
        <p:nvSpPr>
          <p:cNvPr id="57" name="TextBox 56">
            <a:extLst>
              <a:ext uri="{FF2B5EF4-FFF2-40B4-BE49-F238E27FC236}">
                <a16:creationId xmlns:a16="http://schemas.microsoft.com/office/drawing/2014/main" id="{652269D2-F87F-3F00-CD6B-F82D44CACA9D}"/>
              </a:ext>
            </a:extLst>
          </p:cNvPr>
          <p:cNvSpPr txBox="1"/>
          <p:nvPr/>
        </p:nvSpPr>
        <p:spPr>
          <a:xfrm>
            <a:off x="867856" y="3906362"/>
            <a:ext cx="4714875" cy="307777"/>
          </a:xfrm>
          <a:prstGeom prst="rect">
            <a:avLst/>
          </a:prstGeom>
          <a:solidFill>
            <a:schemeClr val="bg1">
              <a:lumMod val="95000"/>
            </a:schemeClr>
          </a:solidFill>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tl val="0"/>
              </a:rPr>
              <a:t>IS THE LEADERSHIP TEAM READY?</a:t>
            </a:r>
          </a:p>
        </p:txBody>
      </p:sp>
      <p:sp>
        <p:nvSpPr>
          <p:cNvPr id="21506" name="TextBox 21505">
            <a:extLst>
              <a:ext uri="{FF2B5EF4-FFF2-40B4-BE49-F238E27FC236}">
                <a16:creationId xmlns:a16="http://schemas.microsoft.com/office/drawing/2014/main" id="{B5DB2B9B-BDEC-645F-D7F9-70D36137A671}"/>
              </a:ext>
            </a:extLst>
          </p:cNvPr>
          <p:cNvSpPr txBox="1"/>
          <p:nvPr/>
        </p:nvSpPr>
        <p:spPr>
          <a:xfrm>
            <a:off x="867734" y="1566289"/>
            <a:ext cx="4424673" cy="1415772"/>
          </a:xfrm>
          <a:prstGeom prst="rect">
            <a:avLst/>
          </a:prstGeom>
          <a:noFill/>
        </p:spPr>
        <p:txBody>
          <a:bodyPr wrap="square" anchor="ctr">
            <a:spAutoFit/>
          </a:bodyPr>
          <a:lstStyle/>
          <a:p>
            <a:pPr marL="171450" lvl="0" indent="-171450" eaLnBrk="1" fontAlgn="auto" hangingPunct="1">
              <a:spcBef>
                <a:spcPts val="0"/>
              </a:spcBef>
              <a:spcAft>
                <a:spcPts val="1200"/>
              </a:spcAft>
              <a:buClr>
                <a:srgbClr val="000000"/>
              </a:buClr>
              <a:buFont typeface="Arial" panose="020B0604020202020204" pitchFamily="34" charset="0"/>
              <a:buChar char="•"/>
              <a:defRPr/>
            </a:pPr>
            <a:r>
              <a:rPr lang="en-US" sz="1100" b="1">
                <a:latin typeface="Helvetica Neue" panose="02000503000000020004" pitchFamily="2" charset="0"/>
                <a:ea typeface="Helvetica Neue" panose="02000503000000020004" pitchFamily="2" charset="0"/>
                <a:cs typeface="Helvetica Neue" panose="02000503000000020004" pitchFamily="2" charset="0"/>
              </a:rPr>
              <a:t>Limited evidence against Jobs To Be Done </a:t>
            </a:r>
            <a:r>
              <a:rPr lang="en-US" sz="1100">
                <a:latin typeface="Helvetica Neue" panose="02000503000000020004" pitchFamily="2" charset="0"/>
                <a:ea typeface="Helvetica Neue" panose="02000503000000020004" pitchFamily="2" charset="0"/>
                <a:cs typeface="Helvetica Neue" panose="02000503000000020004" pitchFamily="2" charset="0"/>
              </a:rPr>
              <a:t>especially growth Orientation and leading Top teams</a:t>
            </a:r>
          </a:p>
          <a:p>
            <a:pPr marL="171450" lvl="0" indent="-171450" eaLnBrk="1" fontAlgn="auto" hangingPunct="1">
              <a:spcBef>
                <a:spcPts val="0"/>
              </a:spcBef>
              <a:spcAft>
                <a:spcPts val="1200"/>
              </a:spcAft>
              <a:buClr>
                <a:srgbClr val="000000"/>
              </a:buClr>
              <a:buFont typeface="Arial" panose="020B0604020202020204" pitchFamily="34" charset="0"/>
              <a:buChar char="•"/>
              <a:defRPr/>
            </a:pPr>
            <a:r>
              <a:rPr lang="en-US" sz="1100" b="1">
                <a:latin typeface="Helvetica Neue" panose="02000503000000020004" pitchFamily="2" charset="0"/>
                <a:ea typeface="Helvetica Neue" panose="02000503000000020004" pitchFamily="2" charset="0"/>
                <a:cs typeface="Helvetica Neue" panose="02000503000000020004" pitchFamily="2" charset="0"/>
              </a:rPr>
              <a:t>Limited evidence of situational leadership</a:t>
            </a:r>
            <a:r>
              <a:rPr lang="en-US" sz="1100">
                <a:latin typeface="Helvetica Neue" panose="02000503000000020004" pitchFamily="2" charset="0"/>
                <a:ea typeface="Helvetica Neue" panose="02000503000000020004" pitchFamily="2" charset="0"/>
                <a:cs typeface="Helvetica Neue" panose="02000503000000020004" pitchFamily="2" charset="0"/>
              </a:rPr>
              <a:t>; hasn’t yet demonstrated the shift from investor to operating CEO.</a:t>
            </a:r>
          </a:p>
          <a:p>
            <a:pPr marL="171450" lvl="0" indent="-171450" eaLnBrk="1" fontAlgn="auto" hangingPunct="1">
              <a:spcBef>
                <a:spcPts val="0"/>
              </a:spcBef>
              <a:spcAft>
                <a:spcPts val="1200"/>
              </a:spcAft>
              <a:buClr>
                <a:srgbClr val="000000"/>
              </a:buClr>
              <a:buFont typeface="Arial" panose="020B0604020202020204" pitchFamily="34" charset="0"/>
              <a:buChar char="•"/>
              <a:defRPr/>
            </a:pPr>
            <a:r>
              <a:rPr lang="en-US" sz="1100">
                <a:latin typeface="Helvetica Neue" panose="02000503000000020004" pitchFamily="2" charset="0"/>
                <a:ea typeface="Helvetica Neue" panose="02000503000000020004" pitchFamily="2" charset="0"/>
                <a:cs typeface="Helvetica Neue" panose="02000503000000020004" pitchFamily="2" charset="0"/>
              </a:rPr>
              <a:t>Does not encourage open communication, no one challenges him or brings forward ideas; “manages through fear”.</a:t>
            </a:r>
          </a:p>
        </p:txBody>
      </p:sp>
      <p:sp>
        <p:nvSpPr>
          <p:cNvPr id="21514" name="TextBox 21513">
            <a:extLst>
              <a:ext uri="{FF2B5EF4-FFF2-40B4-BE49-F238E27FC236}">
                <a16:creationId xmlns:a16="http://schemas.microsoft.com/office/drawing/2014/main" id="{0D660EA4-C424-B0F4-84D8-27832BD04660}"/>
              </a:ext>
            </a:extLst>
          </p:cNvPr>
          <p:cNvSpPr txBox="1"/>
          <p:nvPr/>
        </p:nvSpPr>
        <p:spPr>
          <a:xfrm>
            <a:off x="882652" y="4267468"/>
            <a:ext cx="4080494" cy="2231380"/>
          </a:xfrm>
          <a:prstGeom prst="rect">
            <a:avLst/>
          </a:prstGeom>
          <a:noFill/>
        </p:spPr>
        <p:txBody>
          <a:bodyPr wrap="square" anchor="ctr">
            <a:spAutoFit/>
          </a:bodyPr>
          <a:lstStyle/>
          <a:p>
            <a:pPr marL="171450" lvl="0" indent="-171450" eaLnBrk="1" fontAlgn="auto" hangingPunct="1">
              <a:spcBef>
                <a:spcPts val="0"/>
              </a:spcBef>
              <a:spcAft>
                <a:spcPts val="1200"/>
              </a:spcAft>
              <a:buClr>
                <a:srgbClr val="000000"/>
              </a:buClr>
              <a:buFont typeface="Arial" panose="020B0604020202020204" pitchFamily="34" charset="0"/>
              <a:buChar char="•"/>
              <a:defRPr/>
            </a:pPr>
            <a:r>
              <a:rPr lang="en-US" sz="1100" kern="0">
                <a:latin typeface="Helvetica Neue" panose="02000503000000020004" pitchFamily="2" charset="0"/>
                <a:ea typeface="Helvetica Neue" panose="02000503000000020004" pitchFamily="2" charset="0"/>
                <a:cs typeface="Helvetica Neue" panose="02000503000000020004" pitchFamily="2" charset="0"/>
              </a:rPr>
              <a:t>Fragmented Executive Team:</a:t>
            </a:r>
            <a:r>
              <a:rPr lang="en-US" sz="1100" b="1" kern="0">
                <a:latin typeface="Helvetica Neue" panose="02000503000000020004" pitchFamily="2" charset="0"/>
                <a:ea typeface="Helvetica Neue" panose="02000503000000020004" pitchFamily="2" charset="0"/>
                <a:cs typeface="Helvetica Neue" panose="02000503000000020004" pitchFamily="2" charset="0"/>
              </a:rPr>
              <a:t> s</a:t>
            </a:r>
            <a:r>
              <a:rPr lang="en-US" sz="1100" b="1">
                <a:latin typeface="Helvetica Neue" panose="02000503000000020004" pitchFamily="2" charset="0"/>
                <a:ea typeface="Helvetica Neue" panose="02000503000000020004" pitchFamily="2" charset="0"/>
                <a:cs typeface="Helvetica Neue" panose="02000503000000020004" pitchFamily="2" charset="0"/>
              </a:rPr>
              <a:t>ilos often compete for the CEO’s approval</a:t>
            </a:r>
          </a:p>
          <a:p>
            <a:pPr marL="171450" indent="-171450" eaLnBrk="1" fontAlgn="auto" hangingPunct="1">
              <a:spcBef>
                <a:spcPts val="0"/>
              </a:spcBef>
              <a:spcAft>
                <a:spcPts val="1200"/>
              </a:spcAft>
              <a:buClr>
                <a:srgbClr val="000000"/>
              </a:buClr>
              <a:buFont typeface="Arial" panose="020B0604020202020204" pitchFamily="34" charset="0"/>
              <a:buChar char="•"/>
              <a:defRPr/>
            </a:pPr>
            <a:r>
              <a:rPr lang="en-US" sz="1100" kern="0">
                <a:latin typeface="Helvetica Neue" panose="02000503000000020004" pitchFamily="2" charset="0"/>
                <a:ea typeface="Helvetica Neue" panose="02000503000000020004" pitchFamily="2" charset="0"/>
                <a:cs typeface="Helvetica Neue" panose="02000503000000020004" pitchFamily="2" charset="0"/>
              </a:rPr>
              <a:t>Team personalities; highly skeptical, task focused and low on empathy / relationships</a:t>
            </a:r>
          </a:p>
          <a:p>
            <a:pPr marL="171450" indent="-171450" eaLnBrk="1" fontAlgn="auto" hangingPunct="1">
              <a:spcBef>
                <a:spcPts val="0"/>
              </a:spcBef>
              <a:spcAft>
                <a:spcPts val="1200"/>
              </a:spcAft>
              <a:buClr>
                <a:srgbClr val="000000"/>
              </a:buClr>
              <a:buFont typeface="Arial" panose="020B0604020202020204" pitchFamily="34" charset="0"/>
              <a:buChar char="•"/>
              <a:defRPr/>
            </a:pPr>
            <a:r>
              <a:rPr lang="en-US" sz="1100" b="1" kern="0">
                <a:latin typeface="Helvetica Neue" panose="02000503000000020004" pitchFamily="2" charset="0"/>
                <a:ea typeface="Helvetica Neue" panose="02000503000000020004" pitchFamily="2" charset="0"/>
                <a:cs typeface="Helvetica Neue" panose="02000503000000020004" pitchFamily="2" charset="0"/>
              </a:rPr>
              <a:t>Unclear ways of working </a:t>
            </a:r>
            <a:r>
              <a:rPr lang="en-US" sz="1100" kern="0">
                <a:latin typeface="Helvetica Neue" panose="02000503000000020004" pitchFamily="2" charset="0"/>
                <a:ea typeface="Helvetica Neue" panose="02000503000000020004" pitchFamily="2" charset="0"/>
                <a:cs typeface="Helvetica Neue" panose="02000503000000020004" pitchFamily="2" charset="0"/>
              </a:rPr>
              <a:t>and lack of information flow leading to </a:t>
            </a:r>
            <a:r>
              <a:rPr lang="en-US" sz="1100">
                <a:latin typeface="Helvetica Neue" panose="02000503000000020004" pitchFamily="2" charset="0"/>
                <a:ea typeface="Helvetica Neue" panose="02000503000000020004" pitchFamily="2" charset="0"/>
                <a:cs typeface="Helvetica Neue" panose="02000503000000020004" pitchFamily="2" charset="0"/>
              </a:rPr>
              <a:t>politically cautious and transactional relations.</a:t>
            </a:r>
            <a:endParaRPr lang="en-US" sz="1100" kern="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eaLnBrk="1" fontAlgn="auto" hangingPunct="1">
              <a:spcBef>
                <a:spcPts val="0"/>
              </a:spcBef>
              <a:spcAft>
                <a:spcPts val="1200"/>
              </a:spcAft>
              <a:buClr>
                <a:srgbClr val="000000"/>
              </a:buClr>
              <a:buFont typeface="Arial" panose="020B0604020202020204" pitchFamily="34" charset="0"/>
              <a:buChar char="•"/>
              <a:defRPr/>
            </a:pPr>
            <a:r>
              <a:rPr lang="en-US" sz="1100">
                <a:latin typeface="Helvetica Neue" panose="02000503000000020004" pitchFamily="2" charset="0"/>
                <a:ea typeface="Helvetica Neue" panose="02000503000000020004" pitchFamily="2" charset="0"/>
                <a:cs typeface="Helvetica Neue" panose="02000503000000020004" pitchFamily="2" charset="0"/>
              </a:rPr>
              <a:t>Support functions </a:t>
            </a:r>
            <a:r>
              <a:rPr lang="en-US" sz="1100" b="1">
                <a:latin typeface="Helvetica Neue" panose="02000503000000020004" pitchFamily="2" charset="0"/>
                <a:ea typeface="Helvetica Neue" panose="02000503000000020004" pitchFamily="2" charset="0"/>
                <a:cs typeface="Helvetica Neue" panose="02000503000000020004" pitchFamily="2" charset="0"/>
              </a:rPr>
              <a:t>not commercially oriented</a:t>
            </a:r>
          </a:p>
          <a:p>
            <a:pPr marL="171450" marR="0" lvl="0" indent="-171450" algn="l" defTabSz="914400" rtl="0" eaLnBrk="1" fontAlgn="auto" latinLnBrk="0" hangingPunct="1">
              <a:lnSpc>
                <a:spcPct val="100000"/>
              </a:lnSpc>
              <a:spcBef>
                <a:spcPts val="0"/>
              </a:spcBef>
              <a:spcAft>
                <a:spcPts val="1200"/>
              </a:spcAft>
              <a:buClr>
                <a:srgbClr val="000000"/>
              </a:buClr>
              <a:buSzTx/>
              <a:buFont typeface="Arial" panose="020B0604020202020204" pitchFamily="34" charset="0"/>
              <a:buChar char="•"/>
              <a:tabLst/>
              <a:defRPr/>
            </a:pPr>
            <a:r>
              <a:rPr kumimoji="0" lang="en-US" sz="110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Most team members are new and capable, but some lack</a:t>
            </a:r>
            <a:r>
              <a:rPr lang="en-US" sz="1100" kern="0">
                <a:latin typeface="Helvetica Neue" panose="02000503000000020004" pitchFamily="2" charset="0"/>
                <a:ea typeface="Helvetica Neue" panose="02000503000000020004" pitchFamily="2" charset="0"/>
                <a:cs typeface="Helvetica Neue" panose="02000503000000020004" pitchFamily="2" charset="0"/>
              </a:rPr>
              <a:t> experience with Middle East culture</a:t>
            </a:r>
          </a:p>
        </p:txBody>
      </p:sp>
      <p:sp>
        <p:nvSpPr>
          <p:cNvPr id="21517" name="TextBox 21516">
            <a:extLst>
              <a:ext uri="{FF2B5EF4-FFF2-40B4-BE49-F238E27FC236}">
                <a16:creationId xmlns:a16="http://schemas.microsoft.com/office/drawing/2014/main" id="{13E45F17-6207-2D46-1BD5-C4A863526B1D}"/>
              </a:ext>
            </a:extLst>
          </p:cNvPr>
          <p:cNvSpPr txBox="1"/>
          <p:nvPr/>
        </p:nvSpPr>
        <p:spPr>
          <a:xfrm>
            <a:off x="6072313" y="4470646"/>
            <a:ext cx="4412170" cy="1677382"/>
          </a:xfrm>
          <a:prstGeom prst="rect">
            <a:avLst/>
          </a:prstGeom>
          <a:noFill/>
        </p:spPr>
        <p:txBody>
          <a:bodyPr wrap="square" anchor="ctr">
            <a:spAutoFit/>
          </a:bodyPr>
          <a:lstStyle/>
          <a:p>
            <a:pPr marR="0" lvl="0" algn="l" defTabSz="914400" rtl="0" eaLnBrk="1" fontAlgn="auto" latinLnBrk="0" hangingPunct="1">
              <a:lnSpc>
                <a:spcPct val="100000"/>
              </a:lnSpc>
              <a:spcBef>
                <a:spcPts val="0"/>
              </a:spcBef>
              <a:spcAft>
                <a:spcPts val="600"/>
              </a:spcAft>
              <a:buClr>
                <a:srgbClr val="000000"/>
              </a:buClr>
              <a:buSzTx/>
              <a:tabLst/>
              <a:defRPr/>
            </a:pPr>
            <a:r>
              <a:rPr kumimoji="0" lang="en-US" sz="110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Have not assessed the critical roles. The resistance will come from:</a:t>
            </a:r>
          </a:p>
          <a:p>
            <a:pPr marL="228600" marR="0" lvl="0" indent="-228600" algn="l" defTabSz="914400" rtl="0" eaLnBrk="1" fontAlgn="auto" latinLnBrk="0" hangingPunct="1">
              <a:lnSpc>
                <a:spcPct val="100000"/>
              </a:lnSpc>
              <a:spcBef>
                <a:spcPts val="0"/>
              </a:spcBef>
              <a:spcAft>
                <a:spcPts val="600"/>
              </a:spcAft>
              <a:buClr>
                <a:srgbClr val="000000"/>
              </a:buClr>
              <a:buSzTx/>
              <a:buFont typeface="+mj-lt"/>
              <a:buAutoNum type="arabicPeriod"/>
              <a:tabLst/>
              <a:defRPr/>
            </a:pPr>
            <a:r>
              <a:rPr kumimoji="0" lang="en-US" sz="1100" b="1"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Organization fatigue and distrust, </a:t>
            </a:r>
            <a:r>
              <a:rPr lang="en-US" sz="1100" kern="0">
                <a:latin typeface="Helvetica Neue" panose="02000503000000020004" pitchFamily="2" charset="0"/>
                <a:ea typeface="Helvetica Neue" panose="02000503000000020004" pitchFamily="2" charset="0"/>
                <a:cs typeface="Helvetica Neue" panose="02000503000000020004" pitchFamily="2" charset="0"/>
              </a:rPr>
              <a:t>cost-cutting, restructuring and job insecurity</a:t>
            </a:r>
          </a:p>
          <a:p>
            <a:pPr marL="228600" lvl="0" indent="-228600" eaLnBrk="1" fontAlgn="auto" hangingPunct="1">
              <a:spcBef>
                <a:spcPts val="0"/>
              </a:spcBef>
              <a:spcAft>
                <a:spcPts val="600"/>
              </a:spcAft>
              <a:buClr>
                <a:srgbClr val="000000"/>
              </a:buClr>
              <a:buFont typeface="+mj-lt"/>
              <a:buAutoNum type="arabicPeriod"/>
              <a:defRPr/>
            </a:pPr>
            <a:r>
              <a:rPr lang="en-US" sz="1100" b="1">
                <a:latin typeface="Helvetica Neue" panose="02000503000000020004" pitchFamily="2" charset="0"/>
                <a:ea typeface="Helvetica Neue" panose="02000503000000020004" pitchFamily="2" charset="0"/>
                <a:cs typeface="Helvetica Neue" panose="02000503000000020004" pitchFamily="2" charset="0"/>
              </a:rPr>
              <a:t>Legacy workforce and readiness for change, </a:t>
            </a:r>
            <a:r>
              <a:rPr lang="en-US" sz="1100">
                <a:latin typeface="Helvetica Neue" panose="02000503000000020004" pitchFamily="2" charset="0"/>
                <a:ea typeface="Helvetica Neue" panose="02000503000000020004" pitchFamily="2" charset="0"/>
                <a:cs typeface="Helvetica Neue" panose="02000503000000020004" pitchFamily="2" charset="0"/>
              </a:rPr>
              <a:t>many struggle to adapt to the new performance-driven culture</a:t>
            </a:r>
          </a:p>
          <a:p>
            <a:pPr marL="228600" lvl="0" indent="-228600" eaLnBrk="1" fontAlgn="auto" hangingPunct="1">
              <a:spcBef>
                <a:spcPts val="0"/>
              </a:spcBef>
              <a:spcAft>
                <a:spcPts val="0"/>
              </a:spcAft>
              <a:buFont typeface="+mj-lt"/>
              <a:buAutoNum type="arabicPeriod"/>
              <a:defRPr/>
            </a:pPr>
            <a:r>
              <a:rPr lang="en-US" sz="1100" b="1">
                <a:solidFill>
                  <a:prstClr val="black"/>
                </a:solidFill>
                <a:latin typeface="Helvetica Neue" panose="02000503000000020004" pitchFamily="2" charset="0"/>
                <a:ea typeface="Helvetica Neue" panose="02000503000000020004" pitchFamily="2" charset="0"/>
                <a:cs typeface="Helvetica Neue" panose="02000503000000020004" pitchFamily="2" charset="0"/>
              </a:rPr>
              <a:t>Underperformance masked by fear, </a:t>
            </a:r>
            <a:r>
              <a:rPr lang="en-US" sz="1100">
                <a:latin typeface="Helvetica Neue" panose="02000503000000020004" pitchFamily="2" charset="0"/>
                <a:ea typeface="Helvetica Neue" panose="02000503000000020004" pitchFamily="2" charset="0"/>
                <a:cs typeface="Helvetica Neue" panose="02000503000000020004" pitchFamily="2" charset="0"/>
              </a:rPr>
              <a:t>pockets of underperformance remain unaddressed </a:t>
            </a:r>
            <a:endParaRPr lang="en-US" sz="1100" b="1">
              <a:solidFill>
                <a:prstClr val="black"/>
              </a:solidFill>
              <a:latin typeface="Helvetica Neue" panose="02000503000000020004" pitchFamily="2" charset="0"/>
              <a:ea typeface="Helvetica Neue" panose="02000503000000020004" pitchFamily="2" charset="0"/>
              <a:cs typeface="Helvetica Neue" panose="02000503000000020004" pitchFamily="2" charset="0"/>
            </a:endParaRPr>
          </a:p>
          <a:p>
            <a:pPr marL="171450" lvl="0" indent="-171450" eaLnBrk="1" fontAlgn="auto" hangingPunct="1">
              <a:spcBef>
                <a:spcPts val="0"/>
              </a:spcBef>
              <a:spcAft>
                <a:spcPts val="600"/>
              </a:spcAft>
              <a:buClr>
                <a:srgbClr val="000000"/>
              </a:buClr>
              <a:buFont typeface="Arial" panose="020B0604020202020204" pitchFamily="34" charset="0"/>
              <a:buChar char="•"/>
              <a:defRPr/>
            </a:pPr>
            <a:endParaRPr kumimoji="0" lang="en-US" sz="1100" i="1"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1520" name="TextBox 21519">
            <a:extLst>
              <a:ext uri="{FF2B5EF4-FFF2-40B4-BE49-F238E27FC236}">
                <a16:creationId xmlns:a16="http://schemas.microsoft.com/office/drawing/2014/main" id="{8BC972A5-0AC5-C34C-967D-52E7E3BAB6A7}"/>
              </a:ext>
            </a:extLst>
          </p:cNvPr>
          <p:cNvSpPr txBox="1"/>
          <p:nvPr/>
        </p:nvSpPr>
        <p:spPr>
          <a:xfrm>
            <a:off x="5937581" y="1591893"/>
            <a:ext cx="4599155" cy="1831271"/>
          </a:xfrm>
          <a:prstGeom prst="rect">
            <a:avLst/>
          </a:prstGeom>
          <a:noFill/>
        </p:spPr>
        <p:txBody>
          <a:bodyPr wrap="square" lIns="91440" tIns="45720" rIns="91440" bIns="45720" anchor="ctr">
            <a:spAutoFit/>
          </a:bodyPr>
          <a:lstStyle/>
          <a:p>
            <a:pPr marL="171450" marR="0" lvl="0" indent="-171450" algn="l" defTabSz="91440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defRPr/>
            </a:pPr>
            <a:r>
              <a:rPr kumimoji="0" lang="en-US" sz="1100" b="1" i="0" u="none" strike="noStrike" kern="0" cap="none" spc="0" normalizeH="0" baseline="0" noProof="0">
                <a:ln>
                  <a:noFill/>
                </a:ln>
                <a:solidFill>
                  <a:srgbClr val="000000"/>
                </a:solidFill>
                <a:effectLst/>
                <a:uLnTx/>
                <a:uFillTx/>
                <a:latin typeface="Helvetica Neue"/>
                <a:ea typeface="Helvetica Neue" panose="02000503000000020004" pitchFamily="2" charset="0"/>
                <a:cs typeface="Helvetica Neue" panose="02000503000000020004" pitchFamily="2" charset="0"/>
              </a:rPr>
              <a:t>Misalignment on growth vs. </a:t>
            </a:r>
            <a:r>
              <a:rPr lang="en-US" sz="1100" b="1" kern="0">
                <a:latin typeface="Helvetica Neue"/>
                <a:ea typeface="Helvetica Neue" panose="02000503000000020004" pitchFamily="2" charset="0"/>
                <a:cs typeface="Helvetica Neue" panose="02000503000000020004" pitchFamily="2" charset="0"/>
              </a:rPr>
              <a:t>cost efforts </a:t>
            </a:r>
            <a:r>
              <a:rPr lang="en-US" sz="1100" kern="0">
                <a:latin typeface="Helvetica Neue"/>
                <a:ea typeface="Helvetica Neue" panose="02000503000000020004" pitchFamily="2" charset="0"/>
                <a:cs typeface="Helvetica Neue" panose="02000503000000020004" pitchFamily="2" charset="0"/>
              </a:rPr>
              <a:t>(slide 4)</a:t>
            </a:r>
            <a:r>
              <a:rPr kumimoji="0" lang="en-US" sz="1100" i="0" u="none" strike="noStrike" kern="0" cap="none" spc="0" normalizeH="0" baseline="0" noProof="0">
                <a:ln>
                  <a:noFill/>
                </a:ln>
                <a:solidFill>
                  <a:srgbClr val="000000"/>
                </a:solidFill>
                <a:effectLst/>
                <a:uLnTx/>
                <a:uFillTx/>
                <a:latin typeface="Helvetica Neue"/>
                <a:ea typeface="Helvetica Neue" panose="02000503000000020004" pitchFamily="2" charset="0"/>
                <a:cs typeface="Helvetica Neue" panose="02000503000000020004" pitchFamily="2" charset="0"/>
              </a:rPr>
              <a:t> </a:t>
            </a:r>
          </a:p>
          <a:p>
            <a:pPr marL="171450" indent="-171450" eaLnBrk="1" fontAlgn="auto" hangingPunct="1">
              <a:spcBef>
                <a:spcPts val="0"/>
              </a:spcBef>
              <a:spcAft>
                <a:spcPts val="600"/>
              </a:spcAft>
              <a:buClr>
                <a:srgbClr val="000000"/>
              </a:buClr>
              <a:buFont typeface="Arial" panose="020B0604020202020204" pitchFamily="34" charset="0"/>
              <a:buChar char="•"/>
              <a:defRPr/>
            </a:pPr>
            <a:r>
              <a:rPr lang="en-US" sz="1100" b="1">
                <a:latin typeface="Helvetica Neue"/>
                <a:ea typeface="Helvetica Neue" panose="02000503000000020004" pitchFamily="2" charset="0"/>
                <a:cs typeface="Helvetica Neue" panose="02000503000000020004" pitchFamily="2" charset="0"/>
              </a:rPr>
              <a:t>Digital strategy misalignment, </a:t>
            </a:r>
            <a:r>
              <a:rPr lang="en-US" sz="1100">
                <a:latin typeface="Helvetica Neue"/>
                <a:ea typeface="Helvetica Neue" panose="02000503000000020004" pitchFamily="2" charset="0"/>
                <a:cs typeface="Helvetica Neue" panose="02000503000000020004" pitchFamily="2" charset="0"/>
              </a:rPr>
              <a:t>no shared agreement on the company’s digital direction </a:t>
            </a:r>
            <a:endParaRPr lang="en-US" sz="1100" b="1">
              <a:latin typeface="Helvetica Neue"/>
              <a:ea typeface="Helvetica Neue" panose="02000503000000020004" pitchFamily="2" charset="0"/>
              <a:cs typeface="Helvetica Neue" panose="02000503000000020004" pitchFamily="2" charset="0"/>
            </a:endParaRPr>
          </a:p>
          <a:p>
            <a:pPr marL="171450" indent="-171450" eaLnBrk="1" fontAlgn="auto" hangingPunct="1">
              <a:spcBef>
                <a:spcPts val="0"/>
              </a:spcBef>
              <a:spcAft>
                <a:spcPts val="600"/>
              </a:spcAft>
              <a:buClr>
                <a:srgbClr val="000000"/>
              </a:buClr>
              <a:buFont typeface="Arial" panose="020B0604020202020204" pitchFamily="34" charset="0"/>
              <a:buChar char="•"/>
              <a:defRPr/>
            </a:pPr>
            <a:r>
              <a:rPr kumimoji="0" lang="en-US" sz="1100" b="1" i="0" u="none" strike="noStrike" kern="0" cap="none" spc="0" normalizeH="0" baseline="0" noProof="0">
                <a:ln>
                  <a:noFill/>
                </a:ln>
                <a:solidFill>
                  <a:srgbClr val="000000"/>
                </a:solidFill>
                <a:effectLst/>
                <a:uLnTx/>
                <a:uFillTx/>
                <a:latin typeface="Helvetica Neue"/>
                <a:ea typeface="Helvetica Neue" panose="02000503000000020004" pitchFamily="2" charset="0"/>
                <a:cs typeface="Helvetica Neue" panose="02000503000000020004" pitchFamily="2" charset="0"/>
              </a:rPr>
              <a:t>Unfinished transformation and change fatigue within his team; </a:t>
            </a:r>
            <a:r>
              <a:rPr lang="en-US" sz="1100">
                <a:latin typeface="Helvetica Neue"/>
                <a:ea typeface="Helvetica Neue" panose="02000503000000020004" pitchFamily="2" charset="0"/>
                <a:cs typeface="Helvetica Neue" panose="02000503000000020004" pitchFamily="2" charset="0"/>
              </a:rPr>
              <a:t> continue to operate in “cleanup mode; no clear sense of completion and next steps</a:t>
            </a:r>
          </a:p>
          <a:p>
            <a:pPr marL="171450" lvl="0" indent="-171450" eaLnBrk="1" fontAlgn="auto" hangingPunct="1">
              <a:spcBef>
                <a:spcPts val="0"/>
              </a:spcBef>
              <a:spcAft>
                <a:spcPts val="1200"/>
              </a:spcAft>
              <a:buClr>
                <a:srgbClr val="000000"/>
              </a:buClr>
              <a:buFont typeface="Arial" panose="020B0604020202020204" pitchFamily="34" charset="0"/>
              <a:buChar char="•"/>
              <a:defRPr/>
            </a:pPr>
            <a:endParaRPr lang="en-US" sz="1100" b="1" kern="0">
              <a:latin typeface="Helvetica Neue" panose="02000503000000020004" pitchFamily="2" charset="0"/>
              <a:ea typeface="Helvetica Neue" panose="02000503000000020004" pitchFamily="2" charset="0"/>
              <a:cs typeface="Helvetica Neue" panose="02000503000000020004" pitchFamily="2" charset="0"/>
            </a:endParaRPr>
          </a:p>
          <a:p>
            <a:pPr marL="171450" lvl="0" indent="-171450" eaLnBrk="1" fontAlgn="auto" hangingPunct="1">
              <a:spcBef>
                <a:spcPts val="0"/>
              </a:spcBef>
              <a:spcAft>
                <a:spcPts val="600"/>
              </a:spcAft>
              <a:buClr>
                <a:srgbClr val="000000"/>
              </a:buClr>
              <a:buFont typeface="Arial" panose="020B0604020202020204" pitchFamily="34" charset="0"/>
              <a:buChar char="•"/>
              <a:defRPr/>
            </a:pPr>
            <a:endParaRPr kumimoji="0" lang="en-US" sz="1100" b="0" i="1"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5" name="Picture 4">
            <a:extLst>
              <a:ext uri="{FF2B5EF4-FFF2-40B4-BE49-F238E27FC236}">
                <a16:creationId xmlns:a16="http://schemas.microsoft.com/office/drawing/2014/main" id="{CDCBBFD8-F0A9-3030-D28B-6CEEE51EF6AC}"/>
              </a:ext>
            </a:extLst>
          </p:cNvPr>
          <p:cNvPicPr>
            <a:picLocks noChangeAspect="1"/>
          </p:cNvPicPr>
          <p:nvPr/>
        </p:nvPicPr>
        <p:blipFill>
          <a:blip r:embed="rId4"/>
          <a:stretch>
            <a:fillRect/>
          </a:stretch>
        </p:blipFill>
        <p:spPr>
          <a:xfrm>
            <a:off x="739653" y="1124371"/>
            <a:ext cx="330426" cy="315805"/>
          </a:xfrm>
          <a:prstGeom prst="rect">
            <a:avLst/>
          </a:prstGeom>
        </p:spPr>
      </p:pic>
      <p:pic>
        <p:nvPicPr>
          <p:cNvPr id="6" name="Picture 5">
            <a:extLst>
              <a:ext uri="{FF2B5EF4-FFF2-40B4-BE49-F238E27FC236}">
                <a16:creationId xmlns:a16="http://schemas.microsoft.com/office/drawing/2014/main" id="{6B71EE08-6AB6-B5A5-6A48-163936186BBC}"/>
              </a:ext>
            </a:extLst>
          </p:cNvPr>
          <p:cNvPicPr>
            <a:picLocks noChangeAspect="1"/>
          </p:cNvPicPr>
          <p:nvPr/>
        </p:nvPicPr>
        <p:blipFill>
          <a:blip r:embed="rId4"/>
          <a:stretch>
            <a:fillRect/>
          </a:stretch>
        </p:blipFill>
        <p:spPr>
          <a:xfrm>
            <a:off x="5759023" y="1156669"/>
            <a:ext cx="330426" cy="315805"/>
          </a:xfrm>
          <a:prstGeom prst="rect">
            <a:avLst/>
          </a:prstGeom>
        </p:spPr>
      </p:pic>
      <p:pic>
        <p:nvPicPr>
          <p:cNvPr id="7" name="Picture 6">
            <a:extLst>
              <a:ext uri="{FF2B5EF4-FFF2-40B4-BE49-F238E27FC236}">
                <a16:creationId xmlns:a16="http://schemas.microsoft.com/office/drawing/2014/main" id="{6788DC53-C47A-C49C-E23B-98200BE4F1A7}"/>
              </a:ext>
            </a:extLst>
          </p:cNvPr>
          <p:cNvPicPr>
            <a:picLocks noChangeAspect="1"/>
          </p:cNvPicPr>
          <p:nvPr/>
        </p:nvPicPr>
        <p:blipFill>
          <a:blip r:embed="rId4"/>
          <a:stretch>
            <a:fillRect/>
          </a:stretch>
        </p:blipFill>
        <p:spPr>
          <a:xfrm>
            <a:off x="739653" y="3919562"/>
            <a:ext cx="330426" cy="315805"/>
          </a:xfrm>
          <a:prstGeom prst="rect">
            <a:avLst/>
          </a:prstGeom>
        </p:spPr>
      </p:pic>
    </p:spTree>
    <p:extLst>
      <p:ext uri="{BB962C8B-B14F-4D97-AF65-F5344CB8AC3E}">
        <p14:creationId xmlns:p14="http://schemas.microsoft.com/office/powerpoint/2010/main" val="2379858922"/>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82D726FD-083B-5A91-70EF-211E15D6ED50}"/>
            </a:ext>
          </a:extLst>
        </p:cNvPr>
        <p:cNvGrpSpPr/>
        <p:nvPr/>
      </p:nvGrpSpPr>
      <p:grpSpPr>
        <a:xfrm>
          <a:off x="0" y="0"/>
          <a:ext cx="0" cy="0"/>
          <a:chOff x="0" y="0"/>
          <a:chExt cx="0" cy="0"/>
        </a:xfrm>
      </p:grpSpPr>
      <p:sp>
        <p:nvSpPr>
          <p:cNvPr id="21507" name="Text Placeholder 1">
            <a:extLst>
              <a:ext uri="{FF2B5EF4-FFF2-40B4-BE49-F238E27FC236}">
                <a16:creationId xmlns:a16="http://schemas.microsoft.com/office/drawing/2014/main" id="{00A3AE32-771D-7196-205B-DA04F6DA6A8B}"/>
              </a:ext>
            </a:extLst>
          </p:cNvPr>
          <p:cNvSpPr>
            <a:spLocks noGrp="1" noChangeArrowheads="1"/>
          </p:cNvSpPr>
          <p:nvPr>
            <p:ph type="body" idx="1"/>
          </p:nvPr>
        </p:nvSpPr>
        <p:spPr bwMode="auto">
          <a:xfrm>
            <a:off x="727075" y="374650"/>
            <a:ext cx="7559675" cy="334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marL="0" indent="0">
              <a:spcBef>
                <a:spcPct val="0"/>
              </a:spcBef>
              <a:spcAft>
                <a:spcPct val="0"/>
              </a:spcAft>
              <a:buClr>
                <a:srgbClr val="000000"/>
              </a:buClr>
              <a:buSzPts val="2400"/>
              <a:buFont typeface="Arial" panose="020B0604020202020204" pitchFamily="34" charset="0"/>
              <a:buNone/>
            </a:pPr>
            <a:r>
              <a:rPr lang="en-US" altLang="en-US" sz="2000">
                <a:solidFill>
                  <a:srgbClr val="002060"/>
                </a:solidFill>
                <a:latin typeface="Helvetica Neue"/>
                <a:ea typeface="Helvetica Neue" panose="02000503000000020004" pitchFamily="2" charset="0"/>
                <a:cs typeface="Helvetica Neue" panose="02000503000000020004" pitchFamily="2" charset="0"/>
                <a:sym typeface="Helvetica Neue Light" panose="02000403000000020004" pitchFamily="2" charset="0"/>
              </a:rPr>
              <a:t>OPPORTUNITIES FOR GREATER ALIGNMENT</a:t>
            </a:r>
          </a:p>
        </p:txBody>
      </p:sp>
      <p:sp>
        <p:nvSpPr>
          <p:cNvPr id="21508" name="Slide Number Placeholder 2">
            <a:extLst>
              <a:ext uri="{FF2B5EF4-FFF2-40B4-BE49-F238E27FC236}">
                <a16:creationId xmlns:a16="http://schemas.microsoft.com/office/drawing/2014/main" id="{16E0A1B6-FE61-926E-DC2F-7E3DFDB96EA6}"/>
              </a:ext>
            </a:extLst>
          </p:cNvPr>
          <p:cNvSpPr>
            <a:spLocks noGrp="1" noChangeArrowheads="1"/>
          </p:cNvSpPr>
          <p:nvPr>
            <p:ph type="sldNum" sz="quarter" idx="10"/>
          </p:nvPr>
        </p:nvSpPr>
        <p:spPr>
          <a:xfrm>
            <a:off x="0" y="238125"/>
            <a:ext cx="557213" cy="557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94E6AC2-D12E-1843-971E-E4F9DE4AA8B8}"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5</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pic>
        <p:nvPicPr>
          <p:cNvPr id="4" name="Picture 3">
            <a:extLst>
              <a:ext uri="{FF2B5EF4-FFF2-40B4-BE49-F238E27FC236}">
                <a16:creationId xmlns:a16="http://schemas.microsoft.com/office/drawing/2014/main" id="{8EEF07E8-293B-E5FE-DCE3-1046A56E01DA}"/>
              </a:ext>
            </a:extLst>
          </p:cNvPr>
          <p:cNvPicPr>
            <a:picLocks noChangeAspect="1"/>
          </p:cNvPicPr>
          <p:nvPr/>
        </p:nvPicPr>
        <p:blipFill>
          <a:blip r:embed="rId4"/>
          <a:stretch>
            <a:fillRect/>
          </a:stretch>
        </p:blipFill>
        <p:spPr>
          <a:xfrm>
            <a:off x="3510154" y="2040579"/>
            <a:ext cx="1669747" cy="1669747"/>
          </a:xfrm>
          <a:prstGeom prst="rect">
            <a:avLst/>
          </a:prstGeom>
        </p:spPr>
      </p:pic>
      <p:sp>
        <p:nvSpPr>
          <p:cNvPr id="5" name="TextBox 4">
            <a:extLst>
              <a:ext uri="{FF2B5EF4-FFF2-40B4-BE49-F238E27FC236}">
                <a16:creationId xmlns:a16="http://schemas.microsoft.com/office/drawing/2014/main" id="{9ED9488E-EA8E-93EF-868B-A7F3C76761BD}"/>
              </a:ext>
            </a:extLst>
          </p:cNvPr>
          <p:cNvSpPr txBox="1"/>
          <p:nvPr/>
        </p:nvSpPr>
        <p:spPr>
          <a:xfrm>
            <a:off x="1548903" y="1506334"/>
            <a:ext cx="1961249" cy="307777"/>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rgbClr val="000000">
                    <a:lumMod val="50000"/>
                    <a:lumOff val="50000"/>
                  </a:srgbClr>
                </a:solidFill>
                <a:latin typeface="Helvetica Neue" panose="02000503000000020004" pitchFamily="2" charset="0"/>
                <a:ea typeface="Helvetica Neue" panose="02000503000000020004" pitchFamily="2" charset="0"/>
                <a:cs typeface="Helvetica Neue" panose="02000503000000020004" pitchFamily="2" charset="0"/>
              </a:rPr>
              <a:t>Cost vs. Growth</a:t>
            </a:r>
            <a:endParaRPr kumimoji="0" lang="en-US" sz="1400" b="1" u="none" strike="noStrike" kern="1200" cap="none" spc="0" normalizeH="0" baseline="0" noProof="0">
              <a:ln>
                <a:noFill/>
              </a:ln>
              <a:solidFill>
                <a:srgbClr val="000000">
                  <a:lumMod val="50000"/>
                  <a:lumOff val="50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TextBox 6">
            <a:extLst>
              <a:ext uri="{FF2B5EF4-FFF2-40B4-BE49-F238E27FC236}">
                <a16:creationId xmlns:a16="http://schemas.microsoft.com/office/drawing/2014/main" id="{E8A045C7-C3E7-867D-0B16-CD703F9DC82C}"/>
              </a:ext>
            </a:extLst>
          </p:cNvPr>
          <p:cNvSpPr txBox="1"/>
          <p:nvPr/>
        </p:nvSpPr>
        <p:spPr>
          <a:xfrm>
            <a:off x="7650918" y="877883"/>
            <a:ext cx="2057400" cy="307777"/>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BA0B2F"/>
                </a:solidFill>
                <a:effectLst/>
                <a:uLnTx/>
                <a:uFillTx/>
                <a:latin typeface="Helvetica Neue" panose="02000503000000020004" pitchFamily="2" charset="0"/>
                <a:ea typeface="Helvetica Neue" panose="02000503000000020004" pitchFamily="2" charset="0"/>
                <a:cs typeface="Helvetica Neue" panose="02000503000000020004" pitchFamily="2" charset="0"/>
              </a:rPr>
              <a:t>N-1 and below</a:t>
            </a:r>
          </a:p>
        </p:txBody>
      </p:sp>
      <p:sp>
        <p:nvSpPr>
          <p:cNvPr id="9" name="TextBox 8">
            <a:extLst>
              <a:ext uri="{FF2B5EF4-FFF2-40B4-BE49-F238E27FC236}">
                <a16:creationId xmlns:a16="http://schemas.microsoft.com/office/drawing/2014/main" id="{9779AE82-CB65-4D5F-7C54-3557778798A9}"/>
              </a:ext>
            </a:extLst>
          </p:cNvPr>
          <p:cNvSpPr txBox="1"/>
          <p:nvPr/>
        </p:nvSpPr>
        <p:spPr>
          <a:xfrm>
            <a:off x="7819018" y="1353930"/>
            <a:ext cx="1919003" cy="646331"/>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Feeling confused by cost-cutting vs. growth narrative from ADQ</a:t>
            </a:r>
          </a:p>
        </p:txBody>
      </p:sp>
      <p:sp>
        <p:nvSpPr>
          <p:cNvPr id="11" name="TextBox 10">
            <a:extLst>
              <a:ext uri="{FF2B5EF4-FFF2-40B4-BE49-F238E27FC236}">
                <a16:creationId xmlns:a16="http://schemas.microsoft.com/office/drawing/2014/main" id="{5A816A51-35B1-CC72-AE2F-C5DB40AA0EDE}"/>
              </a:ext>
            </a:extLst>
          </p:cNvPr>
          <p:cNvSpPr txBox="1"/>
          <p:nvPr/>
        </p:nvSpPr>
        <p:spPr>
          <a:xfrm>
            <a:off x="7819019" y="2660690"/>
            <a:ext cx="1889299" cy="646331"/>
          </a:xfrm>
          <a:prstGeom prst="rect">
            <a:avLst/>
          </a:prstGeom>
          <a:noFill/>
        </p:spPr>
        <p:txBody>
          <a:bodyPr wrap="square" lIns="0" rtlCol="0">
            <a:spAutoFit/>
          </a:bodyPr>
          <a:lstStyle>
            <a:defPPr>
              <a:defRPr lang="en-US"/>
            </a:defPPr>
            <a:lvl1pPr lvl="0" algn="ctr" eaLnBrk="1" fontAlgn="auto" hangingPunct="1">
              <a:spcBef>
                <a:spcPts val="0"/>
              </a:spcBef>
              <a:spcAft>
                <a:spcPts val="0"/>
              </a:spcAft>
              <a:defRPr sz="1200">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Experience shifting focus, unclear goals, and inconsistent messaging</a:t>
            </a:r>
          </a:p>
        </p:txBody>
      </p:sp>
      <p:sp>
        <p:nvSpPr>
          <p:cNvPr id="13" name="TextBox 12">
            <a:extLst>
              <a:ext uri="{FF2B5EF4-FFF2-40B4-BE49-F238E27FC236}">
                <a16:creationId xmlns:a16="http://schemas.microsoft.com/office/drawing/2014/main" id="{C16F5261-1929-964A-0CD3-BF81AD14A493}"/>
              </a:ext>
            </a:extLst>
          </p:cNvPr>
          <p:cNvSpPr txBox="1"/>
          <p:nvPr/>
        </p:nvSpPr>
        <p:spPr>
          <a:xfrm>
            <a:off x="7819019" y="3814853"/>
            <a:ext cx="1889299" cy="646331"/>
          </a:xfrm>
          <a:prstGeom prst="rect">
            <a:avLst/>
          </a:prstGeom>
          <a:noFill/>
        </p:spPr>
        <p:txBody>
          <a:bodyPr wrap="square" lIns="0" rtlCol="0">
            <a:spAutoFit/>
          </a:bodyPr>
          <a:lstStyle>
            <a:defPPr>
              <a:defRPr lang="en-US"/>
            </a:defPPr>
            <a:lvl1pPr lvl="0" algn="ctr" eaLnBrk="1" fontAlgn="auto" hangingPunct="1">
              <a:spcBef>
                <a:spcPts val="0"/>
              </a:spcBef>
              <a:spcAft>
                <a:spcPts val="0"/>
              </a:spcAft>
              <a:defRPr sz="1200">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Employees feel worn by constant transformation and unclear expectations</a:t>
            </a:r>
          </a:p>
        </p:txBody>
      </p:sp>
      <p:sp>
        <p:nvSpPr>
          <p:cNvPr id="14" name="TextBox 13">
            <a:extLst>
              <a:ext uri="{FF2B5EF4-FFF2-40B4-BE49-F238E27FC236}">
                <a16:creationId xmlns:a16="http://schemas.microsoft.com/office/drawing/2014/main" id="{FCC1E93C-CDE6-481C-C6CF-8A6BA8303F7E}"/>
              </a:ext>
            </a:extLst>
          </p:cNvPr>
          <p:cNvSpPr txBox="1"/>
          <p:nvPr/>
        </p:nvSpPr>
        <p:spPr>
          <a:xfrm>
            <a:off x="1548902" y="2538577"/>
            <a:ext cx="1961249" cy="73866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rgbClr val="000000">
                    <a:lumMod val="50000"/>
                    <a:lumOff val="50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Clarity and Consistency of Strategic Direction</a:t>
            </a:r>
          </a:p>
        </p:txBody>
      </p:sp>
      <p:sp>
        <p:nvSpPr>
          <p:cNvPr id="15" name="TextBox 14">
            <a:extLst>
              <a:ext uri="{FF2B5EF4-FFF2-40B4-BE49-F238E27FC236}">
                <a16:creationId xmlns:a16="http://schemas.microsoft.com/office/drawing/2014/main" id="{76E23916-89E7-01DD-14E3-408FC1ABD34C}"/>
              </a:ext>
            </a:extLst>
          </p:cNvPr>
          <p:cNvSpPr txBox="1"/>
          <p:nvPr/>
        </p:nvSpPr>
        <p:spPr>
          <a:xfrm>
            <a:off x="1548902" y="3897668"/>
            <a:ext cx="1961249" cy="73866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rgbClr val="000000">
                    <a:lumMod val="50000"/>
                    <a:lumOff val="50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Transformation Fatigue vs. Momentum</a:t>
            </a:r>
          </a:p>
        </p:txBody>
      </p:sp>
      <p:pic>
        <p:nvPicPr>
          <p:cNvPr id="16" name="Picture 15">
            <a:extLst>
              <a:ext uri="{FF2B5EF4-FFF2-40B4-BE49-F238E27FC236}">
                <a16:creationId xmlns:a16="http://schemas.microsoft.com/office/drawing/2014/main" id="{81C92560-43D3-CF93-A566-E09961D72E64}"/>
              </a:ext>
            </a:extLst>
          </p:cNvPr>
          <p:cNvPicPr>
            <a:picLocks noChangeAspect="1"/>
          </p:cNvPicPr>
          <p:nvPr/>
        </p:nvPicPr>
        <p:blipFill>
          <a:blip r:embed="rId4"/>
          <a:stretch>
            <a:fillRect/>
          </a:stretch>
        </p:blipFill>
        <p:spPr>
          <a:xfrm>
            <a:off x="3510154" y="3395477"/>
            <a:ext cx="1669747" cy="1669747"/>
          </a:xfrm>
          <a:prstGeom prst="rect">
            <a:avLst/>
          </a:prstGeom>
        </p:spPr>
      </p:pic>
      <p:pic>
        <p:nvPicPr>
          <p:cNvPr id="17" name="Picture 16">
            <a:extLst>
              <a:ext uri="{FF2B5EF4-FFF2-40B4-BE49-F238E27FC236}">
                <a16:creationId xmlns:a16="http://schemas.microsoft.com/office/drawing/2014/main" id="{23801C70-6A79-3FA1-D183-795267A3D274}"/>
              </a:ext>
            </a:extLst>
          </p:cNvPr>
          <p:cNvPicPr>
            <a:picLocks noChangeAspect="1"/>
          </p:cNvPicPr>
          <p:nvPr/>
        </p:nvPicPr>
        <p:blipFill>
          <a:blip r:embed="rId4"/>
          <a:stretch>
            <a:fillRect/>
          </a:stretch>
        </p:blipFill>
        <p:spPr>
          <a:xfrm>
            <a:off x="3510154" y="900247"/>
            <a:ext cx="1669747" cy="1669747"/>
          </a:xfrm>
          <a:prstGeom prst="rect">
            <a:avLst/>
          </a:prstGeom>
        </p:spPr>
      </p:pic>
      <p:cxnSp>
        <p:nvCxnSpPr>
          <p:cNvPr id="18" name="Straight Connector 17">
            <a:extLst>
              <a:ext uri="{FF2B5EF4-FFF2-40B4-BE49-F238E27FC236}">
                <a16:creationId xmlns:a16="http://schemas.microsoft.com/office/drawing/2014/main" id="{1A9F7C7B-DF8D-2723-D62A-53A4CD4BC39A}"/>
              </a:ext>
            </a:extLst>
          </p:cNvPr>
          <p:cNvCxnSpPr>
            <a:cxnSpLocks/>
          </p:cNvCxnSpPr>
          <p:nvPr/>
        </p:nvCxnSpPr>
        <p:spPr>
          <a:xfrm>
            <a:off x="5379382" y="1199738"/>
            <a:ext cx="2057400"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D901C71-6199-FF91-C917-D77FC26A9CC3}"/>
              </a:ext>
            </a:extLst>
          </p:cNvPr>
          <p:cNvSpPr txBox="1"/>
          <p:nvPr/>
        </p:nvSpPr>
        <p:spPr>
          <a:xfrm>
            <a:off x="5501932" y="877883"/>
            <a:ext cx="2148986" cy="307777"/>
          </a:xfrm>
          <a:prstGeom prst="rect">
            <a:avLst/>
          </a:prstGeom>
          <a:noFill/>
        </p:spPr>
        <p:txBody>
          <a:bodyPr wrap="square" l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BA0B2F"/>
                </a:solidFill>
                <a:effectLst/>
                <a:uLnTx/>
                <a:uFillTx/>
                <a:latin typeface="Helvetica Neue" panose="02000503000000020004" pitchFamily="2" charset="0"/>
                <a:ea typeface="Helvetica Neue" panose="02000503000000020004" pitchFamily="2" charset="0"/>
                <a:cs typeface="Helvetica Neue" panose="02000503000000020004" pitchFamily="2" charset="0"/>
              </a:rPr>
              <a:t>CEO</a:t>
            </a:r>
          </a:p>
        </p:txBody>
      </p:sp>
      <p:sp>
        <p:nvSpPr>
          <p:cNvPr id="21" name="TextBox 20">
            <a:extLst>
              <a:ext uri="{FF2B5EF4-FFF2-40B4-BE49-F238E27FC236}">
                <a16:creationId xmlns:a16="http://schemas.microsoft.com/office/drawing/2014/main" id="{8BDD37D5-3F13-B9F8-1EDB-5FBF29C469A1}"/>
              </a:ext>
            </a:extLst>
          </p:cNvPr>
          <p:cNvSpPr txBox="1"/>
          <p:nvPr/>
        </p:nvSpPr>
        <p:spPr>
          <a:xfrm>
            <a:off x="5501932" y="1308357"/>
            <a:ext cx="2148986" cy="830997"/>
          </a:xfrm>
          <a:prstGeom prst="rect">
            <a:avLst/>
          </a:prstGeom>
          <a:noFill/>
        </p:spPr>
        <p:txBody>
          <a:bodyPr wrap="square" l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latin typeface="Helvetica Neue" panose="02000503000000020004" pitchFamily="2" charset="0"/>
                <a:ea typeface="Helvetica Neue" panose="02000503000000020004" pitchFamily="2" charset="0"/>
                <a:cs typeface="Helvetica Neue" panose="02000503000000020004" pitchFamily="2" charset="0"/>
              </a:rPr>
              <a:t>Cost</a:t>
            </a:r>
            <a:r>
              <a:rPr kumimoji="0" lang="en-US" sz="120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 discipline as a foundation for trust; increasingly acknowledges the need for growth</a:t>
            </a:r>
          </a:p>
        </p:txBody>
      </p:sp>
      <p:sp>
        <p:nvSpPr>
          <p:cNvPr id="22" name="TextBox 21">
            <a:extLst>
              <a:ext uri="{FF2B5EF4-FFF2-40B4-BE49-F238E27FC236}">
                <a16:creationId xmlns:a16="http://schemas.microsoft.com/office/drawing/2014/main" id="{36615073-44C8-9B8D-9B4B-236EE542E7E3}"/>
              </a:ext>
            </a:extLst>
          </p:cNvPr>
          <p:cNvSpPr txBox="1"/>
          <p:nvPr/>
        </p:nvSpPr>
        <p:spPr>
          <a:xfrm>
            <a:off x="5501932" y="2722876"/>
            <a:ext cx="2148986" cy="461665"/>
          </a:xfrm>
          <a:prstGeom prst="rect">
            <a:avLst/>
          </a:prstGeom>
          <a:noFill/>
        </p:spPr>
        <p:txBody>
          <a:bodyPr wrap="square" lIns="0" rtlCol="0">
            <a:spAutoFit/>
          </a:bodyPr>
          <a:lstStyle>
            <a:defPPr>
              <a:defRPr lang="en-US"/>
            </a:defPPr>
            <a:lvl1pPr lvl="0" algn="ctr" eaLnBrk="1" fontAlgn="auto" hangingPunct="1">
              <a:spcBef>
                <a:spcPts val="0"/>
              </a:spcBef>
              <a:spcAft>
                <a:spcPts val="0"/>
              </a:spcAft>
              <a:defRPr sz="1200">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Communicates priorities 1:1, focusing on fixing issues</a:t>
            </a:r>
          </a:p>
        </p:txBody>
      </p:sp>
      <p:sp>
        <p:nvSpPr>
          <p:cNvPr id="23" name="TextBox 22">
            <a:extLst>
              <a:ext uri="{FF2B5EF4-FFF2-40B4-BE49-F238E27FC236}">
                <a16:creationId xmlns:a16="http://schemas.microsoft.com/office/drawing/2014/main" id="{E427A6CC-BBCE-61F9-CADE-5747078A7DA0}"/>
              </a:ext>
            </a:extLst>
          </p:cNvPr>
          <p:cNvSpPr txBox="1"/>
          <p:nvPr/>
        </p:nvSpPr>
        <p:spPr>
          <a:xfrm>
            <a:off x="5501932" y="3814853"/>
            <a:ext cx="2060052" cy="1015663"/>
          </a:xfrm>
          <a:prstGeom prst="rect">
            <a:avLst/>
          </a:prstGeom>
          <a:noFill/>
        </p:spPr>
        <p:txBody>
          <a:bodyPr wrap="square" lIns="0" rtlCol="0">
            <a:spAutoFit/>
          </a:bodyPr>
          <a:lstStyle>
            <a:defPPr>
              <a:defRPr lang="en-US"/>
            </a:defPPr>
            <a:lvl1pPr lvl="0" algn="ctr" eaLnBrk="1" fontAlgn="auto" hangingPunct="1">
              <a:spcBef>
                <a:spcPts val="0"/>
              </a:spcBef>
              <a:spcAft>
                <a:spcPts val="0"/>
              </a:spcAft>
              <a:defRPr sz="1200">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“Open-heart surgery” as a necessary, bold intervention—even if it causes discomfort along the way.</a:t>
            </a:r>
          </a:p>
        </p:txBody>
      </p:sp>
      <p:cxnSp>
        <p:nvCxnSpPr>
          <p:cNvPr id="24" name="Straight Connector 23">
            <a:extLst>
              <a:ext uri="{FF2B5EF4-FFF2-40B4-BE49-F238E27FC236}">
                <a16:creationId xmlns:a16="http://schemas.microsoft.com/office/drawing/2014/main" id="{2C5BE0BA-0724-00F4-2606-ABCC8DA68FAD}"/>
              </a:ext>
            </a:extLst>
          </p:cNvPr>
          <p:cNvCxnSpPr>
            <a:cxnSpLocks/>
          </p:cNvCxnSpPr>
          <p:nvPr/>
        </p:nvCxnSpPr>
        <p:spPr>
          <a:xfrm>
            <a:off x="7680622" y="1199738"/>
            <a:ext cx="2057400"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8D1369D4-48D9-19AD-5CA2-E0AB113C3A47}"/>
              </a:ext>
            </a:extLst>
          </p:cNvPr>
          <p:cNvSpPr txBox="1"/>
          <p:nvPr/>
        </p:nvSpPr>
        <p:spPr>
          <a:xfrm>
            <a:off x="7819019" y="5051885"/>
            <a:ext cx="1889299" cy="830997"/>
          </a:xfrm>
          <a:prstGeom prst="rect">
            <a:avLst/>
          </a:prstGeom>
          <a:noFill/>
        </p:spPr>
        <p:txBody>
          <a:bodyPr wrap="square" lIns="0" tIns="45720" rIns="91440" bIns="45720" rtlCol="0" anchor="t">
            <a:spAutoFit/>
          </a:bodyPr>
          <a:lstStyle>
            <a:defPPr>
              <a:defRPr lang="en-US"/>
            </a:defPPr>
            <a:lvl1pPr lvl="0" algn="ctr" eaLnBrk="1" fontAlgn="auto" hangingPunct="1">
              <a:spcBef>
                <a:spcPts val="0"/>
              </a:spcBef>
              <a:spcAft>
                <a:spcPts val="0"/>
              </a:spcAft>
              <a:defRPr sz="1200">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latin typeface="Helvetica Neue"/>
              </a:rPr>
              <a:t>CIO unable to build relations with CEO leading to confusion and slow decision making</a:t>
            </a:r>
          </a:p>
        </p:txBody>
      </p:sp>
      <p:sp>
        <p:nvSpPr>
          <p:cNvPr id="27" name="TextBox 26">
            <a:extLst>
              <a:ext uri="{FF2B5EF4-FFF2-40B4-BE49-F238E27FC236}">
                <a16:creationId xmlns:a16="http://schemas.microsoft.com/office/drawing/2014/main" id="{D2E7527B-9649-C729-0822-28E16EFD3FEC}"/>
              </a:ext>
            </a:extLst>
          </p:cNvPr>
          <p:cNvSpPr txBox="1"/>
          <p:nvPr/>
        </p:nvSpPr>
        <p:spPr>
          <a:xfrm>
            <a:off x="1548902" y="5266454"/>
            <a:ext cx="1961249"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rgbClr val="000000">
                    <a:lumMod val="50000"/>
                    <a:lumOff val="50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Pace of Digital Transformation</a:t>
            </a:r>
          </a:p>
        </p:txBody>
      </p:sp>
      <p:sp>
        <p:nvSpPr>
          <p:cNvPr id="28" name="TextBox 27">
            <a:extLst>
              <a:ext uri="{FF2B5EF4-FFF2-40B4-BE49-F238E27FC236}">
                <a16:creationId xmlns:a16="http://schemas.microsoft.com/office/drawing/2014/main" id="{30E3F228-2788-154D-BC11-B299B0296E22}"/>
              </a:ext>
            </a:extLst>
          </p:cNvPr>
          <p:cNvSpPr txBox="1"/>
          <p:nvPr/>
        </p:nvSpPr>
        <p:spPr>
          <a:xfrm>
            <a:off x="5499280" y="5072929"/>
            <a:ext cx="2060052" cy="830997"/>
          </a:xfrm>
          <a:prstGeom prst="rect">
            <a:avLst/>
          </a:prstGeom>
          <a:noFill/>
        </p:spPr>
        <p:txBody>
          <a:bodyPr wrap="square" lIns="0" rtlCol="0">
            <a:spAutoFit/>
          </a:bodyPr>
          <a:lstStyle>
            <a:defPPr>
              <a:defRPr lang="en-US"/>
            </a:defPPr>
            <a:lvl1pPr lvl="0" algn="ctr" eaLnBrk="1" fontAlgn="auto" hangingPunct="1">
              <a:spcBef>
                <a:spcPts val="0"/>
              </a:spcBef>
              <a:spcAft>
                <a:spcPts val="0"/>
              </a:spcAft>
              <a:defRPr sz="1200">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Frustrated by legacy platform and high costs; fragmented efforts; tries to solve it on his own</a:t>
            </a:r>
          </a:p>
        </p:txBody>
      </p:sp>
      <p:pic>
        <p:nvPicPr>
          <p:cNvPr id="29" name="Picture 28">
            <a:extLst>
              <a:ext uri="{FF2B5EF4-FFF2-40B4-BE49-F238E27FC236}">
                <a16:creationId xmlns:a16="http://schemas.microsoft.com/office/drawing/2014/main" id="{465727A0-37AD-3A00-F522-911361DA4109}"/>
              </a:ext>
            </a:extLst>
          </p:cNvPr>
          <p:cNvPicPr>
            <a:picLocks noChangeAspect="1"/>
          </p:cNvPicPr>
          <p:nvPr/>
        </p:nvPicPr>
        <p:blipFill>
          <a:blip r:embed="rId4"/>
          <a:stretch>
            <a:fillRect/>
          </a:stretch>
        </p:blipFill>
        <p:spPr>
          <a:xfrm>
            <a:off x="3579791" y="4632509"/>
            <a:ext cx="1669747" cy="1669747"/>
          </a:xfrm>
          <a:prstGeom prst="rect">
            <a:avLst/>
          </a:prstGeom>
        </p:spPr>
      </p:pic>
      <p:cxnSp>
        <p:nvCxnSpPr>
          <p:cNvPr id="30" name="Straight Connector 29">
            <a:extLst>
              <a:ext uri="{FF2B5EF4-FFF2-40B4-BE49-F238E27FC236}">
                <a16:creationId xmlns:a16="http://schemas.microsoft.com/office/drawing/2014/main" id="{B767B29C-3572-EEA5-39FD-47E3CBD0303D}"/>
              </a:ext>
            </a:extLst>
          </p:cNvPr>
          <p:cNvCxnSpPr>
            <a:cxnSpLocks/>
          </p:cNvCxnSpPr>
          <p:nvPr/>
        </p:nvCxnSpPr>
        <p:spPr>
          <a:xfrm>
            <a:off x="5366187" y="3611130"/>
            <a:ext cx="437183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C59DBB8-8379-DF77-E933-CE56B132AFBE}"/>
              </a:ext>
            </a:extLst>
          </p:cNvPr>
          <p:cNvCxnSpPr>
            <a:cxnSpLocks/>
          </p:cNvCxnSpPr>
          <p:nvPr/>
        </p:nvCxnSpPr>
        <p:spPr>
          <a:xfrm>
            <a:off x="5363535" y="2339844"/>
            <a:ext cx="437448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CA52D0D-9CC3-4C23-578D-1D6B0368DC82}"/>
              </a:ext>
            </a:extLst>
          </p:cNvPr>
          <p:cNvCxnSpPr>
            <a:cxnSpLocks/>
          </p:cNvCxnSpPr>
          <p:nvPr/>
        </p:nvCxnSpPr>
        <p:spPr>
          <a:xfrm flipV="1">
            <a:off x="5379382" y="4830516"/>
            <a:ext cx="4358640" cy="34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0694E98-148D-1C0D-7990-8F228D8FA9E8}"/>
              </a:ext>
            </a:extLst>
          </p:cNvPr>
          <p:cNvCxnSpPr>
            <a:cxnSpLocks/>
          </p:cNvCxnSpPr>
          <p:nvPr/>
        </p:nvCxnSpPr>
        <p:spPr>
          <a:xfrm>
            <a:off x="5379382" y="6054564"/>
            <a:ext cx="435864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2820735"/>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048A6A04-E2E5-1E74-4797-61512AFBCA20}"/>
            </a:ext>
          </a:extLst>
        </p:cNvPr>
        <p:cNvGrpSpPr/>
        <p:nvPr/>
      </p:nvGrpSpPr>
      <p:grpSpPr>
        <a:xfrm>
          <a:off x="0" y="0"/>
          <a:ext cx="0" cy="0"/>
          <a:chOff x="0" y="0"/>
          <a:chExt cx="0" cy="0"/>
        </a:xfrm>
      </p:grpSpPr>
      <p:sp>
        <p:nvSpPr>
          <p:cNvPr id="21507" name="Text Placeholder 1">
            <a:extLst>
              <a:ext uri="{FF2B5EF4-FFF2-40B4-BE49-F238E27FC236}">
                <a16:creationId xmlns:a16="http://schemas.microsoft.com/office/drawing/2014/main" id="{1BAC40D7-AF7C-2035-47EE-38C71D7B5CED}"/>
              </a:ext>
            </a:extLst>
          </p:cNvPr>
          <p:cNvSpPr>
            <a:spLocks noGrp="1" noChangeArrowheads="1"/>
          </p:cNvSpPr>
          <p:nvPr>
            <p:ph type="body" idx="1"/>
          </p:nvPr>
        </p:nvSpPr>
        <p:spPr bwMode="auto">
          <a:xfrm>
            <a:off x="727075" y="374650"/>
            <a:ext cx="7559675" cy="334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marL="0" indent="0">
              <a:spcBef>
                <a:spcPct val="0"/>
              </a:spcBef>
              <a:spcAft>
                <a:spcPct val="0"/>
              </a:spcAft>
              <a:buClr>
                <a:srgbClr val="000000"/>
              </a:buClr>
              <a:buSzPts val="2400"/>
              <a:buFont typeface="Arial" panose="020B0604020202020204" pitchFamily="34" charset="0"/>
              <a:buNone/>
            </a:pPr>
            <a:r>
              <a:rPr lang="en-US" altLang="en-US" sz="2000">
                <a:solidFill>
                  <a:srgbClr val="002060"/>
                </a:solidFill>
                <a:latin typeface="Helvetica Neue" panose="02000503000000020004" pitchFamily="2" charset="0"/>
                <a:ea typeface="Helvetica Neue" panose="02000503000000020004" pitchFamily="2" charset="0"/>
                <a:cs typeface="Helvetica Neue" panose="02000503000000020004" pitchFamily="2" charset="0"/>
                <a:sym typeface="Helvetica Neue Light" panose="02000403000000020004" pitchFamily="2" charset="0"/>
              </a:rPr>
              <a:t>Executive Summary</a:t>
            </a:r>
          </a:p>
        </p:txBody>
      </p:sp>
      <p:sp>
        <p:nvSpPr>
          <p:cNvPr id="21508" name="Slide Number Placeholder 2">
            <a:extLst>
              <a:ext uri="{FF2B5EF4-FFF2-40B4-BE49-F238E27FC236}">
                <a16:creationId xmlns:a16="http://schemas.microsoft.com/office/drawing/2014/main" id="{98135D46-9BD2-1D06-2E7C-76715175CC38}"/>
              </a:ext>
            </a:extLst>
          </p:cNvPr>
          <p:cNvSpPr>
            <a:spLocks noGrp="1" noChangeArrowheads="1"/>
          </p:cNvSpPr>
          <p:nvPr>
            <p:ph type="sldNum" sz="quarter" idx="10"/>
          </p:nvPr>
        </p:nvSpPr>
        <p:spPr>
          <a:xfrm>
            <a:off x="0" y="238125"/>
            <a:ext cx="557213" cy="557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94E6AC2-D12E-1843-971E-E4F9DE4AA8B8}"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6</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graphicFrame>
        <p:nvGraphicFramePr>
          <p:cNvPr id="3" name="Table 2">
            <a:extLst>
              <a:ext uri="{FF2B5EF4-FFF2-40B4-BE49-F238E27FC236}">
                <a16:creationId xmlns:a16="http://schemas.microsoft.com/office/drawing/2014/main" id="{94989F9B-43B7-AE46-08FF-D98552361092}"/>
              </a:ext>
            </a:extLst>
          </p:cNvPr>
          <p:cNvGraphicFramePr>
            <a:graphicFrameLocks noGrp="1"/>
          </p:cNvGraphicFramePr>
          <p:nvPr>
            <p:extLst>
              <p:ext uri="{D42A27DB-BD31-4B8C-83A1-F6EECF244321}">
                <p14:modId xmlns:p14="http://schemas.microsoft.com/office/powerpoint/2010/main" val="3830524566"/>
              </p:ext>
            </p:extLst>
          </p:nvPr>
        </p:nvGraphicFramePr>
        <p:xfrm>
          <a:off x="727075" y="1063625"/>
          <a:ext cx="10348756" cy="3739960"/>
        </p:xfrm>
        <a:graphic>
          <a:graphicData uri="http://schemas.openxmlformats.org/drawingml/2006/table">
            <a:tbl>
              <a:tblPr firstRow="1" bandRow="1">
                <a:tableStyleId>{7E9639D4-E3E2-4D34-9284-5A2195B3D0D7}</a:tableStyleId>
              </a:tblPr>
              <a:tblGrid>
                <a:gridCol w="1442919">
                  <a:extLst>
                    <a:ext uri="{9D8B030D-6E8A-4147-A177-3AD203B41FA5}">
                      <a16:colId xmlns:a16="http://schemas.microsoft.com/office/drawing/2014/main" val="1705071452"/>
                    </a:ext>
                  </a:extLst>
                </a:gridCol>
                <a:gridCol w="8905837">
                  <a:extLst>
                    <a:ext uri="{9D8B030D-6E8A-4147-A177-3AD203B41FA5}">
                      <a16:colId xmlns:a16="http://schemas.microsoft.com/office/drawing/2014/main" val="2837106387"/>
                    </a:ext>
                  </a:extLst>
                </a:gridCol>
              </a:tblGrid>
              <a:tr h="297815">
                <a:tc>
                  <a:txBody>
                    <a:bodyPr/>
                    <a:lstStyle/>
                    <a:p>
                      <a:pPr marL="138430">
                        <a:lnSpc>
                          <a:spcPct val="100000"/>
                        </a:lnSpc>
                        <a:spcBef>
                          <a:spcPts val="290"/>
                        </a:spcBef>
                      </a:pPr>
                      <a:r>
                        <a:rPr lang="en-US" sz="1200">
                          <a:latin typeface="Helvetica Neue"/>
                          <a:ea typeface="Helvetica Neue" panose="02000503000000020004" pitchFamily="2" charset="0"/>
                          <a:cs typeface="Helvetica Neue" panose="02000503000000020004" pitchFamily="2" charset="0"/>
                        </a:rPr>
                        <a:t>WHO</a:t>
                      </a:r>
                      <a:endParaRPr sz="1200">
                        <a:latin typeface="Helvetica Neue"/>
                        <a:ea typeface="Helvetica Neue" panose="02000503000000020004" pitchFamily="2" charset="0"/>
                        <a:cs typeface="Helvetica Neue" panose="02000503000000020004" pitchFamily="2" charset="0"/>
                      </a:endParaRPr>
                    </a:p>
                  </a:txBody>
                  <a:tcPr marL="0" marR="0" marT="36830" marB="0">
                    <a:solidFill>
                      <a:srgbClr val="001E5A"/>
                    </a:solidFill>
                  </a:tcPr>
                </a:tc>
                <a:tc>
                  <a:txBody>
                    <a:bodyPr/>
                    <a:lstStyle/>
                    <a:p>
                      <a:pPr marL="138430">
                        <a:lnSpc>
                          <a:spcPct val="100000"/>
                        </a:lnSpc>
                        <a:spcBef>
                          <a:spcPts val="290"/>
                        </a:spcBef>
                      </a:pPr>
                      <a:r>
                        <a:rPr lang="en-US" sz="1200" b="1" spc="-10">
                          <a:solidFill>
                            <a:srgbClr val="FFFFFF"/>
                          </a:solidFill>
                          <a:latin typeface="Helvetica Neue"/>
                          <a:ea typeface="Helvetica Neue" panose="02000503000000020004" pitchFamily="2" charset="0"/>
                          <a:cs typeface="Helvetica Neue" panose="02000503000000020004" pitchFamily="2" charset="0"/>
                        </a:rPr>
                        <a:t>ASSESSMENT &amp; CONSIDERATIONS</a:t>
                      </a:r>
                      <a:endParaRPr sz="1200">
                        <a:latin typeface="Helvetica Neue"/>
                        <a:ea typeface="Helvetica Neue" panose="02000503000000020004" pitchFamily="2" charset="0"/>
                        <a:cs typeface="Helvetica Neue" panose="02000503000000020004" pitchFamily="2" charset="0"/>
                      </a:endParaRPr>
                    </a:p>
                  </a:txBody>
                  <a:tcPr marL="0" marR="0" marT="36830" marB="0">
                    <a:solidFill>
                      <a:srgbClr val="001E5A"/>
                    </a:solidFill>
                  </a:tcPr>
                </a:tc>
                <a:extLst>
                  <a:ext uri="{0D108BD9-81ED-4DB2-BD59-A6C34878D82A}">
                    <a16:rowId xmlns:a16="http://schemas.microsoft.com/office/drawing/2014/main" val="3238567767"/>
                  </a:ext>
                </a:extLst>
              </a:tr>
              <a:tr h="624215">
                <a:tc>
                  <a:txBody>
                    <a:bodyPr/>
                    <a:lstStyle/>
                    <a:p>
                      <a:pPr marL="91440">
                        <a:lnSpc>
                          <a:spcPct val="100000"/>
                        </a:lnSpc>
                        <a:spcBef>
                          <a:spcPts val="240"/>
                        </a:spcBef>
                        <a:buFontTx/>
                        <a:buNone/>
                      </a:pPr>
                      <a:r>
                        <a:rPr lang="en-US" sz="1200" b="1" u="none" strike="noStrike" cap="none" spc="-10">
                          <a:solidFill>
                            <a:schemeClr val="tx1"/>
                          </a:solidFill>
                          <a:sym typeface="Arial"/>
                        </a:rPr>
                        <a:t>Ahmed </a:t>
                      </a:r>
                      <a:r>
                        <a:rPr lang="en-US" sz="1200" b="1" u="none" strike="noStrike" cap="none" spc="-10" err="1">
                          <a:solidFill>
                            <a:schemeClr val="tx1"/>
                          </a:solidFill>
                          <a:sym typeface="Arial"/>
                        </a:rPr>
                        <a:t>Almehairi</a:t>
                      </a:r>
                      <a:endParaRPr lang="en-US" sz="1200" b="1" u="none" strike="noStrike" cap="none" spc="-10">
                        <a:solidFill>
                          <a:schemeClr val="tx1"/>
                        </a:solidFill>
                        <a:sym typeface="Arial"/>
                      </a:endParaRPr>
                    </a:p>
                    <a:p>
                      <a:pPr marL="91440">
                        <a:lnSpc>
                          <a:spcPct val="100000"/>
                        </a:lnSpc>
                        <a:buFontTx/>
                        <a:buNone/>
                      </a:pPr>
                      <a:r>
                        <a:rPr lang="en-US" sz="1200" b="0" u="none" strike="noStrike" cap="none" spc="-10">
                          <a:solidFill>
                            <a:schemeClr val="tx1"/>
                          </a:solidFill>
                          <a:sym typeface="Arial"/>
                        </a:rPr>
                        <a:t>CEO</a:t>
                      </a:r>
                      <a:endParaRPr lang="en-US" sz="1200" b="0" i="0" u="none" strike="noStrike" cap="none" spc="-1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Arial"/>
                      </a:endParaRPr>
                    </a:p>
                    <a:p>
                      <a:pPr marL="138430" marR="201930" lvl="0" indent="0">
                        <a:lnSpc>
                          <a:spcPct val="100000"/>
                        </a:lnSpc>
                        <a:spcBef>
                          <a:spcPts val="240"/>
                        </a:spcBef>
                        <a:buFontTx/>
                        <a:buNone/>
                      </a:pPr>
                      <a:endParaRPr lang="en-US" sz="1200" b="0" u="none" strike="noStrike" cap="none" spc="-10">
                        <a:solidFill>
                          <a:srgbClr val="001E5A"/>
                        </a:solidFill>
                        <a:sym typeface="Arial"/>
                      </a:endParaRPr>
                    </a:p>
                  </a:txBody>
                  <a:tcPr marL="0" marR="0" marT="30480" marB="0">
                    <a:solidFill>
                      <a:schemeClr val="bg1">
                        <a:lumMod val="95000"/>
                      </a:schemeClr>
                    </a:solidFill>
                  </a:tcPr>
                </a:tc>
                <a:tc>
                  <a:txBody>
                    <a:bodyPr/>
                    <a:lstStyle/>
                    <a:p>
                      <a:pPr marL="309880" marR="201930" lvl="0" indent="-171450">
                        <a:lnSpc>
                          <a:spcPct val="100000"/>
                        </a:lnSpc>
                        <a:spcBef>
                          <a:spcPts val="240"/>
                        </a:spcBef>
                        <a:buFont typeface="Arial" panose="020B0604020202020204" pitchFamily="34" charset="0"/>
                        <a:buChar char="•"/>
                      </a:pPr>
                      <a:r>
                        <a:rPr lang="en-US" sz="1200">
                          <a:latin typeface="Helvetica Neue"/>
                          <a:ea typeface="Helvetica Neue" panose="02000503000000020004" pitchFamily="2" charset="0"/>
                          <a:cs typeface="Helvetica Neue" panose="02000503000000020004" pitchFamily="2" charset="0"/>
                        </a:rPr>
                        <a:t>Has been vital in stabilizing and transforming ADSS, demonstrating financial discipline and renewed board and shareholder trust</a:t>
                      </a:r>
                    </a:p>
                    <a:p>
                      <a:pPr marL="309880" marR="201930" lvl="0" indent="-171450" algn="l" defTabSz="914400" rtl="0" eaLnBrk="1" fontAlgn="auto" latinLnBrk="0" hangingPunct="1">
                        <a:lnSpc>
                          <a:spcPct val="100000"/>
                        </a:lnSpc>
                        <a:spcBef>
                          <a:spcPts val="240"/>
                        </a:spcBef>
                        <a:spcAft>
                          <a:spcPts val="0"/>
                        </a:spcAft>
                        <a:buClr>
                          <a:srgbClr val="000000"/>
                        </a:buClr>
                        <a:buSzTx/>
                        <a:buFont typeface="Arial" panose="020B0604020202020204" pitchFamily="34" charset="0"/>
                        <a:buChar char="•"/>
                        <a:tabLst/>
                        <a:defRPr/>
                      </a:pPr>
                      <a:r>
                        <a:rPr lang="en-US" sz="1200">
                          <a:latin typeface="Helvetica Neue"/>
                          <a:ea typeface="Helvetica Neue" panose="02000503000000020004" pitchFamily="2" charset="0"/>
                          <a:cs typeface="Helvetica Neue" panose="02000503000000020004" pitchFamily="2" charset="0"/>
                        </a:rPr>
                        <a:t>Building on this solid foundation, the organization is now ready for its next pivotal phase. Ahmed will benefit from aligning with ADQ / Board on prioritization of growth in the next phase</a:t>
                      </a:r>
                    </a:p>
                    <a:p>
                      <a:pPr marL="309880" marR="201930" lvl="0" indent="-171450" algn="l" defTabSz="914400" rtl="0" eaLnBrk="1" fontAlgn="auto" latinLnBrk="0" hangingPunct="1">
                        <a:lnSpc>
                          <a:spcPct val="100000"/>
                        </a:lnSpc>
                        <a:spcBef>
                          <a:spcPts val="240"/>
                        </a:spcBef>
                        <a:spcAft>
                          <a:spcPts val="0"/>
                        </a:spcAft>
                        <a:buClr>
                          <a:srgbClr val="000000"/>
                        </a:buClr>
                        <a:buSzTx/>
                        <a:buFont typeface="Arial" panose="020B0604020202020204" pitchFamily="34" charset="0"/>
                        <a:buChar char="•"/>
                        <a:tabLst/>
                        <a:defRPr/>
                      </a:pPr>
                      <a:r>
                        <a:rPr lang="en-US" sz="1200" kern="0">
                          <a:solidFill>
                            <a:sysClr val="windowText" lastClr="000000"/>
                          </a:solidFill>
                          <a:latin typeface="Helvetica Neue"/>
                          <a:ea typeface="Helvetica Neue" panose="02000503000000020004" pitchFamily="2" charset="0"/>
                          <a:cs typeface="Helvetica Neue" panose="02000503000000020004" pitchFamily="2" charset="0"/>
                        </a:rPr>
                        <a:t>He can continue tightening and refining—but it doesn’t need to dominate the agenda or messaging</a:t>
                      </a:r>
                      <a:endParaRPr lang="en-US" sz="1200">
                        <a:latin typeface="Helvetica Neue"/>
                        <a:ea typeface="Helvetica Neue" panose="02000503000000020004" pitchFamily="2" charset="0"/>
                        <a:cs typeface="Helvetica Neue" panose="02000503000000020004" pitchFamily="2" charset="0"/>
                      </a:endParaRPr>
                    </a:p>
                    <a:p>
                      <a:pPr marL="309880" marR="201930" lvl="0" indent="-171450">
                        <a:lnSpc>
                          <a:spcPct val="100000"/>
                        </a:lnSpc>
                        <a:spcBef>
                          <a:spcPts val="240"/>
                        </a:spcBef>
                        <a:buFont typeface="Arial" panose="020B0604020202020204" pitchFamily="34" charset="0"/>
                        <a:buChar char="•"/>
                      </a:pPr>
                      <a:r>
                        <a:rPr lang="en-US" sz="1200">
                          <a:latin typeface="Helvetica Neue"/>
                          <a:ea typeface="Helvetica Neue" panose="02000503000000020004" pitchFamily="2" charset="0"/>
                          <a:cs typeface="Helvetica Neue" panose="02000503000000020004" pitchFamily="2" charset="0"/>
                        </a:rPr>
                        <a:t>Unify the C-suite, enable them to take greater ownership, collaborate more fully</a:t>
                      </a:r>
                    </a:p>
                    <a:p>
                      <a:pPr marL="309880" marR="201930" lvl="0" indent="-171450" algn="l" defTabSz="914400" rtl="0" eaLnBrk="1" fontAlgn="auto" latinLnBrk="0" hangingPunct="1">
                        <a:lnSpc>
                          <a:spcPct val="100000"/>
                        </a:lnSpc>
                        <a:spcBef>
                          <a:spcPts val="240"/>
                        </a:spcBef>
                        <a:spcAft>
                          <a:spcPts val="0"/>
                        </a:spcAft>
                        <a:buClr>
                          <a:srgbClr val="000000"/>
                        </a:buClr>
                        <a:buSzTx/>
                        <a:buFont typeface="Arial" panose="020B0604020202020204" pitchFamily="34" charset="0"/>
                        <a:buChar char="•"/>
                        <a:tabLst/>
                        <a:defRPr/>
                      </a:pPr>
                      <a:r>
                        <a:rPr lang="en-US" sz="1200">
                          <a:latin typeface="Helvetica Neue"/>
                          <a:ea typeface="Helvetica Neue" panose="02000503000000020004" pitchFamily="2" charset="0"/>
                          <a:cs typeface="Helvetica Neue" panose="02000503000000020004" pitchFamily="2" charset="0"/>
                        </a:rPr>
                        <a:t>Now that you have built your team, flex your leadership style (situational leadership) based on team maturity—be hands‑on and directive with less experienced leaders; coach and delegate with more experienced ones</a:t>
                      </a:r>
                    </a:p>
                    <a:p>
                      <a:pPr marL="309880" marR="201930" lvl="0" indent="-171450" algn="l" defTabSz="914400" rtl="0" eaLnBrk="1" fontAlgn="auto" latinLnBrk="0" hangingPunct="1">
                        <a:lnSpc>
                          <a:spcPct val="100000"/>
                        </a:lnSpc>
                        <a:spcBef>
                          <a:spcPts val="240"/>
                        </a:spcBef>
                        <a:spcAft>
                          <a:spcPts val="0"/>
                        </a:spcAft>
                        <a:buClr>
                          <a:srgbClr val="000000"/>
                        </a:buClr>
                        <a:buSzTx/>
                        <a:buFont typeface="Arial" panose="020B0604020202020204" pitchFamily="34" charset="0"/>
                        <a:buChar char="•"/>
                        <a:tabLst/>
                        <a:defRPr/>
                      </a:pPr>
                      <a:r>
                        <a:rPr lang="en-US" sz="1200" kern="0">
                          <a:solidFill>
                            <a:sysClr val="windowText" lastClr="000000"/>
                          </a:solidFill>
                          <a:latin typeface="Helvetica Neue"/>
                          <a:ea typeface="Helvetica Neue" panose="02000503000000020004" pitchFamily="2" charset="0"/>
                          <a:cs typeface="Helvetica Neue" panose="02000503000000020004" pitchFamily="2" charset="0"/>
                        </a:rPr>
                        <a:t>Build a system that protects your authority but multiplies your impact (ways of working, meetings, communication, etc.)</a:t>
                      </a:r>
                      <a:endParaRPr lang="en-US" sz="1200">
                        <a:latin typeface="Helvetica Neue"/>
                        <a:ea typeface="Helvetica Neue" panose="02000503000000020004" pitchFamily="2" charset="0"/>
                        <a:cs typeface="Helvetica Neue" panose="02000503000000020004" pitchFamily="2" charset="0"/>
                      </a:endParaRPr>
                    </a:p>
                  </a:txBody>
                  <a:tcPr marL="0" marR="0" marT="30480" marB="0">
                    <a:solidFill>
                      <a:schemeClr val="bg1">
                        <a:lumMod val="95000"/>
                      </a:schemeClr>
                    </a:solidFill>
                  </a:tcPr>
                </a:tc>
                <a:extLst>
                  <a:ext uri="{0D108BD9-81ED-4DB2-BD59-A6C34878D82A}">
                    <a16:rowId xmlns:a16="http://schemas.microsoft.com/office/drawing/2014/main" val="3729108420"/>
                  </a:ext>
                </a:extLst>
              </a:tr>
              <a:tr h="574785">
                <a:tc>
                  <a:txBody>
                    <a:bodyPr/>
                    <a:lstStyle/>
                    <a:p>
                      <a:pPr marL="138430" marR="238760" lvl="0" indent="0">
                        <a:lnSpc>
                          <a:spcPct val="100000"/>
                        </a:lnSpc>
                        <a:spcBef>
                          <a:spcPts val="280"/>
                        </a:spcBef>
                        <a:buFontTx/>
                        <a:buNone/>
                      </a:pPr>
                      <a:r>
                        <a:rPr lang="en-US" sz="1200" b="1" u="none" strike="noStrike" cap="none" spc="-10">
                          <a:solidFill>
                            <a:schemeClr val="tx1"/>
                          </a:solidFill>
                          <a:sym typeface="Arial"/>
                        </a:rPr>
                        <a:t>Leadership Team</a:t>
                      </a:r>
                    </a:p>
                  </a:txBody>
                  <a:tcPr marL="0" marR="0" marT="35560" marB="0">
                    <a:solidFill>
                      <a:schemeClr val="bg1">
                        <a:lumMod val="95000"/>
                      </a:schemeClr>
                    </a:solidFill>
                  </a:tcPr>
                </a:tc>
                <a:tc>
                  <a:txBody>
                    <a:bodyPr/>
                    <a:lstStyle/>
                    <a:p>
                      <a:pPr marL="285750" marR="0" lvl="0" indent="-285750" algn="l" defTabSz="914400" rtl="0" eaLnBrk="1" fontAlgn="base" latinLnBrk="0" hangingPunct="1">
                        <a:lnSpc>
                          <a:spcPts val="1600"/>
                        </a:lnSpc>
                        <a:spcBef>
                          <a:spcPts val="0"/>
                        </a:spcBef>
                        <a:spcAft>
                          <a:spcPct val="0"/>
                        </a:spcAft>
                        <a:buClrTx/>
                        <a:buSzTx/>
                        <a:buFont typeface="Arial" panose="020B0604020202020204" pitchFamily="34" charset="0"/>
                        <a:buChar char="•"/>
                        <a:tabLst/>
                        <a:defRPr/>
                      </a:pPr>
                      <a:r>
                        <a:rPr lang="en-US" sz="1200" b="0" i="0" u="none" strike="noStrike" cap="none">
                          <a:solidFill>
                            <a:schemeClr val="tx1"/>
                          </a:solidFill>
                          <a:latin typeface="Helvetica Neue"/>
                          <a:ea typeface="Helvetica Neue" panose="02000503000000020004" pitchFamily="2" charset="0"/>
                          <a:cs typeface="Helvetica Neue" panose="02000503000000020004" pitchFamily="2" charset="0"/>
                          <a:sym typeface="Arial"/>
                        </a:rPr>
                        <a:t>The team has been in the formation stage and now is a good time delegate and hold them accountable</a:t>
                      </a:r>
                    </a:p>
                    <a:p>
                      <a:pPr marL="285750" marR="0" lvl="0" indent="-285750" algn="l" rtl="0" eaLnBrk="1" fontAlgn="base" latinLnBrk="0" hangingPunct="1">
                        <a:lnSpc>
                          <a:spcPts val="1600"/>
                        </a:lnSpc>
                        <a:spcBef>
                          <a:spcPts val="0"/>
                        </a:spcBef>
                        <a:spcAft>
                          <a:spcPct val="0"/>
                        </a:spcAft>
                        <a:buClrTx/>
                        <a:buSzTx/>
                        <a:buFont typeface="Arial" panose="020B0604020202020204" pitchFamily="34" charset="0"/>
                        <a:buChar char="•"/>
                      </a:pPr>
                      <a:r>
                        <a:rPr lang="en-US" sz="1200" b="0" i="0" u="none" strike="noStrike" cap="none" noProof="0">
                          <a:solidFill>
                            <a:schemeClr val="tx1"/>
                          </a:solidFill>
                          <a:latin typeface="Helvetica Neue"/>
                        </a:rPr>
                        <a:t>Hub and spoke is better in "fixing stage”—</a:t>
                      </a:r>
                      <a:r>
                        <a:rPr lang="en-US" sz="1200" b="0" i="0" u="none" strike="noStrike" cap="none" noProof="0">
                          <a:solidFill>
                            <a:schemeClr val="tx1"/>
                          </a:solidFill>
                          <a:latin typeface="Helvetica Neue"/>
                          <a:ea typeface="Helvetica Neue" panose="02000503000000020004" pitchFamily="2" charset="0"/>
                          <a:cs typeface="Helvetica Neue" panose="02000503000000020004" pitchFamily="2" charset="0"/>
                          <a:sym typeface="Arial"/>
                        </a:rPr>
                        <a:t>for the growth phase, the </a:t>
                      </a:r>
                      <a:r>
                        <a:rPr lang="en-US" sz="1200" b="0" i="0" u="none" strike="noStrike" cap="none" noProof="0">
                          <a:solidFill>
                            <a:schemeClr val="tx1"/>
                          </a:solidFill>
                          <a:latin typeface="Helvetica Neue"/>
                          <a:ea typeface="Helvetica Neue" panose="02000503000000020004" pitchFamily="2" charset="0"/>
                          <a:cs typeface="Helvetica Neue" panose="02000503000000020004" pitchFamily="2" charset="0"/>
                          <a:sym typeface="Arial" panose="020B0604020202020204" pitchFamily="34" charset="0"/>
                        </a:rPr>
                        <a:t>team needs to work inter-dependently, with cross-functional planning, communication routines, and standard ways of working (shared meetings and follow-ups to enable faster decision-making)</a:t>
                      </a:r>
                      <a:endParaRPr lang="en-US" sz="1200" b="0" i="0" u="none" strike="noStrike" cap="none" noProof="0">
                        <a:solidFill>
                          <a:schemeClr val="tx1"/>
                        </a:solidFill>
                        <a:latin typeface="Helvetica Neue"/>
                        <a:sym typeface="Arial"/>
                      </a:endParaRPr>
                    </a:p>
                  </a:txBody>
                  <a:tcPr marL="0" marR="0" marT="0" marB="0">
                    <a:solidFill>
                      <a:schemeClr val="bg1">
                        <a:lumMod val="95000"/>
                      </a:schemeClr>
                    </a:solidFill>
                  </a:tcPr>
                </a:tc>
                <a:extLst>
                  <a:ext uri="{0D108BD9-81ED-4DB2-BD59-A6C34878D82A}">
                    <a16:rowId xmlns:a16="http://schemas.microsoft.com/office/drawing/2014/main" val="3567491424"/>
                  </a:ext>
                </a:extLst>
              </a:tr>
              <a:tr h="574785">
                <a:tc>
                  <a:txBody>
                    <a:bodyPr/>
                    <a:lstStyle/>
                    <a:p>
                      <a:pPr marL="138430" marR="297180" lvl="0" indent="0" algn="l" defTabSz="914400" rtl="0" eaLnBrk="1" fontAlgn="auto" latinLnBrk="0" hangingPunct="1">
                        <a:lnSpc>
                          <a:spcPct val="100000"/>
                        </a:lnSpc>
                        <a:spcBef>
                          <a:spcPts val="280"/>
                        </a:spcBef>
                        <a:spcAft>
                          <a:spcPts val="0"/>
                        </a:spcAft>
                        <a:buClr>
                          <a:srgbClr val="000000"/>
                        </a:buClr>
                        <a:buSzTx/>
                        <a:buFontTx/>
                        <a:buNone/>
                        <a:tabLst/>
                        <a:defRPr/>
                      </a:pPr>
                      <a:r>
                        <a:rPr lang="en-US" sz="1200" b="1" i="0" u="none" strike="noStrike" cap="none" spc="-10">
                          <a:solidFill>
                            <a:schemeClr val="tx1"/>
                          </a:solidFill>
                          <a:latin typeface="+mn-lt"/>
                          <a:ea typeface="+mn-ea"/>
                          <a:cs typeface="+mn-cs"/>
                          <a:sym typeface="Arial"/>
                        </a:rPr>
                        <a:t>Organization</a:t>
                      </a:r>
                    </a:p>
                    <a:p>
                      <a:pPr marL="138430" marR="297180" lvl="0" indent="0">
                        <a:lnSpc>
                          <a:spcPct val="100000"/>
                        </a:lnSpc>
                        <a:spcBef>
                          <a:spcPts val="280"/>
                        </a:spcBef>
                        <a:buFontTx/>
                        <a:buNone/>
                      </a:pPr>
                      <a:endParaRPr lang="en-US" sz="1200" b="0" u="none" strike="noStrike" cap="none" spc="-10">
                        <a:solidFill>
                          <a:schemeClr val="tx1"/>
                        </a:solidFill>
                        <a:sym typeface="Arial"/>
                      </a:endParaRPr>
                    </a:p>
                  </a:txBody>
                  <a:tcPr marL="0" marR="0" marT="35560" marB="0">
                    <a:solidFill>
                      <a:schemeClr val="bg1">
                        <a:lumMod val="95000"/>
                      </a:schemeClr>
                    </a:solidFill>
                  </a:tcPr>
                </a:tc>
                <a:tc>
                  <a:txBody>
                    <a:bodyPr/>
                    <a:lstStyle/>
                    <a:p>
                      <a:pPr marL="309880" marR="297180" lvl="0" indent="-171450">
                        <a:lnSpc>
                          <a:spcPct val="100000"/>
                        </a:lnSpc>
                        <a:spcBef>
                          <a:spcPts val="280"/>
                        </a:spcBef>
                        <a:buFont typeface="Arial" panose="020B0604020202020204" pitchFamily="34" charset="0"/>
                        <a:buChar char="•"/>
                      </a:pPr>
                      <a:r>
                        <a:rPr lang="en-US" sz="1200" b="0" u="none" strike="noStrike" cap="none" spc="-10">
                          <a:solidFill>
                            <a:schemeClr val="tx1"/>
                          </a:solidFill>
                          <a:sym typeface="Arial"/>
                        </a:rPr>
                        <a:t>Clean-up and upskill: mediocrity probably persists in some areas</a:t>
                      </a:r>
                    </a:p>
                    <a:p>
                      <a:pPr marL="309880" marR="297180" lvl="0" indent="-171450">
                        <a:lnSpc>
                          <a:spcPct val="100000"/>
                        </a:lnSpc>
                        <a:spcBef>
                          <a:spcPts val="280"/>
                        </a:spcBef>
                        <a:buFont typeface="Arial" panose="020B0604020202020204" pitchFamily="34" charset="0"/>
                        <a:buChar char="•"/>
                      </a:pPr>
                      <a:r>
                        <a:rPr lang="en-US" sz="1200" b="0" u="none" strike="noStrike" cap="none" spc="-10">
                          <a:solidFill>
                            <a:schemeClr val="tx1"/>
                          </a:solidFill>
                          <a:sym typeface="Arial"/>
                        </a:rPr>
                        <a:t>Every function should identify critical roles that drive value—quietly remove or reassign </a:t>
                      </a:r>
                      <a:r>
                        <a:rPr lang="en-US" sz="1200" b="0" u="none" strike="noStrike" cap="none" spc="-10">
                          <a:solidFill>
                            <a:schemeClr val="tx1"/>
                          </a:solidFill>
                        </a:rPr>
                        <a:t>underperformers</a:t>
                      </a:r>
                      <a:r>
                        <a:rPr lang="en-US" sz="1200" b="0" u="none" strike="noStrike" cap="none" spc="-10">
                          <a:solidFill>
                            <a:schemeClr val="tx1"/>
                          </a:solidFill>
                          <a:sym typeface="Arial"/>
                        </a:rPr>
                        <a:t> who block progress</a:t>
                      </a:r>
                    </a:p>
                    <a:p>
                      <a:pPr marL="309880" marR="297180" lvl="0" indent="-171450">
                        <a:lnSpc>
                          <a:spcPct val="100000"/>
                        </a:lnSpc>
                        <a:spcBef>
                          <a:spcPts val="280"/>
                        </a:spcBef>
                        <a:buFont typeface="Arial" panose="020B0604020202020204" pitchFamily="34" charset="0"/>
                        <a:buChar char="•"/>
                      </a:pPr>
                      <a:r>
                        <a:rPr lang="en-US" sz="1200" b="0" u="none" strike="noStrike" cap="none" spc="-10">
                          <a:solidFill>
                            <a:schemeClr val="tx1"/>
                          </a:solidFill>
                          <a:sym typeface="Arial"/>
                        </a:rPr>
                        <a:t>Focus development and upskilling on the top 15–20% of talent—especially in growth-critical areas (commercial, operations, digital)</a:t>
                      </a:r>
                    </a:p>
                  </a:txBody>
                  <a:tcPr marL="0" marR="0" marT="35560" marB="0">
                    <a:solidFill>
                      <a:schemeClr val="bg1">
                        <a:lumMod val="95000"/>
                      </a:schemeClr>
                    </a:solidFill>
                  </a:tcPr>
                </a:tc>
                <a:extLst>
                  <a:ext uri="{0D108BD9-81ED-4DB2-BD59-A6C34878D82A}">
                    <a16:rowId xmlns:a16="http://schemas.microsoft.com/office/drawing/2014/main" val="1857503260"/>
                  </a:ext>
                </a:extLst>
              </a:tr>
            </a:tbl>
          </a:graphicData>
        </a:graphic>
      </p:graphicFrame>
    </p:spTree>
    <p:extLst>
      <p:ext uri="{BB962C8B-B14F-4D97-AF65-F5344CB8AC3E}">
        <p14:creationId xmlns:p14="http://schemas.microsoft.com/office/powerpoint/2010/main" val="4098115072"/>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95E9F92C-FCAE-2BA6-45C0-D3B3F43DFCDA}"/>
            </a:ext>
          </a:extLst>
        </p:cNvPr>
        <p:cNvGrpSpPr/>
        <p:nvPr/>
      </p:nvGrpSpPr>
      <p:grpSpPr>
        <a:xfrm>
          <a:off x="0" y="0"/>
          <a:ext cx="0" cy="0"/>
          <a:chOff x="0" y="0"/>
          <a:chExt cx="0" cy="0"/>
        </a:xfrm>
      </p:grpSpPr>
      <p:sp>
        <p:nvSpPr>
          <p:cNvPr id="21507" name="Text Placeholder 1">
            <a:extLst>
              <a:ext uri="{FF2B5EF4-FFF2-40B4-BE49-F238E27FC236}">
                <a16:creationId xmlns:a16="http://schemas.microsoft.com/office/drawing/2014/main" id="{E535209C-DA78-E9B7-5588-46FF3DE236C4}"/>
              </a:ext>
            </a:extLst>
          </p:cNvPr>
          <p:cNvSpPr>
            <a:spLocks noGrp="1" noChangeArrowheads="1"/>
          </p:cNvSpPr>
          <p:nvPr>
            <p:ph type="body" idx="1"/>
          </p:nvPr>
        </p:nvSpPr>
        <p:spPr bwMode="auto">
          <a:xfrm>
            <a:off x="727075" y="374650"/>
            <a:ext cx="7559675" cy="334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marL="0" indent="0">
              <a:spcBef>
                <a:spcPct val="0"/>
              </a:spcBef>
              <a:spcAft>
                <a:spcPct val="0"/>
              </a:spcAft>
              <a:buClr>
                <a:srgbClr val="000000"/>
              </a:buClr>
              <a:buSzPts val="2400"/>
              <a:buFont typeface="Arial" panose="020B0604020202020204" pitchFamily="34" charset="0"/>
              <a:buNone/>
            </a:pPr>
            <a:r>
              <a:rPr lang="en-US" altLang="en-US" sz="2000">
                <a:solidFill>
                  <a:srgbClr val="002060"/>
                </a:solidFill>
                <a:latin typeface="Helvetica Neue" panose="02000503000000020004" pitchFamily="2" charset="0"/>
                <a:ea typeface="Helvetica Neue" panose="02000503000000020004" pitchFamily="2" charset="0"/>
                <a:cs typeface="Helvetica Neue" panose="02000503000000020004" pitchFamily="2" charset="0"/>
                <a:sym typeface="Helvetica Neue Light" panose="02000403000000020004" pitchFamily="2" charset="0"/>
              </a:rPr>
              <a:t>Messages</a:t>
            </a:r>
          </a:p>
        </p:txBody>
      </p:sp>
      <p:sp>
        <p:nvSpPr>
          <p:cNvPr id="21508" name="Slide Number Placeholder 2">
            <a:extLst>
              <a:ext uri="{FF2B5EF4-FFF2-40B4-BE49-F238E27FC236}">
                <a16:creationId xmlns:a16="http://schemas.microsoft.com/office/drawing/2014/main" id="{DD527F84-1DD3-1466-5621-DA28F150890F}"/>
              </a:ext>
            </a:extLst>
          </p:cNvPr>
          <p:cNvSpPr>
            <a:spLocks noGrp="1" noChangeArrowheads="1"/>
          </p:cNvSpPr>
          <p:nvPr>
            <p:ph type="sldNum" sz="quarter" idx="10"/>
          </p:nvPr>
        </p:nvSpPr>
        <p:spPr>
          <a:xfrm>
            <a:off x="0" y="238125"/>
            <a:ext cx="557213" cy="557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94E6AC2-D12E-1843-971E-E4F9DE4AA8B8}"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7</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graphicFrame>
        <p:nvGraphicFramePr>
          <p:cNvPr id="3" name="Table 2">
            <a:extLst>
              <a:ext uri="{FF2B5EF4-FFF2-40B4-BE49-F238E27FC236}">
                <a16:creationId xmlns:a16="http://schemas.microsoft.com/office/drawing/2014/main" id="{11FC804A-067B-2916-E891-6B807C0F4F90}"/>
              </a:ext>
            </a:extLst>
          </p:cNvPr>
          <p:cNvGraphicFramePr>
            <a:graphicFrameLocks noGrp="1"/>
          </p:cNvGraphicFramePr>
          <p:nvPr>
            <p:extLst>
              <p:ext uri="{D42A27DB-BD31-4B8C-83A1-F6EECF244321}">
                <p14:modId xmlns:p14="http://schemas.microsoft.com/office/powerpoint/2010/main" val="1266937517"/>
              </p:ext>
            </p:extLst>
          </p:nvPr>
        </p:nvGraphicFramePr>
        <p:xfrm>
          <a:off x="727075" y="959110"/>
          <a:ext cx="11198991" cy="5712984"/>
        </p:xfrm>
        <a:graphic>
          <a:graphicData uri="http://schemas.openxmlformats.org/drawingml/2006/table">
            <a:tbl>
              <a:tblPr firstRow="1" bandRow="1">
                <a:tableStyleId>{7E9639D4-E3E2-4D34-9284-5A2195B3D0D7}</a:tableStyleId>
              </a:tblPr>
              <a:tblGrid>
                <a:gridCol w="1294908">
                  <a:extLst>
                    <a:ext uri="{9D8B030D-6E8A-4147-A177-3AD203B41FA5}">
                      <a16:colId xmlns:a16="http://schemas.microsoft.com/office/drawing/2014/main" val="1225452123"/>
                    </a:ext>
                  </a:extLst>
                </a:gridCol>
                <a:gridCol w="436737">
                  <a:extLst>
                    <a:ext uri="{9D8B030D-6E8A-4147-A177-3AD203B41FA5}">
                      <a16:colId xmlns:a16="http://schemas.microsoft.com/office/drawing/2014/main" val="3817881083"/>
                    </a:ext>
                  </a:extLst>
                </a:gridCol>
                <a:gridCol w="648653">
                  <a:extLst>
                    <a:ext uri="{9D8B030D-6E8A-4147-A177-3AD203B41FA5}">
                      <a16:colId xmlns:a16="http://schemas.microsoft.com/office/drawing/2014/main" val="2117064489"/>
                    </a:ext>
                  </a:extLst>
                </a:gridCol>
                <a:gridCol w="601027">
                  <a:extLst>
                    <a:ext uri="{9D8B030D-6E8A-4147-A177-3AD203B41FA5}">
                      <a16:colId xmlns:a16="http://schemas.microsoft.com/office/drawing/2014/main" val="1383459309"/>
                    </a:ext>
                  </a:extLst>
                </a:gridCol>
                <a:gridCol w="8217666">
                  <a:extLst>
                    <a:ext uri="{9D8B030D-6E8A-4147-A177-3AD203B41FA5}">
                      <a16:colId xmlns:a16="http://schemas.microsoft.com/office/drawing/2014/main" val="2837106387"/>
                    </a:ext>
                  </a:extLst>
                </a:gridCol>
              </a:tblGrid>
              <a:tr h="337255">
                <a:tc>
                  <a:txBody>
                    <a:bodyPr/>
                    <a:lstStyle/>
                    <a:p>
                      <a:pPr marL="91440">
                        <a:lnSpc>
                          <a:spcPct val="100000"/>
                        </a:lnSpc>
                        <a:spcBef>
                          <a:spcPts val="305"/>
                        </a:spcBef>
                      </a:pPr>
                      <a:r>
                        <a:rPr lang="en-US" sz="1400" b="1" spc="-10">
                          <a:solidFill>
                            <a:srgbClr val="FFFFFF"/>
                          </a:solidFill>
                        </a:rPr>
                        <a:t>WHO</a:t>
                      </a:r>
                      <a:endParaRPr sz="1400">
                        <a:latin typeface="Helvetica Neue" panose="02000503000000020004" pitchFamily="2" charset="0"/>
                        <a:ea typeface="Helvetica Neue" panose="02000503000000020004" pitchFamily="2" charset="0"/>
                        <a:cs typeface="Helvetica Neue" panose="02000503000000020004" pitchFamily="2" charset="0"/>
                      </a:endParaRPr>
                    </a:p>
                  </a:txBody>
                  <a:tcPr marL="0" marR="0" marT="38735" marB="0" anchor="ctr">
                    <a:solidFill>
                      <a:srgbClr val="001E5A"/>
                    </a:solidFill>
                  </a:tcPr>
                </a:tc>
                <a:tc>
                  <a:txBody>
                    <a:bodyPr/>
                    <a:lstStyle/>
                    <a:p>
                      <a:pPr marL="0" algn="ctr">
                        <a:lnSpc>
                          <a:spcPct val="100000"/>
                        </a:lnSpc>
                        <a:spcBef>
                          <a:spcPts val="0"/>
                        </a:spcBef>
                      </a:pPr>
                      <a:r>
                        <a:rPr lang="en-US" sz="900" b="0">
                          <a:latin typeface="Helvetica Neue" panose="02000503000000020004" pitchFamily="2" charset="0"/>
                          <a:ea typeface="Helvetica Neue" panose="02000503000000020004" pitchFamily="2" charset="0"/>
                          <a:cs typeface="Helvetica Neue" panose="02000503000000020004" pitchFamily="2" charset="0"/>
                        </a:rPr>
                        <a:t>Skills</a:t>
                      </a:r>
                      <a:endParaRPr sz="900" b="0">
                        <a:latin typeface="Helvetica Neue" panose="02000503000000020004" pitchFamily="2" charset="0"/>
                        <a:ea typeface="Helvetica Neue" panose="02000503000000020004" pitchFamily="2" charset="0"/>
                        <a:cs typeface="Helvetica Neue" panose="02000503000000020004" pitchFamily="2" charset="0"/>
                      </a:endParaRPr>
                    </a:p>
                  </a:txBody>
                  <a:tcPr marL="0" marR="0" marT="36576" marB="0" anchor="ctr">
                    <a:solidFill>
                      <a:srgbClr val="001E5A"/>
                    </a:solidFill>
                  </a:tcPr>
                </a:tc>
                <a:tc>
                  <a:txBody>
                    <a:bodyPr/>
                    <a:lstStyle/>
                    <a:p>
                      <a:pPr marL="0" algn="ctr">
                        <a:lnSpc>
                          <a:spcPct val="100000"/>
                        </a:lnSpc>
                        <a:spcBef>
                          <a:spcPts val="0"/>
                        </a:spcBef>
                      </a:pPr>
                      <a:r>
                        <a:rPr lang="en-US" sz="900" b="0" err="1">
                          <a:latin typeface="Helvetica Neue" panose="02000503000000020004" pitchFamily="2" charset="0"/>
                          <a:ea typeface="Helvetica Neue" panose="02000503000000020004" pitchFamily="2" charset="0"/>
                          <a:cs typeface="Helvetica Neue" panose="02000503000000020004" pitchFamily="2" charset="0"/>
                        </a:rPr>
                        <a:t>Behaviour</a:t>
                      </a:r>
                      <a:endParaRPr sz="900" b="0">
                        <a:latin typeface="Helvetica Neue" panose="02000503000000020004" pitchFamily="2" charset="0"/>
                        <a:ea typeface="Helvetica Neue" panose="02000503000000020004" pitchFamily="2" charset="0"/>
                        <a:cs typeface="Helvetica Neue" panose="02000503000000020004" pitchFamily="2" charset="0"/>
                      </a:endParaRPr>
                    </a:p>
                  </a:txBody>
                  <a:tcPr marL="0" marR="0" marT="36576" marB="0" anchor="ctr">
                    <a:solidFill>
                      <a:srgbClr val="001E5A"/>
                    </a:solidFill>
                  </a:tcPr>
                </a:tc>
                <a:tc>
                  <a:txBody>
                    <a:bodyPr/>
                    <a:lstStyle/>
                    <a:p>
                      <a:pPr marL="0" algn="ctr">
                        <a:lnSpc>
                          <a:spcPct val="100000"/>
                        </a:lnSpc>
                        <a:spcBef>
                          <a:spcPts val="0"/>
                        </a:spcBef>
                      </a:pPr>
                      <a:r>
                        <a:rPr lang="en-US" sz="900" b="0">
                          <a:latin typeface="Helvetica Neue" panose="02000503000000020004" pitchFamily="2" charset="0"/>
                          <a:ea typeface="Helvetica Neue" panose="02000503000000020004" pitchFamily="2" charset="0"/>
                          <a:cs typeface="Helvetica Neue" panose="02000503000000020004" pitchFamily="2" charset="0"/>
                        </a:rPr>
                        <a:t>Moderator</a:t>
                      </a:r>
                      <a:endParaRPr sz="900" b="0">
                        <a:latin typeface="Helvetica Neue" panose="02000503000000020004" pitchFamily="2" charset="0"/>
                        <a:ea typeface="Helvetica Neue" panose="02000503000000020004" pitchFamily="2" charset="0"/>
                        <a:cs typeface="Helvetica Neue" panose="02000503000000020004" pitchFamily="2" charset="0"/>
                      </a:endParaRPr>
                    </a:p>
                  </a:txBody>
                  <a:tcPr marL="0" marR="0" marT="36576" marB="0" anchor="ctr">
                    <a:solidFill>
                      <a:srgbClr val="001E5A"/>
                    </a:solidFill>
                  </a:tcPr>
                </a:tc>
                <a:tc>
                  <a:txBody>
                    <a:bodyPr/>
                    <a:lstStyle/>
                    <a:p>
                      <a:pPr marL="138430">
                        <a:lnSpc>
                          <a:spcPct val="100000"/>
                        </a:lnSpc>
                        <a:spcBef>
                          <a:spcPts val="290"/>
                        </a:spcBef>
                      </a:pPr>
                      <a:r>
                        <a:rPr lang="en-US" sz="1400" b="1" spc="-10">
                          <a:solidFill>
                            <a:srgbClr val="FFFFFF"/>
                          </a:solidFill>
                          <a:latin typeface="Helvetica Neue"/>
                          <a:ea typeface="Helvetica Neue" panose="02000503000000020004" pitchFamily="2" charset="0"/>
                          <a:cs typeface="Helvetica Neue" panose="02000503000000020004" pitchFamily="2" charset="0"/>
                        </a:rPr>
                        <a:t>ASSESSMENT &amp; CONSIDERATIONS</a:t>
                      </a:r>
                      <a:endParaRPr lang="en-US" sz="1400">
                        <a:latin typeface="Helvetica Neue"/>
                        <a:ea typeface="Helvetica Neue" panose="02000503000000020004" pitchFamily="2" charset="0"/>
                        <a:cs typeface="Helvetica Neue" panose="02000503000000020004" pitchFamily="2" charset="0"/>
                      </a:endParaRPr>
                    </a:p>
                  </a:txBody>
                  <a:tcPr marL="0" marR="0" marT="36830" marB="0" anchor="ctr">
                    <a:solidFill>
                      <a:srgbClr val="001E5A"/>
                    </a:solidFill>
                  </a:tcPr>
                </a:tc>
                <a:extLst>
                  <a:ext uri="{0D108BD9-81ED-4DB2-BD59-A6C34878D82A}">
                    <a16:rowId xmlns:a16="http://schemas.microsoft.com/office/drawing/2014/main" val="3238567767"/>
                  </a:ext>
                </a:extLst>
              </a:tr>
              <a:tr h="928212">
                <a:tc>
                  <a:txBody>
                    <a:bodyPr/>
                    <a:lstStyle/>
                    <a:p>
                      <a:pPr marL="91440">
                        <a:lnSpc>
                          <a:spcPct val="100000"/>
                        </a:lnSpc>
                        <a:spcBef>
                          <a:spcPts val="270"/>
                        </a:spcBef>
                      </a:pPr>
                      <a:r>
                        <a:rPr lang="en-US" sz="1200" b="1" u="none" strike="noStrike" cap="none" spc="-10">
                          <a:solidFill>
                            <a:schemeClr val="tx1"/>
                          </a:solidFill>
                          <a:sym typeface="Arial"/>
                        </a:rPr>
                        <a:t>Vimal Kumar</a:t>
                      </a:r>
                      <a:endParaRPr sz="1200" b="1" u="none" strike="noStrike" cap="none" spc="-10">
                        <a:solidFill>
                          <a:schemeClr val="tx1"/>
                        </a:solidFill>
                        <a:sym typeface="Arial"/>
                      </a:endParaRPr>
                    </a:p>
                    <a:p>
                      <a:pPr marL="91440">
                        <a:lnSpc>
                          <a:spcPct val="100000"/>
                        </a:lnSpc>
                      </a:pPr>
                      <a:r>
                        <a:rPr lang="en-US" sz="1200" b="0" u="none" strike="noStrike" cap="none" spc="-10">
                          <a:solidFill>
                            <a:schemeClr val="tx1"/>
                          </a:solidFill>
                          <a:sym typeface="Arial"/>
                        </a:rPr>
                        <a:t>Acting COO</a:t>
                      </a:r>
                      <a:endParaRPr sz="1200" b="0" i="0" u="none" strike="noStrike" cap="none" spc="-1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marL="0" marR="0" marT="34290" marB="0">
                    <a:solidFill>
                      <a:schemeClr val="bg1">
                        <a:lumMod val="95000"/>
                      </a:schemeClr>
                    </a:solidFill>
                  </a:tcPr>
                </a:tc>
                <a:tc>
                  <a:txBody>
                    <a:bodyPr/>
                    <a:lstStyle/>
                    <a:p>
                      <a:pPr marL="309880" marR="113030" lvl="0" indent="-171450">
                        <a:lnSpc>
                          <a:spcPct val="100000"/>
                        </a:lnSpc>
                        <a:spcBef>
                          <a:spcPts val="270"/>
                        </a:spcBef>
                        <a:buFont typeface="Arial" panose="020B0604020202020204" pitchFamily="34" charset="0"/>
                        <a:buChar char="•"/>
                      </a:pPr>
                      <a:endParaRPr lang="en-US" sz="1200" b="0" i="1" u="none" strike="noStrike" cap="none" spc="-10">
                        <a:solidFill>
                          <a:schemeClr val="tx1"/>
                        </a:solidFill>
                        <a:sym typeface="Arial"/>
                      </a:endParaRPr>
                    </a:p>
                  </a:txBody>
                  <a:tcPr marL="0" marR="0" marT="34290" marB="0">
                    <a:solidFill>
                      <a:schemeClr val="bg1">
                        <a:lumMod val="95000"/>
                      </a:schemeClr>
                    </a:solidFill>
                  </a:tcPr>
                </a:tc>
                <a:tc>
                  <a:txBody>
                    <a:bodyPr/>
                    <a:lstStyle/>
                    <a:p>
                      <a:pPr marL="309880" marR="113030" lvl="0" indent="-171450">
                        <a:lnSpc>
                          <a:spcPct val="100000"/>
                        </a:lnSpc>
                        <a:spcBef>
                          <a:spcPts val="270"/>
                        </a:spcBef>
                        <a:buFont typeface="Arial" panose="020B0604020202020204" pitchFamily="34" charset="0"/>
                        <a:buChar char="•"/>
                      </a:pPr>
                      <a:endParaRPr lang="en-US" sz="1200" b="0" i="1" u="none" strike="noStrike" cap="none" spc="-10">
                        <a:solidFill>
                          <a:schemeClr val="tx1"/>
                        </a:solidFill>
                        <a:sym typeface="Arial"/>
                      </a:endParaRPr>
                    </a:p>
                  </a:txBody>
                  <a:tcPr marL="0" marR="0" marT="34290" marB="0">
                    <a:solidFill>
                      <a:schemeClr val="bg1">
                        <a:lumMod val="95000"/>
                      </a:schemeClr>
                    </a:solidFill>
                  </a:tcPr>
                </a:tc>
                <a:tc>
                  <a:txBody>
                    <a:bodyPr/>
                    <a:lstStyle/>
                    <a:p>
                      <a:pPr marL="309880" marR="113030" lvl="0" indent="-171450">
                        <a:lnSpc>
                          <a:spcPct val="100000"/>
                        </a:lnSpc>
                        <a:spcBef>
                          <a:spcPts val="270"/>
                        </a:spcBef>
                        <a:buFont typeface="Arial" panose="020B0604020202020204" pitchFamily="34" charset="0"/>
                        <a:buChar char="•"/>
                      </a:pPr>
                      <a:endParaRPr lang="en-US" sz="1200" b="0" i="1" u="none" strike="noStrike" cap="none" spc="-10">
                        <a:solidFill>
                          <a:schemeClr val="tx1"/>
                        </a:solidFill>
                        <a:sym typeface="Arial"/>
                      </a:endParaRPr>
                    </a:p>
                  </a:txBody>
                  <a:tcPr marL="0" marR="0" marT="34290" marB="0">
                    <a:solidFill>
                      <a:schemeClr val="bg1">
                        <a:lumMod val="95000"/>
                      </a:schemeClr>
                    </a:solidFill>
                  </a:tcPr>
                </a:tc>
                <a:tc>
                  <a:txBody>
                    <a:bodyPr/>
                    <a:lstStyle/>
                    <a:p>
                      <a:pPr marL="309880" marR="113030" lvl="0" indent="-171450">
                        <a:lnSpc>
                          <a:spcPct val="100000"/>
                        </a:lnSpc>
                        <a:spcBef>
                          <a:spcPts val="270"/>
                        </a:spcBef>
                        <a:spcAft>
                          <a:spcPts val="10"/>
                        </a:spcAft>
                        <a:buFont typeface="Arial" panose="020B0604020202020204" pitchFamily="34" charset="0"/>
                        <a:buChar char="•"/>
                      </a:pPr>
                      <a:r>
                        <a:rPr lang="en-US" sz="1200">
                          <a:latin typeface="Helvetica Neue" panose="02000503000000020004" pitchFamily="2" charset="0"/>
                          <a:ea typeface="Helvetica Neue" panose="02000503000000020004" pitchFamily="2" charset="0"/>
                          <a:cs typeface="Helvetica Neue" panose="02000503000000020004" pitchFamily="2" charset="0"/>
                        </a:rPr>
                        <a:t>Disciplined, process-driven, “a workhorse” suitable especially during periods of major operational change</a:t>
                      </a:r>
                      <a:endParaRPr lang="en-US" sz="1200" b="0" u="none" strike="noStrike" cap="none" spc="-10">
                        <a:solidFill>
                          <a:schemeClr val="tx1"/>
                        </a:solidFill>
                        <a:sym typeface="Arial"/>
                      </a:endParaRPr>
                    </a:p>
                    <a:p>
                      <a:pPr marL="309880" marR="113030" lvl="0" indent="-171450">
                        <a:lnSpc>
                          <a:spcPct val="100000"/>
                        </a:lnSpc>
                        <a:spcBef>
                          <a:spcPts val="270"/>
                        </a:spcBef>
                        <a:spcAft>
                          <a:spcPts val="10"/>
                        </a:spcAft>
                        <a:buFont typeface="Arial" panose="020B0604020202020204" pitchFamily="34" charset="0"/>
                        <a:buChar char="•"/>
                      </a:pPr>
                      <a:r>
                        <a:rPr lang="en-US" sz="1200">
                          <a:latin typeface="Helvetica Neue" panose="02000503000000020004" pitchFamily="2" charset="0"/>
                          <a:ea typeface="Helvetica Neue" panose="02000503000000020004" pitchFamily="2" charset="0"/>
                          <a:cs typeface="Helvetica Neue" panose="02000503000000020004" pitchFamily="2" charset="0"/>
                        </a:rPr>
                        <a:t>Over-used his power of the network- </a:t>
                      </a:r>
                      <a:r>
                        <a:rPr lang="en-US" sz="1200" kern="0" spc="-10">
                          <a:latin typeface="Helvetica Neue"/>
                          <a:ea typeface="Helvetica Neue" panose="02000503000000020004" pitchFamily="2" charset="0"/>
                          <a:cs typeface="Helvetica Neue" panose="02000503000000020004" pitchFamily="2" charset="0"/>
                        </a:rPr>
                        <a:t>unintentionally limiting trust </a:t>
                      </a:r>
                      <a:r>
                        <a:rPr lang="en-US" sz="1200">
                          <a:latin typeface="Helvetica Neue" panose="02000503000000020004" pitchFamily="2" charset="0"/>
                          <a:ea typeface="Helvetica Neue" panose="02000503000000020004" pitchFamily="2" charset="0"/>
                          <a:cs typeface="Helvetica Neue" panose="02000503000000020004" pitchFamily="2" charset="0"/>
                        </a:rPr>
                        <a:t>among stakeholders</a:t>
                      </a:r>
                    </a:p>
                    <a:p>
                      <a:pPr marL="309880" marR="113030" lvl="0" indent="-171450">
                        <a:lnSpc>
                          <a:spcPct val="100000"/>
                        </a:lnSpc>
                        <a:spcBef>
                          <a:spcPts val="270"/>
                        </a:spcBef>
                        <a:spcAft>
                          <a:spcPts val="10"/>
                        </a:spcAft>
                        <a:buFont typeface="Arial" panose="020B0604020202020204" pitchFamily="34" charset="0"/>
                        <a:buChar char="•"/>
                      </a:pPr>
                      <a:r>
                        <a:rPr lang="en-US" sz="1200">
                          <a:latin typeface="Helvetica Neue" panose="02000503000000020004" pitchFamily="2" charset="0"/>
                          <a:ea typeface="Helvetica Neue" panose="02000503000000020004" pitchFamily="2" charset="0"/>
                          <a:cs typeface="Helvetica Neue" panose="02000503000000020004" pitchFamily="2" charset="0"/>
                        </a:rPr>
                        <a:t>Can act as a constructive moderator who brings the leadership team together</a:t>
                      </a:r>
                    </a:p>
                    <a:p>
                      <a:pPr marL="309880" marR="113030" lvl="0" indent="-171450">
                        <a:lnSpc>
                          <a:spcPct val="100000"/>
                        </a:lnSpc>
                        <a:spcBef>
                          <a:spcPts val="270"/>
                        </a:spcBef>
                        <a:spcAft>
                          <a:spcPts val="10"/>
                        </a:spcAft>
                        <a:buFont typeface="Arial" panose="020B0604020202020204" pitchFamily="34" charset="0"/>
                        <a:buChar char="•"/>
                      </a:pPr>
                      <a:r>
                        <a:rPr lang="en-US" sz="1200" b="0" i="1" u="none" strike="noStrike" cap="none" spc="-10">
                          <a:solidFill>
                            <a:schemeClr val="tx1"/>
                          </a:solidFill>
                          <a:sym typeface="Arial"/>
                        </a:rPr>
                        <a:t>At the right time, replace COO with someone who has the experience required for the growth phase</a:t>
                      </a:r>
                    </a:p>
                  </a:txBody>
                  <a:tcPr marL="0" marR="0" marT="34290" marB="0">
                    <a:solidFill>
                      <a:schemeClr val="bg1">
                        <a:lumMod val="95000"/>
                      </a:schemeClr>
                    </a:solidFill>
                  </a:tcPr>
                </a:tc>
                <a:extLst>
                  <a:ext uri="{0D108BD9-81ED-4DB2-BD59-A6C34878D82A}">
                    <a16:rowId xmlns:a16="http://schemas.microsoft.com/office/drawing/2014/main" val="2921427356"/>
                  </a:ext>
                </a:extLst>
              </a:tr>
              <a:tr h="1121088">
                <a:tc>
                  <a:txBody>
                    <a:bodyPr/>
                    <a:lstStyle/>
                    <a:p>
                      <a:pPr marL="91440">
                        <a:lnSpc>
                          <a:spcPct val="100000"/>
                        </a:lnSpc>
                        <a:spcBef>
                          <a:spcPts val="270"/>
                        </a:spcBef>
                      </a:pPr>
                      <a:r>
                        <a:rPr lang="en-US" sz="1200" b="1" u="none" strike="noStrike" cap="none" spc="-10">
                          <a:solidFill>
                            <a:schemeClr val="tx1"/>
                          </a:solidFill>
                          <a:sym typeface="Arial"/>
                        </a:rPr>
                        <a:t>Ammar Azhar</a:t>
                      </a:r>
                    </a:p>
                    <a:p>
                      <a:pPr marL="91440">
                        <a:lnSpc>
                          <a:spcPct val="100000"/>
                        </a:lnSpc>
                        <a:spcBef>
                          <a:spcPts val="5"/>
                        </a:spcBef>
                      </a:pPr>
                      <a:r>
                        <a:rPr lang="en-US" sz="1200" b="0" u="none" strike="noStrike" cap="none" spc="-10">
                          <a:solidFill>
                            <a:schemeClr val="tx1"/>
                          </a:solidFill>
                          <a:sym typeface="Arial"/>
                        </a:rPr>
                        <a:t>CFO</a:t>
                      </a:r>
                      <a:endParaRPr lang="en-US" sz="1200" b="0" i="0" u="none" strike="noStrike" cap="none" spc="-1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marL="0" marR="0" marT="34290" marB="0">
                    <a:solidFill>
                      <a:schemeClr val="bg1">
                        <a:lumMod val="95000"/>
                      </a:schemeClr>
                    </a:solidFill>
                  </a:tcPr>
                </a:tc>
                <a:tc>
                  <a:txBody>
                    <a:bodyPr/>
                    <a:lstStyle/>
                    <a:p>
                      <a:pPr marL="309880" marR="233045" lvl="0" indent="-171450">
                        <a:lnSpc>
                          <a:spcPct val="100000"/>
                        </a:lnSpc>
                        <a:spcBef>
                          <a:spcPts val="270"/>
                        </a:spcBef>
                        <a:buFont typeface="Arial" panose="020B0604020202020204" pitchFamily="34" charset="0"/>
                        <a:buChar char="•"/>
                      </a:pPr>
                      <a:endParaRPr lang="en-US" sz="1200" b="0" i="0" u="none" strike="noStrike" cap="none" spc="-1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marL="0" marR="0" marT="34290" marB="0">
                    <a:solidFill>
                      <a:schemeClr val="bg1">
                        <a:lumMod val="95000"/>
                      </a:schemeClr>
                    </a:solidFill>
                  </a:tcPr>
                </a:tc>
                <a:tc>
                  <a:txBody>
                    <a:bodyPr/>
                    <a:lstStyle/>
                    <a:p>
                      <a:pPr marL="309880" marR="233045" lvl="0" indent="-171450">
                        <a:lnSpc>
                          <a:spcPct val="100000"/>
                        </a:lnSpc>
                        <a:spcBef>
                          <a:spcPts val="270"/>
                        </a:spcBef>
                        <a:buFont typeface="Arial" panose="020B0604020202020204" pitchFamily="34" charset="0"/>
                        <a:buChar char="•"/>
                      </a:pPr>
                      <a:endParaRPr lang="en-US" sz="1200" b="0" i="0" u="none" strike="noStrike" cap="none" spc="-1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marL="0" marR="0" marT="34290" marB="0">
                    <a:solidFill>
                      <a:schemeClr val="bg1">
                        <a:lumMod val="95000"/>
                      </a:schemeClr>
                    </a:solidFill>
                  </a:tcPr>
                </a:tc>
                <a:tc>
                  <a:txBody>
                    <a:bodyPr/>
                    <a:lstStyle/>
                    <a:p>
                      <a:pPr marL="309880" marR="233045" lvl="0" indent="-171450">
                        <a:lnSpc>
                          <a:spcPct val="100000"/>
                        </a:lnSpc>
                        <a:spcBef>
                          <a:spcPts val="270"/>
                        </a:spcBef>
                        <a:buFont typeface="Arial" panose="020B0604020202020204" pitchFamily="34" charset="0"/>
                        <a:buChar char="•"/>
                      </a:pPr>
                      <a:endParaRPr lang="en-US" sz="1200" b="0" i="0" u="none" strike="noStrike" cap="none" spc="-1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marL="0" marR="0" marT="34290" marB="0">
                    <a:solidFill>
                      <a:schemeClr val="bg1">
                        <a:lumMod val="95000"/>
                      </a:schemeClr>
                    </a:solidFill>
                  </a:tcPr>
                </a:tc>
                <a:tc>
                  <a:txBody>
                    <a:bodyPr/>
                    <a:lstStyle/>
                    <a:p>
                      <a:pPr marL="309880" marR="233045" lvl="0" indent="-171450" algn="l" defTabSz="914400" rtl="0" eaLnBrk="1" fontAlgn="auto" latinLnBrk="0" hangingPunct="1">
                        <a:lnSpc>
                          <a:spcPct val="100000"/>
                        </a:lnSpc>
                        <a:spcBef>
                          <a:spcPts val="270"/>
                        </a:spcBef>
                        <a:spcAft>
                          <a:spcPts val="10"/>
                        </a:spcAft>
                        <a:buClr>
                          <a:srgbClr val="000000"/>
                        </a:buClr>
                        <a:buSzTx/>
                        <a:buFont typeface="Arial" panose="020B0604020202020204" pitchFamily="34" charset="0"/>
                        <a:buChar char="•"/>
                        <a:tabLst/>
                        <a:defRPr/>
                      </a:pPr>
                      <a:r>
                        <a:rPr lang="en-US" sz="1200" b="0" i="0" u="none" strike="noStrike" cap="none" spc="-10">
                          <a:solidFill>
                            <a:schemeClr val="tx1"/>
                          </a:solidFill>
                          <a:latin typeface="Helvetica Neue"/>
                          <a:ea typeface="Helvetica Neue" panose="02000503000000020004" pitchFamily="2" charset="0"/>
                          <a:cs typeface="Helvetica Neue" panose="02000503000000020004" pitchFamily="2" charset="0"/>
                          <a:sym typeface="Arial"/>
                        </a:rPr>
                        <a:t>Technically competent, seen as steady and credible by his peers</a:t>
                      </a:r>
                    </a:p>
                    <a:p>
                      <a:pPr marL="309880" marR="233045" lvl="0" indent="-171450">
                        <a:lnSpc>
                          <a:spcPct val="100000"/>
                        </a:lnSpc>
                        <a:spcBef>
                          <a:spcPts val="270"/>
                        </a:spcBef>
                        <a:spcAft>
                          <a:spcPts val="10"/>
                        </a:spcAft>
                        <a:buFont typeface="Arial" panose="020B0604020202020204" pitchFamily="34" charset="0"/>
                        <a:buChar char="•"/>
                      </a:pPr>
                      <a:r>
                        <a:rPr lang="en-US" sz="1200" b="0" u="none" strike="noStrike" cap="none" spc="-10">
                          <a:solidFill>
                            <a:schemeClr val="tx1"/>
                          </a:solidFill>
                          <a:sym typeface="Arial"/>
                        </a:rPr>
                        <a:t>Still junior in leadership experience and has not yet established his voice within the LT; </a:t>
                      </a:r>
                      <a:r>
                        <a:rPr lang="en-US" sz="1200" b="0" i="0" u="none" strike="noStrike" cap="none" spc="-10">
                          <a:solidFill>
                            <a:schemeClr val="tx1"/>
                          </a:solidFill>
                          <a:latin typeface="Helvetica Neue"/>
                          <a:ea typeface="Helvetica Neue" panose="02000503000000020004" pitchFamily="2" charset="0"/>
                          <a:cs typeface="Helvetica Neue" panose="02000503000000020004" pitchFamily="2" charset="0"/>
                          <a:sym typeface="Arial" panose="020B0604020202020204" pitchFamily="34" charset="0"/>
                        </a:rPr>
                        <a:t>probably less visible than he could be</a:t>
                      </a:r>
                      <a:endParaRPr lang="en-US" sz="1200" b="0" u="none" strike="noStrike" cap="none" spc="-10">
                        <a:solidFill>
                          <a:schemeClr val="tx1"/>
                        </a:solidFill>
                        <a:sym typeface="Arial"/>
                      </a:endParaRPr>
                    </a:p>
                    <a:p>
                      <a:pPr marL="309880" marR="233045" lvl="0" indent="-171450">
                        <a:lnSpc>
                          <a:spcPct val="100000"/>
                        </a:lnSpc>
                        <a:spcBef>
                          <a:spcPts val="270"/>
                        </a:spcBef>
                        <a:spcAft>
                          <a:spcPts val="10"/>
                        </a:spcAft>
                        <a:buFont typeface="Arial" panose="020B0604020202020204" pitchFamily="34" charset="0"/>
                        <a:buChar char="•"/>
                      </a:pPr>
                      <a:r>
                        <a:rPr lang="en-US" sz="1200" b="0" u="none" strike="noStrike" cap="none" spc="-10">
                          <a:solidFill>
                            <a:schemeClr val="tx1"/>
                          </a:solidFill>
                          <a:sym typeface="Arial"/>
                        </a:rPr>
                        <a:t>Need to become a thinking partner for the CEO</a:t>
                      </a:r>
                    </a:p>
                    <a:p>
                      <a:pPr marL="309880" marR="233045" lvl="0" indent="-171450">
                        <a:lnSpc>
                          <a:spcPct val="100000"/>
                        </a:lnSpc>
                        <a:spcBef>
                          <a:spcPts val="270"/>
                        </a:spcBef>
                        <a:spcAft>
                          <a:spcPts val="10"/>
                        </a:spcAft>
                        <a:buFont typeface="Arial" panose="020B0604020202020204" pitchFamily="34" charset="0"/>
                        <a:buChar char="•"/>
                      </a:pPr>
                      <a:r>
                        <a:rPr lang="en-US" sz="1200" b="0" u="none" strike="noStrike" cap="none" spc="-10">
                          <a:solidFill>
                            <a:schemeClr val="tx1"/>
                          </a:solidFill>
                          <a:sym typeface="Arial"/>
                        </a:rPr>
                        <a:t>Need to increase communication to and from the business (</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growth vs. Cost priorities; transparent communication)</a:t>
                      </a:r>
                      <a:endParaRPr lang="en-US" sz="1200" b="0" i="0" u="none" strike="noStrike" cap="none" spc="-1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marL="0" marR="0" marT="34290" marB="0">
                    <a:solidFill>
                      <a:schemeClr val="bg1">
                        <a:lumMod val="95000"/>
                      </a:schemeClr>
                    </a:solidFill>
                  </a:tcPr>
                </a:tc>
                <a:extLst>
                  <a:ext uri="{0D108BD9-81ED-4DB2-BD59-A6C34878D82A}">
                    <a16:rowId xmlns:a16="http://schemas.microsoft.com/office/drawing/2014/main" val="3544226190"/>
                  </a:ext>
                </a:extLst>
              </a:tr>
              <a:tr h="1082245">
                <a:tc>
                  <a:txBody>
                    <a:bodyPr/>
                    <a:lstStyle/>
                    <a:p>
                      <a:pPr marL="91440">
                        <a:lnSpc>
                          <a:spcPct val="100000"/>
                        </a:lnSpc>
                        <a:spcBef>
                          <a:spcPts val="280"/>
                        </a:spcBef>
                      </a:pPr>
                      <a:r>
                        <a:rPr lang="en-US" sz="1200" b="1" u="none" strike="noStrike" cap="none" spc="-10">
                          <a:solidFill>
                            <a:schemeClr val="tx1"/>
                          </a:solidFill>
                          <a:sym typeface="Arial"/>
                        </a:rPr>
                        <a:t>Adeel Ghias</a:t>
                      </a:r>
                    </a:p>
                    <a:p>
                      <a:pPr marL="91440">
                        <a:lnSpc>
                          <a:spcPct val="100000"/>
                        </a:lnSpc>
                        <a:spcBef>
                          <a:spcPts val="280"/>
                        </a:spcBef>
                      </a:pPr>
                      <a:r>
                        <a:rPr lang="en-US" sz="1200" b="0" u="none" strike="noStrike" cap="none" spc="-10">
                          <a:solidFill>
                            <a:schemeClr val="tx1"/>
                          </a:solidFill>
                          <a:sym typeface="Arial"/>
                        </a:rPr>
                        <a:t>Head of Front Office</a:t>
                      </a:r>
                      <a:endParaRPr sz="1200" b="0" i="0" u="none" strike="noStrike" cap="none" spc="-1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marL="0" marR="0" marT="35560" marB="0">
                    <a:solidFill>
                      <a:schemeClr val="bg1">
                        <a:lumMod val="95000"/>
                      </a:schemeClr>
                    </a:solidFill>
                  </a:tcPr>
                </a:tc>
                <a:tc>
                  <a:txBody>
                    <a:bodyPr/>
                    <a:lstStyle/>
                    <a:p>
                      <a:pPr marL="309880" marR="297180" lvl="0" indent="-171450">
                        <a:lnSpc>
                          <a:spcPct val="100000"/>
                        </a:lnSpc>
                        <a:spcBef>
                          <a:spcPts val="280"/>
                        </a:spcBef>
                        <a:buFont typeface="Arial" panose="020B0604020202020204" pitchFamily="34" charset="0"/>
                        <a:buChar char="•"/>
                      </a:pPr>
                      <a:endParaRPr lang="en-US" sz="1200" b="0" u="none" strike="noStrike" cap="none" spc="-10">
                        <a:solidFill>
                          <a:schemeClr val="tx1"/>
                        </a:solidFill>
                        <a:sym typeface="Arial"/>
                      </a:endParaRPr>
                    </a:p>
                  </a:txBody>
                  <a:tcPr marL="0" marR="0" marT="35560" marB="0">
                    <a:solidFill>
                      <a:schemeClr val="bg1">
                        <a:lumMod val="95000"/>
                      </a:schemeClr>
                    </a:solidFill>
                  </a:tcPr>
                </a:tc>
                <a:tc>
                  <a:txBody>
                    <a:bodyPr/>
                    <a:lstStyle/>
                    <a:p>
                      <a:pPr marL="309880" marR="297180" lvl="0" indent="-171450">
                        <a:lnSpc>
                          <a:spcPct val="100000"/>
                        </a:lnSpc>
                        <a:spcBef>
                          <a:spcPts val="280"/>
                        </a:spcBef>
                        <a:buFont typeface="Arial" panose="020B0604020202020204" pitchFamily="34" charset="0"/>
                        <a:buChar char="•"/>
                      </a:pPr>
                      <a:endParaRPr lang="en-US" sz="1200" b="0" u="none" strike="noStrike" cap="none" spc="-10">
                        <a:solidFill>
                          <a:schemeClr val="tx1"/>
                        </a:solidFill>
                        <a:sym typeface="Arial"/>
                      </a:endParaRPr>
                    </a:p>
                  </a:txBody>
                  <a:tcPr marL="0" marR="0" marT="35560" marB="0">
                    <a:solidFill>
                      <a:schemeClr val="bg1">
                        <a:lumMod val="95000"/>
                      </a:schemeClr>
                    </a:solidFill>
                  </a:tcPr>
                </a:tc>
                <a:tc>
                  <a:txBody>
                    <a:bodyPr/>
                    <a:lstStyle/>
                    <a:p>
                      <a:pPr marL="309880" marR="297180" lvl="0" indent="-171450">
                        <a:lnSpc>
                          <a:spcPct val="100000"/>
                        </a:lnSpc>
                        <a:spcBef>
                          <a:spcPts val="280"/>
                        </a:spcBef>
                        <a:buFont typeface="Arial" panose="020B0604020202020204" pitchFamily="34" charset="0"/>
                        <a:buChar char="•"/>
                      </a:pPr>
                      <a:endParaRPr lang="en-US" sz="1200" b="0" u="none" strike="noStrike" cap="none" spc="-10">
                        <a:solidFill>
                          <a:schemeClr val="tx1"/>
                        </a:solidFill>
                        <a:sym typeface="Arial"/>
                      </a:endParaRPr>
                    </a:p>
                  </a:txBody>
                  <a:tcPr marL="0" marR="0" marT="35560" marB="0">
                    <a:solidFill>
                      <a:schemeClr val="bg1">
                        <a:lumMod val="95000"/>
                      </a:schemeClr>
                    </a:solidFill>
                  </a:tcPr>
                </a:tc>
                <a:tc>
                  <a:txBody>
                    <a:bodyPr/>
                    <a:lstStyle/>
                    <a:p>
                      <a:pPr marL="309880" marR="297180" lvl="0" indent="-171450">
                        <a:lnSpc>
                          <a:spcPct val="100000"/>
                        </a:lnSpc>
                        <a:spcBef>
                          <a:spcPts val="280"/>
                        </a:spcBef>
                        <a:spcAft>
                          <a:spcPts val="10"/>
                        </a:spcAft>
                        <a:buFont typeface="Arial" panose="020B0604020202020204" pitchFamily="34" charset="0"/>
                        <a:buChar char="•"/>
                      </a:pPr>
                      <a:r>
                        <a:rPr lang="en-US" sz="1200" b="0" u="none" strike="noStrike" cap="none" spc="-10">
                          <a:solidFill>
                            <a:schemeClr val="tx1"/>
                          </a:solidFill>
                          <a:sym typeface="Arial"/>
                        </a:rPr>
                        <a:t>Strengths lie in operational management</a:t>
                      </a:r>
                    </a:p>
                    <a:p>
                      <a:pPr marL="309880" marR="297180" lvl="0" indent="-171450">
                        <a:lnSpc>
                          <a:spcPct val="100000"/>
                        </a:lnSpc>
                        <a:spcBef>
                          <a:spcPts val="280"/>
                        </a:spcBef>
                        <a:spcAft>
                          <a:spcPts val="10"/>
                        </a:spcAft>
                        <a:buFont typeface="Arial" panose="020B0604020202020204" pitchFamily="34" charset="0"/>
                        <a:buChar char="•"/>
                      </a:pPr>
                      <a:r>
                        <a:rPr lang="en-US" sz="1200" b="0" u="none" strike="noStrike" cap="none" spc="-10">
                          <a:solidFill>
                            <a:schemeClr val="tx1"/>
                          </a:solidFill>
                          <a:sym typeface="Arial"/>
                        </a:rPr>
                        <a:t>Need to communicate the long-term strategy (“Day 2” vision) and future investment priorities to create engagement and direction</a:t>
                      </a:r>
                    </a:p>
                    <a:p>
                      <a:pPr marL="309880" marR="297180" lvl="0" indent="-171450">
                        <a:lnSpc>
                          <a:spcPct val="100000"/>
                        </a:lnSpc>
                        <a:spcBef>
                          <a:spcPts val="280"/>
                        </a:spcBef>
                        <a:spcAft>
                          <a:spcPts val="10"/>
                        </a:spcAft>
                        <a:buFont typeface="Arial" panose="020B0604020202020204" pitchFamily="34" charset="0"/>
                        <a:buChar char="•"/>
                      </a:pPr>
                      <a:r>
                        <a:rPr lang="en-US" sz="1200" b="0" u="none" strike="noStrike" cap="none" spc="-10">
                          <a:solidFill>
                            <a:schemeClr val="tx1"/>
                          </a:solidFill>
                          <a:sym typeface="Arial"/>
                        </a:rPr>
                        <a:t>Must develop &amp; retain the team: empower critical roles and invest in visible career paths to retain and grow top talent</a:t>
                      </a:r>
                    </a:p>
                  </a:txBody>
                  <a:tcPr marL="0" marR="0" marT="35560" marB="0">
                    <a:solidFill>
                      <a:schemeClr val="bg1">
                        <a:lumMod val="95000"/>
                      </a:schemeClr>
                    </a:solidFill>
                  </a:tcPr>
                </a:tc>
                <a:extLst>
                  <a:ext uri="{0D108BD9-81ED-4DB2-BD59-A6C34878D82A}">
                    <a16:rowId xmlns:a16="http://schemas.microsoft.com/office/drawing/2014/main" val="2434202052"/>
                  </a:ext>
                </a:extLst>
              </a:tr>
              <a:tr h="1121757">
                <a:tc>
                  <a:txBody>
                    <a:bodyPr/>
                    <a:lstStyle/>
                    <a:p>
                      <a:pPr marL="91440">
                        <a:lnSpc>
                          <a:spcPct val="100000"/>
                        </a:lnSpc>
                        <a:spcBef>
                          <a:spcPts val="275"/>
                        </a:spcBef>
                      </a:pPr>
                      <a:r>
                        <a:rPr lang="en-US" sz="1200" b="1" u="none" strike="noStrike" cap="none" spc="-10">
                          <a:solidFill>
                            <a:schemeClr val="tx1"/>
                          </a:solidFill>
                          <a:sym typeface="Arial"/>
                        </a:rPr>
                        <a:t>Ludovic Lombard</a:t>
                      </a:r>
                    </a:p>
                    <a:p>
                      <a:pPr marL="91440">
                        <a:lnSpc>
                          <a:spcPct val="100000"/>
                        </a:lnSpc>
                      </a:pPr>
                      <a:r>
                        <a:rPr lang="en-US" sz="1200" b="0" u="none" strike="noStrike" cap="none" spc="-10">
                          <a:solidFill>
                            <a:schemeClr val="tx1"/>
                          </a:solidFill>
                          <a:sym typeface="Arial"/>
                        </a:rPr>
                        <a:t>Head of Risk</a:t>
                      </a:r>
                      <a:endParaRPr lang="en-US" sz="1200" b="0" i="0" u="none" strike="noStrike" cap="none" spc="-1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marL="0" marR="0" marT="34925" marB="0">
                    <a:solidFill>
                      <a:schemeClr val="bg1">
                        <a:lumMod val="95000"/>
                      </a:schemeClr>
                    </a:solidFill>
                  </a:tcPr>
                </a:tc>
                <a:tc>
                  <a:txBody>
                    <a:bodyPr/>
                    <a:lstStyle/>
                    <a:p>
                      <a:pPr marL="309880" marR="173355" lvl="0" indent="-171450" algn="l">
                        <a:lnSpc>
                          <a:spcPct val="100000"/>
                        </a:lnSpc>
                        <a:spcBef>
                          <a:spcPts val="275"/>
                        </a:spcBef>
                        <a:buFont typeface="Arial" panose="020B0604020202020204" pitchFamily="34" charset="0"/>
                        <a:buChar char="•"/>
                      </a:pPr>
                      <a:endParaRPr lang="en-US" sz="1200" b="0" i="0" u="none" strike="noStrike" cap="none" spc="-1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marL="0" marR="0" marT="34925" marB="0">
                    <a:solidFill>
                      <a:schemeClr val="bg1">
                        <a:lumMod val="95000"/>
                      </a:schemeClr>
                    </a:solidFill>
                  </a:tcPr>
                </a:tc>
                <a:tc>
                  <a:txBody>
                    <a:bodyPr/>
                    <a:lstStyle/>
                    <a:p>
                      <a:pPr marL="309880" marR="173355" lvl="0" indent="-171450" algn="l">
                        <a:lnSpc>
                          <a:spcPct val="100000"/>
                        </a:lnSpc>
                        <a:spcBef>
                          <a:spcPts val="275"/>
                        </a:spcBef>
                        <a:buFont typeface="Arial" panose="020B0604020202020204" pitchFamily="34" charset="0"/>
                        <a:buChar char="•"/>
                      </a:pPr>
                      <a:endParaRPr lang="en-US" sz="1200" b="0" i="0" u="none" strike="noStrike" cap="none" spc="-1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marL="0" marR="0" marT="34925" marB="0">
                    <a:solidFill>
                      <a:schemeClr val="bg1">
                        <a:lumMod val="95000"/>
                      </a:schemeClr>
                    </a:solidFill>
                  </a:tcPr>
                </a:tc>
                <a:tc>
                  <a:txBody>
                    <a:bodyPr/>
                    <a:lstStyle/>
                    <a:p>
                      <a:pPr marL="309880" marR="173355" lvl="0" indent="-171450" algn="l">
                        <a:lnSpc>
                          <a:spcPct val="100000"/>
                        </a:lnSpc>
                        <a:spcBef>
                          <a:spcPts val="275"/>
                        </a:spcBef>
                        <a:buFont typeface="Arial" panose="020B0604020202020204" pitchFamily="34" charset="0"/>
                        <a:buChar char="•"/>
                      </a:pPr>
                      <a:endParaRPr lang="en-US" sz="1200" b="0" i="0" u="none" strike="noStrike" cap="none" spc="-1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marL="0" marR="0" marT="34925" marB="0">
                    <a:solidFill>
                      <a:schemeClr val="bg1">
                        <a:lumMod val="95000"/>
                      </a:schemeClr>
                    </a:solidFill>
                  </a:tcPr>
                </a:tc>
                <a:tc>
                  <a:txBody>
                    <a:bodyPr/>
                    <a:lstStyle/>
                    <a:p>
                      <a:pPr marL="309880" marR="173355" lvl="0" indent="-171450" algn="l">
                        <a:lnSpc>
                          <a:spcPct val="100000"/>
                        </a:lnSpc>
                        <a:spcBef>
                          <a:spcPts val="275"/>
                        </a:spcBef>
                        <a:spcAft>
                          <a:spcPts val="10"/>
                        </a:spcAft>
                        <a:buFont typeface="Arial" panose="020B0604020202020204" pitchFamily="34" charset="0"/>
                        <a:buChar char="•"/>
                      </a:pPr>
                      <a:r>
                        <a:rPr lang="en-US" sz="1200" b="0" u="none" strike="noStrike" cap="none" spc="-10">
                          <a:solidFill>
                            <a:schemeClr val="tx1"/>
                          </a:solidFill>
                          <a:sym typeface="Arial"/>
                        </a:rPr>
                        <a:t>Technically strong, but rigid and confrontational—</a:t>
                      </a:r>
                      <a:r>
                        <a:rPr lang="en-US" sz="1200" b="0" i="0" u="none" strike="noStrike" cap="none" spc="-10">
                          <a:solidFill>
                            <a:schemeClr val="tx1"/>
                          </a:solidFill>
                          <a:latin typeface="Helvetica Neue"/>
                          <a:ea typeface="Helvetica Neue" panose="02000503000000020004" pitchFamily="2" charset="0"/>
                          <a:cs typeface="Helvetica Neue" panose="02000503000000020004" pitchFamily="2" charset="0"/>
                          <a:sym typeface="Arial"/>
                        </a:rPr>
                        <a:t>Culturally misaligned with the local context</a:t>
                      </a:r>
                      <a:endParaRPr lang="en-US" sz="1200" b="0" u="none" strike="noStrike" cap="none" spc="-10">
                        <a:solidFill>
                          <a:schemeClr val="tx1"/>
                        </a:solidFill>
                        <a:sym typeface="Arial"/>
                      </a:endParaRPr>
                    </a:p>
                    <a:p>
                      <a:pPr marL="309880" marR="173355" lvl="0" indent="-171450" algn="l">
                        <a:lnSpc>
                          <a:spcPct val="100000"/>
                        </a:lnSpc>
                        <a:spcBef>
                          <a:spcPts val="275"/>
                        </a:spcBef>
                        <a:spcAft>
                          <a:spcPts val="10"/>
                        </a:spcAft>
                        <a:buFont typeface="Arial" panose="020B0604020202020204" pitchFamily="34" charset="0"/>
                        <a:buChar char="•"/>
                      </a:pPr>
                      <a:r>
                        <a:rPr lang="en-US" sz="1200" b="0" u="none" strike="noStrike" cap="none" spc="-10">
                          <a:solidFill>
                            <a:schemeClr val="tx1"/>
                          </a:solidFill>
                          <a:sym typeface="Arial"/>
                        </a:rPr>
                        <a:t>Under stress he may become critical, controlling, or impatient</a:t>
                      </a:r>
                    </a:p>
                    <a:p>
                      <a:pPr marL="309880" marR="173355" lvl="0" indent="-171450" algn="l">
                        <a:lnSpc>
                          <a:spcPct val="100000"/>
                        </a:lnSpc>
                        <a:spcBef>
                          <a:spcPts val="275"/>
                        </a:spcBef>
                        <a:spcAft>
                          <a:spcPts val="10"/>
                        </a:spcAft>
                        <a:buFont typeface="Arial" panose="020B0604020202020204" pitchFamily="34" charset="0"/>
                        <a:buChar char="•"/>
                      </a:pPr>
                      <a:r>
                        <a:rPr lang="en-US" sz="1200" b="0" u="none" strike="noStrike" cap="none" spc="-10">
                          <a:solidFill>
                            <a:schemeClr val="tx1"/>
                          </a:solidFill>
                          <a:sym typeface="Arial"/>
                        </a:rPr>
                        <a:t>Need support from an executive coach focused on culture and collaboration (how to frame risk conversations commercially, not procedurally)</a:t>
                      </a:r>
                    </a:p>
                    <a:p>
                      <a:pPr marL="309880" marR="173355" lvl="0" indent="-171450" algn="l">
                        <a:lnSpc>
                          <a:spcPct val="100000"/>
                        </a:lnSpc>
                        <a:spcBef>
                          <a:spcPts val="275"/>
                        </a:spcBef>
                        <a:spcAft>
                          <a:spcPts val="10"/>
                        </a:spcAft>
                        <a:buFont typeface="Arial" panose="020B0604020202020204" pitchFamily="34" charset="0"/>
                        <a:buChar char="•"/>
                      </a:pPr>
                      <a:r>
                        <a:rPr lang="en-US" sz="1200" b="0" u="none" strike="noStrike" cap="none" spc="-10">
                          <a:solidFill>
                            <a:schemeClr val="tx1"/>
                          </a:solidFill>
                          <a:sym typeface="Arial"/>
                        </a:rPr>
                        <a:t>Needs to get </a:t>
                      </a:r>
                      <a:r>
                        <a:rPr lang="en-US" sz="1200">
                          <a:latin typeface="Helvetica Neue"/>
                          <a:ea typeface="Helvetica Neue" panose="02000503000000020004" pitchFamily="2" charset="0"/>
                          <a:cs typeface="Helvetica Neue" panose="02000503000000020004" pitchFamily="2" charset="0"/>
                        </a:rPr>
                        <a:t>broader engagement for cross-functional initiatives</a:t>
                      </a:r>
                      <a:endParaRPr lang="en-US" sz="1200" b="0" i="0" u="none" strike="noStrike" cap="none" spc="-1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marL="0" marR="0" marT="34925" marB="0">
                    <a:solidFill>
                      <a:schemeClr val="bg1">
                        <a:lumMod val="95000"/>
                      </a:schemeClr>
                    </a:solidFill>
                  </a:tcPr>
                </a:tc>
                <a:extLst>
                  <a:ext uri="{0D108BD9-81ED-4DB2-BD59-A6C34878D82A}">
                    <a16:rowId xmlns:a16="http://schemas.microsoft.com/office/drawing/2014/main" val="832021080"/>
                  </a:ext>
                </a:extLst>
              </a:tr>
              <a:tr h="1122427">
                <a:tc>
                  <a:txBody>
                    <a:bodyPr/>
                    <a:lstStyle/>
                    <a:p>
                      <a:pPr marL="91440" marR="586740">
                        <a:lnSpc>
                          <a:spcPct val="100000"/>
                        </a:lnSpc>
                        <a:spcBef>
                          <a:spcPts val="275"/>
                        </a:spcBef>
                      </a:pPr>
                      <a:r>
                        <a:rPr lang="en-US" sz="1200" b="1" u="none" strike="noStrike" cap="none" spc="-10">
                          <a:solidFill>
                            <a:schemeClr val="tx1"/>
                          </a:solidFill>
                          <a:sym typeface="Arial"/>
                        </a:rPr>
                        <a:t>Dan Squires</a:t>
                      </a:r>
                    </a:p>
                    <a:p>
                      <a:pPr marL="91440" marR="586740">
                        <a:lnSpc>
                          <a:spcPct val="100000"/>
                        </a:lnSpc>
                        <a:spcBef>
                          <a:spcPts val="275"/>
                        </a:spcBef>
                      </a:pPr>
                      <a:r>
                        <a:rPr lang="en-US" sz="1200" b="0" u="none" strike="noStrike" cap="none" spc="-10">
                          <a:solidFill>
                            <a:schemeClr val="tx1"/>
                          </a:solidFill>
                          <a:sym typeface="Arial"/>
                        </a:rPr>
                        <a:t>CCO</a:t>
                      </a:r>
                      <a:endParaRPr sz="1200" b="0" i="0" u="none" strike="noStrike" cap="none" spc="-1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marL="0" marR="0" marT="34925" marB="0">
                    <a:solidFill>
                      <a:schemeClr val="bg1">
                        <a:lumMod val="95000"/>
                      </a:schemeClr>
                    </a:solidFill>
                  </a:tcPr>
                </a:tc>
                <a:tc>
                  <a:txBody>
                    <a:bodyPr/>
                    <a:lstStyle/>
                    <a:p>
                      <a:pPr marL="309880" marR="238760" lvl="0" indent="-171450">
                        <a:lnSpc>
                          <a:spcPct val="100000"/>
                        </a:lnSpc>
                        <a:spcBef>
                          <a:spcPts val="280"/>
                        </a:spcBef>
                        <a:buFont typeface="Arial" panose="020B0604020202020204" pitchFamily="34" charset="0"/>
                        <a:buChar char="•"/>
                      </a:pPr>
                      <a:endParaRPr lang="en-US" sz="1200" b="0" u="none" strike="noStrike" cap="none" spc="-10">
                        <a:solidFill>
                          <a:schemeClr val="tx1"/>
                        </a:solidFill>
                        <a:sym typeface="Arial"/>
                      </a:endParaRPr>
                    </a:p>
                  </a:txBody>
                  <a:tcPr marL="0" marR="0" marT="35560" marB="0">
                    <a:solidFill>
                      <a:schemeClr val="bg1">
                        <a:lumMod val="95000"/>
                      </a:schemeClr>
                    </a:solidFill>
                  </a:tcPr>
                </a:tc>
                <a:tc>
                  <a:txBody>
                    <a:bodyPr/>
                    <a:lstStyle/>
                    <a:p>
                      <a:pPr marL="309880" marR="238760" lvl="0" indent="-171450">
                        <a:lnSpc>
                          <a:spcPct val="100000"/>
                        </a:lnSpc>
                        <a:spcBef>
                          <a:spcPts val="280"/>
                        </a:spcBef>
                        <a:buFont typeface="Arial" panose="020B0604020202020204" pitchFamily="34" charset="0"/>
                        <a:buChar char="•"/>
                      </a:pPr>
                      <a:endParaRPr lang="en-US" sz="1200" b="0" u="none" strike="noStrike" cap="none" spc="-10">
                        <a:solidFill>
                          <a:schemeClr val="tx1"/>
                        </a:solidFill>
                        <a:sym typeface="Arial"/>
                      </a:endParaRPr>
                    </a:p>
                  </a:txBody>
                  <a:tcPr marL="0" marR="0" marT="35560" marB="0">
                    <a:solidFill>
                      <a:schemeClr val="bg1">
                        <a:lumMod val="95000"/>
                      </a:schemeClr>
                    </a:solidFill>
                  </a:tcPr>
                </a:tc>
                <a:tc>
                  <a:txBody>
                    <a:bodyPr/>
                    <a:lstStyle/>
                    <a:p>
                      <a:pPr marL="309880" marR="238760" lvl="0" indent="-171450">
                        <a:lnSpc>
                          <a:spcPct val="100000"/>
                        </a:lnSpc>
                        <a:spcBef>
                          <a:spcPts val="280"/>
                        </a:spcBef>
                        <a:buFont typeface="Arial" panose="020B0604020202020204" pitchFamily="34" charset="0"/>
                        <a:buChar char="•"/>
                      </a:pPr>
                      <a:endParaRPr lang="en-US" sz="1200" b="0" u="none" strike="noStrike" cap="none" spc="-10">
                        <a:solidFill>
                          <a:schemeClr val="tx1"/>
                        </a:solidFill>
                        <a:sym typeface="Arial"/>
                      </a:endParaRPr>
                    </a:p>
                  </a:txBody>
                  <a:tcPr marL="0" marR="0" marT="35560" marB="0">
                    <a:solidFill>
                      <a:schemeClr val="bg1">
                        <a:lumMod val="95000"/>
                      </a:schemeClr>
                    </a:solidFill>
                  </a:tcPr>
                </a:tc>
                <a:tc>
                  <a:txBody>
                    <a:bodyPr/>
                    <a:lstStyle/>
                    <a:p>
                      <a:pPr marL="309880" marR="238760" lvl="0" indent="-171450">
                        <a:lnSpc>
                          <a:spcPct val="100000"/>
                        </a:lnSpc>
                        <a:spcBef>
                          <a:spcPts val="280"/>
                        </a:spcBef>
                        <a:spcAft>
                          <a:spcPts val="10"/>
                        </a:spcAft>
                        <a:buFont typeface="Arial" panose="020B0604020202020204" pitchFamily="34" charset="0"/>
                        <a:buChar char="•"/>
                      </a:pPr>
                      <a:r>
                        <a:rPr lang="en-US" sz="1200" b="0" u="none" strike="noStrike" cap="none" spc="-10">
                          <a:solidFill>
                            <a:schemeClr val="tx1"/>
                          </a:solidFill>
                          <a:sym typeface="Arial"/>
                        </a:rPr>
                        <a:t>The CCO shows promise: high potential, commercially minded, aligned with growth goals</a:t>
                      </a:r>
                    </a:p>
                    <a:p>
                      <a:pPr marL="309880" marR="238760" lvl="0" indent="-171450">
                        <a:lnSpc>
                          <a:spcPct val="100000"/>
                        </a:lnSpc>
                        <a:spcBef>
                          <a:spcPts val="280"/>
                        </a:spcBef>
                        <a:spcAft>
                          <a:spcPts val="10"/>
                        </a:spcAft>
                        <a:buFont typeface="Arial" panose="020B0604020202020204" pitchFamily="34" charset="0"/>
                        <a:buChar char="•"/>
                      </a:pPr>
                      <a:r>
                        <a:rPr lang="en-US" sz="1200" b="0" u="none" strike="noStrike" cap="none" spc="-10">
                          <a:solidFill>
                            <a:schemeClr val="tx1"/>
                          </a:solidFill>
                          <a:sym typeface="Arial"/>
                        </a:rPr>
                        <a:t>However, being new to the region and culture, he currently avoids conflict by over-aligning with the CEO</a:t>
                      </a:r>
                    </a:p>
                    <a:p>
                      <a:pPr marL="309880" marR="238760" lvl="0" indent="-171450">
                        <a:lnSpc>
                          <a:spcPct val="100000"/>
                        </a:lnSpc>
                        <a:spcBef>
                          <a:spcPts val="280"/>
                        </a:spcBef>
                        <a:spcAft>
                          <a:spcPts val="10"/>
                        </a:spcAft>
                        <a:buFont typeface="Arial" panose="020B0604020202020204" pitchFamily="34" charset="0"/>
                        <a:buChar char="•"/>
                      </a:pPr>
                      <a:r>
                        <a:rPr lang="en-US" sz="1200" b="0" u="none" strike="noStrike" cap="none" spc="-10">
                          <a:solidFill>
                            <a:schemeClr val="tx1"/>
                          </a:solidFill>
                          <a:sym typeface="Arial"/>
                        </a:rPr>
                        <a:t>Support needed: cultural onboarding and visible sponsorship from CEO</a:t>
                      </a:r>
                    </a:p>
                    <a:p>
                      <a:pPr marL="309880" marR="238760" lvl="0" indent="-171450">
                        <a:lnSpc>
                          <a:spcPct val="100000"/>
                        </a:lnSpc>
                        <a:spcBef>
                          <a:spcPts val="280"/>
                        </a:spcBef>
                        <a:spcAft>
                          <a:spcPts val="10"/>
                        </a:spcAft>
                        <a:buFont typeface="Arial" panose="020B0604020202020204" pitchFamily="34" charset="0"/>
                        <a:buChar char="•"/>
                      </a:pPr>
                      <a:r>
                        <a:rPr lang="en-US" sz="1200" b="0" u="none" strike="noStrike" cap="none" spc="-10">
                          <a:solidFill>
                            <a:schemeClr val="tx1"/>
                          </a:solidFill>
                          <a:sym typeface="Arial"/>
                        </a:rPr>
                        <a:t>Needs to re-build marketing capabilities and strengthen his team capability and accountability (focus on 3–5 critical commercial roles, address underperformance, and invest in development for high-potential talent)</a:t>
                      </a:r>
                    </a:p>
                  </a:txBody>
                  <a:tcPr marL="0" marR="0" marT="35560" marB="0">
                    <a:solidFill>
                      <a:schemeClr val="bg1">
                        <a:lumMod val="95000"/>
                      </a:schemeClr>
                    </a:solidFill>
                  </a:tcPr>
                </a:tc>
                <a:extLst>
                  <a:ext uri="{0D108BD9-81ED-4DB2-BD59-A6C34878D82A}">
                    <a16:rowId xmlns:a16="http://schemas.microsoft.com/office/drawing/2014/main" val="3807040840"/>
                  </a:ext>
                </a:extLst>
              </a:tr>
            </a:tbl>
          </a:graphicData>
        </a:graphic>
      </p:graphicFrame>
      <p:pic>
        <p:nvPicPr>
          <p:cNvPr id="2" name="Picture 1">
            <a:extLst>
              <a:ext uri="{FF2B5EF4-FFF2-40B4-BE49-F238E27FC236}">
                <a16:creationId xmlns:a16="http://schemas.microsoft.com/office/drawing/2014/main" id="{B6786400-3FD3-4170-ABAB-9C4CBDBAD91B}"/>
              </a:ext>
            </a:extLst>
          </p:cNvPr>
          <p:cNvPicPr>
            <a:picLocks noChangeAspect="1"/>
          </p:cNvPicPr>
          <p:nvPr/>
        </p:nvPicPr>
        <p:blipFill>
          <a:blip r:embed="rId4"/>
          <a:stretch>
            <a:fillRect/>
          </a:stretch>
        </p:blipFill>
        <p:spPr>
          <a:xfrm>
            <a:off x="2632183" y="4783187"/>
            <a:ext cx="395695" cy="378185"/>
          </a:xfrm>
          <a:prstGeom prst="rect">
            <a:avLst/>
          </a:prstGeom>
        </p:spPr>
      </p:pic>
      <p:pic>
        <p:nvPicPr>
          <p:cNvPr id="4" name="Picture 3">
            <a:extLst>
              <a:ext uri="{FF2B5EF4-FFF2-40B4-BE49-F238E27FC236}">
                <a16:creationId xmlns:a16="http://schemas.microsoft.com/office/drawing/2014/main" id="{8ED719BF-6F5E-7244-CA6E-64149C652488}"/>
              </a:ext>
            </a:extLst>
          </p:cNvPr>
          <p:cNvPicPr>
            <a:picLocks noChangeAspect="1"/>
          </p:cNvPicPr>
          <p:nvPr/>
        </p:nvPicPr>
        <p:blipFill>
          <a:blip r:embed="rId5"/>
          <a:stretch>
            <a:fillRect/>
          </a:stretch>
        </p:blipFill>
        <p:spPr>
          <a:xfrm>
            <a:off x="3184532" y="1571970"/>
            <a:ext cx="395695" cy="378185"/>
          </a:xfrm>
          <a:prstGeom prst="rect">
            <a:avLst/>
          </a:prstGeom>
        </p:spPr>
      </p:pic>
      <p:pic>
        <p:nvPicPr>
          <p:cNvPr id="5" name="Picture 4">
            <a:extLst>
              <a:ext uri="{FF2B5EF4-FFF2-40B4-BE49-F238E27FC236}">
                <a16:creationId xmlns:a16="http://schemas.microsoft.com/office/drawing/2014/main" id="{0C9B372C-E231-9ACD-B159-8B52DC2D251A}"/>
              </a:ext>
            </a:extLst>
          </p:cNvPr>
          <p:cNvPicPr>
            <a:picLocks noChangeAspect="1"/>
          </p:cNvPicPr>
          <p:nvPr/>
        </p:nvPicPr>
        <p:blipFill>
          <a:blip r:embed="rId6"/>
          <a:stretch>
            <a:fillRect/>
          </a:stretch>
        </p:blipFill>
        <p:spPr>
          <a:xfrm>
            <a:off x="2091409" y="1571970"/>
            <a:ext cx="395695" cy="378185"/>
          </a:xfrm>
          <a:prstGeom prst="rect">
            <a:avLst/>
          </a:prstGeom>
        </p:spPr>
      </p:pic>
      <p:pic>
        <p:nvPicPr>
          <p:cNvPr id="6" name="Picture 5">
            <a:extLst>
              <a:ext uri="{FF2B5EF4-FFF2-40B4-BE49-F238E27FC236}">
                <a16:creationId xmlns:a16="http://schemas.microsoft.com/office/drawing/2014/main" id="{8CBAE0FC-6B7D-8502-1982-CCF602BDEF67}"/>
              </a:ext>
            </a:extLst>
          </p:cNvPr>
          <p:cNvPicPr>
            <a:picLocks noChangeAspect="1"/>
          </p:cNvPicPr>
          <p:nvPr/>
        </p:nvPicPr>
        <p:blipFill>
          <a:blip r:embed="rId6"/>
          <a:stretch>
            <a:fillRect/>
          </a:stretch>
        </p:blipFill>
        <p:spPr>
          <a:xfrm>
            <a:off x="2632183" y="1571970"/>
            <a:ext cx="395695" cy="378185"/>
          </a:xfrm>
          <a:prstGeom prst="rect">
            <a:avLst/>
          </a:prstGeom>
        </p:spPr>
      </p:pic>
      <p:pic>
        <p:nvPicPr>
          <p:cNvPr id="7" name="Picture 6">
            <a:extLst>
              <a:ext uri="{FF2B5EF4-FFF2-40B4-BE49-F238E27FC236}">
                <a16:creationId xmlns:a16="http://schemas.microsoft.com/office/drawing/2014/main" id="{CD336FD6-614E-C298-DE24-73C0895096D9}"/>
              </a:ext>
            </a:extLst>
          </p:cNvPr>
          <p:cNvPicPr>
            <a:picLocks noChangeAspect="1"/>
          </p:cNvPicPr>
          <p:nvPr/>
        </p:nvPicPr>
        <p:blipFill>
          <a:blip r:embed="rId5"/>
          <a:stretch>
            <a:fillRect/>
          </a:stretch>
        </p:blipFill>
        <p:spPr>
          <a:xfrm>
            <a:off x="2091409" y="2645327"/>
            <a:ext cx="395695" cy="378185"/>
          </a:xfrm>
          <a:prstGeom prst="rect">
            <a:avLst/>
          </a:prstGeom>
        </p:spPr>
      </p:pic>
      <p:pic>
        <p:nvPicPr>
          <p:cNvPr id="8" name="Picture 7">
            <a:extLst>
              <a:ext uri="{FF2B5EF4-FFF2-40B4-BE49-F238E27FC236}">
                <a16:creationId xmlns:a16="http://schemas.microsoft.com/office/drawing/2014/main" id="{C66DEEC5-25C9-9523-114A-903F36126E18}"/>
              </a:ext>
            </a:extLst>
          </p:cNvPr>
          <p:cNvPicPr>
            <a:picLocks noChangeAspect="1"/>
          </p:cNvPicPr>
          <p:nvPr/>
        </p:nvPicPr>
        <p:blipFill>
          <a:blip r:embed="rId5"/>
          <a:stretch>
            <a:fillRect/>
          </a:stretch>
        </p:blipFill>
        <p:spPr>
          <a:xfrm>
            <a:off x="2091409" y="3715962"/>
            <a:ext cx="395695" cy="378185"/>
          </a:xfrm>
          <a:prstGeom prst="rect">
            <a:avLst/>
          </a:prstGeom>
        </p:spPr>
      </p:pic>
      <p:pic>
        <p:nvPicPr>
          <p:cNvPr id="9" name="Picture 8">
            <a:extLst>
              <a:ext uri="{FF2B5EF4-FFF2-40B4-BE49-F238E27FC236}">
                <a16:creationId xmlns:a16="http://schemas.microsoft.com/office/drawing/2014/main" id="{9B016C0C-7F15-5681-B5AB-F0FAF9BE89EB}"/>
              </a:ext>
            </a:extLst>
          </p:cNvPr>
          <p:cNvPicPr>
            <a:picLocks noChangeAspect="1"/>
          </p:cNvPicPr>
          <p:nvPr/>
        </p:nvPicPr>
        <p:blipFill>
          <a:blip r:embed="rId5"/>
          <a:stretch>
            <a:fillRect/>
          </a:stretch>
        </p:blipFill>
        <p:spPr>
          <a:xfrm>
            <a:off x="2091409" y="4783187"/>
            <a:ext cx="395695" cy="378185"/>
          </a:xfrm>
          <a:prstGeom prst="rect">
            <a:avLst/>
          </a:prstGeom>
        </p:spPr>
      </p:pic>
      <p:pic>
        <p:nvPicPr>
          <p:cNvPr id="10" name="Picture 9">
            <a:extLst>
              <a:ext uri="{FF2B5EF4-FFF2-40B4-BE49-F238E27FC236}">
                <a16:creationId xmlns:a16="http://schemas.microsoft.com/office/drawing/2014/main" id="{87B65F06-3A08-C817-A2CF-E753E3EA2F7C}"/>
              </a:ext>
            </a:extLst>
          </p:cNvPr>
          <p:cNvPicPr>
            <a:picLocks noChangeAspect="1"/>
          </p:cNvPicPr>
          <p:nvPr/>
        </p:nvPicPr>
        <p:blipFill>
          <a:blip r:embed="rId5"/>
          <a:stretch>
            <a:fillRect/>
          </a:stretch>
        </p:blipFill>
        <p:spPr>
          <a:xfrm>
            <a:off x="2091409" y="5880486"/>
            <a:ext cx="395695" cy="378185"/>
          </a:xfrm>
          <a:prstGeom prst="rect">
            <a:avLst/>
          </a:prstGeom>
        </p:spPr>
      </p:pic>
      <p:pic>
        <p:nvPicPr>
          <p:cNvPr id="11" name="Picture 10">
            <a:extLst>
              <a:ext uri="{FF2B5EF4-FFF2-40B4-BE49-F238E27FC236}">
                <a16:creationId xmlns:a16="http://schemas.microsoft.com/office/drawing/2014/main" id="{49AAEA71-EF16-CF7D-77AE-D5FEAC399FEB}"/>
              </a:ext>
            </a:extLst>
          </p:cNvPr>
          <p:cNvPicPr>
            <a:picLocks noChangeAspect="1"/>
          </p:cNvPicPr>
          <p:nvPr/>
        </p:nvPicPr>
        <p:blipFill>
          <a:blip r:embed="rId5"/>
          <a:stretch>
            <a:fillRect/>
          </a:stretch>
        </p:blipFill>
        <p:spPr>
          <a:xfrm>
            <a:off x="2632183" y="5880486"/>
            <a:ext cx="395695" cy="378185"/>
          </a:xfrm>
          <a:prstGeom prst="rect">
            <a:avLst/>
          </a:prstGeom>
        </p:spPr>
      </p:pic>
      <p:pic>
        <p:nvPicPr>
          <p:cNvPr id="13" name="Picture 12">
            <a:extLst>
              <a:ext uri="{FF2B5EF4-FFF2-40B4-BE49-F238E27FC236}">
                <a16:creationId xmlns:a16="http://schemas.microsoft.com/office/drawing/2014/main" id="{0E78CDC7-D7D4-CC3E-FF14-618A898A86A7}"/>
              </a:ext>
            </a:extLst>
          </p:cNvPr>
          <p:cNvPicPr>
            <a:picLocks noChangeAspect="1"/>
          </p:cNvPicPr>
          <p:nvPr/>
        </p:nvPicPr>
        <p:blipFill>
          <a:blip r:embed="rId5"/>
          <a:stretch>
            <a:fillRect/>
          </a:stretch>
        </p:blipFill>
        <p:spPr>
          <a:xfrm>
            <a:off x="2632183" y="2645327"/>
            <a:ext cx="395695" cy="378185"/>
          </a:xfrm>
          <a:prstGeom prst="rect">
            <a:avLst/>
          </a:prstGeom>
        </p:spPr>
      </p:pic>
      <p:pic>
        <p:nvPicPr>
          <p:cNvPr id="14" name="Picture 13">
            <a:extLst>
              <a:ext uri="{FF2B5EF4-FFF2-40B4-BE49-F238E27FC236}">
                <a16:creationId xmlns:a16="http://schemas.microsoft.com/office/drawing/2014/main" id="{3D86B99C-8B85-EC5C-0B44-FCB045222E9B}"/>
              </a:ext>
            </a:extLst>
          </p:cNvPr>
          <p:cNvPicPr>
            <a:picLocks noChangeAspect="1"/>
          </p:cNvPicPr>
          <p:nvPr/>
        </p:nvPicPr>
        <p:blipFill>
          <a:blip r:embed="rId5"/>
          <a:stretch>
            <a:fillRect/>
          </a:stretch>
        </p:blipFill>
        <p:spPr>
          <a:xfrm>
            <a:off x="2632183" y="3715962"/>
            <a:ext cx="395695" cy="378185"/>
          </a:xfrm>
          <a:prstGeom prst="rect">
            <a:avLst/>
          </a:prstGeom>
        </p:spPr>
      </p:pic>
      <p:pic>
        <p:nvPicPr>
          <p:cNvPr id="16" name="Picture 15">
            <a:extLst>
              <a:ext uri="{FF2B5EF4-FFF2-40B4-BE49-F238E27FC236}">
                <a16:creationId xmlns:a16="http://schemas.microsoft.com/office/drawing/2014/main" id="{F9E268C3-C513-1A97-74EE-689DB14DBF27}"/>
              </a:ext>
            </a:extLst>
          </p:cNvPr>
          <p:cNvPicPr>
            <a:picLocks noChangeAspect="1"/>
          </p:cNvPicPr>
          <p:nvPr/>
        </p:nvPicPr>
        <p:blipFill>
          <a:blip r:embed="rId4"/>
          <a:stretch>
            <a:fillRect/>
          </a:stretch>
        </p:blipFill>
        <p:spPr>
          <a:xfrm>
            <a:off x="3184532" y="4783187"/>
            <a:ext cx="395695" cy="378185"/>
          </a:xfrm>
          <a:prstGeom prst="rect">
            <a:avLst/>
          </a:prstGeom>
        </p:spPr>
      </p:pic>
      <p:pic>
        <p:nvPicPr>
          <p:cNvPr id="17" name="Picture 16">
            <a:extLst>
              <a:ext uri="{FF2B5EF4-FFF2-40B4-BE49-F238E27FC236}">
                <a16:creationId xmlns:a16="http://schemas.microsoft.com/office/drawing/2014/main" id="{2DDE5DCB-C50E-EE51-A258-15A69906B636}"/>
              </a:ext>
            </a:extLst>
          </p:cNvPr>
          <p:cNvPicPr>
            <a:picLocks noChangeAspect="1"/>
          </p:cNvPicPr>
          <p:nvPr/>
        </p:nvPicPr>
        <p:blipFill>
          <a:blip r:embed="rId4"/>
          <a:stretch>
            <a:fillRect/>
          </a:stretch>
        </p:blipFill>
        <p:spPr>
          <a:xfrm>
            <a:off x="3184532" y="3715962"/>
            <a:ext cx="395695" cy="378185"/>
          </a:xfrm>
          <a:prstGeom prst="rect">
            <a:avLst/>
          </a:prstGeom>
        </p:spPr>
      </p:pic>
      <p:pic>
        <p:nvPicPr>
          <p:cNvPr id="19" name="Picture 18">
            <a:extLst>
              <a:ext uri="{FF2B5EF4-FFF2-40B4-BE49-F238E27FC236}">
                <a16:creationId xmlns:a16="http://schemas.microsoft.com/office/drawing/2014/main" id="{48563710-A2C7-5724-09C1-47D7CDA026E9}"/>
              </a:ext>
            </a:extLst>
          </p:cNvPr>
          <p:cNvPicPr>
            <a:picLocks noChangeAspect="1"/>
          </p:cNvPicPr>
          <p:nvPr/>
        </p:nvPicPr>
        <p:blipFill>
          <a:blip r:embed="rId6"/>
          <a:stretch>
            <a:fillRect/>
          </a:stretch>
        </p:blipFill>
        <p:spPr>
          <a:xfrm>
            <a:off x="3184532" y="5880486"/>
            <a:ext cx="395695" cy="378185"/>
          </a:xfrm>
          <a:prstGeom prst="rect">
            <a:avLst/>
          </a:prstGeom>
        </p:spPr>
      </p:pic>
      <p:pic>
        <p:nvPicPr>
          <p:cNvPr id="20" name="Picture 19">
            <a:extLst>
              <a:ext uri="{FF2B5EF4-FFF2-40B4-BE49-F238E27FC236}">
                <a16:creationId xmlns:a16="http://schemas.microsoft.com/office/drawing/2014/main" id="{E828E740-120D-100E-5947-820473A5B113}"/>
              </a:ext>
            </a:extLst>
          </p:cNvPr>
          <p:cNvPicPr>
            <a:picLocks noChangeAspect="1"/>
          </p:cNvPicPr>
          <p:nvPr/>
        </p:nvPicPr>
        <p:blipFill>
          <a:blip r:embed="rId6"/>
          <a:stretch>
            <a:fillRect/>
          </a:stretch>
        </p:blipFill>
        <p:spPr>
          <a:xfrm>
            <a:off x="3184532" y="2645327"/>
            <a:ext cx="395695" cy="378185"/>
          </a:xfrm>
          <a:prstGeom prst="rect">
            <a:avLst/>
          </a:prstGeom>
        </p:spPr>
      </p:pic>
    </p:spTree>
    <p:extLst>
      <p:ext uri="{BB962C8B-B14F-4D97-AF65-F5344CB8AC3E}">
        <p14:creationId xmlns:p14="http://schemas.microsoft.com/office/powerpoint/2010/main" val="1538268736"/>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4EE11436-2273-3CA3-17C6-8319E4CFAA7A}"/>
            </a:ext>
          </a:extLst>
        </p:cNvPr>
        <p:cNvGrpSpPr/>
        <p:nvPr/>
      </p:nvGrpSpPr>
      <p:grpSpPr>
        <a:xfrm>
          <a:off x="0" y="0"/>
          <a:ext cx="0" cy="0"/>
          <a:chOff x="0" y="0"/>
          <a:chExt cx="0" cy="0"/>
        </a:xfrm>
      </p:grpSpPr>
      <p:sp>
        <p:nvSpPr>
          <p:cNvPr id="21507" name="Text Placeholder 1">
            <a:extLst>
              <a:ext uri="{FF2B5EF4-FFF2-40B4-BE49-F238E27FC236}">
                <a16:creationId xmlns:a16="http://schemas.microsoft.com/office/drawing/2014/main" id="{E56FEB39-44CD-CD67-E524-8755C80F4E52}"/>
              </a:ext>
            </a:extLst>
          </p:cNvPr>
          <p:cNvSpPr>
            <a:spLocks noGrp="1" noChangeArrowheads="1"/>
          </p:cNvSpPr>
          <p:nvPr>
            <p:ph type="body" idx="1"/>
          </p:nvPr>
        </p:nvSpPr>
        <p:spPr bwMode="auto">
          <a:xfrm>
            <a:off x="727075" y="374650"/>
            <a:ext cx="7559675" cy="334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marL="0" indent="0">
              <a:spcBef>
                <a:spcPct val="0"/>
              </a:spcBef>
              <a:spcAft>
                <a:spcPct val="0"/>
              </a:spcAft>
              <a:buClr>
                <a:srgbClr val="000000"/>
              </a:buClr>
              <a:buSzPts val="2400"/>
              <a:buFont typeface="Arial" panose="020B0604020202020204" pitchFamily="34" charset="0"/>
              <a:buNone/>
            </a:pPr>
            <a:r>
              <a:rPr lang="en-US" altLang="en-US" sz="2000">
                <a:solidFill>
                  <a:srgbClr val="002060"/>
                </a:solidFill>
                <a:latin typeface="Helvetica Neue" panose="02000503000000020004" pitchFamily="2" charset="0"/>
                <a:ea typeface="Helvetica Neue" panose="02000503000000020004" pitchFamily="2" charset="0"/>
                <a:cs typeface="Helvetica Neue" panose="02000503000000020004" pitchFamily="2" charset="0"/>
                <a:sym typeface="Helvetica Neue Light" panose="02000403000000020004" pitchFamily="2" charset="0"/>
              </a:rPr>
              <a:t>Messages</a:t>
            </a:r>
          </a:p>
        </p:txBody>
      </p:sp>
      <p:sp>
        <p:nvSpPr>
          <p:cNvPr id="21508" name="Slide Number Placeholder 2">
            <a:extLst>
              <a:ext uri="{FF2B5EF4-FFF2-40B4-BE49-F238E27FC236}">
                <a16:creationId xmlns:a16="http://schemas.microsoft.com/office/drawing/2014/main" id="{FAB2B09D-F14C-67BE-7588-C24D8A1B3BF0}"/>
              </a:ext>
            </a:extLst>
          </p:cNvPr>
          <p:cNvSpPr>
            <a:spLocks noGrp="1" noChangeArrowheads="1"/>
          </p:cNvSpPr>
          <p:nvPr>
            <p:ph type="sldNum" sz="quarter" idx="10"/>
          </p:nvPr>
        </p:nvSpPr>
        <p:spPr>
          <a:xfrm>
            <a:off x="0" y="238125"/>
            <a:ext cx="557213" cy="557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94E6AC2-D12E-1843-971E-E4F9DE4AA8B8}"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8</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graphicFrame>
        <p:nvGraphicFramePr>
          <p:cNvPr id="3" name="Table 2">
            <a:extLst>
              <a:ext uri="{FF2B5EF4-FFF2-40B4-BE49-F238E27FC236}">
                <a16:creationId xmlns:a16="http://schemas.microsoft.com/office/drawing/2014/main" id="{FF461926-27D7-2B56-3DC5-42D30EBB7A91}"/>
              </a:ext>
            </a:extLst>
          </p:cNvPr>
          <p:cNvGraphicFramePr>
            <a:graphicFrameLocks noGrp="1"/>
          </p:cNvGraphicFramePr>
          <p:nvPr>
            <p:extLst>
              <p:ext uri="{D42A27DB-BD31-4B8C-83A1-F6EECF244321}">
                <p14:modId xmlns:p14="http://schemas.microsoft.com/office/powerpoint/2010/main" val="624260606"/>
              </p:ext>
            </p:extLst>
          </p:nvPr>
        </p:nvGraphicFramePr>
        <p:xfrm>
          <a:off x="727075" y="959111"/>
          <a:ext cx="11198991" cy="3129999"/>
        </p:xfrm>
        <a:graphic>
          <a:graphicData uri="http://schemas.openxmlformats.org/drawingml/2006/table">
            <a:tbl>
              <a:tblPr firstRow="1" bandRow="1">
                <a:tableStyleId>{7E9639D4-E3E2-4D34-9284-5A2195B3D0D7}</a:tableStyleId>
              </a:tblPr>
              <a:tblGrid>
                <a:gridCol w="1294908">
                  <a:extLst>
                    <a:ext uri="{9D8B030D-6E8A-4147-A177-3AD203B41FA5}">
                      <a16:colId xmlns:a16="http://schemas.microsoft.com/office/drawing/2014/main" val="1225452123"/>
                    </a:ext>
                  </a:extLst>
                </a:gridCol>
                <a:gridCol w="436737">
                  <a:extLst>
                    <a:ext uri="{9D8B030D-6E8A-4147-A177-3AD203B41FA5}">
                      <a16:colId xmlns:a16="http://schemas.microsoft.com/office/drawing/2014/main" val="3817881083"/>
                    </a:ext>
                  </a:extLst>
                </a:gridCol>
                <a:gridCol w="648653">
                  <a:extLst>
                    <a:ext uri="{9D8B030D-6E8A-4147-A177-3AD203B41FA5}">
                      <a16:colId xmlns:a16="http://schemas.microsoft.com/office/drawing/2014/main" val="2117064489"/>
                    </a:ext>
                  </a:extLst>
                </a:gridCol>
                <a:gridCol w="601027">
                  <a:extLst>
                    <a:ext uri="{9D8B030D-6E8A-4147-A177-3AD203B41FA5}">
                      <a16:colId xmlns:a16="http://schemas.microsoft.com/office/drawing/2014/main" val="1383459309"/>
                    </a:ext>
                  </a:extLst>
                </a:gridCol>
                <a:gridCol w="8217666">
                  <a:extLst>
                    <a:ext uri="{9D8B030D-6E8A-4147-A177-3AD203B41FA5}">
                      <a16:colId xmlns:a16="http://schemas.microsoft.com/office/drawing/2014/main" val="2837106387"/>
                    </a:ext>
                  </a:extLst>
                </a:gridCol>
              </a:tblGrid>
              <a:tr h="314104">
                <a:tc>
                  <a:txBody>
                    <a:bodyPr/>
                    <a:lstStyle/>
                    <a:p>
                      <a:pPr marL="91440">
                        <a:lnSpc>
                          <a:spcPct val="100000"/>
                        </a:lnSpc>
                        <a:spcBef>
                          <a:spcPts val="305"/>
                        </a:spcBef>
                      </a:pPr>
                      <a:r>
                        <a:rPr lang="en-US" sz="1400" b="1" spc="-10">
                          <a:solidFill>
                            <a:srgbClr val="FFFFFF"/>
                          </a:solidFill>
                        </a:rPr>
                        <a:t>WHO</a:t>
                      </a:r>
                      <a:endParaRPr sz="1400">
                        <a:latin typeface="Helvetica Neue" panose="02000503000000020004" pitchFamily="2" charset="0"/>
                        <a:ea typeface="Helvetica Neue" panose="02000503000000020004" pitchFamily="2" charset="0"/>
                        <a:cs typeface="Helvetica Neue" panose="02000503000000020004" pitchFamily="2" charset="0"/>
                      </a:endParaRPr>
                    </a:p>
                  </a:txBody>
                  <a:tcPr marL="0" marR="0" marT="38735" marB="0" anchor="ctr">
                    <a:solidFill>
                      <a:srgbClr val="001E5A"/>
                    </a:solidFill>
                  </a:tcPr>
                </a:tc>
                <a:tc>
                  <a:txBody>
                    <a:bodyPr/>
                    <a:lstStyle/>
                    <a:p>
                      <a:pPr marL="0" algn="ctr">
                        <a:lnSpc>
                          <a:spcPct val="100000"/>
                        </a:lnSpc>
                        <a:spcBef>
                          <a:spcPts val="0"/>
                        </a:spcBef>
                      </a:pPr>
                      <a:r>
                        <a:rPr lang="en-US" sz="900" b="0">
                          <a:latin typeface="Helvetica Neue" panose="02000503000000020004" pitchFamily="2" charset="0"/>
                          <a:ea typeface="Helvetica Neue" panose="02000503000000020004" pitchFamily="2" charset="0"/>
                          <a:cs typeface="Helvetica Neue" panose="02000503000000020004" pitchFamily="2" charset="0"/>
                        </a:rPr>
                        <a:t>Skills</a:t>
                      </a:r>
                      <a:endParaRPr sz="900" b="0">
                        <a:latin typeface="Helvetica Neue" panose="02000503000000020004" pitchFamily="2" charset="0"/>
                        <a:ea typeface="Helvetica Neue" panose="02000503000000020004" pitchFamily="2" charset="0"/>
                        <a:cs typeface="Helvetica Neue" panose="02000503000000020004" pitchFamily="2" charset="0"/>
                      </a:endParaRPr>
                    </a:p>
                  </a:txBody>
                  <a:tcPr marL="0" marR="0" marT="36576" marB="0" anchor="ctr">
                    <a:solidFill>
                      <a:srgbClr val="001E5A"/>
                    </a:solidFill>
                  </a:tcPr>
                </a:tc>
                <a:tc>
                  <a:txBody>
                    <a:bodyPr/>
                    <a:lstStyle/>
                    <a:p>
                      <a:pPr marL="0" algn="ctr">
                        <a:lnSpc>
                          <a:spcPct val="100000"/>
                        </a:lnSpc>
                        <a:spcBef>
                          <a:spcPts val="0"/>
                        </a:spcBef>
                      </a:pPr>
                      <a:r>
                        <a:rPr lang="en-US" sz="900" b="0" err="1">
                          <a:latin typeface="Helvetica Neue" panose="02000503000000020004" pitchFamily="2" charset="0"/>
                          <a:ea typeface="Helvetica Neue" panose="02000503000000020004" pitchFamily="2" charset="0"/>
                          <a:cs typeface="Helvetica Neue" panose="02000503000000020004" pitchFamily="2" charset="0"/>
                        </a:rPr>
                        <a:t>Behaviour</a:t>
                      </a:r>
                      <a:endParaRPr sz="900" b="0">
                        <a:latin typeface="Helvetica Neue" panose="02000503000000020004" pitchFamily="2" charset="0"/>
                        <a:ea typeface="Helvetica Neue" panose="02000503000000020004" pitchFamily="2" charset="0"/>
                        <a:cs typeface="Helvetica Neue" panose="02000503000000020004" pitchFamily="2" charset="0"/>
                      </a:endParaRPr>
                    </a:p>
                  </a:txBody>
                  <a:tcPr marL="0" marR="0" marT="36576" marB="0" anchor="ctr">
                    <a:solidFill>
                      <a:srgbClr val="001E5A"/>
                    </a:solidFill>
                  </a:tcPr>
                </a:tc>
                <a:tc>
                  <a:txBody>
                    <a:bodyPr/>
                    <a:lstStyle/>
                    <a:p>
                      <a:pPr marL="0" algn="ctr">
                        <a:lnSpc>
                          <a:spcPct val="100000"/>
                        </a:lnSpc>
                        <a:spcBef>
                          <a:spcPts val="0"/>
                        </a:spcBef>
                      </a:pPr>
                      <a:r>
                        <a:rPr lang="en-US" sz="900" b="0">
                          <a:latin typeface="Helvetica Neue" panose="02000503000000020004" pitchFamily="2" charset="0"/>
                          <a:ea typeface="Helvetica Neue" panose="02000503000000020004" pitchFamily="2" charset="0"/>
                          <a:cs typeface="Helvetica Neue" panose="02000503000000020004" pitchFamily="2" charset="0"/>
                        </a:rPr>
                        <a:t>Moderator</a:t>
                      </a:r>
                      <a:endParaRPr sz="900" b="0">
                        <a:latin typeface="Helvetica Neue" panose="02000503000000020004" pitchFamily="2" charset="0"/>
                        <a:ea typeface="Helvetica Neue" panose="02000503000000020004" pitchFamily="2" charset="0"/>
                        <a:cs typeface="Helvetica Neue" panose="02000503000000020004" pitchFamily="2" charset="0"/>
                      </a:endParaRPr>
                    </a:p>
                  </a:txBody>
                  <a:tcPr marL="0" marR="0" marT="36576" marB="0" anchor="ctr">
                    <a:solidFill>
                      <a:srgbClr val="001E5A"/>
                    </a:solidFill>
                  </a:tcPr>
                </a:tc>
                <a:tc>
                  <a:txBody>
                    <a:bodyPr/>
                    <a:lstStyle/>
                    <a:p>
                      <a:pPr marL="138430">
                        <a:lnSpc>
                          <a:spcPct val="100000"/>
                        </a:lnSpc>
                        <a:spcBef>
                          <a:spcPts val="290"/>
                        </a:spcBef>
                      </a:pPr>
                      <a:r>
                        <a:rPr lang="en-US" sz="1400" b="1" spc="-10">
                          <a:solidFill>
                            <a:srgbClr val="FFFFFF"/>
                          </a:solidFill>
                          <a:latin typeface="Helvetica Neue"/>
                          <a:ea typeface="Helvetica Neue" panose="02000503000000020004" pitchFamily="2" charset="0"/>
                          <a:cs typeface="Helvetica Neue" panose="02000503000000020004" pitchFamily="2" charset="0"/>
                        </a:rPr>
                        <a:t>ASSESSMENT &amp; CONSIDERATIONS</a:t>
                      </a:r>
                      <a:endParaRPr lang="en-US" sz="1400">
                        <a:latin typeface="Helvetica Neue"/>
                        <a:ea typeface="Helvetica Neue" panose="02000503000000020004" pitchFamily="2" charset="0"/>
                        <a:cs typeface="Helvetica Neue" panose="02000503000000020004" pitchFamily="2" charset="0"/>
                      </a:endParaRPr>
                    </a:p>
                  </a:txBody>
                  <a:tcPr marL="0" marR="0" marT="36830" marB="0" anchor="ctr">
                    <a:solidFill>
                      <a:srgbClr val="001E5A"/>
                    </a:solidFill>
                  </a:tcPr>
                </a:tc>
                <a:extLst>
                  <a:ext uri="{0D108BD9-81ED-4DB2-BD59-A6C34878D82A}">
                    <a16:rowId xmlns:a16="http://schemas.microsoft.com/office/drawing/2014/main" val="3238567767"/>
                  </a:ext>
                </a:extLst>
              </a:tr>
              <a:tr h="947323">
                <a:tc>
                  <a:txBody>
                    <a:bodyPr/>
                    <a:lstStyle/>
                    <a:p>
                      <a:pPr marL="91440">
                        <a:lnSpc>
                          <a:spcPct val="100000"/>
                        </a:lnSpc>
                        <a:spcBef>
                          <a:spcPts val="280"/>
                        </a:spcBef>
                      </a:pPr>
                      <a:r>
                        <a:rPr lang="en-US" sz="1200" b="1" u="none" strike="noStrike" cap="none" spc="-10">
                          <a:solidFill>
                            <a:schemeClr val="tx1"/>
                          </a:solidFill>
                          <a:sym typeface="Arial"/>
                        </a:rPr>
                        <a:t>Chris Rosenkilde</a:t>
                      </a:r>
                      <a:br>
                        <a:rPr lang="en-US" sz="1200" b="0" u="none" strike="noStrike" cap="none" spc="-10">
                          <a:solidFill>
                            <a:srgbClr val="000000"/>
                          </a:solidFill>
                          <a:sym typeface="Arial"/>
                        </a:rPr>
                      </a:br>
                      <a:r>
                        <a:rPr lang="en-US" sz="1200" b="0" u="none" strike="noStrike" cap="none" spc="-10">
                          <a:solidFill>
                            <a:schemeClr val="tx1"/>
                          </a:solidFill>
                          <a:sym typeface="Arial"/>
                        </a:rPr>
                        <a:t>CIO</a:t>
                      </a:r>
                      <a:endParaRPr lang="en-US" sz="1200" b="0" i="0" u="none" strike="noStrike" cap="none" spc="-1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marL="0" marR="0" marT="35560" marB="0">
                    <a:solidFill>
                      <a:schemeClr val="bg1">
                        <a:lumMod val="95000"/>
                      </a:schemeClr>
                    </a:solidFill>
                  </a:tcPr>
                </a:tc>
                <a:tc>
                  <a:txBody>
                    <a:bodyPr/>
                    <a:lstStyle/>
                    <a:p>
                      <a:pPr marL="309880" marR="297180" lvl="0" indent="-171450">
                        <a:lnSpc>
                          <a:spcPct val="100000"/>
                        </a:lnSpc>
                        <a:spcBef>
                          <a:spcPts val="280"/>
                        </a:spcBef>
                        <a:buFont typeface="Arial" panose="020B0604020202020204" pitchFamily="34" charset="0"/>
                        <a:buChar char="•"/>
                      </a:pPr>
                      <a:endParaRPr lang="en-US" sz="1200" b="0" u="none" strike="noStrike" cap="none" spc="-10">
                        <a:solidFill>
                          <a:schemeClr val="tx1"/>
                        </a:solidFill>
                        <a:sym typeface="Arial"/>
                      </a:endParaRPr>
                    </a:p>
                  </a:txBody>
                  <a:tcPr marL="0" marR="0" marT="35560" marB="0">
                    <a:solidFill>
                      <a:schemeClr val="bg1">
                        <a:lumMod val="95000"/>
                      </a:schemeClr>
                    </a:solidFill>
                  </a:tcPr>
                </a:tc>
                <a:tc>
                  <a:txBody>
                    <a:bodyPr/>
                    <a:lstStyle/>
                    <a:p>
                      <a:pPr marL="309880" marR="297180" lvl="0" indent="-171450">
                        <a:lnSpc>
                          <a:spcPct val="100000"/>
                        </a:lnSpc>
                        <a:spcBef>
                          <a:spcPts val="280"/>
                        </a:spcBef>
                        <a:buFont typeface="Arial" panose="020B0604020202020204" pitchFamily="34" charset="0"/>
                        <a:buChar char="•"/>
                      </a:pPr>
                      <a:endParaRPr lang="en-US" sz="1200" b="0" u="none" strike="noStrike" cap="none" spc="-10">
                        <a:solidFill>
                          <a:schemeClr val="tx1"/>
                        </a:solidFill>
                        <a:sym typeface="Arial"/>
                      </a:endParaRPr>
                    </a:p>
                  </a:txBody>
                  <a:tcPr marL="0" marR="0" marT="35560" marB="0">
                    <a:solidFill>
                      <a:schemeClr val="bg1">
                        <a:lumMod val="95000"/>
                      </a:schemeClr>
                    </a:solidFill>
                  </a:tcPr>
                </a:tc>
                <a:tc>
                  <a:txBody>
                    <a:bodyPr/>
                    <a:lstStyle/>
                    <a:p>
                      <a:pPr marL="309880" marR="297180" lvl="0" indent="-171450">
                        <a:lnSpc>
                          <a:spcPct val="100000"/>
                        </a:lnSpc>
                        <a:spcBef>
                          <a:spcPts val="280"/>
                        </a:spcBef>
                        <a:buFont typeface="Arial" panose="020B0604020202020204" pitchFamily="34" charset="0"/>
                        <a:buChar char="•"/>
                      </a:pPr>
                      <a:endParaRPr lang="en-US" sz="1200" b="0" u="none" strike="noStrike" cap="none" spc="-10">
                        <a:solidFill>
                          <a:schemeClr val="tx1"/>
                        </a:solidFill>
                        <a:sym typeface="Arial"/>
                      </a:endParaRPr>
                    </a:p>
                  </a:txBody>
                  <a:tcPr marL="0" marR="0" marT="35560" marB="0">
                    <a:solidFill>
                      <a:schemeClr val="bg1">
                        <a:lumMod val="95000"/>
                      </a:schemeClr>
                    </a:solidFill>
                  </a:tcPr>
                </a:tc>
                <a:tc>
                  <a:txBody>
                    <a:bodyPr/>
                    <a:lstStyle/>
                    <a:p>
                      <a:pPr marL="309880" marR="297180" lvl="0" indent="-171450">
                        <a:lnSpc>
                          <a:spcPct val="100000"/>
                        </a:lnSpc>
                        <a:spcBef>
                          <a:spcPts val="280"/>
                        </a:spcBef>
                        <a:buFont typeface="Arial" panose="020B0604020202020204" pitchFamily="34" charset="0"/>
                        <a:buChar char="•"/>
                      </a:pPr>
                      <a:r>
                        <a:rPr lang="en-US" sz="1200">
                          <a:latin typeface="Helvetica Neue" panose="02000503000000020004" pitchFamily="2" charset="0"/>
                          <a:ea typeface="Helvetica Neue" panose="02000503000000020004" pitchFamily="2" charset="0"/>
                          <a:cs typeface="Helvetica Neue" panose="02000503000000020004" pitchFamily="2" charset="0"/>
                        </a:rPr>
                        <a:t>He is seen as someone that is primarily oriented toward building for the future rather than fixing issues</a:t>
                      </a:r>
                    </a:p>
                    <a:p>
                      <a:pPr marL="309880" marR="297180" lvl="0" indent="-171450" algn="l" defTabSz="914400" rtl="0" eaLnBrk="1" fontAlgn="auto" latinLnBrk="0" hangingPunct="1">
                        <a:lnSpc>
                          <a:spcPct val="100000"/>
                        </a:lnSpc>
                        <a:spcBef>
                          <a:spcPts val="280"/>
                        </a:spcBef>
                        <a:spcAft>
                          <a:spcPts val="0"/>
                        </a:spcAft>
                        <a:buClr>
                          <a:srgbClr val="000000"/>
                        </a:buClr>
                        <a:buSzTx/>
                        <a:buFont typeface="Arial" panose="020B0604020202020204" pitchFamily="34" charset="0"/>
                        <a:buChar char="•"/>
                        <a:tabLst/>
                        <a:defRPr/>
                      </a:pPr>
                      <a:r>
                        <a:rPr kumimoji="0" lang="en-GB" sz="1200" b="0" u="none" strike="noStrike" kern="0" cap="none" spc="0" normalizeH="0" baseline="0" noProof="0">
                          <a:ln>
                            <a:noFill/>
                          </a:ln>
                          <a:solidFill>
                            <a:sysClr val="windowText" lastClr="000000"/>
                          </a:solidFill>
                          <a:effectLst/>
                          <a:uLnTx/>
                          <a:uFillTx/>
                          <a:sym typeface="Arial" panose="020B0604020202020204" pitchFamily="34" charset="0"/>
                        </a:rPr>
                        <a:t>The CEO–CIO relationship is broken and has become a distraction; he needs to make effort to amend it and finalize the digital strategy</a:t>
                      </a:r>
                    </a:p>
                    <a:p>
                      <a:pPr marL="309880" marR="297180" lvl="0" indent="-171450">
                        <a:lnSpc>
                          <a:spcPct val="100000"/>
                        </a:lnSpc>
                        <a:spcBef>
                          <a:spcPts val="280"/>
                        </a:spcBef>
                        <a:buFont typeface="Arial" panose="020B0604020202020204" pitchFamily="34" charset="0"/>
                        <a:buChar char="•"/>
                      </a:pPr>
                      <a:r>
                        <a:rPr kumimoji="0" lang="en-GB" sz="1200" b="0" i="0" u="none" strike="noStrike" kern="0" cap="none" spc="0" normalizeH="0" baseline="0" noProof="0">
                          <a:ln>
                            <a:noFill/>
                          </a:ln>
                          <a:solidFill>
                            <a:sysClr val="windowText" lastClr="000000"/>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Needs to strengthen influence and relationships with the CEO and peers; </a:t>
                      </a:r>
                      <a:r>
                        <a:rPr kumimoji="0" lang="en-GB" sz="1200" b="0" i="1" u="none" strike="noStrike" kern="0" cap="none" spc="0" normalizeH="0" baseline="0" noProof="0">
                          <a:ln>
                            <a:noFill/>
                          </a:ln>
                          <a:solidFill>
                            <a:sysClr val="windowText" lastClr="000000"/>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i</a:t>
                      </a:r>
                      <a:r>
                        <a:rPr kumimoji="0" lang="en-GB" sz="1200" b="0" i="1" u="none" strike="noStrike" kern="0" cap="none" spc="0" normalizeH="0" baseline="0" noProof="0">
                          <a:ln>
                            <a:noFill/>
                          </a:ln>
                          <a:solidFill>
                            <a:sysClr val="windowText" lastClr="000000"/>
                          </a:solidFill>
                          <a:effectLst/>
                          <a:uLnTx/>
                          <a:uFillTx/>
                          <a:sym typeface="Arial" panose="020B0604020202020204" pitchFamily="34" charset="0"/>
                        </a:rPr>
                        <a:t>f the relationship cannot be re-built, the best course is to exit the CIO respectfully and quickly</a:t>
                      </a:r>
                    </a:p>
                  </a:txBody>
                  <a:tcPr marL="0" marR="0" marT="35560" marB="0">
                    <a:solidFill>
                      <a:schemeClr val="bg1">
                        <a:lumMod val="95000"/>
                      </a:schemeClr>
                    </a:solidFill>
                  </a:tcPr>
                </a:tc>
                <a:extLst>
                  <a:ext uri="{0D108BD9-81ED-4DB2-BD59-A6C34878D82A}">
                    <a16:rowId xmlns:a16="http://schemas.microsoft.com/office/drawing/2014/main" val="2921427356"/>
                  </a:ext>
                </a:extLst>
              </a:tr>
              <a:tr h="910643">
                <a:tc>
                  <a:txBody>
                    <a:bodyPr/>
                    <a:lstStyle/>
                    <a:p>
                      <a:pPr marL="91440">
                        <a:lnSpc>
                          <a:spcPct val="100000"/>
                        </a:lnSpc>
                        <a:spcBef>
                          <a:spcPts val="270"/>
                        </a:spcBef>
                      </a:pPr>
                      <a:r>
                        <a:rPr lang="en-US" sz="1200" b="1" u="none" strike="noStrike" cap="none" spc="-10">
                          <a:solidFill>
                            <a:schemeClr val="tx1"/>
                          </a:solidFill>
                          <a:sym typeface="Arial"/>
                        </a:rPr>
                        <a:t>Hessa </a:t>
                      </a:r>
                      <a:r>
                        <a:rPr lang="en-US" sz="1200" b="1" u="none" strike="noStrike" cap="none" spc="-10" err="1">
                          <a:solidFill>
                            <a:schemeClr val="tx1"/>
                          </a:solidFill>
                          <a:sym typeface="Arial"/>
                        </a:rPr>
                        <a:t>Almaazmi</a:t>
                      </a:r>
                      <a:endParaRPr sz="1200" b="1" u="none" strike="noStrike" cap="none" spc="-10">
                        <a:solidFill>
                          <a:schemeClr val="tx1"/>
                        </a:solidFill>
                        <a:sym typeface="Arial"/>
                      </a:endParaRPr>
                    </a:p>
                    <a:p>
                      <a:pPr marL="91440">
                        <a:lnSpc>
                          <a:spcPct val="100000"/>
                        </a:lnSpc>
                        <a:spcBef>
                          <a:spcPts val="5"/>
                        </a:spcBef>
                      </a:pPr>
                      <a:r>
                        <a:rPr lang="en-US" sz="1200" b="0" u="none" strike="noStrike" cap="none" spc="-10">
                          <a:solidFill>
                            <a:schemeClr val="tx1"/>
                          </a:solidFill>
                          <a:sym typeface="Arial"/>
                        </a:rPr>
                        <a:t>CHRO</a:t>
                      </a:r>
                      <a:endParaRPr sz="1200" b="0" i="0" u="none" strike="noStrike" cap="none" spc="-1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marL="0" marR="0" marT="34290" marB="0">
                    <a:solidFill>
                      <a:schemeClr val="bg1">
                        <a:lumMod val="95000"/>
                      </a:schemeClr>
                    </a:solidFill>
                  </a:tcPr>
                </a:tc>
                <a:tc>
                  <a:txBody>
                    <a:bodyPr/>
                    <a:lstStyle/>
                    <a:p>
                      <a:pPr marL="309880" marR="173355" lvl="0" indent="-171450" algn="l">
                        <a:lnSpc>
                          <a:spcPct val="100000"/>
                        </a:lnSpc>
                        <a:spcBef>
                          <a:spcPts val="275"/>
                        </a:spcBef>
                        <a:buFont typeface="Arial" panose="020B0604020202020204" pitchFamily="34" charset="0"/>
                        <a:buChar char="•"/>
                      </a:pPr>
                      <a:endParaRPr lang="en-US" sz="1200" b="0" i="0" u="none" strike="noStrike" cap="none" spc="-1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marL="0" marR="0" marT="34925" marB="0">
                    <a:solidFill>
                      <a:schemeClr val="bg1">
                        <a:lumMod val="95000"/>
                      </a:schemeClr>
                    </a:solidFill>
                  </a:tcPr>
                </a:tc>
                <a:tc>
                  <a:txBody>
                    <a:bodyPr/>
                    <a:lstStyle/>
                    <a:p>
                      <a:pPr marL="309880" marR="173355" lvl="0" indent="-171450" algn="l">
                        <a:lnSpc>
                          <a:spcPct val="100000"/>
                        </a:lnSpc>
                        <a:spcBef>
                          <a:spcPts val="275"/>
                        </a:spcBef>
                        <a:buFont typeface="Arial" panose="020B0604020202020204" pitchFamily="34" charset="0"/>
                        <a:buChar char="•"/>
                      </a:pPr>
                      <a:endParaRPr lang="en-US" sz="1200" b="0" i="0" u="none" strike="noStrike" cap="none" spc="-1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marL="0" marR="0" marT="34925" marB="0">
                    <a:solidFill>
                      <a:schemeClr val="bg1">
                        <a:lumMod val="95000"/>
                      </a:schemeClr>
                    </a:solidFill>
                  </a:tcPr>
                </a:tc>
                <a:tc>
                  <a:txBody>
                    <a:bodyPr/>
                    <a:lstStyle/>
                    <a:p>
                      <a:pPr marL="309880" marR="173355" lvl="0" indent="-171450" algn="l">
                        <a:lnSpc>
                          <a:spcPct val="100000"/>
                        </a:lnSpc>
                        <a:spcBef>
                          <a:spcPts val="275"/>
                        </a:spcBef>
                        <a:buFont typeface="Arial" panose="020B0604020202020204" pitchFamily="34" charset="0"/>
                        <a:buChar char="•"/>
                      </a:pPr>
                      <a:endParaRPr lang="en-US" sz="1200" b="0" i="0" u="none" strike="noStrike" cap="none" spc="-1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marL="0" marR="0" marT="34925" marB="0">
                    <a:solidFill>
                      <a:schemeClr val="bg1">
                        <a:lumMod val="95000"/>
                      </a:schemeClr>
                    </a:solidFill>
                  </a:tcPr>
                </a:tc>
                <a:tc>
                  <a:txBody>
                    <a:bodyPr/>
                    <a:lstStyle/>
                    <a:p>
                      <a:pPr marL="309880" marR="233045" lvl="0" indent="-171450">
                        <a:lnSpc>
                          <a:spcPct val="100000"/>
                        </a:lnSpc>
                        <a:spcBef>
                          <a:spcPts val="270"/>
                        </a:spcBef>
                        <a:buFont typeface="Arial" panose="020B0604020202020204" pitchFamily="34" charset="0"/>
                        <a:buChar char="•"/>
                      </a:pPr>
                      <a:r>
                        <a:rPr lang="en-US" sz="1200" b="0" u="none" strike="noStrike" cap="none" spc="-10">
                          <a:solidFill>
                            <a:schemeClr val="tx1"/>
                          </a:solidFill>
                          <a:sym typeface="Arial"/>
                        </a:rPr>
                        <a:t>Replace the CHRO</a:t>
                      </a:r>
                    </a:p>
                    <a:p>
                      <a:pPr marL="309880" marR="233045" lvl="0" indent="-171450">
                        <a:lnSpc>
                          <a:spcPct val="100000"/>
                        </a:lnSpc>
                        <a:spcBef>
                          <a:spcPts val="270"/>
                        </a:spcBef>
                        <a:buFont typeface="Arial" panose="020B0604020202020204" pitchFamily="34" charset="0"/>
                        <a:buChar char="•"/>
                      </a:pPr>
                      <a:r>
                        <a:rPr lang="en-US" sz="1200" b="0" u="none" strike="noStrike" cap="none" spc="-10">
                          <a:solidFill>
                            <a:schemeClr val="tx1"/>
                          </a:solidFill>
                          <a:sym typeface="Arial"/>
                        </a:rPr>
                        <a:t>HR remains the weakest link: inconsistent promises, lack of policies, and no credibility</a:t>
                      </a:r>
                    </a:p>
                    <a:p>
                      <a:pPr marL="309880" marR="233045" lvl="0" indent="-171450">
                        <a:lnSpc>
                          <a:spcPct val="100000"/>
                        </a:lnSpc>
                        <a:spcBef>
                          <a:spcPts val="270"/>
                        </a:spcBef>
                        <a:buFont typeface="Arial" panose="020B0604020202020204" pitchFamily="34" charset="0"/>
                        <a:buChar char="•"/>
                      </a:pPr>
                      <a:r>
                        <a:rPr lang="en-US" sz="1200" b="0" u="none" strike="noStrike" cap="none" spc="-10">
                          <a:solidFill>
                            <a:schemeClr val="tx1"/>
                          </a:solidFill>
                          <a:sym typeface="Arial"/>
                        </a:rPr>
                        <a:t>The absence of HR governance is amplifying mistrust and underperformance</a:t>
                      </a:r>
                      <a:endParaRPr lang="en-US" sz="1200" b="0" i="0" u="none" strike="noStrike" cap="none" spc="-1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marL="0" marR="0" marT="34290" marB="0">
                    <a:solidFill>
                      <a:schemeClr val="bg1">
                        <a:lumMod val="95000"/>
                      </a:schemeClr>
                    </a:solidFill>
                  </a:tcPr>
                </a:tc>
                <a:extLst>
                  <a:ext uri="{0D108BD9-81ED-4DB2-BD59-A6C34878D82A}">
                    <a16:rowId xmlns:a16="http://schemas.microsoft.com/office/drawing/2014/main" val="3544226190"/>
                  </a:ext>
                </a:extLst>
              </a:tr>
              <a:tr h="879092">
                <a:tc>
                  <a:txBody>
                    <a:bodyPr/>
                    <a:lstStyle/>
                    <a:p>
                      <a:pPr marL="91440">
                        <a:lnSpc>
                          <a:spcPct val="100000"/>
                        </a:lnSpc>
                        <a:spcBef>
                          <a:spcPts val="275"/>
                        </a:spcBef>
                      </a:pPr>
                      <a:r>
                        <a:rPr lang="en-US" sz="1200" b="1" u="none" strike="noStrike" cap="none" spc="-10">
                          <a:solidFill>
                            <a:schemeClr val="tx1"/>
                          </a:solidFill>
                          <a:sym typeface="Arial"/>
                        </a:rPr>
                        <a:t>Diane</a:t>
                      </a:r>
                      <a:endParaRPr sz="1200" b="1" u="none" strike="noStrike" cap="none" spc="-10">
                        <a:solidFill>
                          <a:schemeClr val="tx1"/>
                        </a:solidFill>
                        <a:sym typeface="Arial"/>
                      </a:endParaRPr>
                    </a:p>
                    <a:p>
                      <a:pPr marL="91440">
                        <a:lnSpc>
                          <a:spcPct val="100000"/>
                        </a:lnSpc>
                      </a:pPr>
                      <a:r>
                        <a:rPr lang="en-US" sz="1200" b="0" u="none" strike="noStrike" cap="none" spc="-10">
                          <a:solidFill>
                            <a:schemeClr val="tx1"/>
                          </a:solidFill>
                          <a:sym typeface="Arial"/>
                        </a:rPr>
                        <a:t>Chief Compliance Officer</a:t>
                      </a:r>
                      <a:endParaRPr sz="1200" b="0" i="0" u="none" strike="noStrike" cap="none" spc="-1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marL="0" marR="0" marT="34925" marB="0">
                    <a:solidFill>
                      <a:schemeClr val="bg1">
                        <a:lumMod val="95000"/>
                      </a:schemeClr>
                    </a:solidFill>
                  </a:tcPr>
                </a:tc>
                <a:tc>
                  <a:txBody>
                    <a:bodyPr/>
                    <a:lstStyle/>
                    <a:p>
                      <a:pPr marL="309880" marR="238760" lvl="0" indent="-171450">
                        <a:lnSpc>
                          <a:spcPct val="100000"/>
                        </a:lnSpc>
                        <a:spcBef>
                          <a:spcPts val="280"/>
                        </a:spcBef>
                        <a:buFont typeface="Arial" panose="020B0604020202020204" pitchFamily="34" charset="0"/>
                        <a:buChar char="•"/>
                      </a:pPr>
                      <a:endParaRPr lang="en-US" sz="1200" b="0" u="none" strike="noStrike" cap="none" spc="-10">
                        <a:solidFill>
                          <a:schemeClr val="tx1"/>
                        </a:solidFill>
                        <a:sym typeface="Arial"/>
                      </a:endParaRPr>
                    </a:p>
                  </a:txBody>
                  <a:tcPr marL="0" marR="0" marT="35560" marB="0">
                    <a:solidFill>
                      <a:schemeClr val="bg1">
                        <a:lumMod val="95000"/>
                      </a:schemeClr>
                    </a:solidFill>
                  </a:tcPr>
                </a:tc>
                <a:tc>
                  <a:txBody>
                    <a:bodyPr/>
                    <a:lstStyle/>
                    <a:p>
                      <a:pPr marL="309880" marR="238760" lvl="0" indent="-171450">
                        <a:lnSpc>
                          <a:spcPct val="100000"/>
                        </a:lnSpc>
                        <a:spcBef>
                          <a:spcPts val="280"/>
                        </a:spcBef>
                        <a:buFont typeface="Arial" panose="020B0604020202020204" pitchFamily="34" charset="0"/>
                        <a:buChar char="•"/>
                      </a:pPr>
                      <a:endParaRPr lang="en-US" sz="1200" b="0" u="none" strike="noStrike" cap="none" spc="-10">
                        <a:solidFill>
                          <a:schemeClr val="tx1"/>
                        </a:solidFill>
                        <a:sym typeface="Arial"/>
                      </a:endParaRPr>
                    </a:p>
                  </a:txBody>
                  <a:tcPr marL="0" marR="0" marT="35560" marB="0">
                    <a:solidFill>
                      <a:schemeClr val="bg1">
                        <a:lumMod val="95000"/>
                      </a:schemeClr>
                    </a:solidFill>
                  </a:tcPr>
                </a:tc>
                <a:tc>
                  <a:txBody>
                    <a:bodyPr/>
                    <a:lstStyle/>
                    <a:p>
                      <a:pPr marL="309880" marR="238760" lvl="0" indent="-171450">
                        <a:lnSpc>
                          <a:spcPct val="100000"/>
                        </a:lnSpc>
                        <a:spcBef>
                          <a:spcPts val="280"/>
                        </a:spcBef>
                        <a:buFont typeface="Arial" panose="020B0604020202020204" pitchFamily="34" charset="0"/>
                        <a:buChar char="•"/>
                      </a:pPr>
                      <a:endParaRPr lang="en-US" sz="1200" b="0" u="none" strike="noStrike" cap="none" spc="-10">
                        <a:solidFill>
                          <a:schemeClr val="tx1"/>
                        </a:solidFill>
                        <a:sym typeface="Arial"/>
                      </a:endParaRPr>
                    </a:p>
                  </a:txBody>
                  <a:tcPr marL="0" marR="0" marT="35560" marB="0">
                    <a:solidFill>
                      <a:schemeClr val="bg1">
                        <a:lumMod val="95000"/>
                      </a:schemeClr>
                    </a:solidFill>
                  </a:tcPr>
                </a:tc>
                <a:tc>
                  <a:txBody>
                    <a:bodyPr/>
                    <a:lstStyle/>
                    <a:p>
                      <a:pPr marL="309880" marR="173355" lvl="0" indent="-171450" algn="l">
                        <a:lnSpc>
                          <a:spcPct val="100000"/>
                        </a:lnSpc>
                        <a:spcBef>
                          <a:spcPts val="275"/>
                        </a:spcBef>
                        <a:buFont typeface="Arial" panose="020B0604020202020204" pitchFamily="34" charset="0"/>
                        <a:buChar char="•"/>
                      </a:pPr>
                      <a:r>
                        <a:rPr lang="en-US" sz="1200" b="0" u="none" strike="noStrike" cap="none" spc="-10">
                          <a:solidFill>
                            <a:schemeClr val="tx1"/>
                          </a:solidFill>
                          <a:sym typeface="Arial"/>
                        </a:rPr>
                        <a:t>Rigid, low business acumen</a:t>
                      </a:r>
                    </a:p>
                    <a:p>
                      <a:pPr marL="309880" marR="173355" lvl="0" indent="-171450" algn="l">
                        <a:lnSpc>
                          <a:spcPct val="100000"/>
                        </a:lnSpc>
                        <a:spcBef>
                          <a:spcPts val="275"/>
                        </a:spcBef>
                        <a:buFont typeface="Arial" panose="020B0604020202020204" pitchFamily="34" charset="0"/>
                        <a:buChar char="•"/>
                      </a:pPr>
                      <a:r>
                        <a:rPr lang="en-US" sz="1200" b="0" u="none" strike="noStrike" cap="none" spc="-10">
                          <a:solidFill>
                            <a:schemeClr val="tx1"/>
                          </a:solidFill>
                          <a:sym typeface="Arial"/>
                        </a:rPr>
                        <a:t>The compliance function currently blocks growth through procedural rigidity and limited commercial understanding; it requires either a strong coaching intervention to shift from a 'control' mindset to risk‑based enablement or replacement with a modern, business‑oriented compliance leader</a:t>
                      </a:r>
                    </a:p>
                  </a:txBody>
                  <a:tcPr marL="0" marR="0" marT="34925" marB="0">
                    <a:solidFill>
                      <a:schemeClr val="bg1">
                        <a:lumMod val="95000"/>
                      </a:schemeClr>
                    </a:solidFill>
                  </a:tcPr>
                </a:tc>
                <a:extLst>
                  <a:ext uri="{0D108BD9-81ED-4DB2-BD59-A6C34878D82A}">
                    <a16:rowId xmlns:a16="http://schemas.microsoft.com/office/drawing/2014/main" val="2434202052"/>
                  </a:ext>
                </a:extLst>
              </a:tr>
            </a:tbl>
          </a:graphicData>
        </a:graphic>
      </p:graphicFrame>
      <p:pic>
        <p:nvPicPr>
          <p:cNvPr id="12" name="Picture 11">
            <a:extLst>
              <a:ext uri="{FF2B5EF4-FFF2-40B4-BE49-F238E27FC236}">
                <a16:creationId xmlns:a16="http://schemas.microsoft.com/office/drawing/2014/main" id="{50B7F431-3E76-772A-822D-28B7C0716D6A}"/>
              </a:ext>
            </a:extLst>
          </p:cNvPr>
          <p:cNvPicPr>
            <a:picLocks noChangeAspect="1"/>
          </p:cNvPicPr>
          <p:nvPr/>
        </p:nvPicPr>
        <p:blipFill>
          <a:blip r:embed="rId4"/>
          <a:stretch>
            <a:fillRect/>
          </a:stretch>
        </p:blipFill>
        <p:spPr>
          <a:xfrm>
            <a:off x="2700552" y="2546163"/>
            <a:ext cx="395695" cy="378185"/>
          </a:xfrm>
          <a:prstGeom prst="rect">
            <a:avLst/>
          </a:prstGeom>
        </p:spPr>
      </p:pic>
      <p:pic>
        <p:nvPicPr>
          <p:cNvPr id="15" name="Picture 14">
            <a:extLst>
              <a:ext uri="{FF2B5EF4-FFF2-40B4-BE49-F238E27FC236}">
                <a16:creationId xmlns:a16="http://schemas.microsoft.com/office/drawing/2014/main" id="{1D06B07D-987B-A877-5E60-13701159009A}"/>
              </a:ext>
            </a:extLst>
          </p:cNvPr>
          <p:cNvPicPr>
            <a:picLocks noChangeAspect="1"/>
          </p:cNvPicPr>
          <p:nvPr/>
        </p:nvPicPr>
        <p:blipFill>
          <a:blip r:embed="rId5"/>
          <a:stretch>
            <a:fillRect/>
          </a:stretch>
        </p:blipFill>
        <p:spPr>
          <a:xfrm>
            <a:off x="2149282" y="1642603"/>
            <a:ext cx="395695" cy="378185"/>
          </a:xfrm>
          <a:prstGeom prst="rect">
            <a:avLst/>
          </a:prstGeom>
        </p:spPr>
      </p:pic>
      <p:pic>
        <p:nvPicPr>
          <p:cNvPr id="18" name="Picture 17">
            <a:extLst>
              <a:ext uri="{FF2B5EF4-FFF2-40B4-BE49-F238E27FC236}">
                <a16:creationId xmlns:a16="http://schemas.microsoft.com/office/drawing/2014/main" id="{E983F073-AE7D-E77D-B671-1F066C166902}"/>
              </a:ext>
            </a:extLst>
          </p:cNvPr>
          <p:cNvPicPr>
            <a:picLocks noChangeAspect="1"/>
          </p:cNvPicPr>
          <p:nvPr/>
        </p:nvPicPr>
        <p:blipFill>
          <a:blip r:embed="rId4"/>
          <a:stretch>
            <a:fillRect/>
          </a:stretch>
        </p:blipFill>
        <p:spPr>
          <a:xfrm>
            <a:off x="3274973" y="2546163"/>
            <a:ext cx="395695" cy="378185"/>
          </a:xfrm>
          <a:prstGeom prst="rect">
            <a:avLst/>
          </a:prstGeom>
        </p:spPr>
      </p:pic>
      <p:pic>
        <p:nvPicPr>
          <p:cNvPr id="21" name="Picture 20">
            <a:extLst>
              <a:ext uri="{FF2B5EF4-FFF2-40B4-BE49-F238E27FC236}">
                <a16:creationId xmlns:a16="http://schemas.microsoft.com/office/drawing/2014/main" id="{DDE70AD2-7E02-93E1-0218-D5531E9D0D53}"/>
              </a:ext>
            </a:extLst>
          </p:cNvPr>
          <p:cNvPicPr>
            <a:picLocks noChangeAspect="1"/>
          </p:cNvPicPr>
          <p:nvPr/>
        </p:nvPicPr>
        <p:blipFill>
          <a:blip r:embed="rId4"/>
          <a:stretch>
            <a:fillRect/>
          </a:stretch>
        </p:blipFill>
        <p:spPr>
          <a:xfrm>
            <a:off x="3274973" y="1642603"/>
            <a:ext cx="395695" cy="378185"/>
          </a:xfrm>
          <a:prstGeom prst="rect">
            <a:avLst/>
          </a:prstGeom>
        </p:spPr>
      </p:pic>
      <p:pic>
        <p:nvPicPr>
          <p:cNvPr id="22" name="Picture 21">
            <a:extLst>
              <a:ext uri="{FF2B5EF4-FFF2-40B4-BE49-F238E27FC236}">
                <a16:creationId xmlns:a16="http://schemas.microsoft.com/office/drawing/2014/main" id="{6543266C-A13A-5FA9-A455-A172DA018C24}"/>
              </a:ext>
            </a:extLst>
          </p:cNvPr>
          <p:cNvPicPr>
            <a:picLocks noChangeAspect="1"/>
          </p:cNvPicPr>
          <p:nvPr/>
        </p:nvPicPr>
        <p:blipFill>
          <a:blip r:embed="rId4"/>
          <a:stretch>
            <a:fillRect/>
          </a:stretch>
        </p:blipFill>
        <p:spPr>
          <a:xfrm>
            <a:off x="2149282" y="2546163"/>
            <a:ext cx="395695" cy="378185"/>
          </a:xfrm>
          <a:prstGeom prst="rect">
            <a:avLst/>
          </a:prstGeom>
        </p:spPr>
      </p:pic>
      <p:pic>
        <p:nvPicPr>
          <p:cNvPr id="23" name="Picture 22">
            <a:extLst>
              <a:ext uri="{FF2B5EF4-FFF2-40B4-BE49-F238E27FC236}">
                <a16:creationId xmlns:a16="http://schemas.microsoft.com/office/drawing/2014/main" id="{B28F0B01-9704-AE3E-67C9-896E902327D6}"/>
              </a:ext>
            </a:extLst>
          </p:cNvPr>
          <p:cNvPicPr>
            <a:picLocks noChangeAspect="1"/>
          </p:cNvPicPr>
          <p:nvPr/>
        </p:nvPicPr>
        <p:blipFill>
          <a:blip r:embed="rId4"/>
          <a:stretch>
            <a:fillRect/>
          </a:stretch>
        </p:blipFill>
        <p:spPr>
          <a:xfrm>
            <a:off x="2700552" y="3377560"/>
            <a:ext cx="395695" cy="378185"/>
          </a:xfrm>
          <a:prstGeom prst="rect">
            <a:avLst/>
          </a:prstGeom>
        </p:spPr>
      </p:pic>
      <p:pic>
        <p:nvPicPr>
          <p:cNvPr id="24" name="Picture 23">
            <a:extLst>
              <a:ext uri="{FF2B5EF4-FFF2-40B4-BE49-F238E27FC236}">
                <a16:creationId xmlns:a16="http://schemas.microsoft.com/office/drawing/2014/main" id="{232D7DA5-2324-0D98-A43F-91C3612A3F89}"/>
              </a:ext>
            </a:extLst>
          </p:cNvPr>
          <p:cNvPicPr>
            <a:picLocks noChangeAspect="1"/>
          </p:cNvPicPr>
          <p:nvPr/>
        </p:nvPicPr>
        <p:blipFill>
          <a:blip r:embed="rId4"/>
          <a:stretch>
            <a:fillRect/>
          </a:stretch>
        </p:blipFill>
        <p:spPr>
          <a:xfrm>
            <a:off x="3274973" y="3377560"/>
            <a:ext cx="395695" cy="378185"/>
          </a:xfrm>
          <a:prstGeom prst="rect">
            <a:avLst/>
          </a:prstGeom>
        </p:spPr>
      </p:pic>
      <p:pic>
        <p:nvPicPr>
          <p:cNvPr id="25" name="Picture 24">
            <a:extLst>
              <a:ext uri="{FF2B5EF4-FFF2-40B4-BE49-F238E27FC236}">
                <a16:creationId xmlns:a16="http://schemas.microsoft.com/office/drawing/2014/main" id="{CA608AB5-C05D-1047-F85F-74541F1BE884}"/>
              </a:ext>
            </a:extLst>
          </p:cNvPr>
          <p:cNvPicPr>
            <a:picLocks noChangeAspect="1"/>
          </p:cNvPicPr>
          <p:nvPr/>
        </p:nvPicPr>
        <p:blipFill>
          <a:blip r:embed="rId4"/>
          <a:stretch>
            <a:fillRect/>
          </a:stretch>
        </p:blipFill>
        <p:spPr>
          <a:xfrm>
            <a:off x="2149282" y="3377560"/>
            <a:ext cx="395695" cy="378185"/>
          </a:xfrm>
          <a:prstGeom prst="rect">
            <a:avLst/>
          </a:prstGeom>
        </p:spPr>
      </p:pic>
      <p:pic>
        <p:nvPicPr>
          <p:cNvPr id="26" name="Picture 25">
            <a:extLst>
              <a:ext uri="{FF2B5EF4-FFF2-40B4-BE49-F238E27FC236}">
                <a16:creationId xmlns:a16="http://schemas.microsoft.com/office/drawing/2014/main" id="{9F6EC971-9A46-4656-D046-E69576559D47}"/>
              </a:ext>
            </a:extLst>
          </p:cNvPr>
          <p:cNvPicPr>
            <a:picLocks noChangeAspect="1"/>
          </p:cNvPicPr>
          <p:nvPr/>
        </p:nvPicPr>
        <p:blipFill>
          <a:blip r:embed="rId6"/>
          <a:stretch>
            <a:fillRect/>
          </a:stretch>
        </p:blipFill>
        <p:spPr>
          <a:xfrm>
            <a:off x="2712125" y="1642603"/>
            <a:ext cx="395695" cy="378185"/>
          </a:xfrm>
          <a:prstGeom prst="rect">
            <a:avLst/>
          </a:prstGeom>
        </p:spPr>
      </p:pic>
    </p:spTree>
    <p:extLst>
      <p:ext uri="{BB962C8B-B14F-4D97-AF65-F5344CB8AC3E}">
        <p14:creationId xmlns:p14="http://schemas.microsoft.com/office/powerpoint/2010/main" val="3984244141"/>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EFFA1215-5D3B-EF11-B4E2-E17B277865F9}"/>
            </a:ext>
          </a:extLst>
        </p:cNvPr>
        <p:cNvGrpSpPr/>
        <p:nvPr/>
      </p:nvGrpSpPr>
      <p:grpSpPr>
        <a:xfrm>
          <a:off x="0" y="0"/>
          <a:ext cx="0" cy="0"/>
          <a:chOff x="0" y="0"/>
          <a:chExt cx="0" cy="0"/>
        </a:xfrm>
      </p:grpSpPr>
      <p:sp>
        <p:nvSpPr>
          <p:cNvPr id="21507" name="Text Placeholder 1">
            <a:extLst>
              <a:ext uri="{FF2B5EF4-FFF2-40B4-BE49-F238E27FC236}">
                <a16:creationId xmlns:a16="http://schemas.microsoft.com/office/drawing/2014/main" id="{93AEE21C-23FA-CCE8-6FC8-0CE009B08235}"/>
              </a:ext>
            </a:extLst>
          </p:cNvPr>
          <p:cNvSpPr>
            <a:spLocks noGrp="1" noChangeArrowheads="1"/>
          </p:cNvSpPr>
          <p:nvPr>
            <p:ph type="body" idx="1"/>
          </p:nvPr>
        </p:nvSpPr>
        <p:spPr bwMode="auto">
          <a:xfrm>
            <a:off x="727075" y="374650"/>
            <a:ext cx="8645525" cy="334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marL="0" indent="0">
              <a:spcBef>
                <a:spcPct val="0"/>
              </a:spcBef>
              <a:spcAft>
                <a:spcPct val="0"/>
              </a:spcAft>
              <a:buClr>
                <a:srgbClr val="000000"/>
              </a:buClr>
              <a:buSzPts val="2400"/>
              <a:buFont typeface="Arial" panose="020B0604020202020204" pitchFamily="34" charset="0"/>
              <a:buNone/>
            </a:pPr>
            <a:r>
              <a:rPr lang="en-US" altLang="en-US" sz="2000">
                <a:solidFill>
                  <a:srgbClr val="002060"/>
                </a:solidFill>
                <a:latin typeface="Helvetica Neue" panose="02000503000000020004" pitchFamily="2" charset="0"/>
                <a:ea typeface="Helvetica Neue" panose="02000503000000020004" pitchFamily="2" charset="0"/>
                <a:cs typeface="Helvetica Neue" panose="02000503000000020004" pitchFamily="2" charset="0"/>
                <a:sym typeface="Helvetica Neue Light" panose="02000403000000020004" pitchFamily="2" charset="0"/>
              </a:rPr>
              <a:t>KEY MESSAGES to the Leadership Team (co-create with the CEO)</a:t>
            </a:r>
          </a:p>
        </p:txBody>
      </p:sp>
      <p:sp>
        <p:nvSpPr>
          <p:cNvPr id="21508" name="Slide Number Placeholder 2">
            <a:extLst>
              <a:ext uri="{FF2B5EF4-FFF2-40B4-BE49-F238E27FC236}">
                <a16:creationId xmlns:a16="http://schemas.microsoft.com/office/drawing/2014/main" id="{3FC59062-12FB-1FD6-5A18-F3D0FBE58117}"/>
              </a:ext>
            </a:extLst>
          </p:cNvPr>
          <p:cNvSpPr>
            <a:spLocks noGrp="1" noChangeArrowheads="1"/>
          </p:cNvSpPr>
          <p:nvPr>
            <p:ph type="sldNum" sz="quarter" idx="10"/>
          </p:nvPr>
        </p:nvSpPr>
        <p:spPr>
          <a:xfrm>
            <a:off x="0" y="238125"/>
            <a:ext cx="557213" cy="557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94E6AC2-D12E-1843-971E-E4F9DE4AA8B8}"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9</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4" name="TextBox 3">
            <a:extLst>
              <a:ext uri="{FF2B5EF4-FFF2-40B4-BE49-F238E27FC236}">
                <a16:creationId xmlns:a16="http://schemas.microsoft.com/office/drawing/2014/main" id="{F6AA1B1C-1A42-C028-0C1E-C564160DCEBC}"/>
              </a:ext>
            </a:extLst>
          </p:cNvPr>
          <p:cNvSpPr txBox="1"/>
          <p:nvPr/>
        </p:nvSpPr>
        <p:spPr>
          <a:xfrm>
            <a:off x="848011" y="1191643"/>
            <a:ext cx="9673233" cy="4090892"/>
          </a:xfrm>
          <a:prstGeom prst="rect">
            <a:avLst/>
          </a:prstGeom>
          <a:noFill/>
        </p:spPr>
        <p:txBody>
          <a:bodyPr wrap="square" lIns="91440" tIns="45720" rIns="91440" bIns="4572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0">
                <a:solidFill>
                  <a:sysClr val="windowText" lastClr="000000"/>
                </a:solidFill>
                <a:latin typeface="Helvetica Neue"/>
                <a:ea typeface="Helvetica Neue" panose="02000503000000020004" pitchFamily="2" charset="0"/>
                <a:cs typeface="Helvetica Neue" panose="02000503000000020004" pitchFamily="2" charset="0"/>
              </a:rPr>
              <a:t>Lead with Clarity –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0">
                <a:solidFill>
                  <a:sysClr val="windowText" lastClr="000000"/>
                </a:solidFill>
                <a:latin typeface="Helvetica Neue"/>
                <a:ea typeface="Helvetica Neue" panose="02000503000000020004" pitchFamily="2" charset="0"/>
                <a:cs typeface="Helvetica Neue" panose="02000503000000020004" pitchFamily="2" charset="0"/>
              </a:rPr>
              <a:t>Define clear Jobs to Be Done for each Chief and their teams to ensure alignment and accountability.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0">
                <a:solidFill>
                  <a:sysClr val="windowText" lastClr="000000"/>
                </a:solidFill>
                <a:latin typeface="Helvetica Neue"/>
                <a:ea typeface="Helvetica Neue" panose="02000503000000020004" pitchFamily="2" charset="0"/>
                <a:cs typeface="Helvetica Neue" panose="02000503000000020004" pitchFamily="2" charset="0"/>
              </a:rPr>
              <a:t>Continue the transformation with less noise—keep momentum internally while shifting the message toward growth.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0">
              <a:solidFill>
                <a:sysClr val="windowText" lastClr="000000"/>
              </a:solidFill>
              <a:latin typeface="Helvetica Neue"/>
              <a:ea typeface="Helvetica Neue" panose="02000503000000020004" pitchFamily="2" charset="0"/>
              <a:cs typeface="Helvetica Neue" panose="02000503000000020004" pitchFamily="2" charset="0"/>
            </a:endParaRPr>
          </a:p>
          <a:p>
            <a:pPr lvl="0" eaLnBrk="1" fontAlgn="auto" hangingPunct="1">
              <a:spcBef>
                <a:spcPts val="0"/>
              </a:spcBef>
              <a:spcAft>
                <a:spcPts val="0"/>
              </a:spcAft>
              <a:defRPr/>
            </a:pPr>
            <a:r>
              <a:rPr lang="en-US" sz="1200" b="1" kern="0">
                <a:solidFill>
                  <a:sysClr val="windowText" lastClr="000000"/>
                </a:solidFill>
                <a:latin typeface="Helvetica Neue"/>
                <a:ea typeface="Helvetica Neue" panose="02000503000000020004" pitchFamily="2" charset="0"/>
                <a:cs typeface="Helvetica Neue" panose="02000503000000020004" pitchFamily="2" charset="0"/>
              </a:rPr>
              <a:t>Win as One Team</a:t>
            </a:r>
          </a:p>
          <a:p>
            <a:pPr marL="171450" indent="-171450" eaLnBrk="1" fontAlgn="auto" hangingPunct="1">
              <a:spcBef>
                <a:spcPts val="0"/>
              </a:spcBef>
              <a:spcAft>
                <a:spcPts val="0"/>
              </a:spcAft>
              <a:buFont typeface="Arial" panose="020B0604020202020204" pitchFamily="34" charset="0"/>
              <a:buChar char="•"/>
              <a:defRPr/>
            </a:pPr>
            <a:r>
              <a:rPr lang="en-US" sz="1200" kern="0">
                <a:solidFill>
                  <a:sysClr val="windowText" lastClr="000000"/>
                </a:solidFill>
                <a:latin typeface="Helvetica Neue"/>
                <a:ea typeface="Helvetica Neue" panose="02000503000000020004" pitchFamily="2" charset="0"/>
                <a:cs typeface="Helvetica Neue" panose="02000503000000020004" pitchFamily="2" charset="0"/>
              </a:rPr>
              <a:t>Strengthen the leadership team through biannual offsites and ongoing relationship-building (including informal team interactions).</a:t>
            </a:r>
          </a:p>
          <a:p>
            <a:pPr marL="171450" indent="-171450" eaLnBrk="1" fontAlgn="auto" hangingPunct="1">
              <a:spcBef>
                <a:spcPts val="0"/>
              </a:spcBef>
              <a:spcAft>
                <a:spcPts val="0"/>
              </a:spcAft>
              <a:buFont typeface="Arial" panose="020B0604020202020204" pitchFamily="34" charset="0"/>
              <a:buChar char="•"/>
              <a:defRPr/>
            </a:pPr>
            <a:r>
              <a:rPr lang="en-US" sz="1200" kern="0">
                <a:solidFill>
                  <a:sysClr val="windowText" lastClr="000000"/>
                </a:solidFill>
                <a:latin typeface="Helvetica Neue"/>
                <a:ea typeface="Helvetica Neue" panose="02000503000000020004" pitchFamily="2" charset="0"/>
                <a:cs typeface="Helvetica Neue" panose="02000503000000020004" pitchFamily="2" charset="0"/>
              </a:rPr>
              <a:t>Create expectation for the Chiefs to align early and proactively by </a:t>
            </a:r>
            <a:r>
              <a:rPr lang="en-US" sz="1200" kern="0" err="1">
                <a:solidFill>
                  <a:sysClr val="windowText" lastClr="000000"/>
                </a:solidFill>
                <a:latin typeface="Helvetica Neue"/>
                <a:ea typeface="Helvetica Neue" panose="02000503000000020004" pitchFamily="2" charset="0"/>
                <a:cs typeface="Helvetica Neue" panose="02000503000000020004" pitchFamily="2" charset="0"/>
              </a:rPr>
              <a:t>flaging</a:t>
            </a:r>
            <a:r>
              <a:rPr lang="en-US" sz="1200" kern="0">
                <a:solidFill>
                  <a:sysClr val="windowText" lastClr="000000"/>
                </a:solidFill>
                <a:latin typeface="Helvetica Neue"/>
                <a:ea typeface="Helvetica Neue" panose="02000503000000020004" pitchFamily="2" charset="0"/>
                <a:cs typeface="Helvetica Neue" panose="02000503000000020004" pitchFamily="2" charset="0"/>
              </a:rPr>
              <a:t> cross-functional impacts before decisions are finalized.</a:t>
            </a:r>
          </a:p>
          <a:p>
            <a:pPr marL="171450" indent="-171450" eaLnBrk="1" fontAlgn="auto" hangingPunct="1">
              <a:spcBef>
                <a:spcPts val="0"/>
              </a:spcBef>
              <a:spcAft>
                <a:spcPts val="0"/>
              </a:spcAft>
              <a:buFont typeface="Arial" panose="020B0604020202020204" pitchFamily="34" charset="0"/>
              <a:buChar char="•"/>
              <a:defRPr/>
            </a:pPr>
            <a:r>
              <a:rPr lang="en-US" sz="1200" kern="0">
                <a:solidFill>
                  <a:sysClr val="windowText" lastClr="000000"/>
                </a:solidFill>
                <a:latin typeface="Helvetica Neue"/>
                <a:ea typeface="Helvetica Neue" panose="02000503000000020004" pitchFamily="2" charset="0"/>
                <a:cs typeface="Helvetica Neue" panose="02000503000000020004" pitchFamily="2" charset="0"/>
              </a:rPr>
              <a:t>Create clear, structured ways of working with a consistent weekly and monthly operating cadence.</a:t>
            </a:r>
          </a:p>
          <a:p>
            <a:pPr marL="171450" indent="-171450" eaLnBrk="1" fontAlgn="auto" hangingPunct="1">
              <a:spcBef>
                <a:spcPts val="0"/>
              </a:spcBef>
              <a:spcAft>
                <a:spcPts val="0"/>
              </a:spcAft>
              <a:buFont typeface="Arial" panose="020B0604020202020204" pitchFamily="34" charset="0"/>
              <a:buChar char="•"/>
              <a:defRPr/>
            </a:pPr>
            <a:r>
              <a:rPr lang="en-US" sz="1200" kern="0">
                <a:solidFill>
                  <a:sysClr val="windowText" lastClr="000000"/>
                </a:solidFill>
                <a:latin typeface="Helvetica Neue"/>
                <a:ea typeface="Helvetica Neue" panose="02000503000000020004" pitchFamily="2" charset="0"/>
                <a:cs typeface="Helvetica Neue" panose="02000503000000020004" pitchFamily="2" charset="0"/>
              </a:rPr>
              <a:t>Use </a:t>
            </a:r>
            <a:r>
              <a:rPr lang="en-US" sz="1200" kern="0" err="1">
                <a:solidFill>
                  <a:sysClr val="windowText" lastClr="000000"/>
                </a:solidFill>
                <a:latin typeface="Helvetica Neue"/>
                <a:ea typeface="Helvetica Neue" panose="02000503000000020004" pitchFamily="2" charset="0"/>
                <a:cs typeface="Helvetica Neue" panose="02000503000000020004" pitchFamily="2" charset="0"/>
              </a:rPr>
              <a:t>ExCo</a:t>
            </a:r>
            <a:r>
              <a:rPr lang="en-US" sz="1200" kern="0">
                <a:solidFill>
                  <a:sysClr val="windowText" lastClr="000000"/>
                </a:solidFill>
                <a:latin typeface="Helvetica Neue"/>
                <a:ea typeface="Helvetica Neue" panose="02000503000000020004" pitchFamily="2" charset="0"/>
                <a:cs typeface="Helvetica Neue" panose="02000503000000020004" pitchFamily="2" charset="0"/>
              </a:rPr>
              <a:t> meetings to represent the enterprise priorities, not only individual functions.</a:t>
            </a:r>
          </a:p>
          <a:p>
            <a:pPr marL="171450" indent="-171450" eaLnBrk="1" fontAlgn="auto" hangingPunct="1">
              <a:spcBef>
                <a:spcPts val="0"/>
              </a:spcBef>
              <a:spcAft>
                <a:spcPts val="0"/>
              </a:spcAft>
              <a:buFont typeface="Arial" panose="020B0604020202020204" pitchFamily="34" charset="0"/>
              <a:buChar char="•"/>
              <a:defRPr/>
            </a:pPr>
            <a:r>
              <a:rPr lang="en-US" sz="1200" kern="0">
                <a:solidFill>
                  <a:sysClr val="windowText" lastClr="000000"/>
                </a:solidFill>
                <a:latin typeface="Helvetica Neue"/>
                <a:ea typeface="Helvetica Neue" panose="02000503000000020004" pitchFamily="2" charset="0"/>
                <a:cs typeface="Helvetica Neue" panose="02000503000000020004" pitchFamily="2" charset="0"/>
              </a:rPr>
              <a:t>Introduce a shared scorecard and feedback process for Chiefs, covering functional priorities and enterprise-wide leadership behaviors.</a:t>
            </a:r>
          </a:p>
          <a:p>
            <a:pPr marL="171450" indent="-171450" eaLnBrk="1" fontAlgn="auto" hangingPunct="1">
              <a:spcBef>
                <a:spcPts val="0"/>
              </a:spcBef>
              <a:spcAft>
                <a:spcPts val="0"/>
              </a:spcAft>
              <a:buFont typeface="Arial" panose="020B0604020202020204" pitchFamily="34" charset="0"/>
              <a:buChar char="•"/>
              <a:defRPr/>
            </a:pPr>
            <a:endParaRPr lang="en-US" sz="1200" kern="0">
              <a:solidFill>
                <a:sysClr val="windowText" lastClr="000000"/>
              </a:solidFill>
              <a:latin typeface="Helvetica Neue"/>
              <a:ea typeface="Helvetica Neue" panose="02000503000000020004" pitchFamily="2" charset="0"/>
              <a:cs typeface="Helvetica Neue" panose="02000503000000020004" pitchFamily="2" charset="0"/>
            </a:endParaRPr>
          </a:p>
          <a:p>
            <a:pPr lvl="0" eaLnBrk="1" fontAlgn="auto" hangingPunct="1">
              <a:spcBef>
                <a:spcPts val="0"/>
              </a:spcBef>
              <a:spcAft>
                <a:spcPts val="0"/>
              </a:spcAft>
              <a:defRPr/>
            </a:pPr>
            <a:r>
              <a:rPr lang="en-US" sz="1200" b="1" kern="0">
                <a:solidFill>
                  <a:sysClr val="windowText" lastClr="000000"/>
                </a:solidFill>
                <a:latin typeface="Helvetica Neue"/>
                <a:ea typeface="Helvetica Neue" panose="02000503000000020004" pitchFamily="2" charset="0"/>
                <a:cs typeface="Helvetica Neue" panose="02000503000000020004" pitchFamily="2" charset="0"/>
              </a:rPr>
              <a:t>Elevate your Talents in your Team</a:t>
            </a:r>
          </a:p>
          <a:p>
            <a:pPr marL="171450" lvl="0" indent="-171450">
              <a:buFont typeface="Arial" panose="020B0604020202020204" pitchFamily="34" charset="0"/>
              <a:buChar char="•"/>
              <a:defRPr/>
            </a:pPr>
            <a:r>
              <a:rPr lang="en-US" sz="1200" kern="0">
                <a:solidFill>
                  <a:sysClr val="windowText" lastClr="000000"/>
                </a:solidFill>
                <a:latin typeface="Helvetica Neue"/>
                <a:ea typeface="Helvetica Neue" panose="02000503000000020004" pitchFamily="2" charset="0"/>
                <a:cs typeface="Helvetica Neue" panose="02000503000000020004" pitchFamily="2" charset="0"/>
              </a:rPr>
              <a:t>Take ownership of performance management by addressing underperformance fairly, transparently, and without delay. This is not about broad exits but about removing blockers and reinforcing clear expectations.</a:t>
            </a:r>
          </a:p>
          <a:p>
            <a:pPr marL="171450" lvl="0" indent="-171450">
              <a:buFont typeface="Arial" panose="020B0604020202020204" pitchFamily="34" charset="0"/>
              <a:buChar char="•"/>
              <a:defRPr/>
            </a:pPr>
            <a:r>
              <a:rPr lang="en-US" sz="1200" kern="0">
                <a:solidFill>
                  <a:sysClr val="windowText" lastClr="000000"/>
                </a:solidFill>
                <a:latin typeface="Helvetica Neue"/>
                <a:ea typeface="Helvetica Neue" panose="02000503000000020004" pitchFamily="2" charset="0"/>
                <a:cs typeface="Helvetica Neue" panose="02000503000000020004" pitchFamily="2" charset="0"/>
              </a:rPr>
              <a:t>Invest in upskilling the critical roles within each function—especially those directly linked to growth, delivery, and execution.</a:t>
            </a:r>
          </a:p>
          <a:p>
            <a:pPr marL="171450" lvl="0" indent="-171450">
              <a:buFont typeface="Arial" panose="020B0604020202020204" pitchFamily="34" charset="0"/>
              <a:buChar char="•"/>
              <a:defRPr/>
            </a:pPr>
            <a:r>
              <a:rPr lang="en-US" sz="1200" kern="0">
                <a:solidFill>
                  <a:sysClr val="windowText" lastClr="000000"/>
                </a:solidFill>
                <a:latin typeface="Helvetica Neue"/>
                <a:ea typeface="Helvetica Neue" panose="02000503000000020004" pitchFamily="2" charset="0"/>
                <a:cs typeface="Helvetica Neue" panose="02000503000000020004" pitchFamily="2" charset="0"/>
              </a:rPr>
              <a:t>Strengthen business acumen across support functions to ensure they understand value creation and can actively contribute to commercial outcomes.</a:t>
            </a:r>
          </a:p>
          <a:p>
            <a:pPr marL="171450" lvl="0" indent="-171450">
              <a:buFont typeface="Arial" panose="020B0604020202020204" pitchFamily="34" charset="0"/>
              <a:buChar char="•"/>
              <a:defRPr/>
            </a:pPr>
            <a:endParaRPr lang="en-US" sz="1200" kern="0">
              <a:solidFill>
                <a:sysClr val="windowText" lastClr="000000"/>
              </a:solidFill>
              <a:latin typeface="Helvetica Neue"/>
              <a:ea typeface="Helvetica Neue" panose="02000503000000020004" pitchFamily="2" charset="0"/>
              <a:cs typeface="Helvetica Neue" panose="02000503000000020004" pitchFamily="2" charset="0"/>
            </a:endParaRPr>
          </a:p>
          <a:p>
            <a:pPr lvl="0" eaLnBrk="1" fontAlgn="auto" hangingPunct="1">
              <a:spcBef>
                <a:spcPts val="0"/>
              </a:spcBef>
              <a:spcAft>
                <a:spcPts val="0"/>
              </a:spcAft>
              <a:defRPr/>
            </a:pPr>
            <a:r>
              <a:rPr lang="en-US" sz="1200" b="1" kern="0">
                <a:solidFill>
                  <a:sysClr val="windowText" lastClr="000000"/>
                </a:solidFill>
                <a:latin typeface="Helvetica Neue"/>
                <a:ea typeface="Helvetica Neue" panose="02000503000000020004" pitchFamily="2" charset="0"/>
                <a:cs typeface="Helvetica Neue" panose="02000503000000020004" pitchFamily="2" charset="0"/>
              </a:rPr>
              <a:t>Organizational Energy </a:t>
            </a:r>
          </a:p>
          <a:p>
            <a:pPr marL="171450" indent="-171450" eaLnBrk="1" fontAlgn="auto" hangingPunct="1">
              <a:spcBef>
                <a:spcPts val="0"/>
              </a:spcBef>
              <a:spcAft>
                <a:spcPts val="0"/>
              </a:spcAft>
              <a:buFont typeface="Arial" panose="020B0604020202020204" pitchFamily="34" charset="0"/>
              <a:buChar char="•"/>
              <a:defRPr/>
            </a:pPr>
            <a:r>
              <a:rPr lang="en-US" sz="1200" kern="0">
                <a:solidFill>
                  <a:sysClr val="windowText" lastClr="000000"/>
                </a:solidFill>
                <a:latin typeface="Helvetica Neue"/>
                <a:ea typeface="Helvetica Neue" panose="02000503000000020004" pitchFamily="2" charset="0"/>
                <a:cs typeface="Helvetica Neue" panose="02000503000000020004" pitchFamily="2" charset="0"/>
              </a:rPr>
              <a:t>Regularly communicate as a unified executive group to the broader organization</a:t>
            </a:r>
          </a:p>
          <a:p>
            <a:pPr marL="171450" indent="-171450" eaLnBrk="1" fontAlgn="auto" hangingPunct="1">
              <a:spcBef>
                <a:spcPts val="0"/>
              </a:spcBef>
              <a:spcAft>
                <a:spcPts val="0"/>
              </a:spcAft>
              <a:buFont typeface="Arial" panose="020B0604020202020204" pitchFamily="34" charset="0"/>
              <a:buChar char="•"/>
              <a:defRPr/>
            </a:pPr>
            <a:r>
              <a:rPr lang="en-US" sz="1200" kern="0">
                <a:solidFill>
                  <a:sysClr val="windowText" lastClr="000000"/>
                </a:solidFill>
                <a:latin typeface="Helvetica Neue"/>
                <a:ea typeface="Helvetica Neue" panose="02000503000000020004" pitchFamily="2" charset="0"/>
                <a:cs typeface="Helvetica Neue" panose="02000503000000020004" pitchFamily="2" charset="0"/>
              </a:rPr>
              <a:t>Role Modelling Enterprise Values and Accountability</a:t>
            </a:r>
          </a:p>
          <a:p>
            <a:pPr eaLnBrk="1" fontAlgn="auto" hangingPunct="1">
              <a:spcBef>
                <a:spcPts val="0"/>
              </a:spcBef>
              <a:spcAft>
                <a:spcPts val="0"/>
              </a:spcAft>
              <a:defRPr/>
            </a:pPr>
            <a:endParaRPr lang="en-US" sz="1200" kern="0">
              <a:solidFill>
                <a:sysClr val="windowText" lastClr="000000"/>
              </a:solidFill>
              <a:latin typeface="Helvetica Neue"/>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107129460"/>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1916F991-344F-5104-B1A1-2CF8FAAF7A90}"/>
            </a:ext>
          </a:extLst>
        </p:cNvPr>
        <p:cNvGrpSpPr/>
        <p:nvPr/>
      </p:nvGrpSpPr>
      <p:grpSpPr>
        <a:xfrm>
          <a:off x="0" y="0"/>
          <a:ext cx="0" cy="0"/>
          <a:chOff x="0" y="0"/>
          <a:chExt cx="0" cy="0"/>
        </a:xfrm>
      </p:grpSpPr>
      <p:sp>
        <p:nvSpPr>
          <p:cNvPr id="21507" name="Text Placeholder 1">
            <a:extLst>
              <a:ext uri="{FF2B5EF4-FFF2-40B4-BE49-F238E27FC236}">
                <a16:creationId xmlns:a16="http://schemas.microsoft.com/office/drawing/2014/main" id="{B1B0B041-1844-E39A-DC8B-57675F65E04B}"/>
              </a:ext>
            </a:extLst>
          </p:cNvPr>
          <p:cNvSpPr>
            <a:spLocks noGrp="1" noChangeArrowheads="1"/>
          </p:cNvSpPr>
          <p:nvPr>
            <p:ph type="body" idx="1"/>
          </p:nvPr>
        </p:nvSpPr>
        <p:spPr bwMode="auto">
          <a:xfrm>
            <a:off x="727075" y="374650"/>
            <a:ext cx="7559675" cy="334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marL="0" indent="0">
              <a:spcBef>
                <a:spcPct val="0"/>
              </a:spcBef>
              <a:spcAft>
                <a:spcPct val="0"/>
              </a:spcAft>
              <a:buClr>
                <a:srgbClr val="000000"/>
              </a:buClr>
              <a:buSzPts val="2400"/>
              <a:buFont typeface="Arial" panose="020B0604020202020204" pitchFamily="34" charset="0"/>
              <a:buNone/>
            </a:pPr>
            <a:r>
              <a:rPr lang="en-US" altLang="en-US" sz="2000">
                <a:solidFill>
                  <a:srgbClr val="002060"/>
                </a:solidFill>
                <a:latin typeface="Helvetica Neue" panose="02000503000000020004" pitchFamily="2" charset="0"/>
                <a:ea typeface="Helvetica Neue" panose="02000503000000020004" pitchFamily="2" charset="0"/>
                <a:cs typeface="Helvetica Neue" panose="02000503000000020004" pitchFamily="2" charset="0"/>
                <a:sym typeface="Helvetica Neue Light" panose="02000403000000020004" pitchFamily="2" charset="0"/>
              </a:rPr>
              <a:t>ADQ actions to enable the CEO</a:t>
            </a:r>
          </a:p>
        </p:txBody>
      </p:sp>
      <p:sp>
        <p:nvSpPr>
          <p:cNvPr id="21508" name="Slide Number Placeholder 2">
            <a:extLst>
              <a:ext uri="{FF2B5EF4-FFF2-40B4-BE49-F238E27FC236}">
                <a16:creationId xmlns:a16="http://schemas.microsoft.com/office/drawing/2014/main" id="{7B0131A9-BAC8-97E1-D4AB-0A4C58E4C1B4}"/>
              </a:ext>
            </a:extLst>
          </p:cNvPr>
          <p:cNvSpPr>
            <a:spLocks noGrp="1" noChangeArrowheads="1"/>
          </p:cNvSpPr>
          <p:nvPr>
            <p:ph type="sldNum" sz="quarter" idx="10"/>
          </p:nvPr>
        </p:nvSpPr>
        <p:spPr>
          <a:xfrm>
            <a:off x="0" y="238125"/>
            <a:ext cx="557213" cy="557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94E6AC2-D12E-1843-971E-E4F9DE4AA8B8}"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10</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30745" name="Trapezoid 7">
            <a:extLst>
              <a:ext uri="{FF2B5EF4-FFF2-40B4-BE49-F238E27FC236}">
                <a16:creationId xmlns:a16="http://schemas.microsoft.com/office/drawing/2014/main" id="{A92AC05A-4A3F-2C4A-1AEB-665B343C6703}"/>
              </a:ext>
            </a:extLst>
          </p:cNvPr>
          <p:cNvSpPr/>
          <p:nvPr/>
        </p:nvSpPr>
        <p:spPr>
          <a:xfrm rot="5400000" flipH="1">
            <a:off x="6495110" y="3414746"/>
            <a:ext cx="5177603" cy="897710"/>
          </a:xfrm>
          <a:custGeom>
            <a:avLst/>
            <a:gdLst>
              <a:gd name="connsiteX0" fmla="*/ 0 w 5296629"/>
              <a:gd name="connsiteY0" fmla="*/ 663388 h 663388"/>
              <a:gd name="connsiteX1" fmla="*/ 165847 w 5296629"/>
              <a:gd name="connsiteY1" fmla="*/ 0 h 663388"/>
              <a:gd name="connsiteX2" fmla="*/ 5130782 w 5296629"/>
              <a:gd name="connsiteY2" fmla="*/ 0 h 663388"/>
              <a:gd name="connsiteX3" fmla="*/ 5296629 w 5296629"/>
              <a:gd name="connsiteY3" fmla="*/ 663388 h 663388"/>
              <a:gd name="connsiteX4" fmla="*/ 0 w 5296629"/>
              <a:gd name="connsiteY4" fmla="*/ 663388 h 663388"/>
              <a:gd name="connsiteX0" fmla="*/ 0 w 5296629"/>
              <a:gd name="connsiteY0" fmla="*/ 663388 h 663388"/>
              <a:gd name="connsiteX1" fmla="*/ 165847 w 5296629"/>
              <a:gd name="connsiteY1" fmla="*/ 0 h 663388"/>
              <a:gd name="connsiteX2" fmla="*/ 4743030 w 5296629"/>
              <a:gd name="connsiteY2" fmla="*/ 5788 h 663388"/>
              <a:gd name="connsiteX3" fmla="*/ 5296629 w 5296629"/>
              <a:gd name="connsiteY3" fmla="*/ 663388 h 663388"/>
              <a:gd name="connsiteX4" fmla="*/ 0 w 5296629"/>
              <a:gd name="connsiteY4" fmla="*/ 663388 h 663388"/>
              <a:gd name="connsiteX0" fmla="*/ 0 w 5296629"/>
              <a:gd name="connsiteY0" fmla="*/ 663388 h 663388"/>
              <a:gd name="connsiteX1" fmla="*/ 165847 w 5296629"/>
              <a:gd name="connsiteY1" fmla="*/ 0 h 663388"/>
              <a:gd name="connsiteX2" fmla="*/ 4725668 w 5296629"/>
              <a:gd name="connsiteY2" fmla="*/ 0 h 663388"/>
              <a:gd name="connsiteX3" fmla="*/ 5296629 w 5296629"/>
              <a:gd name="connsiteY3" fmla="*/ 663388 h 663388"/>
              <a:gd name="connsiteX4" fmla="*/ 0 w 5296629"/>
              <a:gd name="connsiteY4" fmla="*/ 663388 h 663388"/>
              <a:gd name="connsiteX0" fmla="*/ 0 w 5296629"/>
              <a:gd name="connsiteY0" fmla="*/ 669173 h 669173"/>
              <a:gd name="connsiteX1" fmla="*/ 588323 w 5296629"/>
              <a:gd name="connsiteY1" fmla="*/ 0 h 669173"/>
              <a:gd name="connsiteX2" fmla="*/ 4725668 w 5296629"/>
              <a:gd name="connsiteY2" fmla="*/ 5785 h 669173"/>
              <a:gd name="connsiteX3" fmla="*/ 5296629 w 5296629"/>
              <a:gd name="connsiteY3" fmla="*/ 669173 h 669173"/>
              <a:gd name="connsiteX4" fmla="*/ 0 w 5296629"/>
              <a:gd name="connsiteY4" fmla="*/ 669173 h 669173"/>
              <a:gd name="connsiteX0" fmla="*/ 0 w 5386593"/>
              <a:gd name="connsiteY0" fmla="*/ 669173 h 669173"/>
              <a:gd name="connsiteX1" fmla="*/ 588323 w 5386593"/>
              <a:gd name="connsiteY1" fmla="*/ 0 h 669173"/>
              <a:gd name="connsiteX2" fmla="*/ 4725668 w 5386593"/>
              <a:gd name="connsiteY2" fmla="*/ 5785 h 669173"/>
              <a:gd name="connsiteX3" fmla="*/ 5386593 w 5386593"/>
              <a:gd name="connsiteY3" fmla="*/ 669172 h 669173"/>
              <a:gd name="connsiteX4" fmla="*/ 0 w 5386593"/>
              <a:gd name="connsiteY4" fmla="*/ 669173 h 669173"/>
              <a:gd name="connsiteX0" fmla="*/ 1 w 5420331"/>
              <a:gd name="connsiteY0" fmla="*/ 669176 h 669177"/>
              <a:gd name="connsiteX1" fmla="*/ 622061 w 5420331"/>
              <a:gd name="connsiteY1" fmla="*/ 0 h 669177"/>
              <a:gd name="connsiteX2" fmla="*/ 4759406 w 5420331"/>
              <a:gd name="connsiteY2" fmla="*/ 5785 h 669177"/>
              <a:gd name="connsiteX3" fmla="*/ 5420331 w 5420331"/>
              <a:gd name="connsiteY3" fmla="*/ 669172 h 669177"/>
              <a:gd name="connsiteX4" fmla="*/ 1 w 5420331"/>
              <a:gd name="connsiteY4" fmla="*/ 669176 h 669177"/>
              <a:gd name="connsiteX0" fmla="*/ 0 w 5420330"/>
              <a:gd name="connsiteY0" fmla="*/ 669176 h 669176"/>
              <a:gd name="connsiteX1" fmla="*/ 622060 w 5420330"/>
              <a:gd name="connsiteY1" fmla="*/ 0 h 669176"/>
              <a:gd name="connsiteX2" fmla="*/ 3562782 w 5420330"/>
              <a:gd name="connsiteY2" fmla="*/ 34902 h 669176"/>
              <a:gd name="connsiteX3" fmla="*/ 5420330 w 5420330"/>
              <a:gd name="connsiteY3" fmla="*/ 669172 h 669176"/>
              <a:gd name="connsiteX4" fmla="*/ 0 w 5420330"/>
              <a:gd name="connsiteY4" fmla="*/ 669176 h 669176"/>
              <a:gd name="connsiteX0" fmla="*/ 0 w 5420330"/>
              <a:gd name="connsiteY0" fmla="*/ 686686 h 686686"/>
              <a:gd name="connsiteX1" fmla="*/ 622060 w 5420330"/>
              <a:gd name="connsiteY1" fmla="*/ 17510 h 686686"/>
              <a:gd name="connsiteX2" fmla="*/ 3288856 w 5420330"/>
              <a:gd name="connsiteY2" fmla="*/ 0 h 686686"/>
              <a:gd name="connsiteX3" fmla="*/ 5420330 w 5420330"/>
              <a:gd name="connsiteY3" fmla="*/ 686682 h 686686"/>
              <a:gd name="connsiteX4" fmla="*/ 0 w 5420330"/>
              <a:gd name="connsiteY4" fmla="*/ 686686 h 686686"/>
              <a:gd name="connsiteX0" fmla="*/ 0 w 5420330"/>
              <a:gd name="connsiteY0" fmla="*/ 680861 h 680861"/>
              <a:gd name="connsiteX1" fmla="*/ 622060 w 5420330"/>
              <a:gd name="connsiteY1" fmla="*/ 11685 h 680861"/>
              <a:gd name="connsiteX2" fmla="*/ 3255215 w 5420330"/>
              <a:gd name="connsiteY2" fmla="*/ 0 h 680861"/>
              <a:gd name="connsiteX3" fmla="*/ 5420330 w 5420330"/>
              <a:gd name="connsiteY3" fmla="*/ 680857 h 680861"/>
              <a:gd name="connsiteX4" fmla="*/ 0 w 5420330"/>
              <a:gd name="connsiteY4" fmla="*/ 680861 h 680861"/>
              <a:gd name="connsiteX0" fmla="*/ 0 w 5420330"/>
              <a:gd name="connsiteY0" fmla="*/ 692471 h 692471"/>
              <a:gd name="connsiteX1" fmla="*/ 2174306 w 5420330"/>
              <a:gd name="connsiteY1" fmla="*/ 0 h 692471"/>
              <a:gd name="connsiteX2" fmla="*/ 3255215 w 5420330"/>
              <a:gd name="connsiteY2" fmla="*/ 11610 h 692471"/>
              <a:gd name="connsiteX3" fmla="*/ 5420330 w 5420330"/>
              <a:gd name="connsiteY3" fmla="*/ 692467 h 692471"/>
              <a:gd name="connsiteX4" fmla="*/ 0 w 5420330"/>
              <a:gd name="connsiteY4" fmla="*/ 692471 h 692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0330" h="692471">
                <a:moveTo>
                  <a:pt x="0" y="692471"/>
                </a:moveTo>
                <a:lnTo>
                  <a:pt x="2174306" y="0"/>
                </a:lnTo>
                <a:lnTo>
                  <a:pt x="3255215" y="11610"/>
                </a:lnTo>
                <a:lnTo>
                  <a:pt x="5420330" y="692467"/>
                </a:lnTo>
                <a:lnTo>
                  <a:pt x="0" y="692471"/>
                </a:lnTo>
                <a:close/>
              </a:path>
            </a:pathLst>
          </a:custGeom>
          <a:pattFill prst="ltHorz">
            <a:fgClr>
              <a:schemeClr val="bg1">
                <a:lumMod val="7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ptos" panose="020B0004020202020204" pitchFamily="34" charset="0"/>
              <a:ea typeface="+mn-ea"/>
              <a:cs typeface="+mn-cs"/>
              <a:sym typeface="Arial" panose="020B0604020202020204" pitchFamily="34" charset="0"/>
            </a:endParaRPr>
          </a:p>
        </p:txBody>
      </p:sp>
      <p:sp>
        <p:nvSpPr>
          <p:cNvPr id="2" name="TextBox 1">
            <a:extLst>
              <a:ext uri="{FF2B5EF4-FFF2-40B4-BE49-F238E27FC236}">
                <a16:creationId xmlns:a16="http://schemas.microsoft.com/office/drawing/2014/main" id="{B33020D2-CB2F-AA4D-C74C-0471CA42CBE4}"/>
              </a:ext>
            </a:extLst>
          </p:cNvPr>
          <p:cNvSpPr txBox="1"/>
          <p:nvPr/>
        </p:nvSpPr>
        <p:spPr>
          <a:xfrm>
            <a:off x="726539" y="1086126"/>
            <a:ext cx="1444626" cy="60016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CLEAR, DIRECT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COMMUNICATION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FROM THE BOARD</a:t>
            </a:r>
          </a:p>
        </p:txBody>
      </p:sp>
      <p:sp>
        <p:nvSpPr>
          <p:cNvPr id="3" name="TextBox 2">
            <a:extLst>
              <a:ext uri="{FF2B5EF4-FFF2-40B4-BE49-F238E27FC236}">
                <a16:creationId xmlns:a16="http://schemas.microsoft.com/office/drawing/2014/main" id="{09A4A1EC-3818-E4CC-779D-4A27E399DDF9}"/>
              </a:ext>
            </a:extLst>
          </p:cNvPr>
          <p:cNvSpPr txBox="1"/>
          <p:nvPr/>
        </p:nvSpPr>
        <p:spPr>
          <a:xfrm>
            <a:off x="4113276" y="992996"/>
            <a:ext cx="4472360" cy="1061829"/>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Helvetica Neue Light" panose="02000403000000020004" pitchFamily="2" charset="0"/>
                <a:ea typeface="Helvetica Neue Light" panose="02000403000000020004" pitchFamily="2" charset="0"/>
                <a:cs typeface="Arial" panose="020B0604020202020204" pitchFamily="34" charset="0"/>
                <a:sym typeface="Arial" panose="020B0604020202020204" pitchFamily="34" charset="0"/>
              </a:rPr>
              <a:t>Replacing the CEO at this point may de-stabilize the situation further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rgbClr val="000000"/>
              </a:solidFill>
              <a:effectLst/>
              <a:uLnTx/>
              <a:uFillTx/>
              <a:latin typeface="Helvetica Neue Light" panose="02000403000000020004" pitchFamily="2" charset="0"/>
              <a:ea typeface="Helvetica Neue Light" panose="02000403000000020004" pitchFamily="2"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Helvetica Neue Light" panose="02000403000000020004" pitchFamily="2" charset="0"/>
                <a:ea typeface="Helvetica Neue Light" panose="02000403000000020004" pitchFamily="2" charset="0"/>
                <a:cs typeface="Arial" panose="020B0604020202020204" pitchFamily="34" charset="0"/>
                <a:sym typeface="Arial" panose="020B0604020202020204" pitchFamily="34" charset="0"/>
              </a:rPr>
              <a:t>Focus on strengthening the structure below him—complementing his leadership gaps with a strong people-oriented leader (e.g., Dy CEO, CHRO) who can act as a stabilizing buffer and a coach.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50" b="0" i="0" u="none" strike="noStrike" kern="1200" cap="none" spc="0" normalizeH="0" baseline="0" noProof="0">
              <a:ln>
                <a:noFill/>
              </a:ln>
              <a:solidFill>
                <a:srgbClr val="000000"/>
              </a:solidFill>
              <a:effectLst/>
              <a:uLnTx/>
              <a:uFillTx/>
              <a:latin typeface="Helvetica Neue Light" panose="02000403000000020004" pitchFamily="2" charset="0"/>
              <a:ea typeface="Helvetica Neue Light" panose="02000403000000020004" pitchFamily="2" charset="0"/>
              <a:cs typeface="Arial" panose="020B0604020202020204" pitchFamily="34" charset="0"/>
              <a:sym typeface="Arial" panose="020B0604020202020204" pitchFamily="34" charset="0"/>
            </a:endParaRPr>
          </a:p>
        </p:txBody>
      </p:sp>
      <p:sp>
        <p:nvSpPr>
          <p:cNvPr id="6" name="TextBox 5">
            <a:extLst>
              <a:ext uri="{FF2B5EF4-FFF2-40B4-BE49-F238E27FC236}">
                <a16:creationId xmlns:a16="http://schemas.microsoft.com/office/drawing/2014/main" id="{2C5FFEA0-EF14-A046-454E-FACA483BCA0B}"/>
              </a:ext>
            </a:extLst>
          </p:cNvPr>
          <p:cNvSpPr txBox="1"/>
          <p:nvPr/>
        </p:nvSpPr>
        <p:spPr>
          <a:xfrm>
            <a:off x="4127637" y="2076406"/>
            <a:ext cx="4308442" cy="1384995"/>
          </a:xfrm>
          <a:prstGeom prst="rect">
            <a:avLst/>
          </a:prstGeom>
          <a:noFill/>
        </p:spPr>
        <p:txBody>
          <a:bodyPr wrap="square" lIns="91440" tIns="45720" rIns="91440" bIns="45720" rtlCol="0" anchor="t">
            <a:spAutoFit/>
          </a:bodyPr>
          <a:lstStyle/>
          <a:p>
            <a:pPr marL="171450" lvl="0" indent="-171450" eaLnBrk="1" fontAlgn="auto" hangingPunct="1">
              <a:spcBef>
                <a:spcPts val="0"/>
              </a:spcBef>
              <a:spcAft>
                <a:spcPts val="0"/>
              </a:spcAft>
              <a:buFont typeface="Arial" panose="020B0604020202020204" pitchFamily="34" charset="0"/>
              <a:buChar char="•"/>
              <a:defRPr/>
            </a:pPr>
            <a:r>
              <a:rPr lang="en-US" sz="1050" dirty="0">
                <a:latin typeface="Helvetica Neue Light" panose="02000403000000020004" pitchFamily="2" charset="0"/>
                <a:ea typeface="Helvetica Neue Light" panose="02000403000000020004" pitchFamily="2" charset="0"/>
              </a:rPr>
              <a:t>Shift his energy to growth: Champion a “1 dirham, 1.01 decision” mindset—ensuring spending is directly tied to measurable business outcomes</a:t>
            </a:r>
          </a:p>
          <a:p>
            <a:pPr marL="171450" indent="-171450" eaLnBrk="1" fontAlgn="auto" hangingPunct="1">
              <a:spcBef>
                <a:spcPts val="0"/>
              </a:spcBef>
              <a:spcAft>
                <a:spcPts val="0"/>
              </a:spcAft>
              <a:buFont typeface="Arial" panose="020B0604020202020204" pitchFamily="34" charset="0"/>
              <a:buChar char="•"/>
              <a:defRPr/>
            </a:pPr>
            <a:r>
              <a:rPr lang="en-US" sz="1050" dirty="0">
                <a:latin typeface="Helvetica Neue Light" panose="02000403000000020004" pitchFamily="2" charset="0"/>
                <a:ea typeface="Helvetica Neue Light" panose="02000403000000020004" pitchFamily="2" charset="0"/>
              </a:rPr>
              <a:t>Give direct feedback on what's working and what's not and on the JTBDs—financial and non-financial (building a sustainable top team as a ADQ company is a JTBD)</a:t>
            </a:r>
          </a:p>
          <a:p>
            <a:pPr marL="171450" indent="-171450" eaLnBrk="1" fontAlgn="auto" hangingPunct="1">
              <a:spcBef>
                <a:spcPts val="0"/>
              </a:spcBef>
              <a:spcAft>
                <a:spcPts val="0"/>
              </a:spcAft>
              <a:buFont typeface="Arial" panose="020B0604020202020204" pitchFamily="34" charset="0"/>
              <a:buChar char="•"/>
              <a:defRPr/>
            </a:pPr>
            <a:r>
              <a:rPr lang="en-US" sz="1050" b="1" dirty="0">
                <a:latin typeface="Helvetica Neue Light" panose="02000403000000020004" pitchFamily="2" charset="0"/>
                <a:ea typeface="Helvetica Neue Light" panose="02000403000000020004" pitchFamily="2" charset="0"/>
              </a:rPr>
              <a:t>ALIGN TEAM Incentives to encourage Team collaboration</a:t>
            </a:r>
          </a:p>
          <a:p>
            <a:pPr marL="171450" lvl="0" indent="-171450" eaLnBrk="1" fontAlgn="auto" hangingPunct="1">
              <a:spcBef>
                <a:spcPts val="0"/>
              </a:spcBef>
              <a:spcAft>
                <a:spcPts val="0"/>
              </a:spcAft>
              <a:buFont typeface="Arial" panose="020B0604020202020204" pitchFamily="34" charset="0"/>
              <a:buChar char="•"/>
              <a:defRPr/>
            </a:pPr>
            <a:endParaRPr lang="en-US" sz="1050" dirty="0">
              <a:latin typeface="Helvetica Neue Light" panose="02000403000000020004" pitchFamily="2" charset="0"/>
              <a:ea typeface="Helvetica Neue Light" panose="02000403000000020004" pitchFamily="2" charset="0"/>
            </a:endParaRPr>
          </a:p>
        </p:txBody>
      </p:sp>
      <p:sp>
        <p:nvSpPr>
          <p:cNvPr id="7" name="TextBox 6">
            <a:extLst>
              <a:ext uri="{FF2B5EF4-FFF2-40B4-BE49-F238E27FC236}">
                <a16:creationId xmlns:a16="http://schemas.microsoft.com/office/drawing/2014/main" id="{59224D9B-0C4B-DEFE-C172-651E320EFB68}"/>
              </a:ext>
            </a:extLst>
          </p:cNvPr>
          <p:cNvSpPr txBox="1"/>
          <p:nvPr/>
        </p:nvSpPr>
        <p:spPr>
          <a:xfrm>
            <a:off x="4113276" y="3310614"/>
            <a:ext cx="4649030" cy="577081"/>
          </a:xfrm>
          <a:prstGeom prst="rect">
            <a:avLst/>
          </a:prstGeom>
          <a:noFill/>
        </p:spPr>
        <p:txBody>
          <a:bodyPr wrap="non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Arial" panose="020B0604020202020204" pitchFamily="34" charset="0"/>
              </a:rPr>
              <a:t>Ecosystem, strategy, represent Abu Dhabi in new countries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Arial" panose="020B0604020202020204" pitchFamily="34" charset="0"/>
              </a:rPr>
              <a:t>Operations should be done by somebody else with the right experience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Arial" panose="020B0604020202020204" pitchFamily="34" charset="0"/>
              </a:rPr>
              <a:t>Change CIO (if relationship is broken)</a:t>
            </a:r>
          </a:p>
        </p:txBody>
      </p:sp>
      <p:sp>
        <p:nvSpPr>
          <p:cNvPr id="10" name="TextBox 9">
            <a:extLst>
              <a:ext uri="{FF2B5EF4-FFF2-40B4-BE49-F238E27FC236}">
                <a16:creationId xmlns:a16="http://schemas.microsoft.com/office/drawing/2014/main" id="{825E6F2A-3EF0-65E2-C550-CBB1AE4D18B6}"/>
              </a:ext>
            </a:extLst>
          </p:cNvPr>
          <p:cNvSpPr txBox="1"/>
          <p:nvPr/>
        </p:nvSpPr>
        <p:spPr>
          <a:xfrm>
            <a:off x="4113276" y="4216774"/>
            <a:ext cx="3953326" cy="577081"/>
          </a:xfrm>
          <a:prstGeom prst="rect">
            <a:avLst/>
          </a:prstGeom>
          <a:noFill/>
        </p:spPr>
        <p:txBody>
          <a:bodyPr wrap="non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Helvetica Neue Light" panose="02000403000000020004" pitchFamily="2" charset="0"/>
                <a:ea typeface="Helvetica Neue Light" panose="02000403000000020004" pitchFamily="2" charset="0"/>
                <a:cs typeface="Arial" panose="020B0604020202020204" pitchFamily="34" charset="0"/>
                <a:sym typeface="Arial" panose="020B0604020202020204" pitchFamily="34" charset="0"/>
              </a:rPr>
              <a:t>Safeguard 30-40 critical roles—quietly remove low performers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Helvetica Neue Light" panose="02000403000000020004" pitchFamily="2" charset="0"/>
                <a:ea typeface="Helvetica Neue Light" panose="02000403000000020004" pitchFamily="2" charset="0"/>
                <a:cs typeface="Arial" panose="020B0604020202020204" pitchFamily="34" charset="0"/>
                <a:sym typeface="Arial" panose="020B0604020202020204" pitchFamily="34" charset="0"/>
              </a:rPr>
              <a:t>Shift the message to growth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Helvetica Neue Light" panose="02000403000000020004" pitchFamily="2" charset="0"/>
                <a:ea typeface="Helvetica Neue Light" panose="02000403000000020004" pitchFamily="2" charset="0"/>
                <a:cs typeface="Arial" panose="020B0604020202020204" pitchFamily="34" charset="0"/>
                <a:sym typeface="Arial" panose="020B0604020202020204" pitchFamily="34" charset="0"/>
              </a:rPr>
              <a:t>Connect the support functions to Value (business acumen)  </a:t>
            </a:r>
          </a:p>
        </p:txBody>
      </p:sp>
      <p:sp>
        <p:nvSpPr>
          <p:cNvPr id="11" name="Oval 10">
            <a:extLst>
              <a:ext uri="{FF2B5EF4-FFF2-40B4-BE49-F238E27FC236}">
                <a16:creationId xmlns:a16="http://schemas.microsoft.com/office/drawing/2014/main" id="{ABCB75E4-5471-EB50-6CDD-A653B8EF381D}"/>
              </a:ext>
            </a:extLst>
          </p:cNvPr>
          <p:cNvSpPr/>
          <p:nvPr/>
        </p:nvSpPr>
        <p:spPr>
          <a:xfrm>
            <a:off x="3305754" y="4167687"/>
            <a:ext cx="704048" cy="70404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2400" b="0" i="0" u="none" strike="noStrike" kern="1200" cap="none" spc="0" normalizeH="0" baseline="0" noProof="0">
              <a:ln>
                <a:noFill/>
              </a:ln>
              <a:solidFill>
                <a:srgbClr val="FFFFFF"/>
              </a:solidFill>
              <a:effectLst/>
              <a:uLnTx/>
              <a:uFillTx/>
              <a:latin typeface="Arial"/>
              <a:ea typeface="+mn-ea"/>
              <a:cs typeface="+mn-cs"/>
            </a:endParaRPr>
          </a:p>
        </p:txBody>
      </p:sp>
      <p:sp>
        <p:nvSpPr>
          <p:cNvPr id="12" name="TextBox 11">
            <a:extLst>
              <a:ext uri="{FF2B5EF4-FFF2-40B4-BE49-F238E27FC236}">
                <a16:creationId xmlns:a16="http://schemas.microsoft.com/office/drawing/2014/main" id="{BCE9CD7E-C542-8B31-EA00-B7691B88CF60}"/>
              </a:ext>
            </a:extLst>
          </p:cNvPr>
          <p:cNvSpPr txBox="1"/>
          <p:nvPr/>
        </p:nvSpPr>
        <p:spPr>
          <a:xfrm>
            <a:off x="4113276" y="5272644"/>
            <a:ext cx="4448264"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Helvetica Neue Light" panose="02000403000000020004" pitchFamily="2" charset="0"/>
                <a:ea typeface="Helvetica Neue Light" panose="02000403000000020004" pitchFamily="2" charset="0"/>
                <a:cs typeface="Arial" panose="020B0604020202020204" pitchFamily="34" charset="0"/>
                <a:sym typeface="Arial" panose="020B0604020202020204" pitchFamily="34" charset="0"/>
              </a:rPr>
              <a:t>Targeted team-building to replace silos with alignment, trust, and teamwork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Helvetica Neue Light" panose="02000403000000020004" pitchFamily="2" charset="0"/>
                <a:ea typeface="Helvetica Neue Light" panose="02000403000000020004" pitchFamily="2" charset="0"/>
                <a:cs typeface="Arial" panose="020B0604020202020204" pitchFamily="34" charset="0"/>
                <a:sym typeface="Arial" panose="020B0604020202020204" pitchFamily="34" charset="0"/>
              </a:rPr>
              <a:t>Establish structured ways of working (weekly and monthly cadence)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Helvetica Neue Light" panose="02000403000000020004" pitchFamily="2" charset="0"/>
                <a:ea typeface="Helvetica Neue Light" panose="02000403000000020004" pitchFamily="2" charset="0"/>
                <a:cs typeface="Arial" panose="020B0604020202020204" pitchFamily="34" charset="0"/>
                <a:sym typeface="Arial" panose="020B0604020202020204" pitchFamily="34" charset="0"/>
              </a:rPr>
              <a:t>Support cultural integration for team members new to the UAE</a:t>
            </a:r>
          </a:p>
        </p:txBody>
      </p:sp>
      <p:sp>
        <p:nvSpPr>
          <p:cNvPr id="13" name="Oval 12">
            <a:extLst>
              <a:ext uri="{FF2B5EF4-FFF2-40B4-BE49-F238E27FC236}">
                <a16:creationId xmlns:a16="http://schemas.microsoft.com/office/drawing/2014/main" id="{3EF3819C-9C03-891F-9610-5070AD05B32B}"/>
              </a:ext>
            </a:extLst>
          </p:cNvPr>
          <p:cNvSpPr/>
          <p:nvPr/>
        </p:nvSpPr>
        <p:spPr>
          <a:xfrm>
            <a:off x="3305754" y="3215709"/>
            <a:ext cx="704048" cy="70404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2400" b="0" i="0" u="none" strike="noStrike" kern="1200" cap="none" spc="0" normalizeH="0" baseline="0" noProof="0">
              <a:ln>
                <a:noFill/>
              </a:ln>
              <a:solidFill>
                <a:srgbClr val="FFFFFF"/>
              </a:solidFill>
              <a:effectLst/>
              <a:uLnTx/>
              <a:uFillTx/>
              <a:latin typeface="Arial"/>
              <a:ea typeface="+mn-ea"/>
              <a:cs typeface="+mn-cs"/>
            </a:endParaRPr>
          </a:p>
        </p:txBody>
      </p:sp>
      <p:sp>
        <p:nvSpPr>
          <p:cNvPr id="14" name="Oval 13">
            <a:extLst>
              <a:ext uri="{FF2B5EF4-FFF2-40B4-BE49-F238E27FC236}">
                <a16:creationId xmlns:a16="http://schemas.microsoft.com/office/drawing/2014/main" id="{4498E2B7-0871-C093-F981-E03741CF7712}"/>
              </a:ext>
            </a:extLst>
          </p:cNvPr>
          <p:cNvSpPr/>
          <p:nvPr/>
        </p:nvSpPr>
        <p:spPr>
          <a:xfrm>
            <a:off x="3305754" y="5244926"/>
            <a:ext cx="704048" cy="70404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2400" b="0" i="0" u="none" strike="noStrike" kern="1200" cap="none" spc="0" normalizeH="0" baseline="0" noProof="0">
              <a:ln>
                <a:noFill/>
              </a:ln>
              <a:solidFill>
                <a:srgbClr val="FFFFFF"/>
              </a:solidFill>
              <a:effectLst/>
              <a:uLnTx/>
              <a:uFillTx/>
              <a:latin typeface="Arial"/>
              <a:ea typeface="+mn-ea"/>
              <a:cs typeface="+mn-cs"/>
            </a:endParaRPr>
          </a:p>
        </p:txBody>
      </p:sp>
      <p:sp>
        <p:nvSpPr>
          <p:cNvPr id="15" name="TextBox 14">
            <a:extLst>
              <a:ext uri="{FF2B5EF4-FFF2-40B4-BE49-F238E27FC236}">
                <a16:creationId xmlns:a16="http://schemas.microsoft.com/office/drawing/2014/main" id="{D5FDE74E-105F-F51B-9747-7EE186123BCA}"/>
              </a:ext>
            </a:extLst>
          </p:cNvPr>
          <p:cNvSpPr txBox="1"/>
          <p:nvPr/>
        </p:nvSpPr>
        <p:spPr>
          <a:xfrm>
            <a:off x="726539" y="2434869"/>
            <a:ext cx="1087157"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FIX vs GROW</a:t>
            </a:r>
          </a:p>
        </p:txBody>
      </p:sp>
      <p:sp>
        <p:nvSpPr>
          <p:cNvPr id="16" name="Oval 15">
            <a:extLst>
              <a:ext uri="{FF2B5EF4-FFF2-40B4-BE49-F238E27FC236}">
                <a16:creationId xmlns:a16="http://schemas.microsoft.com/office/drawing/2014/main" id="{1B3E02DB-BCCA-41EC-3E82-B84DD8C02CEE}"/>
              </a:ext>
            </a:extLst>
          </p:cNvPr>
          <p:cNvSpPr/>
          <p:nvPr/>
        </p:nvSpPr>
        <p:spPr>
          <a:xfrm>
            <a:off x="3305754" y="1054610"/>
            <a:ext cx="704048" cy="70404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2400" b="0" i="0" u="none" strike="noStrike" kern="1200" cap="none" spc="0" normalizeH="0" baseline="0" noProof="0">
              <a:ln>
                <a:noFill/>
              </a:ln>
              <a:solidFill>
                <a:srgbClr val="FFFFFF"/>
              </a:solidFill>
              <a:effectLst/>
              <a:uLnTx/>
              <a:uFillTx/>
              <a:latin typeface="Arial"/>
              <a:ea typeface="+mn-ea"/>
              <a:cs typeface="+mn-cs"/>
            </a:endParaRPr>
          </a:p>
        </p:txBody>
      </p:sp>
      <p:sp>
        <p:nvSpPr>
          <p:cNvPr id="17" name="Oval 16">
            <a:extLst>
              <a:ext uri="{FF2B5EF4-FFF2-40B4-BE49-F238E27FC236}">
                <a16:creationId xmlns:a16="http://schemas.microsoft.com/office/drawing/2014/main" id="{A286A2EB-980B-5EC6-1113-5BC0756DD329}"/>
              </a:ext>
            </a:extLst>
          </p:cNvPr>
          <p:cNvSpPr/>
          <p:nvPr/>
        </p:nvSpPr>
        <p:spPr>
          <a:xfrm>
            <a:off x="3305754" y="2182312"/>
            <a:ext cx="704048" cy="70404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2400" b="0" i="0" u="none" strike="noStrike" kern="1200" cap="none" spc="0" normalizeH="0" baseline="0" noProof="0">
              <a:ln>
                <a:noFill/>
              </a:ln>
              <a:solidFill>
                <a:srgbClr val="FFFFFF"/>
              </a:solidFill>
              <a:effectLst/>
              <a:uLnTx/>
              <a:uFillTx/>
              <a:latin typeface="Arial"/>
              <a:ea typeface="+mn-ea"/>
              <a:cs typeface="+mn-cs"/>
            </a:endParaRPr>
          </a:p>
        </p:txBody>
      </p:sp>
      <p:sp>
        <p:nvSpPr>
          <p:cNvPr id="18" name="TextBox 17">
            <a:extLst>
              <a:ext uri="{FF2B5EF4-FFF2-40B4-BE49-F238E27FC236}">
                <a16:creationId xmlns:a16="http://schemas.microsoft.com/office/drawing/2014/main" id="{9C677FAA-1684-7C66-E0EB-A7EBBCC7817D}"/>
              </a:ext>
            </a:extLst>
          </p:cNvPr>
          <p:cNvSpPr txBox="1"/>
          <p:nvPr/>
        </p:nvSpPr>
        <p:spPr>
          <a:xfrm>
            <a:off x="726539" y="3333697"/>
            <a:ext cx="1576072" cy="60016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DESIGN HIS ROLE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AND TEAM AROUND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HIS STRENGTHS</a:t>
            </a:r>
          </a:p>
        </p:txBody>
      </p:sp>
      <p:sp>
        <p:nvSpPr>
          <p:cNvPr id="19" name="TextBox 18">
            <a:extLst>
              <a:ext uri="{FF2B5EF4-FFF2-40B4-BE49-F238E27FC236}">
                <a16:creationId xmlns:a16="http://schemas.microsoft.com/office/drawing/2014/main" id="{94DA9DC1-DD85-BF2D-0A9E-BE76504AEAA4}"/>
              </a:ext>
            </a:extLst>
          </p:cNvPr>
          <p:cNvSpPr txBox="1"/>
          <p:nvPr/>
        </p:nvSpPr>
        <p:spPr>
          <a:xfrm>
            <a:off x="726539" y="4216774"/>
            <a:ext cx="2316660"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SAFEGUARD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30-40 CRITICAL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ROLES – QUITELY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REMOVE LOW PERFORMERS</a:t>
            </a:r>
          </a:p>
        </p:txBody>
      </p:sp>
      <p:sp>
        <p:nvSpPr>
          <p:cNvPr id="20" name="Oval 19">
            <a:extLst>
              <a:ext uri="{FF2B5EF4-FFF2-40B4-BE49-F238E27FC236}">
                <a16:creationId xmlns:a16="http://schemas.microsoft.com/office/drawing/2014/main" id="{7D7AFBC7-6304-8650-7B4A-B9B0D40AC86C}"/>
              </a:ext>
            </a:extLst>
          </p:cNvPr>
          <p:cNvSpPr/>
          <p:nvPr/>
        </p:nvSpPr>
        <p:spPr>
          <a:xfrm>
            <a:off x="2384365" y="2182312"/>
            <a:ext cx="704048" cy="704048"/>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2400" b="0" i="0" u="none" strike="noStrike" kern="1200" cap="none" spc="0" normalizeH="0" baseline="0" noProof="0">
              <a:ln>
                <a:noFill/>
              </a:ln>
              <a:solidFill>
                <a:srgbClr val="FFFFFF"/>
              </a:solidFill>
              <a:effectLst/>
              <a:uLnTx/>
              <a:uFillTx/>
              <a:latin typeface="Arial"/>
              <a:ea typeface="+mn-ea"/>
              <a:cs typeface="+mn-cs"/>
            </a:endParaRPr>
          </a:p>
        </p:txBody>
      </p:sp>
      <p:sp>
        <p:nvSpPr>
          <p:cNvPr id="21" name="TextBox 20">
            <a:extLst>
              <a:ext uri="{FF2B5EF4-FFF2-40B4-BE49-F238E27FC236}">
                <a16:creationId xmlns:a16="http://schemas.microsoft.com/office/drawing/2014/main" id="{66630099-0549-5269-D3E6-56CE8AE5655D}"/>
              </a:ext>
            </a:extLst>
          </p:cNvPr>
          <p:cNvSpPr txBox="1"/>
          <p:nvPr/>
        </p:nvSpPr>
        <p:spPr>
          <a:xfrm>
            <a:off x="726539" y="5284520"/>
            <a:ext cx="1535998"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BUILD A HIGH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PERFORMING TEAM</a:t>
            </a:r>
          </a:p>
        </p:txBody>
      </p:sp>
      <p:cxnSp>
        <p:nvCxnSpPr>
          <p:cNvPr id="22" name="Straight Connector 21">
            <a:extLst>
              <a:ext uri="{FF2B5EF4-FFF2-40B4-BE49-F238E27FC236}">
                <a16:creationId xmlns:a16="http://schemas.microsoft.com/office/drawing/2014/main" id="{6E99A90D-A741-7D62-E768-29BFE0F5CACF}"/>
              </a:ext>
            </a:extLst>
          </p:cNvPr>
          <p:cNvCxnSpPr>
            <a:cxnSpLocks/>
          </p:cNvCxnSpPr>
          <p:nvPr/>
        </p:nvCxnSpPr>
        <p:spPr>
          <a:xfrm>
            <a:off x="726539" y="2023747"/>
            <a:ext cx="7586188"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AEB95A2-5736-7EC4-9B01-B53D1F4777C2}"/>
              </a:ext>
            </a:extLst>
          </p:cNvPr>
          <p:cNvCxnSpPr>
            <a:cxnSpLocks/>
          </p:cNvCxnSpPr>
          <p:nvPr/>
        </p:nvCxnSpPr>
        <p:spPr>
          <a:xfrm>
            <a:off x="726539" y="3277735"/>
            <a:ext cx="7586188"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E19AB41-BC71-B51A-4591-24A522C45F5D}"/>
              </a:ext>
            </a:extLst>
          </p:cNvPr>
          <p:cNvCxnSpPr>
            <a:cxnSpLocks/>
          </p:cNvCxnSpPr>
          <p:nvPr/>
        </p:nvCxnSpPr>
        <p:spPr>
          <a:xfrm>
            <a:off x="726539" y="4006068"/>
            <a:ext cx="7580251"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F63BA11-FEA3-D44F-9BFB-8F66EA001170}"/>
              </a:ext>
            </a:extLst>
          </p:cNvPr>
          <p:cNvCxnSpPr>
            <a:cxnSpLocks/>
          </p:cNvCxnSpPr>
          <p:nvPr/>
        </p:nvCxnSpPr>
        <p:spPr>
          <a:xfrm>
            <a:off x="726539" y="5073811"/>
            <a:ext cx="7556500"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E1C11830-8315-1A7D-7E9F-B4F5E6188478}"/>
              </a:ext>
            </a:extLst>
          </p:cNvPr>
          <p:cNvPicPr>
            <a:picLocks noChangeAspect="1"/>
          </p:cNvPicPr>
          <p:nvPr/>
        </p:nvPicPr>
        <p:blipFill>
          <a:blip r:embed="rId3">
            <a:extLst>
              <a:ext uri="{96DAC541-7B7A-43D3-8B79-37D633B846F1}">
                <asvg:svgBlip xmlns:asvg="http://schemas.microsoft.com/office/drawing/2016/SVG/main" r:embed="rId4"/>
              </a:ext>
            </a:extLst>
          </a:blip>
          <a:srcRect b="16052"/>
          <a:stretch>
            <a:fillRect/>
          </a:stretch>
        </p:blipFill>
        <p:spPr>
          <a:xfrm>
            <a:off x="3402877" y="1141294"/>
            <a:ext cx="509802" cy="530681"/>
          </a:xfrm>
          <a:prstGeom prst="rect">
            <a:avLst/>
          </a:prstGeom>
        </p:spPr>
      </p:pic>
      <p:pic>
        <p:nvPicPr>
          <p:cNvPr id="27" name="Graphic 26">
            <a:extLst>
              <a:ext uri="{FF2B5EF4-FFF2-40B4-BE49-F238E27FC236}">
                <a16:creationId xmlns:a16="http://schemas.microsoft.com/office/drawing/2014/main" id="{36CB2722-7D2A-578E-8A9D-43339A4272C5}"/>
              </a:ext>
            </a:extLst>
          </p:cNvPr>
          <p:cNvPicPr>
            <a:picLocks noChangeAspect="1"/>
          </p:cNvPicPr>
          <p:nvPr/>
        </p:nvPicPr>
        <p:blipFill>
          <a:blip r:embed="rId5">
            <a:extLst>
              <a:ext uri="{96DAC541-7B7A-43D3-8B79-37D633B846F1}">
                <asvg:svgBlip xmlns:asvg="http://schemas.microsoft.com/office/drawing/2016/SVG/main" r:embed="rId6"/>
              </a:ext>
            </a:extLst>
          </a:blip>
          <a:srcRect b="14735"/>
          <a:stretch>
            <a:fillRect/>
          </a:stretch>
        </p:blipFill>
        <p:spPr>
          <a:xfrm>
            <a:off x="2428824" y="2188262"/>
            <a:ext cx="614375" cy="645222"/>
          </a:xfrm>
          <a:prstGeom prst="rect">
            <a:avLst/>
          </a:prstGeom>
        </p:spPr>
      </p:pic>
      <p:pic>
        <p:nvPicPr>
          <p:cNvPr id="28" name="Graphic 27">
            <a:extLst>
              <a:ext uri="{FF2B5EF4-FFF2-40B4-BE49-F238E27FC236}">
                <a16:creationId xmlns:a16="http://schemas.microsoft.com/office/drawing/2014/main" id="{7ABA4680-4D71-55A3-D69C-F6F8252B97E0}"/>
              </a:ext>
            </a:extLst>
          </p:cNvPr>
          <p:cNvPicPr>
            <a:picLocks noChangeAspect="1"/>
          </p:cNvPicPr>
          <p:nvPr/>
        </p:nvPicPr>
        <p:blipFill>
          <a:blip r:embed="rId7">
            <a:extLst>
              <a:ext uri="{96DAC541-7B7A-43D3-8B79-37D633B846F1}">
                <asvg:svgBlip xmlns:asvg="http://schemas.microsoft.com/office/drawing/2016/SVG/main" r:embed="rId8"/>
              </a:ext>
            </a:extLst>
          </a:blip>
          <a:srcRect t="11747" b="17467"/>
          <a:stretch>
            <a:fillRect/>
          </a:stretch>
        </p:blipFill>
        <p:spPr>
          <a:xfrm>
            <a:off x="3340581" y="2234929"/>
            <a:ext cx="634394" cy="553112"/>
          </a:xfrm>
          <a:prstGeom prst="rect">
            <a:avLst/>
          </a:prstGeom>
        </p:spPr>
      </p:pic>
      <p:pic>
        <p:nvPicPr>
          <p:cNvPr id="29" name="Graphic 28">
            <a:extLst>
              <a:ext uri="{FF2B5EF4-FFF2-40B4-BE49-F238E27FC236}">
                <a16:creationId xmlns:a16="http://schemas.microsoft.com/office/drawing/2014/main" id="{F3877A8F-17ED-91D6-374F-8EE378A41DA4}"/>
              </a:ext>
            </a:extLst>
          </p:cNvPr>
          <p:cNvPicPr>
            <a:picLocks noChangeAspect="1"/>
          </p:cNvPicPr>
          <p:nvPr/>
        </p:nvPicPr>
        <p:blipFill>
          <a:blip r:embed="rId9">
            <a:extLst>
              <a:ext uri="{96DAC541-7B7A-43D3-8B79-37D633B846F1}">
                <asvg:svgBlip xmlns:asvg="http://schemas.microsoft.com/office/drawing/2016/SVG/main" r:embed="rId10"/>
              </a:ext>
            </a:extLst>
          </a:blip>
          <a:srcRect t="11747" b="20513"/>
          <a:stretch>
            <a:fillRect/>
          </a:stretch>
        </p:blipFill>
        <p:spPr>
          <a:xfrm>
            <a:off x="3380509" y="5364464"/>
            <a:ext cx="554539" cy="462689"/>
          </a:xfrm>
          <a:prstGeom prst="rect">
            <a:avLst/>
          </a:prstGeom>
        </p:spPr>
      </p:pic>
      <p:pic>
        <p:nvPicPr>
          <p:cNvPr id="30" name="Picture 29" descr="A picture containing black&#10;&#10;Description automatically generated">
            <a:extLst>
              <a:ext uri="{FF2B5EF4-FFF2-40B4-BE49-F238E27FC236}">
                <a16:creationId xmlns:a16="http://schemas.microsoft.com/office/drawing/2014/main" id="{CB03D806-85C4-F3C9-7439-E440A793A447}"/>
              </a:ext>
            </a:extLst>
          </p:cNvPr>
          <p:cNvPicPr>
            <a:picLocks noChangeAspect="1"/>
          </p:cNvPicPr>
          <p:nvPr/>
        </p:nvPicPr>
        <p:blipFill rotWithShape="1">
          <a:blip r:embed="rId11"/>
          <a:srcRect t="9340" r="15680" b="45040"/>
          <a:stretch>
            <a:fillRect/>
          </a:stretch>
        </p:blipFill>
        <p:spPr>
          <a:xfrm>
            <a:off x="3329429" y="4294947"/>
            <a:ext cx="626262" cy="338833"/>
          </a:xfrm>
          <a:prstGeom prst="rect">
            <a:avLst/>
          </a:prstGeom>
        </p:spPr>
      </p:pic>
      <p:pic>
        <p:nvPicPr>
          <p:cNvPr id="31" name="Graphic 30">
            <a:extLst>
              <a:ext uri="{FF2B5EF4-FFF2-40B4-BE49-F238E27FC236}">
                <a16:creationId xmlns:a16="http://schemas.microsoft.com/office/drawing/2014/main" id="{3C3844A6-5968-EBC2-57AA-DA9386D3D5B0}"/>
              </a:ext>
            </a:extLst>
          </p:cNvPr>
          <p:cNvPicPr>
            <a:picLocks noChangeAspect="1"/>
          </p:cNvPicPr>
          <p:nvPr/>
        </p:nvPicPr>
        <p:blipFill>
          <a:blip r:embed="rId12">
            <a:extLst>
              <a:ext uri="{96DAC541-7B7A-43D3-8B79-37D633B846F1}">
                <asvg:svgBlip xmlns:asvg="http://schemas.microsoft.com/office/drawing/2016/SVG/main" r:embed="rId13"/>
              </a:ext>
            </a:extLst>
          </a:blip>
          <a:srcRect b="15647"/>
          <a:stretch>
            <a:fillRect/>
          </a:stretch>
        </p:blipFill>
        <p:spPr>
          <a:xfrm>
            <a:off x="3429106" y="3328548"/>
            <a:ext cx="457344" cy="478370"/>
          </a:xfrm>
          <a:prstGeom prst="rect">
            <a:avLst/>
          </a:prstGeom>
        </p:spPr>
      </p:pic>
      <p:sp>
        <p:nvSpPr>
          <p:cNvPr id="32" name="TextBox 31">
            <a:extLst>
              <a:ext uri="{FF2B5EF4-FFF2-40B4-BE49-F238E27FC236}">
                <a16:creationId xmlns:a16="http://schemas.microsoft.com/office/drawing/2014/main" id="{5ECC75DB-5A96-498C-00A2-29B20FF7C47D}"/>
              </a:ext>
            </a:extLst>
          </p:cNvPr>
          <p:cNvSpPr txBox="1"/>
          <p:nvPr/>
        </p:nvSpPr>
        <p:spPr>
          <a:xfrm>
            <a:off x="3055859" y="2425582"/>
            <a:ext cx="304892"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E" sz="1000" b="0" i="0" u="none" strike="noStrike" kern="1200" cap="none" spc="0" normalizeH="0" baseline="0" noProof="0">
                <a:ln>
                  <a:noFill/>
                </a:ln>
                <a:solidFill>
                  <a:srgbClr val="001E5B"/>
                </a:solidFill>
                <a:effectLst/>
                <a:uLnTx/>
                <a:uFillTx/>
                <a:latin typeface="Helvetica Neue Light" panose="02000403000000020004" pitchFamily="2" charset="0"/>
                <a:ea typeface="Helvetica Neue Light" panose="02000403000000020004" pitchFamily="2" charset="0"/>
                <a:cs typeface="+mn-cs"/>
              </a:rPr>
              <a:t>vs</a:t>
            </a:r>
          </a:p>
        </p:txBody>
      </p:sp>
      <p:sp>
        <p:nvSpPr>
          <p:cNvPr id="34" name="Rounded Rectangle 33">
            <a:extLst>
              <a:ext uri="{FF2B5EF4-FFF2-40B4-BE49-F238E27FC236}">
                <a16:creationId xmlns:a16="http://schemas.microsoft.com/office/drawing/2014/main" id="{EA47822D-9DB1-196A-D96F-AA6513C44B71}"/>
              </a:ext>
            </a:extLst>
          </p:cNvPr>
          <p:cNvSpPr/>
          <p:nvPr/>
        </p:nvSpPr>
        <p:spPr>
          <a:xfrm>
            <a:off x="9166573" y="1561317"/>
            <a:ext cx="2627728" cy="4108718"/>
          </a:xfrm>
          <a:prstGeom prst="roundRect">
            <a:avLst/>
          </a:prstGeom>
          <a:solidFill>
            <a:schemeClr val="bg1"/>
          </a:solidFill>
          <a:ln w="6350">
            <a:solidFill>
              <a:srgbClr val="001E5B"/>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NEXT STEPS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5" name="TextBox 34">
            <a:extLst>
              <a:ext uri="{FF2B5EF4-FFF2-40B4-BE49-F238E27FC236}">
                <a16:creationId xmlns:a16="http://schemas.microsoft.com/office/drawing/2014/main" id="{9CA058B1-AE29-953E-CCEF-AFF4B7F79099}"/>
              </a:ext>
            </a:extLst>
          </p:cNvPr>
          <p:cNvSpPr txBox="1"/>
          <p:nvPr/>
        </p:nvSpPr>
        <p:spPr>
          <a:xfrm>
            <a:off x="9503078" y="2618264"/>
            <a:ext cx="1917447" cy="2469907"/>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Deliver key messages to CEO and N-1</a:t>
            </a:r>
            <a:br>
              <a:rPr kumimoji="0" lang="en-US" sz="12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br>
            <a:endParaRPr kumimoji="0" lang="en-US" sz="12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Assess CEO’S receptiveness and coachability </a:t>
            </a:r>
          </a:p>
          <a:p>
            <a:pPr marR="0" lvl="0" algn="l" defTabSz="914400" rtl="0" eaLnBrk="1" fontAlgn="auto" latinLnBrk="0" hangingPunct="1">
              <a:lnSpc>
                <a:spcPct val="100000"/>
              </a:lnSpc>
              <a:spcBef>
                <a:spcPts val="0"/>
              </a:spcBef>
              <a:spcAft>
                <a:spcPts val="0"/>
              </a:spcAft>
              <a:buClrTx/>
              <a:buSzTx/>
              <a:tabLst/>
              <a:defRPr/>
            </a:pPr>
            <a:br>
              <a:rPr kumimoji="0" lang="en-US" sz="12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br>
            <a:endParaRPr kumimoji="0" lang="en-US" sz="12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Run a N-1 workshop (DEC)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05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36" name="Straight Connector 35">
            <a:extLst>
              <a:ext uri="{FF2B5EF4-FFF2-40B4-BE49-F238E27FC236}">
                <a16:creationId xmlns:a16="http://schemas.microsoft.com/office/drawing/2014/main" id="{CF5FDBB5-0311-50A9-C562-3732D5FAE978}"/>
              </a:ext>
            </a:extLst>
          </p:cNvPr>
          <p:cNvCxnSpPr>
            <a:cxnSpLocks/>
          </p:cNvCxnSpPr>
          <p:nvPr/>
        </p:nvCxnSpPr>
        <p:spPr>
          <a:xfrm>
            <a:off x="9261891" y="3418931"/>
            <a:ext cx="2437093"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26466AC-746B-FBC5-FA7B-0ADA0D3E27FB}"/>
              </a:ext>
            </a:extLst>
          </p:cNvPr>
          <p:cNvCxnSpPr>
            <a:cxnSpLocks/>
          </p:cNvCxnSpPr>
          <p:nvPr/>
        </p:nvCxnSpPr>
        <p:spPr>
          <a:xfrm>
            <a:off x="9261891" y="4303995"/>
            <a:ext cx="2437093"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8396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ED8BC-45FE-A292-4530-52B6B1B1864D}"/>
            </a:ext>
          </a:extLst>
        </p:cNvPr>
        <p:cNvGrpSpPr/>
        <p:nvPr/>
      </p:nvGrpSpPr>
      <p:grpSpPr>
        <a:xfrm>
          <a:off x="0" y="0"/>
          <a:ext cx="0" cy="0"/>
          <a:chOff x="0" y="0"/>
          <a:chExt cx="0" cy="0"/>
        </a:xfrm>
      </p:grpSpPr>
      <p:sp>
        <p:nvSpPr>
          <p:cNvPr id="19457" name="Text Placeholder 1">
            <a:extLst>
              <a:ext uri="{FF2B5EF4-FFF2-40B4-BE49-F238E27FC236}">
                <a16:creationId xmlns:a16="http://schemas.microsoft.com/office/drawing/2014/main" id="{1C56BCE6-453A-DB70-9192-8B2FEF570EB0}"/>
              </a:ext>
            </a:extLst>
          </p:cNvPr>
          <p:cNvSpPr>
            <a:spLocks noGrp="1" noChangeArrowheads="1"/>
          </p:cNvSpPr>
          <p:nvPr>
            <p:ph type="body" idx="1"/>
          </p:nvPr>
        </p:nvSpPr>
        <p:spPr bwMode="auto">
          <a:xfrm>
            <a:off x="143668" y="3608388"/>
            <a:ext cx="4841875" cy="1966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a:spcBef>
                <a:spcPct val="0"/>
              </a:spcBef>
              <a:spcAft>
                <a:spcPct val="0"/>
              </a:spcAft>
              <a:buClr>
                <a:srgbClr val="000000"/>
              </a:buClr>
              <a:buFont typeface="Arial" panose="020B0604020202020204" pitchFamily="34" charset="0"/>
              <a:buNone/>
            </a:pPr>
            <a:r>
              <a:rPr lang="en-US" altLang="en-US" sz="4000" b="1">
                <a:solidFill>
                  <a:srgbClr val="112D59"/>
                </a:solidFill>
                <a:latin typeface="Helvetica Neue" panose="02000503000000020004" pitchFamily="2" charset="0"/>
                <a:cs typeface="Arial" panose="020B0604020202020204" pitchFamily="34" charset="0"/>
                <a:sym typeface="Helvetica Neue" panose="02000503000000020004" pitchFamily="2" charset="0"/>
              </a:rPr>
              <a:t>TEAM </a:t>
            </a:r>
          </a:p>
          <a:p>
            <a:pPr>
              <a:spcBef>
                <a:spcPct val="0"/>
              </a:spcBef>
              <a:spcAft>
                <a:spcPct val="0"/>
              </a:spcAft>
              <a:buClr>
                <a:srgbClr val="000000"/>
              </a:buClr>
              <a:buFont typeface="Arial" panose="020B0604020202020204" pitchFamily="34" charset="0"/>
              <a:buNone/>
            </a:pPr>
            <a:r>
              <a:rPr lang="en-US" altLang="en-US" sz="4000" b="1">
                <a:solidFill>
                  <a:srgbClr val="112D59"/>
                </a:solidFill>
                <a:latin typeface="Helvetica Neue" panose="02000503000000020004" pitchFamily="2" charset="0"/>
                <a:cs typeface="Arial" panose="020B0604020202020204" pitchFamily="34" charset="0"/>
                <a:sym typeface="Helvetica Neue" panose="02000503000000020004" pitchFamily="2" charset="0"/>
              </a:rPr>
              <a:t>EFFECTIVENESS</a:t>
            </a:r>
          </a:p>
        </p:txBody>
      </p:sp>
      <p:sp>
        <p:nvSpPr>
          <p:cNvPr id="19458" name="Text Placeholder 2">
            <a:extLst>
              <a:ext uri="{FF2B5EF4-FFF2-40B4-BE49-F238E27FC236}">
                <a16:creationId xmlns:a16="http://schemas.microsoft.com/office/drawing/2014/main" id="{BBB70692-6969-4A6C-1024-E0BDF6A8A5C9}"/>
              </a:ext>
            </a:extLst>
          </p:cNvPr>
          <p:cNvSpPr>
            <a:spLocks noGrp="1" noChangeArrowheads="1"/>
          </p:cNvSpPr>
          <p:nvPr>
            <p:ph type="body" idx="2"/>
          </p:nvPr>
        </p:nvSpPr>
        <p:spPr bwMode="auto">
          <a:xfrm>
            <a:off x="158750" y="5043488"/>
            <a:ext cx="4703763" cy="736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a:spcAft>
                <a:spcPct val="0"/>
              </a:spcAft>
              <a:buClr>
                <a:srgbClr val="000000"/>
              </a:buClr>
            </a:pPr>
            <a:r>
              <a:rPr lang="en-US" altLang="en-US" sz="180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sym typeface="Helvetica Neue Light" panose="02000403000000020004" pitchFamily="2" charset="0"/>
              </a:rPr>
              <a:t>NOV 2025 </a:t>
            </a:r>
          </a:p>
        </p:txBody>
      </p:sp>
      <p:cxnSp>
        <p:nvCxnSpPr>
          <p:cNvPr id="8" name="Straight Connector 7">
            <a:extLst>
              <a:ext uri="{FF2B5EF4-FFF2-40B4-BE49-F238E27FC236}">
                <a16:creationId xmlns:a16="http://schemas.microsoft.com/office/drawing/2014/main" id="{046D78AB-B0B4-2F94-867D-92E1E40FC928}"/>
              </a:ext>
            </a:extLst>
          </p:cNvPr>
          <p:cNvCxnSpPr/>
          <p:nvPr/>
        </p:nvCxnSpPr>
        <p:spPr>
          <a:xfrm>
            <a:off x="471488" y="5043488"/>
            <a:ext cx="41862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6D64B9D8-144D-F23A-A87F-F1AF4109C542}"/>
              </a:ext>
            </a:extLst>
          </p:cNvPr>
          <p:cNvPicPr>
            <a:picLocks noChangeAspect="1"/>
          </p:cNvPicPr>
          <p:nvPr/>
        </p:nvPicPr>
        <p:blipFill>
          <a:blip r:embed="rId2"/>
          <a:stretch>
            <a:fillRect/>
          </a:stretch>
        </p:blipFill>
        <p:spPr>
          <a:xfrm>
            <a:off x="257731" y="2475232"/>
            <a:ext cx="1705683" cy="774380"/>
          </a:xfrm>
          <a:prstGeom prst="rect">
            <a:avLst/>
          </a:prstGeom>
        </p:spPr>
      </p:pic>
    </p:spTree>
    <p:extLst>
      <p:ext uri="{BB962C8B-B14F-4D97-AF65-F5344CB8AC3E}">
        <p14:creationId xmlns:p14="http://schemas.microsoft.com/office/powerpoint/2010/main" val="228932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E3AA7E35-6A1B-7705-0FF5-02650CE7862A}"/>
            </a:ext>
          </a:extLst>
        </p:cNvPr>
        <p:cNvGrpSpPr/>
        <p:nvPr/>
      </p:nvGrpSpPr>
      <p:grpSpPr>
        <a:xfrm>
          <a:off x="0" y="0"/>
          <a:ext cx="0" cy="0"/>
          <a:chOff x="0" y="0"/>
          <a:chExt cx="0" cy="0"/>
        </a:xfrm>
      </p:grpSpPr>
      <p:sp>
        <p:nvSpPr>
          <p:cNvPr id="21507" name="Text Placeholder 1">
            <a:extLst>
              <a:ext uri="{FF2B5EF4-FFF2-40B4-BE49-F238E27FC236}">
                <a16:creationId xmlns:a16="http://schemas.microsoft.com/office/drawing/2014/main" id="{ACC8E32F-65DB-FA62-A197-BCDB185EB5C2}"/>
              </a:ext>
            </a:extLst>
          </p:cNvPr>
          <p:cNvSpPr>
            <a:spLocks noGrp="1" noChangeArrowheads="1"/>
          </p:cNvSpPr>
          <p:nvPr>
            <p:ph type="body" idx="1"/>
          </p:nvPr>
        </p:nvSpPr>
        <p:spPr bwMode="auto">
          <a:xfrm>
            <a:off x="727075" y="374650"/>
            <a:ext cx="7559675" cy="334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marL="0" indent="0">
              <a:spcBef>
                <a:spcPct val="0"/>
              </a:spcBef>
              <a:spcAft>
                <a:spcPct val="0"/>
              </a:spcAft>
              <a:buClr>
                <a:srgbClr val="000000"/>
              </a:buClr>
              <a:buSzPts val="2400"/>
              <a:buFont typeface="Arial" panose="020B0604020202020204" pitchFamily="34" charset="0"/>
              <a:buNone/>
            </a:pPr>
            <a:r>
              <a:rPr lang="en-US" altLang="en-US" sz="2000">
                <a:solidFill>
                  <a:srgbClr val="002060"/>
                </a:solidFill>
                <a:latin typeface="Arial"/>
                <a:cs typeface="Arial"/>
                <a:sym typeface="Helvetica Neue Light" panose="02000403000000020004" pitchFamily="2" charset="0"/>
              </a:rPr>
              <a:t>WHAT’S WORKING WELL</a:t>
            </a:r>
          </a:p>
        </p:txBody>
      </p:sp>
      <p:sp>
        <p:nvSpPr>
          <p:cNvPr id="21508" name="Slide Number Placeholder 2">
            <a:extLst>
              <a:ext uri="{FF2B5EF4-FFF2-40B4-BE49-F238E27FC236}">
                <a16:creationId xmlns:a16="http://schemas.microsoft.com/office/drawing/2014/main" id="{FB5C5FA8-CDFC-A048-5C48-E792301942B6}"/>
              </a:ext>
            </a:extLst>
          </p:cNvPr>
          <p:cNvSpPr>
            <a:spLocks noGrp="1" noChangeArrowheads="1"/>
          </p:cNvSpPr>
          <p:nvPr>
            <p:ph type="sldNum" sz="quarter" idx="10"/>
          </p:nvPr>
        </p:nvSpPr>
        <p:spPr>
          <a:xfrm>
            <a:off x="0" y="238125"/>
            <a:ext cx="557213" cy="557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94E6AC2-D12E-1843-971E-E4F9DE4AA8B8}"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12</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 name="Subtitle 2">
            <a:extLst>
              <a:ext uri="{FF2B5EF4-FFF2-40B4-BE49-F238E27FC236}">
                <a16:creationId xmlns:a16="http://schemas.microsoft.com/office/drawing/2014/main" id="{2048A406-4E30-EB84-61FC-B3F469C39D00}"/>
              </a:ext>
            </a:extLst>
          </p:cNvPr>
          <p:cNvSpPr txBox="1">
            <a:spLocks/>
          </p:cNvSpPr>
          <p:nvPr/>
        </p:nvSpPr>
        <p:spPr>
          <a:xfrm flipH="1">
            <a:off x="940679" y="2878523"/>
            <a:ext cx="2886322" cy="2540951"/>
          </a:xfrm>
          <a:prstGeom prst="rect">
            <a:avLst/>
          </a:prstGeom>
        </p:spPr>
        <p:txBody>
          <a:bodyPr vert="horz" lIns="0" tIns="45720" rIns="91440" bIns="45720" rtlCol="0">
            <a:noAutofit/>
          </a:bodyPr>
          <a:lstStyle>
            <a:defPPr>
              <a:defRPr lang="en-US"/>
            </a:defPPr>
            <a:lvl1pPr marL="285750" marR="0" lvl="0" indent="-285750" defTabSz="914400" eaLnBrk="1" fontAlgn="auto" latinLnBrk="0" hangingPunct="1">
              <a:lnSpc>
                <a:spcPts val="2000"/>
              </a:lnSpc>
              <a:spcBef>
                <a:spcPts val="0"/>
              </a:spcBef>
              <a:spcAft>
                <a:spcPts val="0"/>
              </a:spcAft>
              <a:buClrTx/>
              <a:buSzTx/>
              <a:buFont typeface="Arial" panose="020B0604020202020204" pitchFamily="34" charset="0"/>
              <a:buChar char="•"/>
              <a:tabLst/>
              <a:defRPr kumimoji="0" sz="1200" b="0" i="0" u="none" strike="noStrike" cap="none" spc="0" normalizeH="0" baseline="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defRPr>
            </a:lvl1pPr>
            <a:lvl2pPr indent="0" algn="ctr" defTabSz="914400" eaLnBrk="1" latinLnBrk="0" hangingPunct="1">
              <a:lnSpc>
                <a:spcPct val="90000"/>
              </a:lnSpc>
              <a:spcBef>
                <a:spcPts val="500"/>
              </a:spcBef>
              <a:buFont typeface="Arial" panose="020B0604020202020204" pitchFamily="34" charset="0"/>
              <a:buNone/>
              <a:defRPr sz="2000">
                <a:solidFill>
                  <a:schemeClr val="tx1"/>
                </a:solidFill>
                <a:latin typeface="Lato" panose="020F0502020204030203" pitchFamily="34" charset="77"/>
                <a:cs typeface="+mn-cs"/>
              </a:defRPr>
            </a:lvl2pPr>
            <a:lvl3pPr indent="0" algn="ctr" defTabSz="914400" eaLnBrk="1" latinLnBrk="0" hangingPunct="1">
              <a:lnSpc>
                <a:spcPct val="90000"/>
              </a:lnSpc>
              <a:spcBef>
                <a:spcPts val="500"/>
              </a:spcBef>
              <a:buFont typeface="Arial" panose="020B0604020202020204" pitchFamily="34" charset="0"/>
              <a:buNone/>
              <a:defRPr sz="1800">
                <a:solidFill>
                  <a:schemeClr val="tx1"/>
                </a:solidFill>
                <a:latin typeface="Lato" panose="020F0502020204030203" pitchFamily="34" charset="77"/>
                <a:cs typeface="+mn-cs"/>
              </a:defRPr>
            </a:lvl3pPr>
            <a:lvl4pPr indent="0" algn="ctr" defTabSz="914400" eaLnBrk="1" latinLnBrk="0" hangingPunct="1">
              <a:lnSpc>
                <a:spcPct val="90000"/>
              </a:lnSpc>
              <a:spcBef>
                <a:spcPts val="500"/>
              </a:spcBef>
              <a:buFont typeface="Arial" panose="020B0604020202020204" pitchFamily="34" charset="0"/>
              <a:buNone/>
              <a:defRPr sz="1600">
                <a:solidFill>
                  <a:schemeClr val="tx1"/>
                </a:solidFill>
                <a:latin typeface="Lato" panose="020F0502020204030203" pitchFamily="34" charset="77"/>
                <a:cs typeface="+mn-cs"/>
              </a:defRPr>
            </a:lvl4pPr>
            <a:lvl5pPr indent="0" algn="ctr" defTabSz="914400" eaLnBrk="1" latinLnBrk="0" hangingPunct="1">
              <a:lnSpc>
                <a:spcPct val="90000"/>
              </a:lnSpc>
              <a:spcBef>
                <a:spcPts val="500"/>
              </a:spcBef>
              <a:buFont typeface="Arial" panose="020B0604020202020204" pitchFamily="34" charset="0"/>
              <a:buNone/>
              <a:defRPr sz="1600">
                <a:solidFill>
                  <a:schemeClr val="tx1"/>
                </a:solidFill>
                <a:latin typeface="Lato" panose="020F0502020204030203" pitchFamily="34" charset="77"/>
                <a:cs typeface="+mn-cs"/>
              </a:defRPr>
            </a:lvl5pPr>
            <a:lvl6pPr indent="0" algn="ctr">
              <a:lnSpc>
                <a:spcPct val="90000"/>
              </a:lnSpc>
              <a:spcBef>
                <a:spcPts val="500"/>
              </a:spcBef>
              <a:buFont typeface="Arial" panose="020B0604020202020204" pitchFamily="34" charset="0"/>
              <a:buNone/>
              <a:defRPr sz="1600">
                <a:solidFill>
                  <a:schemeClr val="tx1"/>
                </a:solidFill>
                <a:latin typeface="+mn-lt"/>
                <a:cs typeface="+mn-cs"/>
              </a:defRPr>
            </a:lvl6pPr>
            <a:lvl7pPr indent="0" algn="ctr">
              <a:lnSpc>
                <a:spcPct val="90000"/>
              </a:lnSpc>
              <a:spcBef>
                <a:spcPts val="500"/>
              </a:spcBef>
              <a:buFont typeface="Arial" panose="020B0604020202020204" pitchFamily="34" charset="0"/>
              <a:buNone/>
              <a:defRPr sz="1600">
                <a:solidFill>
                  <a:schemeClr val="tx1"/>
                </a:solidFill>
                <a:latin typeface="+mn-lt"/>
                <a:cs typeface="+mn-cs"/>
              </a:defRPr>
            </a:lvl7pPr>
            <a:lvl8pPr indent="0" algn="ctr">
              <a:lnSpc>
                <a:spcPct val="90000"/>
              </a:lnSpc>
              <a:spcBef>
                <a:spcPts val="500"/>
              </a:spcBef>
              <a:buFont typeface="Arial" panose="020B0604020202020204" pitchFamily="34" charset="0"/>
              <a:buNone/>
              <a:defRPr sz="1600">
                <a:solidFill>
                  <a:schemeClr val="tx1"/>
                </a:solidFill>
                <a:latin typeface="+mn-lt"/>
                <a:cs typeface="+mn-cs"/>
              </a:defRPr>
            </a:lvl8pPr>
            <a:lvl9pPr indent="0" algn="ctr">
              <a:lnSpc>
                <a:spcPct val="90000"/>
              </a:lnSpc>
              <a:spcBef>
                <a:spcPts val="500"/>
              </a:spcBef>
              <a:buFont typeface="Arial" panose="020B0604020202020204" pitchFamily="34" charset="0"/>
              <a:buNone/>
              <a:defRPr sz="1600">
                <a:solidFill>
                  <a:schemeClr val="tx1"/>
                </a:solidFill>
                <a:latin typeface="+mn-lt"/>
                <a:cs typeface="+mn-cs"/>
              </a:defRPr>
            </a:lvl9pPr>
          </a:lstStyle>
          <a:p>
            <a:r>
              <a:rPr lang="en-US" sz="1400">
                <a:sym typeface="Helvetica Neue Light"/>
              </a:rPr>
              <a:t>The management team has executed a substantial clean-up of legacy issues, operational inefficiencies, and outdated practices, laying a foundation for renewed stability and a stable baseline for growth.</a:t>
            </a:r>
          </a:p>
          <a:p>
            <a:endParaRPr lang="en-US" sz="1400">
              <a:sym typeface="Helvetica Neue Light"/>
            </a:endParaRPr>
          </a:p>
          <a:p>
            <a:endParaRPr lang="en-US" sz="1400">
              <a:sym typeface="Helvetica Neue Light"/>
            </a:endParaRPr>
          </a:p>
          <a:p>
            <a:endParaRPr lang="en-US" sz="1400">
              <a:sym typeface="Helvetica Neue Light"/>
            </a:endParaRPr>
          </a:p>
        </p:txBody>
      </p:sp>
      <p:cxnSp>
        <p:nvCxnSpPr>
          <p:cNvPr id="3" name="Straight Connector 2">
            <a:extLst>
              <a:ext uri="{FF2B5EF4-FFF2-40B4-BE49-F238E27FC236}">
                <a16:creationId xmlns:a16="http://schemas.microsoft.com/office/drawing/2014/main" id="{AF1D3836-C262-70E2-7201-8E03268D767F}"/>
              </a:ext>
            </a:extLst>
          </p:cNvPr>
          <p:cNvCxnSpPr>
            <a:cxnSpLocks/>
          </p:cNvCxnSpPr>
          <p:nvPr/>
        </p:nvCxnSpPr>
        <p:spPr>
          <a:xfrm>
            <a:off x="867184" y="2684485"/>
            <a:ext cx="2886321" cy="0"/>
          </a:xfrm>
          <a:prstGeom prst="line">
            <a:avLst/>
          </a:prstGeom>
          <a:ln>
            <a:solidFill>
              <a:srgbClr val="001E5A"/>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B30EB4F6-03CA-4608-1B63-A5E61AF31FCC}"/>
              </a:ext>
            </a:extLst>
          </p:cNvPr>
          <p:cNvSpPr txBox="1"/>
          <p:nvPr/>
        </p:nvSpPr>
        <p:spPr>
          <a:xfrm>
            <a:off x="1151029" y="1449489"/>
            <a:ext cx="2488637" cy="1093376"/>
          </a:xfrm>
          <a:prstGeom prst="rect">
            <a:avLst/>
          </a:prstGeom>
          <a:noFill/>
        </p:spPr>
        <p:txBody>
          <a:bodyPr wrap="square" anchor="ctr">
            <a:spAutoFit/>
          </a:bodyPr>
          <a:lstStyle/>
          <a:p>
            <a:pPr marL="0" marR="0" lvl="0" indent="0" algn="ctr" defTabSz="914400" rtl="0" eaLnBrk="0" fontAlgn="auto" latinLnBrk="0" hangingPunct="0">
              <a:lnSpc>
                <a:spcPts val="2000"/>
              </a:lnSpc>
              <a:spcBef>
                <a:spcPct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SUCCESSFUL TRANSFORMATION AND ORGANIZATIONAL CLEAN-UP</a:t>
            </a:r>
          </a:p>
        </p:txBody>
      </p:sp>
      <p:cxnSp>
        <p:nvCxnSpPr>
          <p:cNvPr id="7" name="Straight Connector 6">
            <a:extLst>
              <a:ext uri="{FF2B5EF4-FFF2-40B4-BE49-F238E27FC236}">
                <a16:creationId xmlns:a16="http://schemas.microsoft.com/office/drawing/2014/main" id="{6B887DF7-04E5-B09F-C39E-2BC272285225}"/>
              </a:ext>
            </a:extLst>
          </p:cNvPr>
          <p:cNvCxnSpPr>
            <a:cxnSpLocks/>
          </p:cNvCxnSpPr>
          <p:nvPr/>
        </p:nvCxnSpPr>
        <p:spPr>
          <a:xfrm>
            <a:off x="8237170" y="2675390"/>
            <a:ext cx="2886321" cy="0"/>
          </a:xfrm>
          <a:prstGeom prst="line">
            <a:avLst/>
          </a:prstGeom>
          <a:ln>
            <a:solidFill>
              <a:srgbClr val="001E5A"/>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D817BB20-597C-8CD5-82DB-77F40DF124BC}"/>
              </a:ext>
            </a:extLst>
          </p:cNvPr>
          <p:cNvSpPr txBox="1"/>
          <p:nvPr/>
        </p:nvSpPr>
        <p:spPr>
          <a:xfrm>
            <a:off x="4935679" y="1577761"/>
            <a:ext cx="2488637" cy="836832"/>
          </a:xfrm>
          <a:prstGeom prst="rect">
            <a:avLst/>
          </a:prstGeom>
          <a:noFill/>
        </p:spPr>
        <p:txBody>
          <a:bodyPr wrap="square" anchor="ctr">
            <a:spAutoFit/>
          </a:bodyPr>
          <a:lstStyle/>
          <a:p>
            <a:pPr marL="0" marR="0" lvl="0" indent="0" algn="ctr" defTabSz="914400" rtl="0" eaLnBrk="0" fontAlgn="auto" latinLnBrk="0" hangingPunct="0">
              <a:lnSpc>
                <a:spcPts val="2000"/>
              </a:lnSpc>
              <a:spcBef>
                <a:spcPct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NEW LEADERSHIP BENCH STRENGTH, COMMITTED TO RESULTS</a:t>
            </a:r>
          </a:p>
        </p:txBody>
      </p:sp>
      <p:cxnSp>
        <p:nvCxnSpPr>
          <p:cNvPr id="12" name="Straight Connector 11">
            <a:extLst>
              <a:ext uri="{FF2B5EF4-FFF2-40B4-BE49-F238E27FC236}">
                <a16:creationId xmlns:a16="http://schemas.microsoft.com/office/drawing/2014/main" id="{254245B6-5B47-1CAB-5C22-C250689E79C1}"/>
              </a:ext>
            </a:extLst>
          </p:cNvPr>
          <p:cNvCxnSpPr>
            <a:cxnSpLocks/>
          </p:cNvCxnSpPr>
          <p:nvPr/>
        </p:nvCxnSpPr>
        <p:spPr>
          <a:xfrm>
            <a:off x="4648005" y="2684484"/>
            <a:ext cx="2886321" cy="0"/>
          </a:xfrm>
          <a:prstGeom prst="line">
            <a:avLst/>
          </a:prstGeom>
          <a:ln>
            <a:solidFill>
              <a:srgbClr val="001E5A"/>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8A85340C-B1F6-FBB2-CA2A-63BEFE9F8CFC}"/>
              </a:ext>
            </a:extLst>
          </p:cNvPr>
          <p:cNvSpPr txBox="1"/>
          <p:nvPr/>
        </p:nvSpPr>
        <p:spPr>
          <a:xfrm>
            <a:off x="8328501" y="1705854"/>
            <a:ext cx="2727960" cy="523220"/>
          </a:xfrm>
          <a:prstGeom prst="rect">
            <a:avLst/>
          </a:prstGeom>
          <a:noFill/>
          <a:ln>
            <a:no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STRONG CORPORATE BACKING FROM ADQ</a:t>
            </a:r>
          </a:p>
        </p:txBody>
      </p:sp>
      <p:sp>
        <p:nvSpPr>
          <p:cNvPr id="15" name="Subtitle 2">
            <a:extLst>
              <a:ext uri="{FF2B5EF4-FFF2-40B4-BE49-F238E27FC236}">
                <a16:creationId xmlns:a16="http://schemas.microsoft.com/office/drawing/2014/main" id="{790F6079-3CE0-AB5A-575E-EB86AADF8F0A}"/>
              </a:ext>
            </a:extLst>
          </p:cNvPr>
          <p:cNvSpPr txBox="1">
            <a:spLocks/>
          </p:cNvSpPr>
          <p:nvPr/>
        </p:nvSpPr>
        <p:spPr>
          <a:xfrm flipH="1">
            <a:off x="8364999" y="2936195"/>
            <a:ext cx="2886322" cy="2540951"/>
          </a:xfrm>
          <a:prstGeom prst="rect">
            <a:avLst/>
          </a:prstGeom>
        </p:spPr>
        <p:txBody>
          <a:bodyPr vert="horz" lIns="0" tIns="45720" rIns="91440" bIns="45720" rtlCol="0">
            <a:noAutofit/>
          </a:bodyPr>
          <a:lstStyle>
            <a:defPPr>
              <a:defRPr lang="en-US"/>
            </a:defPPr>
            <a:lvl1pPr marL="285750" marR="0" lvl="0" indent="-285750" defTabSz="914400" eaLnBrk="1" fontAlgn="auto" latinLnBrk="0" hangingPunct="1">
              <a:lnSpc>
                <a:spcPts val="2000"/>
              </a:lnSpc>
              <a:spcBef>
                <a:spcPts val="0"/>
              </a:spcBef>
              <a:spcAft>
                <a:spcPts val="0"/>
              </a:spcAft>
              <a:buClrTx/>
              <a:buSzTx/>
              <a:buFont typeface="Arial" panose="020B0604020202020204" pitchFamily="34" charset="0"/>
              <a:buChar char="•"/>
              <a:tabLst/>
              <a:defRPr kumimoji="0" sz="1200" b="0" i="0" u="none" strike="noStrike" cap="none" spc="0" normalizeH="0" baseline="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defRPr>
            </a:lvl1pPr>
            <a:lvl2pPr indent="0" algn="ctr" defTabSz="914400" eaLnBrk="1" latinLnBrk="0" hangingPunct="1">
              <a:lnSpc>
                <a:spcPct val="90000"/>
              </a:lnSpc>
              <a:spcBef>
                <a:spcPts val="500"/>
              </a:spcBef>
              <a:buFont typeface="Arial" panose="020B0604020202020204" pitchFamily="34" charset="0"/>
              <a:buNone/>
              <a:defRPr sz="2000">
                <a:solidFill>
                  <a:schemeClr val="tx1"/>
                </a:solidFill>
                <a:latin typeface="Lato" panose="020F0502020204030203" pitchFamily="34" charset="77"/>
                <a:cs typeface="+mn-cs"/>
              </a:defRPr>
            </a:lvl2pPr>
            <a:lvl3pPr indent="0" algn="ctr" defTabSz="914400" eaLnBrk="1" latinLnBrk="0" hangingPunct="1">
              <a:lnSpc>
                <a:spcPct val="90000"/>
              </a:lnSpc>
              <a:spcBef>
                <a:spcPts val="500"/>
              </a:spcBef>
              <a:buFont typeface="Arial" panose="020B0604020202020204" pitchFamily="34" charset="0"/>
              <a:buNone/>
              <a:defRPr sz="1800">
                <a:solidFill>
                  <a:schemeClr val="tx1"/>
                </a:solidFill>
                <a:latin typeface="Lato" panose="020F0502020204030203" pitchFamily="34" charset="77"/>
                <a:cs typeface="+mn-cs"/>
              </a:defRPr>
            </a:lvl3pPr>
            <a:lvl4pPr indent="0" algn="ctr" defTabSz="914400" eaLnBrk="1" latinLnBrk="0" hangingPunct="1">
              <a:lnSpc>
                <a:spcPct val="90000"/>
              </a:lnSpc>
              <a:spcBef>
                <a:spcPts val="500"/>
              </a:spcBef>
              <a:buFont typeface="Arial" panose="020B0604020202020204" pitchFamily="34" charset="0"/>
              <a:buNone/>
              <a:defRPr sz="1600">
                <a:solidFill>
                  <a:schemeClr val="tx1"/>
                </a:solidFill>
                <a:latin typeface="Lato" panose="020F0502020204030203" pitchFamily="34" charset="77"/>
                <a:cs typeface="+mn-cs"/>
              </a:defRPr>
            </a:lvl4pPr>
            <a:lvl5pPr indent="0" algn="ctr" defTabSz="914400" eaLnBrk="1" latinLnBrk="0" hangingPunct="1">
              <a:lnSpc>
                <a:spcPct val="90000"/>
              </a:lnSpc>
              <a:spcBef>
                <a:spcPts val="500"/>
              </a:spcBef>
              <a:buFont typeface="Arial" panose="020B0604020202020204" pitchFamily="34" charset="0"/>
              <a:buNone/>
              <a:defRPr sz="1600">
                <a:solidFill>
                  <a:schemeClr val="tx1"/>
                </a:solidFill>
                <a:latin typeface="Lato" panose="020F0502020204030203" pitchFamily="34" charset="77"/>
                <a:cs typeface="+mn-cs"/>
              </a:defRPr>
            </a:lvl5pPr>
            <a:lvl6pPr indent="0" algn="ctr">
              <a:lnSpc>
                <a:spcPct val="90000"/>
              </a:lnSpc>
              <a:spcBef>
                <a:spcPts val="500"/>
              </a:spcBef>
              <a:buFont typeface="Arial" panose="020B0604020202020204" pitchFamily="34" charset="0"/>
              <a:buNone/>
              <a:defRPr sz="1600">
                <a:solidFill>
                  <a:schemeClr val="tx1"/>
                </a:solidFill>
                <a:latin typeface="+mn-lt"/>
                <a:cs typeface="+mn-cs"/>
              </a:defRPr>
            </a:lvl6pPr>
            <a:lvl7pPr indent="0" algn="ctr">
              <a:lnSpc>
                <a:spcPct val="90000"/>
              </a:lnSpc>
              <a:spcBef>
                <a:spcPts val="500"/>
              </a:spcBef>
              <a:buFont typeface="Arial" panose="020B0604020202020204" pitchFamily="34" charset="0"/>
              <a:buNone/>
              <a:defRPr sz="1600">
                <a:solidFill>
                  <a:schemeClr val="tx1"/>
                </a:solidFill>
                <a:latin typeface="+mn-lt"/>
                <a:cs typeface="+mn-cs"/>
              </a:defRPr>
            </a:lvl7pPr>
            <a:lvl8pPr indent="0" algn="ctr">
              <a:lnSpc>
                <a:spcPct val="90000"/>
              </a:lnSpc>
              <a:spcBef>
                <a:spcPts val="500"/>
              </a:spcBef>
              <a:buFont typeface="Arial" panose="020B0604020202020204" pitchFamily="34" charset="0"/>
              <a:buNone/>
              <a:defRPr sz="1600">
                <a:solidFill>
                  <a:schemeClr val="tx1"/>
                </a:solidFill>
                <a:latin typeface="+mn-lt"/>
                <a:cs typeface="+mn-cs"/>
              </a:defRPr>
            </a:lvl8pPr>
            <a:lvl9pPr indent="0" algn="ctr">
              <a:lnSpc>
                <a:spcPct val="90000"/>
              </a:lnSpc>
              <a:spcBef>
                <a:spcPts val="500"/>
              </a:spcBef>
              <a:buFont typeface="Arial" panose="020B0604020202020204" pitchFamily="34" charset="0"/>
              <a:buNone/>
              <a:defRPr sz="1600">
                <a:solidFill>
                  <a:schemeClr val="tx1"/>
                </a:solidFill>
                <a:latin typeface="+mn-lt"/>
                <a:cs typeface="+mn-cs"/>
              </a:defRPr>
            </a:lvl9pPr>
          </a:lstStyle>
          <a:p>
            <a:r>
              <a:rPr lang="en-US" sz="1400">
                <a:sym typeface="Helvetica Neue Light"/>
              </a:rPr>
              <a:t>ADQ’s reputation, governance, and resource backing</a:t>
            </a:r>
          </a:p>
          <a:p>
            <a:endParaRPr lang="en-US" sz="1400">
              <a:sym typeface="Helvetica Neue Light"/>
            </a:endParaRPr>
          </a:p>
          <a:p>
            <a:r>
              <a:rPr lang="en-US" sz="1400">
                <a:sym typeface="Helvetica Neue Light"/>
              </a:rPr>
              <a:t>ADQ’s engagement steered with a view toward long-term shareholder value, not just short-term fixes</a:t>
            </a:r>
          </a:p>
        </p:txBody>
      </p:sp>
      <p:sp>
        <p:nvSpPr>
          <p:cNvPr id="16" name="Subtitle 2">
            <a:extLst>
              <a:ext uri="{FF2B5EF4-FFF2-40B4-BE49-F238E27FC236}">
                <a16:creationId xmlns:a16="http://schemas.microsoft.com/office/drawing/2014/main" id="{67D78487-CC16-17B6-18CA-F4B073E104B1}"/>
              </a:ext>
            </a:extLst>
          </p:cNvPr>
          <p:cNvSpPr txBox="1">
            <a:spLocks/>
          </p:cNvSpPr>
          <p:nvPr/>
        </p:nvSpPr>
        <p:spPr>
          <a:xfrm flipH="1">
            <a:off x="4736837" y="2912134"/>
            <a:ext cx="2886322" cy="2540951"/>
          </a:xfrm>
          <a:prstGeom prst="rect">
            <a:avLst/>
          </a:prstGeom>
        </p:spPr>
        <p:txBody>
          <a:bodyPr vert="horz" lIns="0" tIns="45720" rIns="91440" bIns="45720" rtlCol="0">
            <a:noAutofit/>
          </a:bodyPr>
          <a:lstStyle>
            <a:defPPr>
              <a:defRPr lang="en-US"/>
            </a:defPPr>
            <a:lvl1pPr marL="285750" marR="0" lvl="0" indent="-285750" defTabSz="914400" eaLnBrk="1" fontAlgn="auto" latinLnBrk="0" hangingPunct="1">
              <a:lnSpc>
                <a:spcPts val="2000"/>
              </a:lnSpc>
              <a:spcBef>
                <a:spcPts val="0"/>
              </a:spcBef>
              <a:spcAft>
                <a:spcPts val="0"/>
              </a:spcAft>
              <a:buClrTx/>
              <a:buSzTx/>
              <a:buFont typeface="Arial" panose="020B0604020202020204" pitchFamily="34" charset="0"/>
              <a:buChar char="•"/>
              <a:tabLst/>
              <a:defRPr kumimoji="0" sz="1200" b="0" i="0" u="none" strike="noStrike" cap="none" spc="0" normalizeH="0" baseline="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defRPr>
            </a:lvl1pPr>
            <a:lvl2pPr indent="0" algn="ctr" defTabSz="914400" eaLnBrk="1" latinLnBrk="0" hangingPunct="1">
              <a:lnSpc>
                <a:spcPct val="90000"/>
              </a:lnSpc>
              <a:spcBef>
                <a:spcPts val="500"/>
              </a:spcBef>
              <a:buFont typeface="Arial" panose="020B0604020202020204" pitchFamily="34" charset="0"/>
              <a:buNone/>
              <a:defRPr sz="2000">
                <a:solidFill>
                  <a:schemeClr val="tx1"/>
                </a:solidFill>
                <a:latin typeface="Lato" panose="020F0502020204030203" pitchFamily="34" charset="77"/>
                <a:cs typeface="+mn-cs"/>
              </a:defRPr>
            </a:lvl2pPr>
            <a:lvl3pPr indent="0" algn="ctr" defTabSz="914400" eaLnBrk="1" latinLnBrk="0" hangingPunct="1">
              <a:lnSpc>
                <a:spcPct val="90000"/>
              </a:lnSpc>
              <a:spcBef>
                <a:spcPts val="500"/>
              </a:spcBef>
              <a:buFont typeface="Arial" panose="020B0604020202020204" pitchFamily="34" charset="0"/>
              <a:buNone/>
              <a:defRPr sz="1800">
                <a:solidFill>
                  <a:schemeClr val="tx1"/>
                </a:solidFill>
                <a:latin typeface="Lato" panose="020F0502020204030203" pitchFamily="34" charset="77"/>
                <a:cs typeface="+mn-cs"/>
              </a:defRPr>
            </a:lvl3pPr>
            <a:lvl4pPr indent="0" algn="ctr" defTabSz="914400" eaLnBrk="1" latinLnBrk="0" hangingPunct="1">
              <a:lnSpc>
                <a:spcPct val="90000"/>
              </a:lnSpc>
              <a:spcBef>
                <a:spcPts val="500"/>
              </a:spcBef>
              <a:buFont typeface="Arial" panose="020B0604020202020204" pitchFamily="34" charset="0"/>
              <a:buNone/>
              <a:defRPr sz="1600">
                <a:solidFill>
                  <a:schemeClr val="tx1"/>
                </a:solidFill>
                <a:latin typeface="Lato" panose="020F0502020204030203" pitchFamily="34" charset="77"/>
                <a:cs typeface="+mn-cs"/>
              </a:defRPr>
            </a:lvl4pPr>
            <a:lvl5pPr indent="0" algn="ctr" defTabSz="914400" eaLnBrk="1" latinLnBrk="0" hangingPunct="1">
              <a:lnSpc>
                <a:spcPct val="90000"/>
              </a:lnSpc>
              <a:spcBef>
                <a:spcPts val="500"/>
              </a:spcBef>
              <a:buFont typeface="Arial" panose="020B0604020202020204" pitchFamily="34" charset="0"/>
              <a:buNone/>
              <a:defRPr sz="1600">
                <a:solidFill>
                  <a:schemeClr val="tx1"/>
                </a:solidFill>
                <a:latin typeface="Lato" panose="020F0502020204030203" pitchFamily="34" charset="77"/>
                <a:cs typeface="+mn-cs"/>
              </a:defRPr>
            </a:lvl5pPr>
            <a:lvl6pPr indent="0" algn="ctr">
              <a:lnSpc>
                <a:spcPct val="90000"/>
              </a:lnSpc>
              <a:spcBef>
                <a:spcPts val="500"/>
              </a:spcBef>
              <a:buFont typeface="Arial" panose="020B0604020202020204" pitchFamily="34" charset="0"/>
              <a:buNone/>
              <a:defRPr sz="1600">
                <a:solidFill>
                  <a:schemeClr val="tx1"/>
                </a:solidFill>
                <a:latin typeface="+mn-lt"/>
                <a:cs typeface="+mn-cs"/>
              </a:defRPr>
            </a:lvl6pPr>
            <a:lvl7pPr indent="0" algn="ctr">
              <a:lnSpc>
                <a:spcPct val="90000"/>
              </a:lnSpc>
              <a:spcBef>
                <a:spcPts val="500"/>
              </a:spcBef>
              <a:buFont typeface="Arial" panose="020B0604020202020204" pitchFamily="34" charset="0"/>
              <a:buNone/>
              <a:defRPr sz="1600">
                <a:solidFill>
                  <a:schemeClr val="tx1"/>
                </a:solidFill>
                <a:latin typeface="+mn-lt"/>
                <a:cs typeface="+mn-cs"/>
              </a:defRPr>
            </a:lvl7pPr>
            <a:lvl8pPr indent="0" algn="ctr">
              <a:lnSpc>
                <a:spcPct val="90000"/>
              </a:lnSpc>
              <a:spcBef>
                <a:spcPts val="500"/>
              </a:spcBef>
              <a:buFont typeface="Arial" panose="020B0604020202020204" pitchFamily="34" charset="0"/>
              <a:buNone/>
              <a:defRPr sz="1600">
                <a:solidFill>
                  <a:schemeClr val="tx1"/>
                </a:solidFill>
                <a:latin typeface="+mn-lt"/>
                <a:cs typeface="+mn-cs"/>
              </a:defRPr>
            </a:lvl8pPr>
            <a:lvl9pPr indent="0" algn="ctr">
              <a:lnSpc>
                <a:spcPct val="90000"/>
              </a:lnSpc>
              <a:spcBef>
                <a:spcPts val="500"/>
              </a:spcBef>
              <a:buFont typeface="Arial" panose="020B0604020202020204" pitchFamily="34" charset="0"/>
              <a:buNone/>
              <a:defRPr sz="1600">
                <a:solidFill>
                  <a:schemeClr val="tx1"/>
                </a:solidFill>
                <a:latin typeface="+mn-lt"/>
                <a:cs typeface="+mn-cs"/>
              </a:defRPr>
            </a:lvl9pPr>
          </a:lstStyle>
          <a:p>
            <a:r>
              <a:rPr lang="en-US" sz="1400">
                <a:sym typeface="Helvetica Neue Light"/>
              </a:rPr>
              <a:t>Most direct reports are new, </a:t>
            </a:r>
            <a:r>
              <a:rPr lang="en-US" sz="1400"/>
              <a:t>bringing fresh expertise and energy.</a:t>
            </a:r>
          </a:p>
          <a:p>
            <a:endParaRPr lang="en-US" sz="1400"/>
          </a:p>
          <a:p>
            <a:r>
              <a:rPr lang="en-US" sz="1400"/>
              <a:t>Commitment to results: The team is aligned on the need to deliver tangible outcomes</a:t>
            </a:r>
          </a:p>
          <a:p>
            <a:endParaRPr lang="en-US" sz="1400">
              <a:sym typeface="Helvetica Neue Light"/>
            </a:endParaRPr>
          </a:p>
        </p:txBody>
      </p:sp>
    </p:spTree>
    <p:extLst>
      <p:ext uri="{BB962C8B-B14F-4D97-AF65-F5344CB8AC3E}">
        <p14:creationId xmlns:p14="http://schemas.microsoft.com/office/powerpoint/2010/main" val="885762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D7B88EDE-1740-D77D-8D52-504A2F303557}"/>
            </a:ext>
          </a:extLst>
        </p:cNvPr>
        <p:cNvGrpSpPr/>
        <p:nvPr/>
      </p:nvGrpSpPr>
      <p:grpSpPr>
        <a:xfrm>
          <a:off x="0" y="0"/>
          <a:ext cx="0" cy="0"/>
          <a:chOff x="0" y="0"/>
          <a:chExt cx="0" cy="0"/>
        </a:xfrm>
      </p:grpSpPr>
      <p:sp>
        <p:nvSpPr>
          <p:cNvPr id="21507" name="Text Placeholder 1">
            <a:extLst>
              <a:ext uri="{FF2B5EF4-FFF2-40B4-BE49-F238E27FC236}">
                <a16:creationId xmlns:a16="http://schemas.microsoft.com/office/drawing/2014/main" id="{F5CFDCF8-1A77-3363-E7F3-F65A98B54A0C}"/>
              </a:ext>
            </a:extLst>
          </p:cNvPr>
          <p:cNvSpPr>
            <a:spLocks noGrp="1" noChangeArrowheads="1"/>
          </p:cNvSpPr>
          <p:nvPr>
            <p:ph type="body" idx="1"/>
          </p:nvPr>
        </p:nvSpPr>
        <p:spPr bwMode="auto">
          <a:xfrm>
            <a:off x="727075" y="374650"/>
            <a:ext cx="7559675" cy="334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marL="0" indent="0">
              <a:spcBef>
                <a:spcPct val="0"/>
              </a:spcBef>
              <a:spcAft>
                <a:spcPct val="0"/>
              </a:spcAft>
              <a:buClr>
                <a:srgbClr val="000000"/>
              </a:buClr>
              <a:buSzPts val="2400"/>
              <a:buFont typeface="Arial" panose="020B0604020202020204" pitchFamily="34" charset="0"/>
              <a:buNone/>
            </a:pPr>
            <a:r>
              <a:rPr lang="en-US" altLang="en-US" sz="2000">
                <a:solidFill>
                  <a:srgbClr val="002060"/>
                </a:solidFill>
                <a:latin typeface="Arial"/>
                <a:cs typeface="Arial"/>
                <a:sym typeface="Helvetica Neue Light" panose="02000403000000020004" pitchFamily="2" charset="0"/>
              </a:rPr>
              <a:t>OPPORTUNITIES</a:t>
            </a:r>
          </a:p>
        </p:txBody>
      </p:sp>
      <p:sp>
        <p:nvSpPr>
          <p:cNvPr id="21508" name="Slide Number Placeholder 2">
            <a:extLst>
              <a:ext uri="{FF2B5EF4-FFF2-40B4-BE49-F238E27FC236}">
                <a16:creationId xmlns:a16="http://schemas.microsoft.com/office/drawing/2014/main" id="{93C036FE-91CF-BCD4-3671-43673F9B6533}"/>
              </a:ext>
            </a:extLst>
          </p:cNvPr>
          <p:cNvSpPr>
            <a:spLocks noGrp="1" noChangeArrowheads="1"/>
          </p:cNvSpPr>
          <p:nvPr>
            <p:ph type="sldNum" sz="quarter" idx="10"/>
          </p:nvPr>
        </p:nvSpPr>
        <p:spPr>
          <a:xfrm>
            <a:off x="0" y="238125"/>
            <a:ext cx="557213" cy="557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94E6AC2-D12E-1843-971E-E4F9DE4AA8B8}"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13</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14" name="Subtitle 2">
            <a:extLst>
              <a:ext uri="{FF2B5EF4-FFF2-40B4-BE49-F238E27FC236}">
                <a16:creationId xmlns:a16="http://schemas.microsoft.com/office/drawing/2014/main" id="{8376B171-9344-9EE0-D77B-67B284BB333D}"/>
              </a:ext>
            </a:extLst>
          </p:cNvPr>
          <p:cNvSpPr txBox="1">
            <a:spLocks/>
          </p:cNvSpPr>
          <p:nvPr/>
        </p:nvSpPr>
        <p:spPr>
          <a:xfrm flipH="1">
            <a:off x="727075" y="2124544"/>
            <a:ext cx="2886320" cy="2540951"/>
          </a:xfrm>
          <a:prstGeom prst="rect">
            <a:avLst/>
          </a:prstGeom>
        </p:spPr>
        <p:txBody>
          <a:bodyPr vert="horz" lIns="0" tIns="45720" rIns="91440" bIns="45720" rtlCol="0">
            <a:noAutofit/>
          </a:bodyPr>
          <a:lstStyle>
            <a:defPPr>
              <a:defRPr lang="en-US"/>
            </a:defPPr>
            <a:lvl1pPr marL="285750" marR="0" lvl="0" indent="-285750" defTabSz="914400" eaLnBrk="1" fontAlgn="auto" latinLnBrk="0" hangingPunct="1">
              <a:lnSpc>
                <a:spcPts val="2000"/>
              </a:lnSpc>
              <a:spcBef>
                <a:spcPts val="0"/>
              </a:spcBef>
              <a:spcAft>
                <a:spcPts val="0"/>
              </a:spcAft>
              <a:buClrTx/>
              <a:buSzTx/>
              <a:buFont typeface="Arial" panose="020B0604020202020204" pitchFamily="34" charset="0"/>
              <a:buChar char="•"/>
              <a:tabLst/>
              <a:defRPr kumimoji="0" sz="1200" b="0" i="0" u="none" strike="noStrike" cap="none" spc="0" normalizeH="0" baseline="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defRPr>
            </a:lvl1pPr>
            <a:lvl2pPr indent="0" algn="ctr" defTabSz="914400" eaLnBrk="1" latinLnBrk="0" hangingPunct="1">
              <a:lnSpc>
                <a:spcPct val="90000"/>
              </a:lnSpc>
              <a:spcBef>
                <a:spcPts val="500"/>
              </a:spcBef>
              <a:buFont typeface="Arial" panose="020B0604020202020204" pitchFamily="34" charset="0"/>
              <a:buNone/>
              <a:defRPr sz="2000">
                <a:solidFill>
                  <a:schemeClr val="tx1"/>
                </a:solidFill>
                <a:latin typeface="Lato" panose="020F0502020204030203" pitchFamily="34" charset="77"/>
                <a:cs typeface="+mn-cs"/>
              </a:defRPr>
            </a:lvl2pPr>
            <a:lvl3pPr indent="0" algn="ctr" defTabSz="914400" eaLnBrk="1" latinLnBrk="0" hangingPunct="1">
              <a:lnSpc>
                <a:spcPct val="90000"/>
              </a:lnSpc>
              <a:spcBef>
                <a:spcPts val="500"/>
              </a:spcBef>
              <a:buFont typeface="Arial" panose="020B0604020202020204" pitchFamily="34" charset="0"/>
              <a:buNone/>
              <a:defRPr sz="1800">
                <a:solidFill>
                  <a:schemeClr val="tx1"/>
                </a:solidFill>
                <a:latin typeface="Lato" panose="020F0502020204030203" pitchFamily="34" charset="77"/>
                <a:cs typeface="+mn-cs"/>
              </a:defRPr>
            </a:lvl3pPr>
            <a:lvl4pPr indent="0" algn="ctr" defTabSz="914400" eaLnBrk="1" latinLnBrk="0" hangingPunct="1">
              <a:lnSpc>
                <a:spcPct val="90000"/>
              </a:lnSpc>
              <a:spcBef>
                <a:spcPts val="500"/>
              </a:spcBef>
              <a:buFont typeface="Arial" panose="020B0604020202020204" pitchFamily="34" charset="0"/>
              <a:buNone/>
              <a:defRPr sz="1600">
                <a:solidFill>
                  <a:schemeClr val="tx1"/>
                </a:solidFill>
                <a:latin typeface="Lato" panose="020F0502020204030203" pitchFamily="34" charset="77"/>
                <a:cs typeface="+mn-cs"/>
              </a:defRPr>
            </a:lvl4pPr>
            <a:lvl5pPr indent="0" algn="ctr" defTabSz="914400" eaLnBrk="1" latinLnBrk="0" hangingPunct="1">
              <a:lnSpc>
                <a:spcPct val="90000"/>
              </a:lnSpc>
              <a:spcBef>
                <a:spcPts val="500"/>
              </a:spcBef>
              <a:buFont typeface="Arial" panose="020B0604020202020204" pitchFamily="34" charset="0"/>
              <a:buNone/>
              <a:defRPr sz="1600">
                <a:solidFill>
                  <a:schemeClr val="tx1"/>
                </a:solidFill>
                <a:latin typeface="Lato" panose="020F0502020204030203" pitchFamily="34" charset="77"/>
                <a:cs typeface="+mn-cs"/>
              </a:defRPr>
            </a:lvl5pPr>
            <a:lvl6pPr indent="0" algn="ctr">
              <a:lnSpc>
                <a:spcPct val="90000"/>
              </a:lnSpc>
              <a:spcBef>
                <a:spcPts val="500"/>
              </a:spcBef>
              <a:buFont typeface="Arial" panose="020B0604020202020204" pitchFamily="34" charset="0"/>
              <a:buNone/>
              <a:defRPr sz="1600">
                <a:solidFill>
                  <a:schemeClr val="tx1"/>
                </a:solidFill>
                <a:latin typeface="+mn-lt"/>
                <a:cs typeface="+mn-cs"/>
              </a:defRPr>
            </a:lvl6pPr>
            <a:lvl7pPr indent="0" algn="ctr">
              <a:lnSpc>
                <a:spcPct val="90000"/>
              </a:lnSpc>
              <a:spcBef>
                <a:spcPts val="500"/>
              </a:spcBef>
              <a:buFont typeface="Arial" panose="020B0604020202020204" pitchFamily="34" charset="0"/>
              <a:buNone/>
              <a:defRPr sz="1600">
                <a:solidFill>
                  <a:schemeClr val="tx1"/>
                </a:solidFill>
                <a:latin typeface="+mn-lt"/>
                <a:cs typeface="+mn-cs"/>
              </a:defRPr>
            </a:lvl7pPr>
            <a:lvl8pPr indent="0" algn="ctr">
              <a:lnSpc>
                <a:spcPct val="90000"/>
              </a:lnSpc>
              <a:spcBef>
                <a:spcPts val="500"/>
              </a:spcBef>
              <a:buFont typeface="Arial" panose="020B0604020202020204" pitchFamily="34" charset="0"/>
              <a:buNone/>
              <a:defRPr sz="1600">
                <a:solidFill>
                  <a:schemeClr val="tx1"/>
                </a:solidFill>
                <a:latin typeface="+mn-lt"/>
                <a:cs typeface="+mn-cs"/>
              </a:defRPr>
            </a:lvl8pPr>
            <a:lvl9pPr indent="0" algn="ctr">
              <a:lnSpc>
                <a:spcPct val="90000"/>
              </a:lnSpc>
              <a:spcBef>
                <a:spcPts val="500"/>
              </a:spcBef>
              <a:buFont typeface="Arial" panose="020B0604020202020204" pitchFamily="34" charset="0"/>
              <a:buNone/>
              <a:defRPr sz="1600">
                <a:solidFill>
                  <a:schemeClr val="tx1"/>
                </a:solidFill>
                <a:latin typeface="+mn-lt"/>
                <a:cs typeface="+mn-cs"/>
              </a:defRPr>
            </a:lvl9pPr>
          </a:lstStyle>
          <a:p>
            <a:r>
              <a:rPr lang="en-US" sz="1400">
                <a:sym typeface="Helvetica Neue Light"/>
              </a:rPr>
              <a:t>There is ongoing tension between cost control and growth ambitions, compounded by an unclear digital strategy and lack of shared priorities for the next phase</a:t>
            </a:r>
          </a:p>
          <a:p>
            <a:endParaRPr lang="en-US" sz="1400">
              <a:sym typeface="Helvetica Neue Light"/>
            </a:endParaRPr>
          </a:p>
        </p:txBody>
      </p:sp>
      <p:sp>
        <p:nvSpPr>
          <p:cNvPr id="15" name="Subtitle 2">
            <a:extLst>
              <a:ext uri="{FF2B5EF4-FFF2-40B4-BE49-F238E27FC236}">
                <a16:creationId xmlns:a16="http://schemas.microsoft.com/office/drawing/2014/main" id="{CC83D3B6-1EAE-E818-B3B6-0798141645FE}"/>
              </a:ext>
            </a:extLst>
          </p:cNvPr>
          <p:cNvSpPr txBox="1">
            <a:spLocks/>
          </p:cNvSpPr>
          <p:nvPr/>
        </p:nvSpPr>
        <p:spPr>
          <a:xfrm flipH="1">
            <a:off x="4249204" y="2124544"/>
            <a:ext cx="2886320" cy="1978396"/>
          </a:xfrm>
          <a:prstGeom prst="rect">
            <a:avLst/>
          </a:prstGeom>
        </p:spPr>
        <p:txBody>
          <a:bodyPr vert="horz" lIns="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marR="0" lvl="0" indent="-285750" algn="l" defTabSz="914400" rtl="0" eaLnBrk="1" fontAlgn="base" latinLnBrk="0" hangingPunct="1">
              <a:lnSpc>
                <a:spcPts val="2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Teams operate independently, with limited cross-functional planning and inconsistent communication routines</a:t>
            </a:r>
            <a:endParaRPr lang="en-US" sz="1400">
              <a:solidFill>
                <a:prstClr val="black"/>
              </a:solidFill>
              <a:latin typeface="Helvetica Neue" panose="02000503000000020004" pitchFamily="2" charset="0"/>
              <a:ea typeface="Helvetica Neue" panose="02000503000000020004" pitchFamily="2" charset="0"/>
              <a:cs typeface="Helvetica Neue" panose="02000503000000020004" pitchFamily="2" charset="0"/>
            </a:endParaRPr>
          </a:p>
          <a:p>
            <a:pPr marL="285750" marR="0" lvl="0" indent="-285750" algn="l" defTabSz="914400" rtl="0" eaLnBrk="1" fontAlgn="base" latinLnBrk="0" hangingPunct="1">
              <a:lnSpc>
                <a:spcPts val="2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The absence of standard ways of working—shared meetings and follow-ups—slows decisions and integration</a:t>
            </a:r>
          </a:p>
          <a:p>
            <a:pPr marL="285750" marR="0" lvl="0" indent="-285750" algn="l" defTabSz="914400" rtl="0" eaLnBrk="1" fontAlgn="base" latinLnBrk="0" hangingPunct="1">
              <a:lnSpc>
                <a:spcPts val="2000"/>
              </a:lnSpc>
              <a:spcBef>
                <a:spcPts val="0"/>
              </a:spcBef>
              <a:spcAft>
                <a:spcPts val="600"/>
              </a:spcAft>
              <a:buClrTx/>
              <a:buSzTx/>
              <a:buFont typeface="Arial" panose="020B0604020202020204" pitchFamily="34" charset="0"/>
              <a:buChar char="•"/>
              <a:tabLst/>
              <a:defRPr/>
            </a:pPr>
            <a:endParaRPr kumimoji="0" lang="en-US" sz="1400" b="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285750" marR="0" lvl="0" indent="-285750" algn="l" defTabSz="914400" rtl="0" eaLnBrk="1" fontAlgn="auto" latinLnBrk="0" hangingPunct="1">
              <a:lnSpc>
                <a:spcPts val="2000"/>
              </a:lnSpc>
              <a:spcBef>
                <a:spcPts val="0"/>
              </a:spcBef>
              <a:spcAft>
                <a:spcPts val="600"/>
              </a:spcAft>
              <a:buClrTx/>
              <a:buSzTx/>
              <a:buFont typeface="Arial" panose="020B0604020202020204" pitchFamily="34" charset="0"/>
              <a:buChar char="•"/>
              <a:tabLst/>
              <a:defRPr/>
            </a:pPr>
            <a:endParaRPr kumimoji="0" lang="en-US" sz="1400" b="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16" name="Subtitle 2">
            <a:extLst>
              <a:ext uri="{FF2B5EF4-FFF2-40B4-BE49-F238E27FC236}">
                <a16:creationId xmlns:a16="http://schemas.microsoft.com/office/drawing/2014/main" id="{B4B01371-0EA0-8D8E-5EE0-EB009A66CD68}"/>
              </a:ext>
            </a:extLst>
          </p:cNvPr>
          <p:cNvSpPr txBox="1">
            <a:spLocks/>
          </p:cNvSpPr>
          <p:nvPr/>
        </p:nvSpPr>
        <p:spPr>
          <a:xfrm flipH="1">
            <a:off x="7841646" y="2124542"/>
            <a:ext cx="3241789" cy="3640307"/>
          </a:xfrm>
          <a:prstGeom prst="rect">
            <a:avLst/>
          </a:prstGeom>
        </p:spPr>
        <p:txBody>
          <a:bodyPr vert="horz" lIns="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marR="0" lvl="0" indent="-285750" algn="l" defTabSz="914400" rtl="0" eaLnBrk="1" fontAlgn="auto" latinLnBrk="0" hangingPunct="1">
              <a:lnSpc>
                <a:spcPts val="2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The company is still transitioning from a culture historically shaped by control and caution</a:t>
            </a:r>
            <a:r>
              <a:rPr lang="en-US" sz="1400">
                <a:solidFill>
                  <a:prstClr val="black"/>
                </a:solidFill>
                <a:latin typeface="Helvetica Neue"/>
                <a:ea typeface="Helvetica Neue" panose="02000503000000020004" pitchFamily="2" charset="0"/>
                <a:cs typeface="Helvetica Neue" panose="02000503000000020004" pitchFamily="2" charset="0"/>
              </a:rPr>
              <a:t>: </a:t>
            </a:r>
            <a:r>
              <a:rPr kumimoji="0" lang="en-US" sz="1400" b="0" i="0" u="none" strike="noStrike" kern="1200" cap="none" spc="0" normalizeH="0" baseline="0" noProof="0">
                <a:ln>
                  <a:noFill/>
                </a:ln>
                <a:solidFill>
                  <a:prstClr val="black"/>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HR processes and policies are often seen as rule-driven rather than people-enabling</a:t>
            </a:r>
            <a:endParaRPr kumimoji="0" lang="en-US" sz="1400" b="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285750" marR="0" lvl="0" indent="-285750" algn="l" defTabSz="914400" rtl="0" eaLnBrk="1" fontAlgn="auto" latinLnBrk="0" hangingPunct="1">
              <a:lnSpc>
                <a:spcPts val="2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Some pockets of </a:t>
            </a:r>
            <a:r>
              <a:rPr lang="en-US" sz="1400">
                <a:solidFill>
                  <a:prstClr val="black"/>
                </a:solidFill>
                <a:latin typeface="Helvetica Neue"/>
                <a:ea typeface="Helvetica Neue" panose="02000503000000020004" pitchFamily="2" charset="0"/>
                <a:cs typeface="Helvetica Neue" panose="02000503000000020004" pitchFamily="2" charset="0"/>
              </a:rPr>
              <a:t>underperformance</a:t>
            </a:r>
            <a:r>
              <a:rPr kumimoji="0" lang="en-US" sz="1400" b="0" i="0" u="none" strike="noStrike" kern="1200" cap="none" spc="0" normalizeH="0" baseline="0" noProof="0">
                <a:ln>
                  <a:noFill/>
                </a:ln>
                <a:solidFill>
                  <a:prstClr val="black"/>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 and lack of follow-through</a:t>
            </a:r>
            <a:endParaRPr kumimoji="0" lang="en-US" sz="1400" b="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285750" marR="0" lvl="0" indent="-285750" algn="l" defTabSz="914400" rtl="0" eaLnBrk="1" fontAlgn="auto" latinLnBrk="0" hangingPunct="1">
              <a:lnSpc>
                <a:spcPts val="2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prstClr val="black"/>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Many long-tenured employees also express uncertainty about their development journey, seeking clearer guidance and feedback on how to grow within the organization</a:t>
            </a:r>
            <a:endParaRPr lang="en-US" sz="1400" b="0" i="0" u="none" strike="noStrike" kern="1200" cap="none" spc="0" normalizeH="0" baseline="0" noProof="0">
              <a:ln>
                <a:noFill/>
              </a:ln>
              <a:solidFill>
                <a:prstClr val="black"/>
              </a:solidFill>
              <a:effectLst/>
              <a:uLnTx/>
              <a:uFillTx/>
              <a:latin typeface="Helvetica Neue"/>
              <a:ea typeface="Helvetica Neue" panose="02000503000000020004" pitchFamily="2" charset="0"/>
              <a:cs typeface="Helvetica Neue" panose="02000503000000020004" pitchFamily="2" charset="0"/>
            </a:endParaRPr>
          </a:p>
          <a:p>
            <a:pPr marL="285750" marR="0" lvl="0" indent="-285750" algn="l" defTabSz="914400" rtl="0" eaLnBrk="1" fontAlgn="auto" latinLnBrk="0" hangingPunct="1">
              <a:lnSpc>
                <a:spcPts val="2000"/>
              </a:lnSpc>
              <a:spcBef>
                <a:spcPts val="0"/>
              </a:spcBef>
              <a:spcAft>
                <a:spcPts val="600"/>
              </a:spcAft>
              <a:buClrTx/>
              <a:buSzTx/>
              <a:buFont typeface="Arial" panose="020B0604020202020204" pitchFamily="34" charset="0"/>
              <a:buChar char="•"/>
              <a:tabLst/>
              <a:defRPr/>
            </a:pPr>
            <a:endParaRPr kumimoji="0" lang="en-US" sz="1400" b="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285750" marR="0" lvl="0" indent="-285750" algn="l" defTabSz="914400" rtl="0" eaLnBrk="1" fontAlgn="auto" latinLnBrk="0" hangingPunct="1">
              <a:lnSpc>
                <a:spcPts val="2000"/>
              </a:lnSpc>
              <a:spcBef>
                <a:spcPts val="0"/>
              </a:spcBef>
              <a:spcAft>
                <a:spcPts val="600"/>
              </a:spcAft>
              <a:buClrTx/>
              <a:buSzTx/>
              <a:buFont typeface="Arial" panose="020B0604020202020204" pitchFamily="34" charset="0"/>
              <a:buChar char="•"/>
              <a:tabLst/>
              <a:defRPr/>
            </a:pPr>
            <a:endParaRPr kumimoji="0" lang="en-US" sz="1400" b="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cxnSp>
        <p:nvCxnSpPr>
          <p:cNvPr id="17" name="Straight Connector 16">
            <a:extLst>
              <a:ext uri="{FF2B5EF4-FFF2-40B4-BE49-F238E27FC236}">
                <a16:creationId xmlns:a16="http://schemas.microsoft.com/office/drawing/2014/main" id="{5B54CFDD-8007-035C-67D4-5638520237D7}"/>
              </a:ext>
            </a:extLst>
          </p:cNvPr>
          <p:cNvCxnSpPr>
            <a:cxnSpLocks/>
          </p:cNvCxnSpPr>
          <p:nvPr/>
        </p:nvCxnSpPr>
        <p:spPr>
          <a:xfrm>
            <a:off x="653578" y="1930506"/>
            <a:ext cx="2889504" cy="0"/>
          </a:xfrm>
          <a:prstGeom prst="line">
            <a:avLst/>
          </a:prstGeom>
          <a:ln>
            <a:solidFill>
              <a:srgbClr val="001E5A"/>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6884E14D-9CD5-803F-B5DB-56A4B670209D}"/>
              </a:ext>
            </a:extLst>
          </p:cNvPr>
          <p:cNvSpPr txBox="1"/>
          <p:nvPr/>
        </p:nvSpPr>
        <p:spPr>
          <a:xfrm>
            <a:off x="854011" y="943281"/>
            <a:ext cx="2488637" cy="580415"/>
          </a:xfrm>
          <a:prstGeom prst="rect">
            <a:avLst/>
          </a:prstGeom>
          <a:noFill/>
        </p:spPr>
        <p:txBody>
          <a:bodyPr wrap="square" anchor="ctr">
            <a:spAutoFit/>
          </a:bodyPr>
          <a:lstStyle/>
          <a:p>
            <a:pPr marL="0" marR="0" lvl="0" indent="0" algn="ctr" defTabSz="914400" rtl="0" eaLnBrk="1" fontAlgn="auto" latinLnBrk="0" hangingPunct="1">
              <a:lnSpc>
                <a:spcPts val="2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STRATEGIC ALIGNMENT &amp; COLLABORATION</a:t>
            </a:r>
          </a:p>
        </p:txBody>
      </p:sp>
      <p:cxnSp>
        <p:nvCxnSpPr>
          <p:cNvPr id="19" name="Straight Connector 18">
            <a:extLst>
              <a:ext uri="{FF2B5EF4-FFF2-40B4-BE49-F238E27FC236}">
                <a16:creationId xmlns:a16="http://schemas.microsoft.com/office/drawing/2014/main" id="{87428D5B-86B8-BB0E-2585-96CDEBCCA6EC}"/>
              </a:ext>
            </a:extLst>
          </p:cNvPr>
          <p:cNvCxnSpPr>
            <a:cxnSpLocks/>
          </p:cNvCxnSpPr>
          <p:nvPr/>
        </p:nvCxnSpPr>
        <p:spPr>
          <a:xfrm>
            <a:off x="7844833" y="1921410"/>
            <a:ext cx="3238602" cy="0"/>
          </a:xfrm>
          <a:prstGeom prst="line">
            <a:avLst/>
          </a:prstGeom>
          <a:ln>
            <a:solidFill>
              <a:srgbClr val="001E5A"/>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D6632D75-211A-F4A1-686B-BCB840EF0D5D}"/>
              </a:ext>
            </a:extLst>
          </p:cNvPr>
          <p:cNvCxnSpPr>
            <a:cxnSpLocks/>
          </p:cNvCxnSpPr>
          <p:nvPr/>
        </p:nvCxnSpPr>
        <p:spPr>
          <a:xfrm>
            <a:off x="4249204" y="1930505"/>
            <a:ext cx="2889504" cy="0"/>
          </a:xfrm>
          <a:prstGeom prst="line">
            <a:avLst/>
          </a:prstGeom>
          <a:ln>
            <a:solidFill>
              <a:srgbClr val="001E5A"/>
            </a:solidFill>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BE8A8FE3-FB3B-6688-66B8-B93B80DB8518}"/>
              </a:ext>
            </a:extLst>
          </p:cNvPr>
          <p:cNvSpPr txBox="1"/>
          <p:nvPr/>
        </p:nvSpPr>
        <p:spPr>
          <a:xfrm>
            <a:off x="8218221" y="1071520"/>
            <a:ext cx="2488637" cy="323935"/>
          </a:xfrm>
          <a:prstGeom prst="rect">
            <a:avLst/>
          </a:prstGeom>
          <a:noFill/>
        </p:spPr>
        <p:txBody>
          <a:bodyPr wrap="square" anchor="ctr">
            <a:spAutoFit/>
          </a:bodyPr>
          <a:lstStyle/>
          <a:p>
            <a:pPr marL="0" marR="0" lvl="0" indent="0" algn="ctr" defTabSz="914400" rtl="0" eaLnBrk="1" fontAlgn="auto" latinLnBrk="0" hangingPunct="1">
              <a:lnSpc>
                <a:spcPts val="2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HR &amp; CULTURE</a:t>
            </a:r>
          </a:p>
        </p:txBody>
      </p:sp>
      <p:sp>
        <p:nvSpPr>
          <p:cNvPr id="22" name="TextBox 21">
            <a:extLst>
              <a:ext uri="{FF2B5EF4-FFF2-40B4-BE49-F238E27FC236}">
                <a16:creationId xmlns:a16="http://schemas.microsoft.com/office/drawing/2014/main" id="{E3E65C14-7120-21D4-312A-16F9E12DBD2C}"/>
              </a:ext>
            </a:extLst>
          </p:cNvPr>
          <p:cNvSpPr txBox="1"/>
          <p:nvPr/>
        </p:nvSpPr>
        <p:spPr>
          <a:xfrm>
            <a:off x="4328384" y="971878"/>
            <a:ext cx="2727960" cy="52322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COMMUNICATION ACROSS FUNCTIONS</a:t>
            </a:r>
          </a:p>
        </p:txBody>
      </p:sp>
    </p:spTree>
    <p:extLst>
      <p:ext uri="{BB962C8B-B14F-4D97-AF65-F5344CB8AC3E}">
        <p14:creationId xmlns:p14="http://schemas.microsoft.com/office/powerpoint/2010/main" val="2813069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8422BFAB-0BB5-7A5B-8B8C-678DD066431F}"/>
            </a:ext>
          </a:extLst>
        </p:cNvPr>
        <p:cNvGrpSpPr/>
        <p:nvPr/>
      </p:nvGrpSpPr>
      <p:grpSpPr>
        <a:xfrm>
          <a:off x="0" y="0"/>
          <a:ext cx="0" cy="0"/>
          <a:chOff x="0" y="0"/>
          <a:chExt cx="0" cy="0"/>
        </a:xfrm>
      </p:grpSpPr>
      <p:sp>
        <p:nvSpPr>
          <p:cNvPr id="21507" name="Text Placeholder 1">
            <a:extLst>
              <a:ext uri="{FF2B5EF4-FFF2-40B4-BE49-F238E27FC236}">
                <a16:creationId xmlns:a16="http://schemas.microsoft.com/office/drawing/2014/main" id="{3C30F560-54BD-1E7A-9859-8C17FEDA6ADC}"/>
              </a:ext>
            </a:extLst>
          </p:cNvPr>
          <p:cNvSpPr>
            <a:spLocks noGrp="1" noChangeArrowheads="1"/>
          </p:cNvSpPr>
          <p:nvPr>
            <p:ph type="body" idx="1"/>
          </p:nvPr>
        </p:nvSpPr>
        <p:spPr bwMode="auto">
          <a:xfrm>
            <a:off x="727075" y="374650"/>
            <a:ext cx="7559675" cy="334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marL="0" indent="0">
              <a:spcBef>
                <a:spcPct val="0"/>
              </a:spcBef>
              <a:spcAft>
                <a:spcPct val="0"/>
              </a:spcAft>
              <a:buClr>
                <a:srgbClr val="000000"/>
              </a:buClr>
              <a:buSzPts val="2400"/>
              <a:buFont typeface="Arial" panose="020B0604020202020204" pitchFamily="34" charset="0"/>
              <a:buNone/>
            </a:pPr>
            <a:r>
              <a:rPr lang="en-US" altLang="en-US" sz="2000">
                <a:solidFill>
                  <a:srgbClr val="002060"/>
                </a:solidFill>
                <a:latin typeface="Arial"/>
                <a:cs typeface="Arial"/>
                <a:sym typeface="Helvetica Neue Light" panose="02000403000000020004" pitchFamily="2" charset="0"/>
              </a:rPr>
              <a:t>C-SUITE ENABLING SUCCESS PLAN OVERVIEW</a:t>
            </a:r>
          </a:p>
        </p:txBody>
      </p:sp>
      <p:sp>
        <p:nvSpPr>
          <p:cNvPr id="21508" name="Slide Number Placeholder 2">
            <a:extLst>
              <a:ext uri="{FF2B5EF4-FFF2-40B4-BE49-F238E27FC236}">
                <a16:creationId xmlns:a16="http://schemas.microsoft.com/office/drawing/2014/main" id="{01E6FC1C-051E-AF5F-2EB9-FFB47379970C}"/>
              </a:ext>
            </a:extLst>
          </p:cNvPr>
          <p:cNvSpPr>
            <a:spLocks noGrp="1" noChangeArrowheads="1"/>
          </p:cNvSpPr>
          <p:nvPr>
            <p:ph type="sldNum" sz="quarter" idx="10"/>
          </p:nvPr>
        </p:nvSpPr>
        <p:spPr>
          <a:xfrm>
            <a:off x="0" y="238125"/>
            <a:ext cx="557213" cy="557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94E6AC2-D12E-1843-971E-E4F9DE4AA8B8}"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14</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cxnSp>
        <p:nvCxnSpPr>
          <p:cNvPr id="2" name="Straight Connector 1">
            <a:extLst>
              <a:ext uri="{FF2B5EF4-FFF2-40B4-BE49-F238E27FC236}">
                <a16:creationId xmlns:a16="http://schemas.microsoft.com/office/drawing/2014/main" id="{86D9E52A-67B7-B854-1E88-7889500B8105}"/>
              </a:ext>
            </a:extLst>
          </p:cNvPr>
          <p:cNvCxnSpPr>
            <a:cxnSpLocks/>
          </p:cNvCxnSpPr>
          <p:nvPr/>
        </p:nvCxnSpPr>
        <p:spPr>
          <a:xfrm>
            <a:off x="4859873" y="5653486"/>
            <a:ext cx="0" cy="0"/>
          </a:xfrm>
          <a:prstGeom prst="line">
            <a:avLst/>
          </a:prstGeom>
          <a:ln w="12700">
            <a:solidFill>
              <a:srgbClr val="C4921B"/>
            </a:solidFill>
          </a:ln>
        </p:spPr>
        <p:style>
          <a:lnRef idx="2">
            <a:schemeClr val="accent1"/>
          </a:lnRef>
          <a:fillRef idx="0">
            <a:schemeClr val="accent1"/>
          </a:fillRef>
          <a:effectRef idx="1">
            <a:schemeClr val="accent1"/>
          </a:effectRef>
          <a:fontRef idx="minor">
            <a:schemeClr val="tx1"/>
          </a:fontRef>
        </p:style>
      </p:cxnSp>
      <p:sp>
        <p:nvSpPr>
          <p:cNvPr id="3" name="Rounded Rectangle 16">
            <a:extLst>
              <a:ext uri="{FF2B5EF4-FFF2-40B4-BE49-F238E27FC236}">
                <a16:creationId xmlns:a16="http://schemas.microsoft.com/office/drawing/2014/main" id="{19F5DAAE-59D4-A3DF-B119-11EC584D3155}"/>
              </a:ext>
            </a:extLst>
          </p:cNvPr>
          <p:cNvSpPr/>
          <p:nvPr/>
        </p:nvSpPr>
        <p:spPr>
          <a:xfrm>
            <a:off x="1900362" y="1101076"/>
            <a:ext cx="8132782" cy="4932819"/>
          </a:xfrm>
          <a:prstGeom prst="roundRect">
            <a:avLst>
              <a:gd name="adj" fmla="val 3112"/>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4" name="Freeform 6">
            <a:extLst>
              <a:ext uri="{FF2B5EF4-FFF2-40B4-BE49-F238E27FC236}">
                <a16:creationId xmlns:a16="http://schemas.microsoft.com/office/drawing/2014/main" id="{D8727BD7-CF41-612F-411B-0E3A1E48D187}"/>
              </a:ext>
            </a:extLst>
          </p:cNvPr>
          <p:cNvSpPr/>
          <p:nvPr/>
        </p:nvSpPr>
        <p:spPr>
          <a:xfrm rot="5400000">
            <a:off x="1710449" y="1767622"/>
            <a:ext cx="4920427" cy="3588197"/>
          </a:xfrm>
          <a:custGeom>
            <a:avLst/>
            <a:gdLst>
              <a:gd name="connsiteX0" fmla="*/ 3581745 w 3696789"/>
              <a:gd name="connsiteY0" fmla="*/ 2397650 h 2397650"/>
              <a:gd name="connsiteX1" fmla="*/ 115044 w 3696789"/>
              <a:gd name="connsiteY1" fmla="*/ 2397650 h 2397650"/>
              <a:gd name="connsiteX2" fmla="*/ 0 w 3696789"/>
              <a:gd name="connsiteY2" fmla="*/ 2282606 h 2397650"/>
              <a:gd name="connsiteX3" fmla="*/ 0 w 3696789"/>
              <a:gd name="connsiteY3" fmla="*/ 2018205 h 2397650"/>
              <a:gd name="connsiteX4" fmla="*/ 1849994 w 3696789"/>
              <a:gd name="connsiteY4" fmla="*/ 0 h 2397650"/>
              <a:gd name="connsiteX5" fmla="*/ 3696789 w 3696789"/>
              <a:gd name="connsiteY5" fmla="*/ 2014716 h 2397650"/>
              <a:gd name="connsiteX6" fmla="*/ 3696789 w 3696789"/>
              <a:gd name="connsiteY6" fmla="*/ 2282606 h 2397650"/>
              <a:gd name="connsiteX7" fmla="*/ 3581745 w 3696789"/>
              <a:gd name="connsiteY7" fmla="*/ 2397650 h 239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6789" h="2397650">
                <a:moveTo>
                  <a:pt x="3581745" y="2397650"/>
                </a:moveTo>
                <a:lnTo>
                  <a:pt x="115044" y="2397650"/>
                </a:lnTo>
                <a:cubicBezTo>
                  <a:pt x="51507" y="2397650"/>
                  <a:pt x="0" y="2346143"/>
                  <a:pt x="0" y="2282606"/>
                </a:cubicBezTo>
                <a:lnTo>
                  <a:pt x="0" y="2018205"/>
                </a:lnTo>
                <a:lnTo>
                  <a:pt x="1849994" y="0"/>
                </a:lnTo>
                <a:lnTo>
                  <a:pt x="3696789" y="2014716"/>
                </a:lnTo>
                <a:lnTo>
                  <a:pt x="3696789" y="2282606"/>
                </a:lnTo>
                <a:cubicBezTo>
                  <a:pt x="3696789" y="2346143"/>
                  <a:pt x="3645282" y="2397650"/>
                  <a:pt x="3581745" y="2397650"/>
                </a:cubicBezTo>
                <a:close/>
              </a:path>
            </a:pathLst>
          </a:custGeom>
          <a:gradFill flip="none" rotWithShape="1">
            <a:gsLst>
              <a:gs pos="0">
                <a:srgbClr val="05B050">
                  <a:alpha val="60049"/>
                </a:srgbClr>
              </a:gs>
              <a:gs pos="100000">
                <a:srgbClr val="05B050">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5" name="TextBox 4">
            <a:extLst>
              <a:ext uri="{FF2B5EF4-FFF2-40B4-BE49-F238E27FC236}">
                <a16:creationId xmlns:a16="http://schemas.microsoft.com/office/drawing/2014/main" id="{86AEF3CE-0E69-4D65-2AED-FDBCF9542017}"/>
              </a:ext>
            </a:extLst>
          </p:cNvPr>
          <p:cNvSpPr txBox="1"/>
          <p:nvPr/>
        </p:nvSpPr>
        <p:spPr>
          <a:xfrm>
            <a:off x="2179232" y="2216205"/>
            <a:ext cx="144604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Tailwinds</a:t>
            </a:r>
          </a:p>
        </p:txBody>
      </p:sp>
      <p:sp>
        <p:nvSpPr>
          <p:cNvPr id="6" name="TextBox 5">
            <a:extLst>
              <a:ext uri="{FF2B5EF4-FFF2-40B4-BE49-F238E27FC236}">
                <a16:creationId xmlns:a16="http://schemas.microsoft.com/office/drawing/2014/main" id="{CFE1FC1B-8600-519C-7315-FD64CA4F8D64}"/>
              </a:ext>
            </a:extLst>
          </p:cNvPr>
          <p:cNvSpPr txBox="1"/>
          <p:nvPr/>
        </p:nvSpPr>
        <p:spPr>
          <a:xfrm>
            <a:off x="1990222" y="2709330"/>
            <a:ext cx="1608308" cy="488426"/>
          </a:xfrm>
          <a:prstGeom prst="roundRect">
            <a:avLst>
              <a:gd name="adj" fmla="val 7950"/>
            </a:avLst>
          </a:prstGeom>
          <a:solidFill>
            <a:schemeClr val="bg1"/>
          </a:solidFill>
        </p:spPr>
        <p:txBody>
          <a:bodyPr wrap="square" lIns="90000" rIns="9000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Innovative</a:t>
            </a:r>
          </a:p>
        </p:txBody>
      </p:sp>
      <p:sp>
        <p:nvSpPr>
          <p:cNvPr id="7" name="TextBox 6">
            <a:extLst>
              <a:ext uri="{FF2B5EF4-FFF2-40B4-BE49-F238E27FC236}">
                <a16:creationId xmlns:a16="http://schemas.microsoft.com/office/drawing/2014/main" id="{02958E7E-2264-36C1-3F20-47A04D9E8190}"/>
              </a:ext>
            </a:extLst>
          </p:cNvPr>
          <p:cNvSpPr txBox="1"/>
          <p:nvPr/>
        </p:nvSpPr>
        <p:spPr>
          <a:xfrm>
            <a:off x="1997710" y="3300992"/>
            <a:ext cx="1608307" cy="482012"/>
          </a:xfrm>
          <a:prstGeom prst="roundRect">
            <a:avLst>
              <a:gd name="adj" fmla="val 7950"/>
            </a:avLst>
          </a:prstGeom>
          <a:solidFill>
            <a:schemeClr val="bg1"/>
          </a:solidFill>
        </p:spPr>
        <p:txBody>
          <a:bodyPr wrap="square" lIns="90000" rIns="9000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Commercially astute </a:t>
            </a:r>
          </a:p>
        </p:txBody>
      </p:sp>
      <p:pic>
        <p:nvPicPr>
          <p:cNvPr id="8" name="Graphic 7" descr="Run with solid fill">
            <a:extLst>
              <a:ext uri="{FF2B5EF4-FFF2-40B4-BE49-F238E27FC236}">
                <a16:creationId xmlns:a16="http://schemas.microsoft.com/office/drawing/2014/main" id="{D9218D04-53C2-A6AA-2AAB-A1351701561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2320" y="1878444"/>
            <a:ext cx="359131" cy="359131"/>
          </a:xfrm>
          <a:prstGeom prst="rect">
            <a:avLst/>
          </a:prstGeom>
        </p:spPr>
      </p:pic>
      <p:pic>
        <p:nvPicPr>
          <p:cNvPr id="9" name="Graphic 8" descr="Run with solid fill">
            <a:extLst>
              <a:ext uri="{FF2B5EF4-FFF2-40B4-BE49-F238E27FC236}">
                <a16:creationId xmlns:a16="http://schemas.microsoft.com/office/drawing/2014/main" id="{797D68F7-386B-A07D-8134-69C359C5D07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38504" y="1890616"/>
            <a:ext cx="359131" cy="359131"/>
          </a:xfrm>
          <a:prstGeom prst="rect">
            <a:avLst/>
          </a:prstGeom>
        </p:spPr>
      </p:pic>
      <p:sp>
        <p:nvSpPr>
          <p:cNvPr id="11" name="Freeform 6">
            <a:extLst>
              <a:ext uri="{FF2B5EF4-FFF2-40B4-BE49-F238E27FC236}">
                <a16:creationId xmlns:a16="http://schemas.microsoft.com/office/drawing/2014/main" id="{A4013354-8B10-9937-9123-C87D4E1B22EA}"/>
              </a:ext>
            </a:extLst>
          </p:cNvPr>
          <p:cNvSpPr/>
          <p:nvPr/>
        </p:nvSpPr>
        <p:spPr>
          <a:xfrm rot="16200000">
            <a:off x="5542977" y="1534279"/>
            <a:ext cx="4920427" cy="4059907"/>
          </a:xfrm>
          <a:custGeom>
            <a:avLst/>
            <a:gdLst>
              <a:gd name="connsiteX0" fmla="*/ 3581745 w 3696789"/>
              <a:gd name="connsiteY0" fmla="*/ 2397650 h 2397650"/>
              <a:gd name="connsiteX1" fmla="*/ 115044 w 3696789"/>
              <a:gd name="connsiteY1" fmla="*/ 2397650 h 2397650"/>
              <a:gd name="connsiteX2" fmla="*/ 0 w 3696789"/>
              <a:gd name="connsiteY2" fmla="*/ 2282606 h 2397650"/>
              <a:gd name="connsiteX3" fmla="*/ 0 w 3696789"/>
              <a:gd name="connsiteY3" fmla="*/ 2018205 h 2397650"/>
              <a:gd name="connsiteX4" fmla="*/ 1849994 w 3696789"/>
              <a:gd name="connsiteY4" fmla="*/ 0 h 2397650"/>
              <a:gd name="connsiteX5" fmla="*/ 3696789 w 3696789"/>
              <a:gd name="connsiteY5" fmla="*/ 2014716 h 2397650"/>
              <a:gd name="connsiteX6" fmla="*/ 3696789 w 3696789"/>
              <a:gd name="connsiteY6" fmla="*/ 2282606 h 2397650"/>
              <a:gd name="connsiteX7" fmla="*/ 3581745 w 3696789"/>
              <a:gd name="connsiteY7" fmla="*/ 2397650 h 239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6789" h="2397650">
                <a:moveTo>
                  <a:pt x="3581745" y="2397650"/>
                </a:moveTo>
                <a:lnTo>
                  <a:pt x="115044" y="2397650"/>
                </a:lnTo>
                <a:cubicBezTo>
                  <a:pt x="51507" y="2397650"/>
                  <a:pt x="0" y="2346143"/>
                  <a:pt x="0" y="2282606"/>
                </a:cubicBezTo>
                <a:lnTo>
                  <a:pt x="0" y="2018205"/>
                </a:lnTo>
                <a:lnTo>
                  <a:pt x="1849994" y="0"/>
                </a:lnTo>
                <a:lnTo>
                  <a:pt x="3696789" y="2014716"/>
                </a:lnTo>
                <a:lnTo>
                  <a:pt x="3696789" y="2282606"/>
                </a:lnTo>
                <a:cubicBezTo>
                  <a:pt x="3696789" y="2346143"/>
                  <a:pt x="3645282" y="2397650"/>
                  <a:pt x="3581745" y="2397650"/>
                </a:cubicBezTo>
                <a:close/>
              </a:path>
            </a:pathLst>
          </a:custGeom>
          <a:gradFill flip="none" rotWithShape="1">
            <a:gsLst>
              <a:gs pos="0">
                <a:srgbClr val="FF0000"/>
              </a:gs>
              <a:gs pos="100000">
                <a:schemeClr val="accent1">
                  <a:lumMod val="20000"/>
                  <a:lumOff val="8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12" name="TextBox 11">
            <a:extLst>
              <a:ext uri="{FF2B5EF4-FFF2-40B4-BE49-F238E27FC236}">
                <a16:creationId xmlns:a16="http://schemas.microsoft.com/office/drawing/2014/main" id="{DBBA2778-93E3-F870-1E8A-5557200C87CF}"/>
              </a:ext>
            </a:extLst>
          </p:cNvPr>
          <p:cNvSpPr txBox="1"/>
          <p:nvPr/>
        </p:nvSpPr>
        <p:spPr>
          <a:xfrm>
            <a:off x="8210975" y="2213317"/>
            <a:ext cx="1604461"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Headwinds</a:t>
            </a:r>
          </a:p>
        </p:txBody>
      </p:sp>
      <p:pic>
        <p:nvPicPr>
          <p:cNvPr id="13" name="Graphic 12" descr="Run with solid fill">
            <a:extLst>
              <a:ext uri="{FF2B5EF4-FFF2-40B4-BE49-F238E27FC236}">
                <a16:creationId xmlns:a16="http://schemas.microsoft.com/office/drawing/2014/main" id="{2A792F5F-C7B3-1C88-42B1-7A5A6792FA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a:off x="5556478" y="4886609"/>
            <a:ext cx="359130" cy="359131"/>
          </a:xfrm>
          <a:prstGeom prst="rect">
            <a:avLst/>
          </a:prstGeom>
        </p:spPr>
      </p:pic>
      <p:pic>
        <p:nvPicPr>
          <p:cNvPr id="14" name="Graphic 13" descr="Run with solid fill">
            <a:extLst>
              <a:ext uri="{FF2B5EF4-FFF2-40B4-BE49-F238E27FC236}">
                <a16:creationId xmlns:a16="http://schemas.microsoft.com/office/drawing/2014/main" id="{24F9DE33-2CB2-ECD6-8734-CD2C278D4B6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a:off x="5937472" y="4884154"/>
            <a:ext cx="359130" cy="359131"/>
          </a:xfrm>
          <a:prstGeom prst="rect">
            <a:avLst/>
          </a:prstGeom>
        </p:spPr>
      </p:pic>
      <p:sp>
        <p:nvSpPr>
          <p:cNvPr id="15" name="TextBox 14">
            <a:extLst>
              <a:ext uri="{FF2B5EF4-FFF2-40B4-BE49-F238E27FC236}">
                <a16:creationId xmlns:a16="http://schemas.microsoft.com/office/drawing/2014/main" id="{E32CC760-E9CF-ECE6-3AD0-4F24BC24F803}"/>
              </a:ext>
            </a:extLst>
          </p:cNvPr>
          <p:cNvSpPr txBox="1"/>
          <p:nvPr/>
        </p:nvSpPr>
        <p:spPr>
          <a:xfrm>
            <a:off x="7883913" y="2759198"/>
            <a:ext cx="2051596" cy="488426"/>
          </a:xfrm>
          <a:prstGeom prst="roundRect">
            <a:avLst>
              <a:gd name="adj" fmla="val 7950"/>
            </a:avLst>
          </a:prstGeom>
          <a:solidFill>
            <a:schemeClr val="bg1"/>
          </a:solidFill>
        </p:spPr>
        <p:txBody>
          <a:bodyPr wrap="square" lIns="90000" rIns="9000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Reserved</a:t>
            </a:r>
          </a:p>
        </p:txBody>
      </p:sp>
      <p:sp>
        <p:nvSpPr>
          <p:cNvPr id="16" name="TextBox 15">
            <a:extLst>
              <a:ext uri="{FF2B5EF4-FFF2-40B4-BE49-F238E27FC236}">
                <a16:creationId xmlns:a16="http://schemas.microsoft.com/office/drawing/2014/main" id="{ACE17A23-4931-8303-DE4A-E2FDD3D07D5B}"/>
              </a:ext>
            </a:extLst>
          </p:cNvPr>
          <p:cNvSpPr txBox="1"/>
          <p:nvPr/>
        </p:nvSpPr>
        <p:spPr>
          <a:xfrm>
            <a:off x="7883913" y="3335662"/>
            <a:ext cx="2051596" cy="488426"/>
          </a:xfrm>
          <a:prstGeom prst="roundRect">
            <a:avLst>
              <a:gd name="adj" fmla="val 7950"/>
            </a:avLst>
          </a:prstGeom>
          <a:solidFill>
            <a:schemeClr val="bg1"/>
          </a:solidFill>
        </p:spPr>
        <p:txBody>
          <a:bodyPr wrap="square" lIns="90000" rIns="9000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Skepticism </a:t>
            </a:r>
          </a:p>
        </p:txBody>
      </p:sp>
      <p:sp>
        <p:nvSpPr>
          <p:cNvPr id="17" name="TextBox 16">
            <a:extLst>
              <a:ext uri="{FF2B5EF4-FFF2-40B4-BE49-F238E27FC236}">
                <a16:creationId xmlns:a16="http://schemas.microsoft.com/office/drawing/2014/main" id="{B54ED1C6-6998-0B70-F05D-C824EBC9223A}"/>
              </a:ext>
            </a:extLst>
          </p:cNvPr>
          <p:cNvSpPr txBox="1"/>
          <p:nvPr/>
        </p:nvSpPr>
        <p:spPr>
          <a:xfrm>
            <a:off x="2016965" y="3855267"/>
            <a:ext cx="1608307" cy="482012"/>
          </a:xfrm>
          <a:prstGeom prst="roundRect">
            <a:avLst>
              <a:gd name="adj" fmla="val 7950"/>
            </a:avLst>
          </a:prstGeom>
          <a:solidFill>
            <a:schemeClr val="bg1"/>
          </a:solidFill>
        </p:spPr>
        <p:txBody>
          <a:bodyPr wrap="square" lIns="90000" rIns="9000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Enjoy solving complex problems</a:t>
            </a:r>
          </a:p>
        </p:txBody>
      </p:sp>
      <p:sp>
        <p:nvSpPr>
          <p:cNvPr id="18" name="TextBox 17">
            <a:extLst>
              <a:ext uri="{FF2B5EF4-FFF2-40B4-BE49-F238E27FC236}">
                <a16:creationId xmlns:a16="http://schemas.microsoft.com/office/drawing/2014/main" id="{34BCCDFF-668F-D4F9-F9C4-EF6F2F9833ED}"/>
              </a:ext>
            </a:extLst>
          </p:cNvPr>
          <p:cNvSpPr txBox="1"/>
          <p:nvPr/>
        </p:nvSpPr>
        <p:spPr>
          <a:xfrm>
            <a:off x="7903168" y="3889937"/>
            <a:ext cx="2051596" cy="488426"/>
          </a:xfrm>
          <a:prstGeom prst="roundRect">
            <a:avLst>
              <a:gd name="adj" fmla="val 7950"/>
            </a:avLst>
          </a:prstGeom>
          <a:solidFill>
            <a:schemeClr val="bg1"/>
          </a:solidFill>
        </p:spPr>
        <p:txBody>
          <a:bodyPr wrap="square" lIns="90000" rIns="9000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Low prudence</a:t>
            </a:r>
          </a:p>
        </p:txBody>
      </p:sp>
      <p:sp>
        <p:nvSpPr>
          <p:cNvPr id="19" name="TextBox 18">
            <a:extLst>
              <a:ext uri="{FF2B5EF4-FFF2-40B4-BE49-F238E27FC236}">
                <a16:creationId xmlns:a16="http://schemas.microsoft.com/office/drawing/2014/main" id="{60279D43-D895-187E-03E9-56EBB9E8ABA0}"/>
              </a:ext>
            </a:extLst>
          </p:cNvPr>
          <p:cNvSpPr txBox="1"/>
          <p:nvPr/>
        </p:nvSpPr>
        <p:spPr>
          <a:xfrm>
            <a:off x="7903168" y="4444212"/>
            <a:ext cx="2051596" cy="488426"/>
          </a:xfrm>
          <a:prstGeom prst="roundRect">
            <a:avLst>
              <a:gd name="adj" fmla="val 7950"/>
            </a:avLst>
          </a:prstGeom>
          <a:solidFill>
            <a:schemeClr val="bg1"/>
          </a:solidFill>
        </p:spPr>
        <p:txBody>
          <a:bodyPr wrap="square" lIns="90000" rIns="9000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Power / Recognition</a:t>
            </a:r>
          </a:p>
        </p:txBody>
      </p:sp>
      <p:sp>
        <p:nvSpPr>
          <p:cNvPr id="20" name="TextBox 19">
            <a:extLst>
              <a:ext uri="{FF2B5EF4-FFF2-40B4-BE49-F238E27FC236}">
                <a16:creationId xmlns:a16="http://schemas.microsoft.com/office/drawing/2014/main" id="{F0B319C9-01CA-9368-5C13-E4CA1F4549DC}"/>
              </a:ext>
            </a:extLst>
          </p:cNvPr>
          <p:cNvSpPr txBox="1"/>
          <p:nvPr/>
        </p:nvSpPr>
        <p:spPr>
          <a:xfrm>
            <a:off x="1997709" y="4444212"/>
            <a:ext cx="1608308" cy="488426"/>
          </a:xfrm>
          <a:prstGeom prst="roundRect">
            <a:avLst>
              <a:gd name="adj" fmla="val 7950"/>
            </a:avLst>
          </a:prstGeom>
          <a:solidFill>
            <a:schemeClr val="bg1"/>
          </a:solidFill>
        </p:spPr>
        <p:txBody>
          <a:bodyPr wrap="square" lIns="90000" rIns="9000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Highly driven</a:t>
            </a:r>
          </a:p>
        </p:txBody>
      </p:sp>
    </p:spTree>
    <p:extLst>
      <p:ext uri="{BB962C8B-B14F-4D97-AF65-F5344CB8AC3E}">
        <p14:creationId xmlns:p14="http://schemas.microsoft.com/office/powerpoint/2010/main" val="350571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A0F88BA8-7DCB-1E16-9389-0D0D275D557C}"/>
            </a:ext>
          </a:extLst>
        </p:cNvPr>
        <p:cNvGrpSpPr/>
        <p:nvPr/>
      </p:nvGrpSpPr>
      <p:grpSpPr>
        <a:xfrm>
          <a:off x="0" y="0"/>
          <a:ext cx="0" cy="0"/>
          <a:chOff x="0" y="0"/>
          <a:chExt cx="0" cy="0"/>
        </a:xfrm>
      </p:grpSpPr>
      <p:sp>
        <p:nvSpPr>
          <p:cNvPr id="21507" name="Text Placeholder 1">
            <a:extLst>
              <a:ext uri="{FF2B5EF4-FFF2-40B4-BE49-F238E27FC236}">
                <a16:creationId xmlns:a16="http://schemas.microsoft.com/office/drawing/2014/main" id="{17ADEA17-327A-E651-0807-10B469E45A2C}"/>
              </a:ext>
            </a:extLst>
          </p:cNvPr>
          <p:cNvSpPr>
            <a:spLocks noGrp="1" noChangeArrowheads="1"/>
          </p:cNvSpPr>
          <p:nvPr>
            <p:ph type="body" idx="1"/>
          </p:nvPr>
        </p:nvSpPr>
        <p:spPr bwMode="auto">
          <a:xfrm>
            <a:off x="727075" y="374650"/>
            <a:ext cx="7559675" cy="334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marL="0" indent="0">
              <a:spcBef>
                <a:spcPct val="0"/>
              </a:spcBef>
              <a:spcAft>
                <a:spcPct val="0"/>
              </a:spcAft>
              <a:buClr>
                <a:srgbClr val="000000"/>
              </a:buClr>
              <a:buSzPts val="2400"/>
              <a:buFont typeface="Arial" panose="020B0604020202020204" pitchFamily="34" charset="0"/>
              <a:buNone/>
            </a:pPr>
            <a:r>
              <a:rPr lang="en-US" altLang="en-US" sz="2000">
                <a:solidFill>
                  <a:srgbClr val="002060"/>
                </a:solidFill>
                <a:latin typeface="Arial"/>
                <a:cs typeface="Arial"/>
                <a:sym typeface="Helvetica Neue Light" panose="02000403000000020004" pitchFamily="2" charset="0"/>
              </a:rPr>
              <a:t>HOGAN THEMES</a:t>
            </a:r>
          </a:p>
        </p:txBody>
      </p:sp>
      <p:sp>
        <p:nvSpPr>
          <p:cNvPr id="21508" name="Slide Number Placeholder 2">
            <a:extLst>
              <a:ext uri="{FF2B5EF4-FFF2-40B4-BE49-F238E27FC236}">
                <a16:creationId xmlns:a16="http://schemas.microsoft.com/office/drawing/2014/main" id="{2F050114-0693-C7F0-749E-EB09DFE94CEA}"/>
              </a:ext>
            </a:extLst>
          </p:cNvPr>
          <p:cNvSpPr>
            <a:spLocks noGrp="1" noChangeArrowheads="1"/>
          </p:cNvSpPr>
          <p:nvPr>
            <p:ph type="sldNum" sz="quarter" idx="10"/>
          </p:nvPr>
        </p:nvSpPr>
        <p:spPr>
          <a:xfrm>
            <a:off x="0" y="238125"/>
            <a:ext cx="557213" cy="557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94E6AC2-D12E-1843-971E-E4F9DE4AA8B8}"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15</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11" name="Rectangle 10">
            <a:extLst>
              <a:ext uri="{FF2B5EF4-FFF2-40B4-BE49-F238E27FC236}">
                <a16:creationId xmlns:a16="http://schemas.microsoft.com/office/drawing/2014/main" id="{E9B0F29C-9888-E9EE-0C45-B88BF2337E86}"/>
              </a:ext>
            </a:extLst>
          </p:cNvPr>
          <p:cNvSpPr/>
          <p:nvPr/>
        </p:nvSpPr>
        <p:spPr>
          <a:xfrm>
            <a:off x="4403722" y="3424019"/>
            <a:ext cx="3118086" cy="2683870"/>
          </a:xfrm>
          <a:prstGeom prst="rect">
            <a:avLst/>
          </a:prstGeom>
          <a:solidFill>
            <a:srgbClr val="ECECEC"/>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12" name="Rectangle 11">
            <a:extLst>
              <a:ext uri="{FF2B5EF4-FFF2-40B4-BE49-F238E27FC236}">
                <a16:creationId xmlns:a16="http://schemas.microsoft.com/office/drawing/2014/main" id="{03ACB375-08ED-F6A3-667E-A06CB3E63093}"/>
              </a:ext>
            </a:extLst>
          </p:cNvPr>
          <p:cNvSpPr/>
          <p:nvPr/>
        </p:nvSpPr>
        <p:spPr>
          <a:xfrm>
            <a:off x="1259449" y="3426569"/>
            <a:ext cx="3036439" cy="2683870"/>
          </a:xfrm>
          <a:prstGeom prst="rect">
            <a:avLst/>
          </a:prstGeom>
          <a:solidFill>
            <a:srgbClr val="4C60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13" name="Rectangle 12">
            <a:extLst>
              <a:ext uri="{FF2B5EF4-FFF2-40B4-BE49-F238E27FC236}">
                <a16:creationId xmlns:a16="http://schemas.microsoft.com/office/drawing/2014/main" id="{825C98D4-0AFE-FA6D-7EB7-846F10375352}"/>
              </a:ext>
            </a:extLst>
          </p:cNvPr>
          <p:cNvSpPr/>
          <p:nvPr/>
        </p:nvSpPr>
        <p:spPr>
          <a:xfrm>
            <a:off x="1240360" y="953582"/>
            <a:ext cx="3036439" cy="2374854"/>
          </a:xfrm>
          <a:prstGeom prst="rect">
            <a:avLst/>
          </a:prstGeom>
          <a:solidFill>
            <a:srgbClr val="4C60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14" name="Rectangle 13">
            <a:extLst>
              <a:ext uri="{FF2B5EF4-FFF2-40B4-BE49-F238E27FC236}">
                <a16:creationId xmlns:a16="http://schemas.microsoft.com/office/drawing/2014/main" id="{9020FEEA-215B-0821-B143-46BEFE1007C8}"/>
              </a:ext>
            </a:extLst>
          </p:cNvPr>
          <p:cNvSpPr/>
          <p:nvPr/>
        </p:nvSpPr>
        <p:spPr>
          <a:xfrm>
            <a:off x="4403722" y="958554"/>
            <a:ext cx="3118086" cy="2374854"/>
          </a:xfrm>
          <a:prstGeom prst="rect">
            <a:avLst/>
          </a:prstGeom>
          <a:solidFill>
            <a:srgbClr val="ECECEC"/>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15" name="Subtitle 2">
            <a:extLst>
              <a:ext uri="{FF2B5EF4-FFF2-40B4-BE49-F238E27FC236}">
                <a16:creationId xmlns:a16="http://schemas.microsoft.com/office/drawing/2014/main" id="{2886569B-89B2-C4DC-013A-F7981BB75B3E}"/>
              </a:ext>
            </a:extLst>
          </p:cNvPr>
          <p:cNvSpPr txBox="1">
            <a:spLocks/>
          </p:cNvSpPr>
          <p:nvPr/>
        </p:nvSpPr>
        <p:spPr>
          <a:xfrm flipH="1">
            <a:off x="1322695" y="902803"/>
            <a:ext cx="2967103" cy="541934"/>
          </a:xfrm>
          <a:prstGeom prst="rect">
            <a:avLst/>
          </a:prstGeom>
        </p:spPr>
        <p:txBody>
          <a:bodyPr vert="horz" lIns="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base" latinLnBrk="0" hangingPunct="1">
              <a:lnSpc>
                <a:spcPts val="4400"/>
              </a:lnSpc>
              <a:spcBef>
                <a:spcPts val="0"/>
              </a:spcBef>
              <a:spcAft>
                <a:spcPct val="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Learning &amp; Curious (5/7) </a:t>
            </a:r>
          </a:p>
        </p:txBody>
      </p:sp>
      <p:sp>
        <p:nvSpPr>
          <p:cNvPr id="17" name="Subtitle 2">
            <a:extLst>
              <a:ext uri="{FF2B5EF4-FFF2-40B4-BE49-F238E27FC236}">
                <a16:creationId xmlns:a16="http://schemas.microsoft.com/office/drawing/2014/main" id="{697A9FFF-5425-5870-901D-26D25F7AADD9}"/>
              </a:ext>
            </a:extLst>
          </p:cNvPr>
          <p:cNvSpPr txBox="1">
            <a:spLocks/>
          </p:cNvSpPr>
          <p:nvPr/>
        </p:nvSpPr>
        <p:spPr>
          <a:xfrm flipH="1">
            <a:off x="4403720" y="902803"/>
            <a:ext cx="2692026" cy="541934"/>
          </a:xfrm>
          <a:prstGeom prst="rect">
            <a:avLst/>
          </a:prstGeom>
        </p:spPr>
        <p:txBody>
          <a:bodyPr vert="horz" lIns="9144"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R="0" lvl="0" indent="0" algn="ctr" defTabSz="914400" rtl="0" eaLnBrk="1" fontAlgn="base" latinLnBrk="0" hangingPunct="1">
              <a:lnSpc>
                <a:spcPts val="4400"/>
              </a:lnSpc>
              <a:spcBef>
                <a:spcPts val="0"/>
              </a:spcBef>
              <a:spcAft>
                <a:spcPct val="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Highly Skeptical (7/7)</a:t>
            </a:r>
          </a:p>
        </p:txBody>
      </p:sp>
      <p:sp>
        <p:nvSpPr>
          <p:cNvPr id="18" name="Subtitle 2">
            <a:extLst>
              <a:ext uri="{FF2B5EF4-FFF2-40B4-BE49-F238E27FC236}">
                <a16:creationId xmlns:a16="http://schemas.microsoft.com/office/drawing/2014/main" id="{6D49B9C0-CEC9-4C3E-D76E-DD0BBCA06F17}"/>
              </a:ext>
            </a:extLst>
          </p:cNvPr>
          <p:cNvSpPr txBox="1">
            <a:spLocks/>
          </p:cNvSpPr>
          <p:nvPr/>
        </p:nvSpPr>
        <p:spPr>
          <a:xfrm flipH="1">
            <a:off x="4403719" y="3333408"/>
            <a:ext cx="3143699" cy="541934"/>
          </a:xfrm>
          <a:prstGeom prst="rect">
            <a:avLst/>
          </a:prstGeom>
        </p:spPr>
        <p:txBody>
          <a:bodyPr vert="horz" lIns="45720" tIns="45720" rIns="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base" latinLnBrk="0" hangingPunct="1">
              <a:lnSpc>
                <a:spcPts val="4400"/>
              </a:lnSpc>
              <a:spcBef>
                <a:spcPts val="50"/>
              </a:spcBef>
              <a:spcAft>
                <a:spcPct val="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Low on Relationships (2/7)</a:t>
            </a:r>
          </a:p>
        </p:txBody>
      </p:sp>
      <p:sp>
        <p:nvSpPr>
          <p:cNvPr id="19" name="Subtitle 2">
            <a:extLst>
              <a:ext uri="{FF2B5EF4-FFF2-40B4-BE49-F238E27FC236}">
                <a16:creationId xmlns:a16="http://schemas.microsoft.com/office/drawing/2014/main" id="{D52DDEA6-1B7C-07CC-3D0A-F27B581AFA3E}"/>
              </a:ext>
            </a:extLst>
          </p:cNvPr>
          <p:cNvSpPr txBox="1">
            <a:spLocks/>
          </p:cNvSpPr>
          <p:nvPr/>
        </p:nvSpPr>
        <p:spPr>
          <a:xfrm flipH="1">
            <a:off x="1407766" y="3875342"/>
            <a:ext cx="2307018" cy="1405604"/>
          </a:xfrm>
          <a:prstGeom prst="rect">
            <a:avLst/>
          </a:prstGeom>
        </p:spPr>
        <p:txBody>
          <a:bodyPr vert="horz" lIns="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marR="0" lvl="0" indent="-171450" algn="l" defTabSz="914400" rtl="0" eaLnBrk="1" fontAlgn="auto" latinLnBrk="0" hangingPunct="1">
              <a:lnSpc>
                <a:spcPts val="18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Spot emerging trends </a:t>
            </a:r>
          </a:p>
          <a:p>
            <a:pPr marL="171450" marR="0" lvl="0" indent="-171450" algn="l" defTabSz="914400" rtl="0" eaLnBrk="1" fontAlgn="auto" latinLnBrk="0" hangingPunct="1">
              <a:lnSpc>
                <a:spcPts val="18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Generate creative solutions </a:t>
            </a:r>
          </a:p>
          <a:p>
            <a:pPr marL="171450" marR="0" lvl="0" indent="-171450" algn="l" defTabSz="914400" rtl="0" eaLnBrk="1" fontAlgn="auto" latinLnBrk="0" hangingPunct="1">
              <a:lnSpc>
                <a:spcPts val="18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1" fontAlgn="auto" latinLnBrk="0" hangingPunct="1">
              <a:lnSpc>
                <a:spcPts val="1800"/>
              </a:lnSpc>
              <a:spcBef>
                <a:spcPts val="0"/>
              </a:spcBef>
              <a:spcAft>
                <a:spcPts val="0"/>
              </a:spcAft>
              <a:buClrTx/>
              <a:buSzTx/>
              <a:buFont typeface="Arial" panose="020B0604020202020204" pitchFamily="34" charset="0"/>
              <a:buChar char="•"/>
              <a:tabLst/>
              <a:defRPr/>
            </a:pPr>
            <a:endParaRPr kumimoji="0" lang="en-US" sz="1200" b="1"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1" fontAlgn="auto" latinLnBrk="0" hangingPunct="1">
              <a:lnSpc>
                <a:spcPts val="1800"/>
              </a:lnSpc>
              <a:spcBef>
                <a:spcPts val="0"/>
              </a:spcBef>
              <a:spcAft>
                <a:spcPts val="0"/>
              </a:spcAft>
              <a:buClrTx/>
              <a:buSzTx/>
              <a:buFont typeface="Arial" panose="020B0604020202020204" pitchFamily="34" charset="0"/>
              <a:buChar char="•"/>
              <a:tabLst/>
              <a:defRPr/>
            </a:pPr>
            <a:endParaRPr kumimoji="0" lang="en-US" sz="1200" b="1"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20" name="Subtitle 2">
            <a:extLst>
              <a:ext uri="{FF2B5EF4-FFF2-40B4-BE49-F238E27FC236}">
                <a16:creationId xmlns:a16="http://schemas.microsoft.com/office/drawing/2014/main" id="{6F2AB7DF-4634-5D88-7B88-2EF4CD1E204C}"/>
              </a:ext>
            </a:extLst>
          </p:cNvPr>
          <p:cNvSpPr txBox="1">
            <a:spLocks/>
          </p:cNvSpPr>
          <p:nvPr/>
        </p:nvSpPr>
        <p:spPr>
          <a:xfrm flipH="1">
            <a:off x="1407766" y="1417963"/>
            <a:ext cx="2724396" cy="1249353"/>
          </a:xfrm>
          <a:prstGeom prst="rect">
            <a:avLst/>
          </a:prstGeom>
        </p:spPr>
        <p:txBody>
          <a:bodyPr vert="horz" lIns="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marR="0" lvl="0" indent="-285750" algn="l" defTabSz="914400" rtl="0" eaLnBrk="1" fontAlgn="base" latinLnBrk="0" hangingPunct="1">
              <a:lnSpc>
                <a:spcPts val="1800"/>
              </a:lnSpc>
              <a:spcBef>
                <a:spcPts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A team that absorbs information quickly and enjoys solving complex problems</a:t>
            </a:r>
          </a:p>
        </p:txBody>
      </p:sp>
      <p:sp>
        <p:nvSpPr>
          <p:cNvPr id="21" name="Subtitle 2">
            <a:extLst>
              <a:ext uri="{FF2B5EF4-FFF2-40B4-BE49-F238E27FC236}">
                <a16:creationId xmlns:a16="http://schemas.microsoft.com/office/drawing/2014/main" id="{DF4D3DDD-0BDA-AFCF-82E6-CE2295E7D26B}"/>
              </a:ext>
            </a:extLst>
          </p:cNvPr>
          <p:cNvSpPr txBox="1">
            <a:spLocks/>
          </p:cNvSpPr>
          <p:nvPr/>
        </p:nvSpPr>
        <p:spPr>
          <a:xfrm flipH="1">
            <a:off x="4549984" y="1417963"/>
            <a:ext cx="2807841" cy="1573708"/>
          </a:xfrm>
          <a:prstGeom prst="rect">
            <a:avLst/>
          </a:prstGeom>
        </p:spPr>
        <p:txBody>
          <a:bodyPr vert="horz" lIns="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marR="0" lvl="0" indent="-171450" algn="l" defTabSz="914400" rtl="0" eaLnBrk="1" fontAlgn="base" latinLnBrk="0" hangingPunct="1">
              <a:lnSpc>
                <a:spcPts val="1800"/>
              </a:lnSpc>
              <a:spcBef>
                <a:spcPts val="0"/>
              </a:spcBef>
              <a:spcAft>
                <a:spcPct val="0"/>
              </a:spcAft>
              <a:buClrTx/>
              <a:buSzTx/>
              <a:buFont typeface="Arial,Sans-Serif"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Team may appear guarded, political, or distant, leading to silos and misinterpretation of intent</a:t>
            </a:r>
          </a:p>
          <a:p>
            <a:pPr marL="171450" marR="0" lvl="0" indent="-171450" algn="l" defTabSz="914400" rtl="0" eaLnBrk="1" fontAlgn="base" latinLnBrk="0" hangingPunct="1">
              <a:lnSpc>
                <a:spcPts val="1800"/>
              </a:lnSpc>
              <a:spcBef>
                <a:spcPts val="0"/>
              </a:spcBef>
              <a:spcAft>
                <a:spcPct val="0"/>
              </a:spcAft>
              <a:buClrTx/>
              <a:buSzTx/>
              <a:buFont typeface="Arial,Sans-Serif"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Quick to frustration or disappointment when things don’t go as planned</a:t>
            </a:r>
          </a:p>
        </p:txBody>
      </p:sp>
      <p:sp>
        <p:nvSpPr>
          <p:cNvPr id="22" name="Subtitle 2">
            <a:extLst>
              <a:ext uri="{FF2B5EF4-FFF2-40B4-BE49-F238E27FC236}">
                <a16:creationId xmlns:a16="http://schemas.microsoft.com/office/drawing/2014/main" id="{98C89150-8650-AAD1-15C5-0627E32B2957}"/>
              </a:ext>
            </a:extLst>
          </p:cNvPr>
          <p:cNvSpPr txBox="1">
            <a:spLocks/>
          </p:cNvSpPr>
          <p:nvPr/>
        </p:nvSpPr>
        <p:spPr>
          <a:xfrm flipH="1">
            <a:off x="4549985" y="3875342"/>
            <a:ext cx="2807840" cy="874917"/>
          </a:xfrm>
          <a:prstGeom prst="rect">
            <a:avLst/>
          </a:prstGeom>
        </p:spPr>
        <p:txBody>
          <a:bodyPr vert="horz" lIns="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marR="0" lvl="0" indent="-171450" algn="l" defTabSz="914400" rtl="0" eaLnBrk="1" fontAlgn="base" latinLnBrk="0" hangingPunct="1">
              <a:lnSpc>
                <a:spcPts val="1800"/>
              </a:lnSpc>
              <a:spcBef>
                <a:spcPts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Task-focused, less concerned with others' feelings</a:t>
            </a:r>
            <a:endPar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1" fontAlgn="base" latinLnBrk="0" hangingPunct="1">
              <a:lnSpc>
                <a:spcPts val="1800"/>
              </a:lnSpc>
              <a:spcBef>
                <a:spcPts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De-prioritize relationships</a:t>
            </a:r>
          </a:p>
          <a:p>
            <a:pPr marL="171450" marR="0" lvl="0" indent="-171450" algn="l" defTabSz="914400" rtl="0" eaLnBrk="1" fontAlgn="auto" latinLnBrk="0" hangingPunct="1">
              <a:lnSpc>
                <a:spcPts val="18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Lacks cohesion, may struggle with communication and alignment</a:t>
            </a:r>
          </a:p>
          <a:p>
            <a:pPr marL="171450" lvl="0" indent="-171450" algn="l" fontAlgn="auto">
              <a:lnSpc>
                <a:spcPts val="1800"/>
              </a:lnSpc>
              <a:spcBef>
                <a:spcPts val="0"/>
              </a:spcBef>
              <a:spcAft>
                <a:spcPts val="0"/>
              </a:spcAft>
              <a:buFont typeface="Arial" panose="020B0604020202020204" pitchFamily="34" charset="0"/>
              <a:buChar char="•"/>
              <a:defRPr/>
            </a:pPr>
            <a:r>
              <a:rPr lang="en-US" sz="120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Such teams tend to meet infrequently, work independently</a:t>
            </a:r>
            <a:endPar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23" name="Rectangle 22">
            <a:extLst>
              <a:ext uri="{FF2B5EF4-FFF2-40B4-BE49-F238E27FC236}">
                <a16:creationId xmlns:a16="http://schemas.microsoft.com/office/drawing/2014/main" id="{50E0F36C-90B1-F2D8-5888-F9D70B4537A1}"/>
              </a:ext>
            </a:extLst>
          </p:cNvPr>
          <p:cNvSpPr/>
          <p:nvPr/>
        </p:nvSpPr>
        <p:spPr>
          <a:xfrm>
            <a:off x="7629642" y="3424019"/>
            <a:ext cx="3137175" cy="2698990"/>
          </a:xfrm>
          <a:prstGeom prst="rect">
            <a:avLst/>
          </a:prstGeom>
          <a:solidFill>
            <a:srgbClr val="001E5A"/>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tIns="46800" rIns="360000" bIns="45720" rtlCol="0" anchor="t"/>
          <a:lstStyle/>
          <a:p>
            <a:pPr marL="0" marR="0" lvl="0" indent="0" defTabSz="914400" rtl="0" eaLnBrk="0" fontAlgn="base" latinLnBrk="0" hangingPunct="0">
              <a:lnSpc>
                <a:spcPct val="100000"/>
              </a:lnSpc>
              <a:spcBef>
                <a:spcPct val="0"/>
              </a:spcBef>
              <a:spcAft>
                <a:spcPct val="0"/>
              </a:spcAft>
              <a:buClrTx/>
              <a:buSzTx/>
              <a:buFontTx/>
              <a:buNone/>
              <a:tabLst/>
              <a:defRPr/>
            </a:pPr>
            <a:endParaRPr kumimoji="0" lang="en-US" sz="200" b="0" i="0" u="none" strike="noStrike" kern="1200" cap="none" spc="0" normalizeH="0" baseline="0" noProof="0">
              <a:ln>
                <a:noFill/>
              </a:ln>
              <a:solidFill>
                <a:srgbClr val="270015"/>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defRPr/>
            </a:pPr>
            <a:r>
              <a:rPr lang="en-US" sz="1800">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Team Motivation</a:t>
            </a:r>
          </a:p>
          <a:p>
            <a:pPr marL="0" marR="0" lvl="0" indent="0" defTabSz="914400" rtl="0" eaLnBrk="0" fontAlgn="base" latinLnBrk="0" hangingPunct="0">
              <a:lnSpc>
                <a:spcPct val="100000"/>
              </a:lnSpc>
              <a:spcBef>
                <a:spcPct val="0"/>
              </a:spcBef>
              <a:spcAft>
                <a:spcPct val="0"/>
              </a:spcAft>
              <a:buClrTx/>
              <a:buSzTx/>
              <a:buFontTx/>
              <a:buNone/>
              <a:tabLst/>
              <a:defRPr/>
            </a:pPr>
            <a:endParaRPr lang="en-US" sz="1200">
              <a:solidFill>
                <a:srgbClr val="FFFFFF"/>
              </a:solidFill>
              <a:latin typeface="Helvetica Neue" panose="02000503000000020004" pitchFamily="2" charset="0"/>
              <a:ea typeface="Helvetica Neue" panose="02000503000000020004" pitchFamily="2" charset="0"/>
              <a:cs typeface="Helvetica Neue" panose="02000503000000020004" pitchFamily="2" charset="0"/>
            </a:endParaRP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Power (5/7) </a:t>
            </a:r>
            <a:endParaRPr lang="en-US" sz="1200">
              <a:solidFill>
                <a:srgbClr val="FFFFFF"/>
              </a:solidFill>
              <a:latin typeface="Helvetica Neue" panose="02000503000000020004" pitchFamily="2" charset="0"/>
              <a:ea typeface="Helvetica Neue" panose="02000503000000020004" pitchFamily="2" charset="0"/>
              <a:cs typeface="Helvetica Neue" panose="02000503000000020004" pitchFamily="2" charset="0"/>
            </a:endParaRP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Commerce (6/7)</a:t>
            </a:r>
          </a:p>
        </p:txBody>
      </p:sp>
      <p:sp>
        <p:nvSpPr>
          <p:cNvPr id="4" name="Rectangle 3">
            <a:extLst>
              <a:ext uri="{FF2B5EF4-FFF2-40B4-BE49-F238E27FC236}">
                <a16:creationId xmlns:a16="http://schemas.microsoft.com/office/drawing/2014/main" id="{4970CC7A-593B-9173-0947-E151405591E1}"/>
              </a:ext>
            </a:extLst>
          </p:cNvPr>
          <p:cNvSpPr/>
          <p:nvPr/>
        </p:nvSpPr>
        <p:spPr>
          <a:xfrm>
            <a:off x="7648731" y="958554"/>
            <a:ext cx="3118086" cy="2374854"/>
          </a:xfrm>
          <a:prstGeom prst="rect">
            <a:avLst/>
          </a:prstGeom>
          <a:solidFill>
            <a:srgbClr val="ECECEC"/>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8" name="Subtitle 2">
            <a:extLst>
              <a:ext uri="{FF2B5EF4-FFF2-40B4-BE49-F238E27FC236}">
                <a16:creationId xmlns:a16="http://schemas.microsoft.com/office/drawing/2014/main" id="{78C8BE82-6685-CE9C-EC28-94F5BFD0D7AF}"/>
              </a:ext>
            </a:extLst>
          </p:cNvPr>
          <p:cNvSpPr txBox="1">
            <a:spLocks/>
          </p:cNvSpPr>
          <p:nvPr/>
        </p:nvSpPr>
        <p:spPr>
          <a:xfrm flipH="1">
            <a:off x="7725608" y="902803"/>
            <a:ext cx="2692026" cy="541934"/>
          </a:xfrm>
          <a:prstGeom prst="rect">
            <a:avLst/>
          </a:prstGeom>
        </p:spPr>
        <p:txBody>
          <a:bodyPr vert="horz" lIns="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base" latinLnBrk="0" hangingPunct="1">
              <a:lnSpc>
                <a:spcPts val="4400"/>
              </a:lnSpc>
              <a:spcBef>
                <a:spcPts val="0"/>
              </a:spcBef>
              <a:spcAft>
                <a:spcPct val="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Low on Process (2/7)</a:t>
            </a:r>
          </a:p>
        </p:txBody>
      </p:sp>
      <p:sp>
        <p:nvSpPr>
          <p:cNvPr id="9" name="Subtitle 2">
            <a:extLst>
              <a:ext uri="{FF2B5EF4-FFF2-40B4-BE49-F238E27FC236}">
                <a16:creationId xmlns:a16="http://schemas.microsoft.com/office/drawing/2014/main" id="{6B4D8C5A-1055-025E-9F1C-1369D6351DD6}"/>
              </a:ext>
            </a:extLst>
          </p:cNvPr>
          <p:cNvSpPr txBox="1">
            <a:spLocks/>
          </p:cNvSpPr>
          <p:nvPr/>
        </p:nvSpPr>
        <p:spPr>
          <a:xfrm flipH="1">
            <a:off x="7871874" y="1417963"/>
            <a:ext cx="2749560" cy="876069"/>
          </a:xfrm>
          <a:prstGeom prst="rect">
            <a:avLst/>
          </a:prstGeom>
        </p:spPr>
        <p:txBody>
          <a:bodyPr vert="horz" lIns="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marR="0" lvl="0" indent="-171450" algn="l" defTabSz="914400" rtl="0" eaLnBrk="1" fontAlgn="base" latinLnBrk="0" hangingPunct="1">
              <a:lnSpc>
                <a:spcPts val="1800"/>
              </a:lnSpc>
              <a:spcBef>
                <a:spcPts val="0"/>
              </a:spcBef>
              <a:spcAft>
                <a:spcPct val="0"/>
              </a:spcAft>
              <a:buClrTx/>
              <a:buSzTx/>
              <a:buFont typeface="Arial,Sans-Serif"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Some members may disagree about the need for precision or experience friction if other members seem lax about rules</a:t>
            </a:r>
          </a:p>
        </p:txBody>
      </p:sp>
      <p:sp>
        <p:nvSpPr>
          <p:cNvPr id="2" name="Subtitle 2">
            <a:extLst>
              <a:ext uri="{FF2B5EF4-FFF2-40B4-BE49-F238E27FC236}">
                <a16:creationId xmlns:a16="http://schemas.microsoft.com/office/drawing/2014/main" id="{C4DCB41B-B361-27C0-BC66-CC10504FBACD}"/>
              </a:ext>
            </a:extLst>
          </p:cNvPr>
          <p:cNvSpPr txBox="1">
            <a:spLocks/>
          </p:cNvSpPr>
          <p:nvPr/>
        </p:nvSpPr>
        <p:spPr>
          <a:xfrm flipH="1">
            <a:off x="1322695" y="3333408"/>
            <a:ext cx="3143699" cy="541934"/>
          </a:xfrm>
          <a:prstGeom prst="rect">
            <a:avLst/>
          </a:prstGeom>
        </p:spPr>
        <p:txBody>
          <a:bodyPr vert="horz" lIns="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91440" lvl="0" algn="l">
              <a:lnSpc>
                <a:spcPts val="4400"/>
              </a:lnSpc>
              <a:spcBef>
                <a:spcPts val="0"/>
              </a:spcBef>
              <a:defRPr/>
            </a:pPr>
            <a:r>
              <a:rPr lang="en-US" sz="1800">
                <a:solidFill>
                  <a:srgbClr val="FFFFFF"/>
                </a:solidFill>
                <a:latin typeface="Helvetica Neue" panose="02000503000000020004" pitchFamily="2" charset="0"/>
                <a:ea typeface="Helvetica Neue" panose="02000503000000020004" pitchFamily="2" charset="0"/>
                <a:cs typeface="Helvetica Neue" panose="02000503000000020004" pitchFamily="2" charset="0"/>
              </a:rPr>
              <a:t>Innovative</a:t>
            </a:r>
            <a:r>
              <a:rPr lang="en-US" sz="1800">
                <a:solidFill>
                  <a:srgbClr val="ECECEC"/>
                </a:solidFill>
                <a:latin typeface="Helvetica Neue" panose="02000503000000020004" pitchFamily="2" charset="0"/>
                <a:ea typeface="Helvetica Neue" panose="02000503000000020004" pitchFamily="2" charset="0"/>
                <a:cs typeface="Helvetica Neue" panose="02000503000000020004" pitchFamily="2" charset="0"/>
              </a:rPr>
              <a:t> (5/7)</a:t>
            </a:r>
            <a:endParaRPr kumimoji="0" lang="en-US" sz="1800" b="0" i="0" u="none" strike="noStrike" kern="1200" cap="none" spc="0" normalizeH="0" baseline="0" noProof="0">
              <a:ln>
                <a:noFill/>
              </a:ln>
              <a:solidFill>
                <a:srgbClr val="ECECEC"/>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Tree>
    <p:extLst>
      <p:ext uri="{BB962C8B-B14F-4D97-AF65-F5344CB8AC3E}">
        <p14:creationId xmlns:p14="http://schemas.microsoft.com/office/powerpoint/2010/main" val="36977281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410C7760-6C4B-E817-7939-164A84E11CB2}"/>
            </a:ext>
          </a:extLst>
        </p:cNvPr>
        <p:cNvGrpSpPr/>
        <p:nvPr/>
      </p:nvGrpSpPr>
      <p:grpSpPr>
        <a:xfrm>
          <a:off x="0" y="0"/>
          <a:ext cx="0" cy="0"/>
          <a:chOff x="0" y="0"/>
          <a:chExt cx="0" cy="0"/>
        </a:xfrm>
      </p:grpSpPr>
      <p:sp>
        <p:nvSpPr>
          <p:cNvPr id="21507" name="Text Placeholder 1">
            <a:extLst>
              <a:ext uri="{FF2B5EF4-FFF2-40B4-BE49-F238E27FC236}">
                <a16:creationId xmlns:a16="http://schemas.microsoft.com/office/drawing/2014/main" id="{B86D2100-A7AE-5D2F-2821-56A407F9C3BA}"/>
              </a:ext>
            </a:extLst>
          </p:cNvPr>
          <p:cNvSpPr>
            <a:spLocks noGrp="1" noChangeArrowheads="1"/>
          </p:cNvSpPr>
          <p:nvPr>
            <p:ph type="body" idx="1"/>
          </p:nvPr>
        </p:nvSpPr>
        <p:spPr bwMode="auto">
          <a:xfrm>
            <a:off x="727075" y="374650"/>
            <a:ext cx="9902825" cy="334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marL="0" indent="0">
              <a:spcBef>
                <a:spcPct val="0"/>
              </a:spcBef>
              <a:spcAft>
                <a:spcPct val="0"/>
              </a:spcAft>
              <a:buClr>
                <a:srgbClr val="000000"/>
              </a:buClr>
              <a:buSzPts val="2400"/>
              <a:buFont typeface="Arial" panose="020B0604020202020204" pitchFamily="34" charset="0"/>
              <a:buNone/>
            </a:pPr>
            <a:r>
              <a:rPr lang="en-US" altLang="en-US" sz="2000">
                <a:solidFill>
                  <a:srgbClr val="002060"/>
                </a:solidFill>
                <a:latin typeface="Arial"/>
                <a:cs typeface="Arial"/>
                <a:sym typeface="Helvetica Neue Light" panose="02000403000000020004" pitchFamily="2" charset="0"/>
              </a:rPr>
              <a:t>C-SUITE ENABLING SUCCESS PLAN (will co-create with the Leadership team)</a:t>
            </a:r>
          </a:p>
        </p:txBody>
      </p:sp>
      <p:sp>
        <p:nvSpPr>
          <p:cNvPr id="21508" name="Slide Number Placeholder 2">
            <a:extLst>
              <a:ext uri="{FF2B5EF4-FFF2-40B4-BE49-F238E27FC236}">
                <a16:creationId xmlns:a16="http://schemas.microsoft.com/office/drawing/2014/main" id="{EADE751A-56E7-34AE-F0BA-D1B1C6BEBA03}"/>
              </a:ext>
            </a:extLst>
          </p:cNvPr>
          <p:cNvSpPr>
            <a:spLocks noGrp="1" noChangeArrowheads="1"/>
          </p:cNvSpPr>
          <p:nvPr>
            <p:ph type="sldNum" sz="quarter" idx="10"/>
          </p:nvPr>
        </p:nvSpPr>
        <p:spPr>
          <a:xfrm>
            <a:off x="0" y="238125"/>
            <a:ext cx="557213" cy="557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94E6AC2-D12E-1843-971E-E4F9DE4AA8B8}"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16</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12" name="Oval 11">
            <a:extLst>
              <a:ext uri="{FF2B5EF4-FFF2-40B4-BE49-F238E27FC236}">
                <a16:creationId xmlns:a16="http://schemas.microsoft.com/office/drawing/2014/main" id="{20AD1FE5-DC3E-08B4-2826-BFCACEBE7609}"/>
              </a:ext>
            </a:extLst>
          </p:cNvPr>
          <p:cNvSpPr/>
          <p:nvPr/>
        </p:nvSpPr>
        <p:spPr>
          <a:xfrm>
            <a:off x="1184379" y="3775721"/>
            <a:ext cx="914400" cy="914400"/>
          </a:xfrm>
          <a:prstGeom prst="ellipse">
            <a:avLst/>
          </a:prstGeom>
          <a:solidFill>
            <a:sysClr val="window" lastClr="FFFFFF">
              <a:lumMod val="95000"/>
            </a:sysClr>
          </a:solidFill>
          <a:ln w="19050" cap="flat" cmpd="sng" algn="ctr">
            <a:solidFill>
              <a:srgbClr val="156082">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pic>
        <p:nvPicPr>
          <p:cNvPr id="13" name="Picture 12" descr="JTBD Key Work">
            <a:extLst>
              <a:ext uri="{FF2B5EF4-FFF2-40B4-BE49-F238E27FC236}">
                <a16:creationId xmlns:a16="http://schemas.microsoft.com/office/drawing/2014/main" id="{21123D7B-8A41-61F3-5781-08CC9AE12614}"/>
              </a:ext>
            </a:extLst>
          </p:cNvPr>
          <p:cNvPicPr>
            <a:picLocks noChangeAspect="1"/>
          </p:cNvPicPr>
          <p:nvPr/>
        </p:nvPicPr>
        <p:blipFill>
          <a:blip r:embed="rId3"/>
          <a:stretch>
            <a:fillRect/>
          </a:stretch>
        </p:blipFill>
        <p:spPr>
          <a:xfrm>
            <a:off x="1281579" y="3872921"/>
            <a:ext cx="720000" cy="720000"/>
          </a:xfrm>
          <a:prstGeom prst="rect">
            <a:avLst/>
          </a:prstGeom>
        </p:spPr>
      </p:pic>
      <p:sp>
        <p:nvSpPr>
          <p:cNvPr id="16" name="Oval 15">
            <a:extLst>
              <a:ext uri="{FF2B5EF4-FFF2-40B4-BE49-F238E27FC236}">
                <a16:creationId xmlns:a16="http://schemas.microsoft.com/office/drawing/2014/main" id="{8FBE1373-CF82-7B15-EA81-13B2883AD06B}"/>
              </a:ext>
            </a:extLst>
          </p:cNvPr>
          <p:cNvSpPr/>
          <p:nvPr/>
        </p:nvSpPr>
        <p:spPr>
          <a:xfrm>
            <a:off x="1184379" y="5242207"/>
            <a:ext cx="914400" cy="914400"/>
          </a:xfrm>
          <a:prstGeom prst="ellipse">
            <a:avLst/>
          </a:prstGeom>
          <a:solidFill>
            <a:sysClr val="window" lastClr="FFFFFF">
              <a:lumMod val="95000"/>
            </a:sysClr>
          </a:solidFill>
          <a:ln w="19050" cap="flat" cmpd="sng" algn="ctr">
            <a:solidFill>
              <a:srgbClr val="156082">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pic>
        <p:nvPicPr>
          <p:cNvPr id="17" name="Picture 16" descr="Choose">
            <a:extLst>
              <a:ext uri="{FF2B5EF4-FFF2-40B4-BE49-F238E27FC236}">
                <a16:creationId xmlns:a16="http://schemas.microsoft.com/office/drawing/2014/main" id="{E69DD074-AAD5-E2C9-900B-214BDBC09EA5}"/>
              </a:ext>
            </a:extLst>
          </p:cNvPr>
          <p:cNvPicPr>
            <a:picLocks noChangeAspect="1"/>
          </p:cNvPicPr>
          <p:nvPr/>
        </p:nvPicPr>
        <p:blipFill>
          <a:blip r:embed="rId4"/>
          <a:stretch>
            <a:fillRect/>
          </a:stretch>
        </p:blipFill>
        <p:spPr>
          <a:xfrm>
            <a:off x="1303487" y="5361315"/>
            <a:ext cx="676184" cy="676184"/>
          </a:xfrm>
          <a:prstGeom prst="rect">
            <a:avLst/>
          </a:prstGeom>
        </p:spPr>
      </p:pic>
      <p:sp>
        <p:nvSpPr>
          <p:cNvPr id="20" name="Oval 19">
            <a:extLst>
              <a:ext uri="{FF2B5EF4-FFF2-40B4-BE49-F238E27FC236}">
                <a16:creationId xmlns:a16="http://schemas.microsoft.com/office/drawing/2014/main" id="{FBEF0F00-C69A-42FD-E32A-783BEEB30E15}"/>
              </a:ext>
            </a:extLst>
          </p:cNvPr>
          <p:cNvSpPr/>
          <p:nvPr/>
        </p:nvSpPr>
        <p:spPr>
          <a:xfrm>
            <a:off x="1184379" y="2540488"/>
            <a:ext cx="914400" cy="914400"/>
          </a:xfrm>
          <a:prstGeom prst="ellipse">
            <a:avLst/>
          </a:prstGeom>
          <a:solidFill>
            <a:sysClr val="window" lastClr="FFFFFF">
              <a:lumMod val="95000"/>
            </a:sysClr>
          </a:solidFill>
          <a:ln w="19050" cap="flat" cmpd="sng" algn="ctr">
            <a:solidFill>
              <a:srgbClr val="156082">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pic>
        <p:nvPicPr>
          <p:cNvPr id="21" name="Picture 20" descr="Identify critical roles">
            <a:extLst>
              <a:ext uri="{FF2B5EF4-FFF2-40B4-BE49-F238E27FC236}">
                <a16:creationId xmlns:a16="http://schemas.microsoft.com/office/drawing/2014/main" id="{367E5B1F-E375-869F-9451-DCCA33BF7A13}"/>
              </a:ext>
            </a:extLst>
          </p:cNvPr>
          <p:cNvPicPr>
            <a:picLocks noChangeAspect="1"/>
          </p:cNvPicPr>
          <p:nvPr/>
        </p:nvPicPr>
        <p:blipFill>
          <a:blip r:embed="rId5"/>
          <a:stretch>
            <a:fillRect/>
          </a:stretch>
        </p:blipFill>
        <p:spPr>
          <a:xfrm>
            <a:off x="1205979" y="2562088"/>
            <a:ext cx="871200" cy="871200"/>
          </a:xfrm>
          <a:prstGeom prst="rect">
            <a:avLst/>
          </a:prstGeom>
        </p:spPr>
      </p:pic>
      <p:sp>
        <p:nvSpPr>
          <p:cNvPr id="23" name="Oval 22">
            <a:extLst>
              <a:ext uri="{FF2B5EF4-FFF2-40B4-BE49-F238E27FC236}">
                <a16:creationId xmlns:a16="http://schemas.microsoft.com/office/drawing/2014/main" id="{3323CBCA-9305-9844-1B58-AA274F908A6F}"/>
              </a:ext>
            </a:extLst>
          </p:cNvPr>
          <p:cNvSpPr/>
          <p:nvPr/>
        </p:nvSpPr>
        <p:spPr>
          <a:xfrm>
            <a:off x="1184379" y="1160775"/>
            <a:ext cx="914400" cy="914400"/>
          </a:xfrm>
          <a:prstGeom prst="ellipse">
            <a:avLst/>
          </a:prstGeom>
          <a:solidFill>
            <a:sysClr val="window" lastClr="FFFFFF">
              <a:lumMod val="95000"/>
            </a:sysClr>
          </a:solidFill>
          <a:ln w="19050" cap="flat" cmpd="sng" algn="ctr">
            <a:solidFill>
              <a:srgbClr val="156082">
                <a:shade val="1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pic>
        <p:nvPicPr>
          <p:cNvPr id="24" name="Picture 23" descr="The Click">
            <a:extLst>
              <a:ext uri="{FF2B5EF4-FFF2-40B4-BE49-F238E27FC236}">
                <a16:creationId xmlns:a16="http://schemas.microsoft.com/office/drawing/2014/main" id="{71D77114-6015-E4E1-2105-7D049DF81453}"/>
              </a:ext>
            </a:extLst>
          </p:cNvPr>
          <p:cNvPicPr>
            <a:picLocks noChangeAspect="1"/>
          </p:cNvPicPr>
          <p:nvPr/>
        </p:nvPicPr>
        <p:blipFill>
          <a:blip r:embed="rId6"/>
          <a:stretch>
            <a:fillRect/>
          </a:stretch>
        </p:blipFill>
        <p:spPr>
          <a:xfrm>
            <a:off x="1317579" y="1293975"/>
            <a:ext cx="648000" cy="648000"/>
          </a:xfrm>
          <a:prstGeom prst="rect">
            <a:avLst/>
          </a:prstGeom>
        </p:spPr>
      </p:pic>
      <p:sp>
        <p:nvSpPr>
          <p:cNvPr id="25" name="TextBox 24">
            <a:extLst>
              <a:ext uri="{FF2B5EF4-FFF2-40B4-BE49-F238E27FC236}">
                <a16:creationId xmlns:a16="http://schemas.microsoft.com/office/drawing/2014/main" id="{783599BF-D129-F077-0CD4-960DD1AB6218}"/>
              </a:ext>
            </a:extLst>
          </p:cNvPr>
          <p:cNvSpPr txBox="1"/>
          <p:nvPr/>
        </p:nvSpPr>
        <p:spPr>
          <a:xfrm>
            <a:off x="2336098" y="813881"/>
            <a:ext cx="9379267" cy="60016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4C608C"/>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Start and Deepen the Leadership Team-Building Journey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0" cap="none" spc="0" normalizeH="0" baseline="0" noProof="0">
                <a:ln>
                  <a:noFill/>
                </a:ln>
                <a:solidFill>
                  <a:sysClr val="windowText" lastClr="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Biannual Offsites: </a:t>
            </a:r>
            <a:r>
              <a:rPr kumimoji="0" lang="en-US" sz="1200" b="0" i="0" u="none" strike="noStrike" kern="0" cap="none" spc="0" normalizeH="0" baseline="0" noProof="0">
                <a:ln>
                  <a:noFill/>
                </a:ln>
                <a:solidFill>
                  <a:sysClr val="windowText" lastClr="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Hold two full-team, in-person offsites per year to align on business priorities and execution plans, review key interdependencies, and intentionally build stronger personal relationships and trust among Chiefs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0" cap="none" spc="0" normalizeH="0" baseline="0" noProof="0">
                <a:ln>
                  <a:noFill/>
                </a:ln>
                <a:solidFill>
                  <a:sysClr val="windowText" lastClr="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Ongoing Relationship Building</a:t>
            </a:r>
            <a:r>
              <a:rPr kumimoji="0" lang="en-US" sz="1200" b="0" i="0" u="none" strike="noStrike" kern="0" cap="none" spc="0" normalizeH="0" baseline="0" noProof="0">
                <a:ln>
                  <a:noFill/>
                </a:ln>
                <a:solidFill>
                  <a:sysClr val="windowText" lastClr="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Encourage informal team activities—regular lunches, coffee breaks, or learning sessions—to keep personal connections strong and tackle cross-functional barriers outside formal meetings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0" cap="none" spc="0" normalizeH="0" baseline="0" noProof="0">
                <a:ln>
                  <a:noFill/>
                </a:ln>
                <a:solidFill>
                  <a:sysClr val="windowText" lastClr="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Enterprise Leadership Mindset</a:t>
            </a:r>
            <a:r>
              <a:rPr kumimoji="0" lang="en-US" sz="1200" b="0" i="0" u="none" strike="noStrike" kern="0" cap="none" spc="0" normalizeH="0" baseline="0" noProof="0">
                <a:ln>
                  <a:noFill/>
                </a:ln>
                <a:solidFill>
                  <a:sysClr val="windowText" lastClr="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Keep nudging Chiefs to go beyond their silos and step into enterprise leadership roles: before tackling a priority, ask “Does this need team-wide input to succeed, and if so, how early?”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4C608C"/>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4C608C"/>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Mastering Interdependencies</a:t>
            </a:r>
            <a:endParaRPr kumimoji="0" lang="en-US" sz="1200" b="0" i="0" u="none" strike="noStrike" kern="1200" cap="none" spc="0" normalizeH="0" baseline="0" noProof="0">
              <a:ln>
                <a:noFill/>
              </a:ln>
              <a:solidFill>
                <a:srgbClr val="4C608C"/>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Identify and Track Key Dependencies:</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As a team, map out the top 5–7 cross-functional interdependencies that are critical to delivering the business plan. Feature these in weekly meetings, with rotating “deep dives” to discuss progress, challenges, and resource trade-offs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Proactive Alignment:</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Encourage Chiefs to call out potential cross-functional impacts early—when a decision or change in one function (tech, product, commercial, ops, risk) will affect another, align and confirm before moving ahead</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200" b="0" i="0" u="none" strike="noStrike" kern="0" cap="none" spc="0" normalizeH="0" baseline="0" noProof="0">
              <a:ln>
                <a:noFill/>
              </a:ln>
              <a:solidFill>
                <a:sysClr val="windowText" lastClr="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4C608C"/>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Role Modelling Enterprise Values and Accountability</a:t>
            </a:r>
            <a:endParaRPr kumimoji="0" lang="en-US" sz="1200" b="0" i="0" u="none" strike="noStrike" kern="1200" cap="none" spc="0" normalizeH="0" baseline="0" noProof="0">
              <a:ln>
                <a:noFill/>
              </a:ln>
              <a:solidFill>
                <a:srgbClr val="4C608C"/>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Joint Leadership Communication:</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Regularly communicate as a unified executive group to the broader organization—reinforce collective priorities, model collaborative behavior, and visibly embrace the new strategy and culture</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Empower Committees and Delegation:</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Strengthen the structure and decision-making authority of cross-functional committees (e.g., digital, product, risk), ensuring Chiefs delegate appropriately to ExCo-1 leaders to increase pace, learning, and organizational resilience</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Joint Scorecard and Feedback:</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Develop and share a joint performance scorecard for Chiefs, focusing on both functional/accountability metrics and enterprise-wide behaviors—use this to assess and recognize progress in breaking silos and enabling shared success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4C608C"/>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Enable Talent and Leadership Strength Across Every Function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200">
                <a:latin typeface="Helvetica Neue" panose="02000503000000020004" pitchFamily="2" charset="0"/>
                <a:ea typeface="Helvetica Neue" panose="02000503000000020004" pitchFamily="2" charset="0"/>
                <a:cs typeface="Helvetica Neue" panose="02000503000000020004" pitchFamily="2" charset="0"/>
              </a:rPr>
              <a:t>Identify and elevate the 3–5 roles most critical to your function’s success—the ones that truly move the business forward</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200">
                <a:latin typeface="Helvetica Neue" panose="02000503000000020004" pitchFamily="2" charset="0"/>
                <a:ea typeface="Helvetica Neue" panose="02000503000000020004" pitchFamily="2" charset="0"/>
                <a:cs typeface="Helvetica Neue" panose="02000503000000020004" pitchFamily="2" charset="0"/>
              </a:rPr>
              <a:t>Ensure these roles are filled by capable, high-impact performers who model accountability, speed, and collaboration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200">
                <a:latin typeface="Helvetica Neue" panose="02000503000000020004" pitchFamily="2" charset="0"/>
                <a:ea typeface="Helvetica Neue" panose="02000503000000020004" pitchFamily="2" charset="0"/>
                <a:cs typeface="Helvetica Neue" panose="02000503000000020004" pitchFamily="2" charset="0"/>
              </a:rPr>
              <a:t>Address underperformance with clarity, fairness, and follow-through, while investing in next-generation leaders through mentoring, targeted upskilling, and clear career paths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200">
                <a:latin typeface="Helvetica Neue" panose="02000503000000020004" pitchFamily="2" charset="0"/>
                <a:ea typeface="Helvetica Neue" panose="02000503000000020004" pitchFamily="2" charset="0"/>
                <a:cs typeface="Helvetica Neue" panose="02000503000000020004" pitchFamily="2" charset="0"/>
              </a:rPr>
              <a:t>Build visible development roadmaps within your function to strengthen engagement, retention, and readiness for growth</a:t>
            </a:r>
            <a:endParaRPr kumimoji="0" lang="en-US" sz="1200" b="0" i="0" u="none" strike="noStrike" kern="0" cap="none" spc="0" normalizeH="0" baseline="0" noProof="0">
              <a:ln>
                <a:noFill/>
              </a:ln>
              <a:solidFill>
                <a:sysClr val="windowText" lastClr="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Tree>
    <p:extLst>
      <p:ext uri="{BB962C8B-B14F-4D97-AF65-F5344CB8AC3E}">
        <p14:creationId xmlns:p14="http://schemas.microsoft.com/office/powerpoint/2010/main" val="432456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9E29E-801F-9CD5-335F-4C6B93BE8343}"/>
            </a:ext>
          </a:extLst>
        </p:cNvPr>
        <p:cNvGrpSpPr/>
        <p:nvPr/>
      </p:nvGrpSpPr>
      <p:grpSpPr>
        <a:xfrm>
          <a:off x="0" y="0"/>
          <a:ext cx="0" cy="0"/>
          <a:chOff x="0" y="0"/>
          <a:chExt cx="0" cy="0"/>
        </a:xfrm>
      </p:grpSpPr>
      <p:sp>
        <p:nvSpPr>
          <p:cNvPr id="30721" name="Text Placeholder 1">
            <a:extLst>
              <a:ext uri="{FF2B5EF4-FFF2-40B4-BE49-F238E27FC236}">
                <a16:creationId xmlns:a16="http://schemas.microsoft.com/office/drawing/2014/main" id="{9C584DA0-4D2A-A050-8732-A06A2A8289C5}"/>
              </a:ext>
            </a:extLst>
          </p:cNvPr>
          <p:cNvSpPr>
            <a:spLocks noGrp="1" noChangeArrowheads="1"/>
          </p:cNvSpPr>
          <p:nvPr>
            <p:ph type="body" idx="1"/>
          </p:nvPr>
        </p:nvSpPr>
        <p:spPr bwMode="auto">
          <a:xfrm>
            <a:off x="180089" y="3209100"/>
            <a:ext cx="4841875" cy="1420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a:spcBef>
                <a:spcPct val="0"/>
              </a:spcBef>
              <a:spcAft>
                <a:spcPct val="0"/>
              </a:spcAft>
              <a:buClr>
                <a:srgbClr val="000000"/>
              </a:buClr>
              <a:buFont typeface="Arial" panose="020B0604020202020204" pitchFamily="34" charset="0"/>
              <a:buNone/>
            </a:pPr>
            <a:r>
              <a:rPr lang="en-US" altLang="en-US" sz="4800" b="1">
                <a:solidFill>
                  <a:srgbClr val="112D59"/>
                </a:solidFill>
                <a:latin typeface="Helvetica Neue" panose="02000503000000020004" pitchFamily="2" charset="0"/>
                <a:cs typeface="Arial" panose="020B0604020202020204" pitchFamily="34" charset="0"/>
                <a:sym typeface="Helvetica Neue" panose="02000503000000020004" pitchFamily="2" charset="0"/>
              </a:rPr>
              <a:t>INDIVIDUAL </a:t>
            </a:r>
          </a:p>
          <a:p>
            <a:pPr>
              <a:spcBef>
                <a:spcPct val="0"/>
              </a:spcBef>
              <a:spcAft>
                <a:spcPct val="0"/>
              </a:spcAft>
              <a:buClr>
                <a:srgbClr val="000000"/>
              </a:buClr>
              <a:buFont typeface="Arial" panose="020B0604020202020204" pitchFamily="34" charset="0"/>
              <a:buNone/>
            </a:pPr>
            <a:r>
              <a:rPr lang="en-US" altLang="en-US" sz="4800" b="1">
                <a:solidFill>
                  <a:srgbClr val="112D59"/>
                </a:solidFill>
                <a:latin typeface="Helvetica Neue" panose="02000503000000020004" pitchFamily="2" charset="0"/>
                <a:cs typeface="Arial" panose="020B0604020202020204" pitchFamily="34" charset="0"/>
                <a:sym typeface="Helvetica Neue" panose="02000503000000020004" pitchFamily="2" charset="0"/>
              </a:rPr>
              <a:t>SUMMARY </a:t>
            </a:r>
          </a:p>
          <a:p>
            <a:pPr>
              <a:spcBef>
                <a:spcPct val="0"/>
              </a:spcBef>
              <a:spcAft>
                <a:spcPct val="0"/>
              </a:spcAft>
              <a:buClr>
                <a:srgbClr val="000000"/>
              </a:buClr>
              <a:buFont typeface="Arial" panose="020B0604020202020204" pitchFamily="34" charset="0"/>
              <a:buNone/>
            </a:pPr>
            <a:r>
              <a:rPr lang="en-US" altLang="en-US" sz="4800" b="1">
                <a:solidFill>
                  <a:srgbClr val="112D59"/>
                </a:solidFill>
                <a:latin typeface="Helvetica Neue" panose="02000503000000020004" pitchFamily="2" charset="0"/>
                <a:cs typeface="Arial" panose="020B0604020202020204" pitchFamily="34" charset="0"/>
                <a:sym typeface="Helvetica Neue" panose="02000503000000020004" pitchFamily="2" charset="0"/>
              </a:rPr>
              <a:t>PAGES</a:t>
            </a:r>
          </a:p>
        </p:txBody>
      </p:sp>
      <p:pic>
        <p:nvPicPr>
          <p:cNvPr id="3" name="Picture 2">
            <a:extLst>
              <a:ext uri="{FF2B5EF4-FFF2-40B4-BE49-F238E27FC236}">
                <a16:creationId xmlns:a16="http://schemas.microsoft.com/office/drawing/2014/main" id="{392C451C-209A-F3C6-EB21-3D3F57B1FEA8}"/>
              </a:ext>
            </a:extLst>
          </p:cNvPr>
          <p:cNvPicPr>
            <a:picLocks noChangeAspect="1"/>
          </p:cNvPicPr>
          <p:nvPr/>
        </p:nvPicPr>
        <p:blipFill>
          <a:blip r:embed="rId2"/>
          <a:stretch>
            <a:fillRect/>
          </a:stretch>
        </p:blipFill>
        <p:spPr>
          <a:xfrm>
            <a:off x="180089" y="2358304"/>
            <a:ext cx="1874000" cy="850796"/>
          </a:xfrm>
          <a:prstGeom prst="rect">
            <a:avLst/>
          </a:prstGeom>
        </p:spPr>
      </p:pic>
      <p:sp>
        <p:nvSpPr>
          <p:cNvPr id="2" name="Text Placeholder 1">
            <a:extLst>
              <a:ext uri="{FF2B5EF4-FFF2-40B4-BE49-F238E27FC236}">
                <a16:creationId xmlns:a16="http://schemas.microsoft.com/office/drawing/2014/main" id="{3F02B126-5E9D-02B9-B22C-A4348C246ED9}"/>
              </a:ext>
            </a:extLst>
          </p:cNvPr>
          <p:cNvSpPr txBox="1">
            <a:spLocks noChangeArrowheads="1"/>
          </p:cNvSpPr>
          <p:nvPr/>
        </p:nvSpPr>
        <p:spPr bwMode="auto">
          <a:xfrm>
            <a:off x="180089" y="5231243"/>
            <a:ext cx="4841875" cy="62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defPPr marR="0" lvl="0" algn="l" rtl="0">
              <a:lnSpc>
                <a:spcPct val="100000"/>
              </a:lnSpc>
              <a:spcBef>
                <a:spcPts val="0"/>
              </a:spcBef>
              <a:spcAft>
                <a:spcPts val="0"/>
              </a:spcAft>
            </a:defPPr>
            <a:lvl1pPr marL="457200" marR="0" lvl="0" indent="-228600" algn="l" rtl="0" eaLnBrk="0" fontAlgn="base" hangingPunct="0">
              <a:lnSpc>
                <a:spcPct val="90000"/>
              </a:lnSpc>
              <a:spcBef>
                <a:spcPts val="1000"/>
              </a:spcBef>
              <a:spcAft>
                <a:spcPts val="0"/>
              </a:spcAft>
              <a:buClr>
                <a:schemeClr val="dk1"/>
              </a:buClr>
              <a:buSzPts val="5400"/>
              <a:buFont typeface="Arial"/>
              <a:buNone/>
              <a:defRPr sz="5400" b="0" i="0" u="none" strike="noStrike" cap="none">
                <a:solidFill>
                  <a:schemeClr val="dk1"/>
                </a:solidFill>
                <a:latin typeface="Helvetica Neue Roman"/>
                <a:ea typeface="Helvetica Neue Roman"/>
                <a:cs typeface="Helvetica Neue Roman"/>
                <a:sym typeface="Helvetica Neue"/>
              </a:defRPr>
            </a:lvl1pPr>
            <a:lvl2pPr marL="914400" marR="0" lvl="1" indent="-228600" algn="l" rtl="0" eaLnBrk="0" fontAlgn="base" hangingPunct="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eaLnBrk="0" fontAlgn="base" hangingPunct="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eaLnBrk="0" fontAlgn="base" hangingPunct="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eaLnBrk="0" fontAlgn="base" hangingPunct="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spcBef>
                <a:spcPct val="0"/>
              </a:spcBef>
              <a:spcAft>
                <a:spcPct val="0"/>
              </a:spcAft>
              <a:buClr>
                <a:srgbClr val="000000"/>
              </a:buClr>
              <a:buFont typeface="Arial" panose="020B0604020202020204" pitchFamily="34" charset="0"/>
              <a:buNone/>
            </a:pPr>
            <a:r>
              <a:rPr lang="en-US" altLang="en-US" sz="2800" kern="0">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rPr>
              <a:t>For Slides 22-65</a:t>
            </a:r>
          </a:p>
        </p:txBody>
      </p:sp>
    </p:spTree>
    <p:extLst>
      <p:ext uri="{BB962C8B-B14F-4D97-AF65-F5344CB8AC3E}">
        <p14:creationId xmlns:p14="http://schemas.microsoft.com/office/powerpoint/2010/main" val="2791833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3E3C1083-2539-02CA-790A-0E87170603D6}"/>
            </a:ext>
          </a:extLst>
        </p:cNvPr>
        <p:cNvGrpSpPr/>
        <p:nvPr/>
      </p:nvGrpSpPr>
      <p:grpSpPr>
        <a:xfrm>
          <a:off x="0" y="0"/>
          <a:ext cx="0" cy="0"/>
          <a:chOff x="0" y="0"/>
          <a:chExt cx="0" cy="0"/>
        </a:xfrm>
      </p:grpSpPr>
      <p:sp>
        <p:nvSpPr>
          <p:cNvPr id="21507" name="Text Placeholder 1">
            <a:extLst>
              <a:ext uri="{FF2B5EF4-FFF2-40B4-BE49-F238E27FC236}">
                <a16:creationId xmlns:a16="http://schemas.microsoft.com/office/drawing/2014/main" id="{66282CF0-C24F-64FC-A17D-F00F14DF540C}"/>
              </a:ext>
            </a:extLst>
          </p:cNvPr>
          <p:cNvSpPr>
            <a:spLocks noGrp="1" noChangeArrowheads="1"/>
          </p:cNvSpPr>
          <p:nvPr>
            <p:ph type="body" idx="1"/>
          </p:nvPr>
        </p:nvSpPr>
        <p:spPr bwMode="auto">
          <a:xfrm>
            <a:off x="727075" y="374650"/>
            <a:ext cx="7559675" cy="334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marL="0" indent="0">
              <a:spcBef>
                <a:spcPct val="0"/>
              </a:spcBef>
              <a:spcAft>
                <a:spcPct val="0"/>
              </a:spcAft>
              <a:buClr>
                <a:srgbClr val="000000"/>
              </a:buClr>
              <a:buSzPts val="2400"/>
              <a:buFont typeface="Arial" panose="020B0604020202020204" pitchFamily="34" charset="0"/>
              <a:buNone/>
            </a:pPr>
            <a:r>
              <a:rPr lang="en-US" altLang="en-US" sz="2000">
                <a:solidFill>
                  <a:srgbClr val="002060"/>
                </a:solidFill>
                <a:latin typeface="Arial"/>
                <a:cs typeface="Arial"/>
                <a:sym typeface="Helvetica Neue Light" panose="02000403000000020004" pitchFamily="2" charset="0"/>
              </a:rPr>
              <a:t>C-SUITE ENABLING SUCCESS PLAN OVERVIEW (1/3)</a:t>
            </a:r>
          </a:p>
        </p:txBody>
      </p:sp>
      <p:sp>
        <p:nvSpPr>
          <p:cNvPr id="21508" name="Slide Number Placeholder 2">
            <a:extLst>
              <a:ext uri="{FF2B5EF4-FFF2-40B4-BE49-F238E27FC236}">
                <a16:creationId xmlns:a16="http://schemas.microsoft.com/office/drawing/2014/main" id="{F9DA4B6C-24CB-8B54-67F4-A3DA819B274C}"/>
              </a:ext>
            </a:extLst>
          </p:cNvPr>
          <p:cNvSpPr>
            <a:spLocks noGrp="1" noChangeArrowheads="1"/>
          </p:cNvSpPr>
          <p:nvPr>
            <p:ph type="sldNum" sz="quarter" idx="10"/>
          </p:nvPr>
        </p:nvSpPr>
        <p:spPr>
          <a:xfrm>
            <a:off x="0" y="238125"/>
            <a:ext cx="557213" cy="557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94E6AC2-D12E-1843-971E-E4F9DE4AA8B8}"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18</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7" name="Subtitle 2">
            <a:extLst>
              <a:ext uri="{FF2B5EF4-FFF2-40B4-BE49-F238E27FC236}">
                <a16:creationId xmlns:a16="http://schemas.microsoft.com/office/drawing/2014/main" id="{D8E96F9D-CD9C-E826-1000-55A282F1B23A}"/>
              </a:ext>
            </a:extLst>
          </p:cNvPr>
          <p:cNvSpPr txBox="1">
            <a:spLocks/>
          </p:cNvSpPr>
          <p:nvPr/>
        </p:nvSpPr>
        <p:spPr>
          <a:xfrm flipH="1">
            <a:off x="1818780" y="1184095"/>
            <a:ext cx="4385147" cy="1119616"/>
          </a:xfrm>
          <a:prstGeom prst="rect">
            <a:avLst/>
          </a:prstGeom>
        </p:spPr>
        <p:txBody>
          <a:bodyPr vert="horz" lIns="0" tIns="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indent="-171450" algn="l">
              <a:buFont typeface="Arial" panose="020B0604020202020204" pitchFamily="34" charset="0"/>
              <a:buChar char="•"/>
              <a:defRPr/>
            </a:pPr>
            <a:r>
              <a:rPr lang="en-US" sz="1000">
                <a:latin typeface="Helvetica Neue" panose="02000503000000020004" pitchFamily="2" charset="0"/>
                <a:ea typeface="Helvetica Neue" panose="02000503000000020004" pitchFamily="2" charset="0"/>
                <a:cs typeface="Helvetica Neue" panose="02000503000000020004" pitchFamily="2" charset="0"/>
              </a:rPr>
              <a:t>The CCO shows promise: high potential, commercially minded, aligned with growth goals. His strengths lie in his strong analytical skills, business acumen, and ability to drive commercial results with a clear focus on measurable outcomes. </a:t>
            </a:r>
          </a:p>
          <a:p>
            <a:pPr marL="171450" indent="-171450" algn="l">
              <a:buFont typeface="Arial" panose="020B0604020202020204" pitchFamily="34" charset="0"/>
              <a:buChar char="•"/>
              <a:defRPr/>
            </a:pPr>
            <a:r>
              <a:rPr lang="en-US" sz="1000">
                <a:latin typeface="Helvetica Neue" panose="02000503000000020004" pitchFamily="2" charset="0"/>
                <a:ea typeface="Helvetica Neue" panose="02000503000000020004" pitchFamily="2" charset="0"/>
                <a:cs typeface="Helvetica Neue" panose="02000503000000020004" pitchFamily="2" charset="0"/>
              </a:rPr>
              <a:t>However, being new to the region and culture, he currently avoids conflict by over-aligning with the CEO. He is naturally more task- and business-focused than people-oriented, which can translate to limited visibility, slower relationship-building, and less proactive engagement with colleagues. </a:t>
            </a:r>
          </a:p>
          <a:p>
            <a:pPr marL="171450" indent="-171450" algn="l">
              <a:buFont typeface="Arial" panose="020B0604020202020204" pitchFamily="34" charset="0"/>
              <a:buChar char="•"/>
              <a:defRPr/>
            </a:pPr>
            <a:r>
              <a:rPr lang="en-US" sz="1000">
                <a:latin typeface="Helvetica Neue" panose="02000503000000020004" pitchFamily="2" charset="0"/>
                <a:ea typeface="Helvetica Neue" panose="02000503000000020004" pitchFamily="2" charset="0"/>
                <a:cs typeface="Helvetica Neue" panose="02000503000000020004" pitchFamily="2" charset="0"/>
              </a:rPr>
              <a:t>Under stress, he may become skeptical or guarded, which can lead to delayed collaboration or difficulties in breaking down organizational silos</a:t>
            </a:r>
          </a:p>
        </p:txBody>
      </p:sp>
      <p:sp>
        <p:nvSpPr>
          <p:cNvPr id="8" name="Subtitle 2">
            <a:extLst>
              <a:ext uri="{FF2B5EF4-FFF2-40B4-BE49-F238E27FC236}">
                <a16:creationId xmlns:a16="http://schemas.microsoft.com/office/drawing/2014/main" id="{479DF5B4-639C-FDBD-457A-3795D262EA26}"/>
              </a:ext>
            </a:extLst>
          </p:cNvPr>
          <p:cNvSpPr txBox="1">
            <a:spLocks/>
          </p:cNvSpPr>
          <p:nvPr/>
        </p:nvSpPr>
        <p:spPr>
          <a:xfrm flipH="1">
            <a:off x="6454390" y="1176123"/>
            <a:ext cx="5270744" cy="1950065"/>
          </a:xfrm>
          <a:prstGeom prst="rect">
            <a:avLst/>
          </a:prstGeom>
        </p:spPr>
        <p:txBody>
          <a:bodyPr vert="horz" lIns="0" tIns="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lvl="0" indent="-171450" algn="l" eaLnBrk="0" hangingPunct="0">
              <a:lnSpc>
                <a:spcPct val="100000"/>
              </a:lnSpc>
              <a:spcBef>
                <a:spcPct val="0"/>
              </a:spcBef>
              <a:buFont typeface="Arial" panose="020B0604020202020204" pitchFamily="34" charset="0"/>
              <a:buChar char="•"/>
              <a:defRPr/>
            </a:pPr>
            <a:r>
              <a:rPr lang="en-US" sz="1000">
                <a:solidFill>
                  <a:srgbClr val="000000"/>
                </a:solidFill>
                <a:latin typeface="Helvetica Neue"/>
                <a:ea typeface="Helvetica Neue" panose="02000503000000020004" pitchFamily="2" charset="0"/>
                <a:cs typeface="Helvetica Neue" panose="02000503000000020004" pitchFamily="2" charset="0"/>
              </a:rPr>
              <a:t>Re-build Marketing capabilities.</a:t>
            </a:r>
          </a:p>
          <a:p>
            <a:pPr marL="171450" lvl="0" indent="-171450" algn="l" eaLnBrk="0" hangingPunct="0">
              <a:lnSpc>
                <a:spcPct val="100000"/>
              </a:lnSpc>
              <a:spcBef>
                <a:spcPct val="0"/>
              </a:spcBef>
              <a:buFont typeface="Arial" panose="020B0604020202020204" pitchFamily="34" charset="0"/>
              <a:buChar char="•"/>
              <a:defRPr/>
            </a:pPr>
            <a:endParaRPr lang="en-US" sz="100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a:p>
            <a:pPr marL="171450" lvl="0" indent="-171450" algn="l" eaLnBrk="0" hangingPunct="0">
              <a:lnSpc>
                <a:spcPct val="100000"/>
              </a:lnSpc>
              <a:spcBef>
                <a:spcPct val="0"/>
              </a:spcBef>
              <a:buFont typeface="Arial" panose="020B0604020202020204" pitchFamily="34" charset="0"/>
              <a:buChar char="•"/>
              <a:defRPr/>
            </a:pPr>
            <a:r>
              <a:rPr lang="en-US" sz="1000" b="1">
                <a:solidFill>
                  <a:srgbClr val="000000"/>
                </a:solidFill>
                <a:latin typeface="Helvetica Neue"/>
                <a:ea typeface="Helvetica Neue" panose="02000503000000020004" pitchFamily="2" charset="0"/>
                <a:cs typeface="Helvetica Neue" panose="02000503000000020004" pitchFamily="2" charset="0"/>
              </a:rPr>
              <a:t>Strengthen Team Capability and Accountability</a:t>
            </a:r>
            <a:r>
              <a:rPr lang="en-US" sz="1000">
                <a:solidFill>
                  <a:srgbClr val="000000"/>
                </a:solidFill>
                <a:latin typeface="Helvetica Neue"/>
                <a:ea typeface="Helvetica Neue" panose="02000503000000020004" pitchFamily="2" charset="0"/>
                <a:cs typeface="Helvetica Neue" panose="02000503000000020004" pitchFamily="2" charset="0"/>
              </a:rPr>
              <a:t>: Focus on 3–5 critical commercial roles, address underperformance, and invest in development for high-potential talent.</a:t>
            </a:r>
          </a:p>
          <a:p>
            <a:pPr marL="171450" lvl="0" indent="-171450" algn="l" eaLnBrk="0" hangingPunct="0">
              <a:lnSpc>
                <a:spcPct val="100000"/>
              </a:lnSpc>
              <a:spcBef>
                <a:spcPct val="0"/>
              </a:spcBef>
              <a:buFont typeface="Arial" panose="020B0604020202020204" pitchFamily="34" charset="0"/>
              <a:buChar char="•"/>
              <a:defRPr/>
            </a:pPr>
            <a:endParaRPr lang="en-US" sz="100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a:p>
            <a:pPr marL="171450" lvl="0" indent="-171450" algn="l" eaLnBrk="0" hangingPunct="0">
              <a:lnSpc>
                <a:spcPct val="100000"/>
              </a:lnSpc>
              <a:spcBef>
                <a:spcPct val="0"/>
              </a:spcBef>
              <a:buFont typeface="Arial" panose="020B0604020202020204" pitchFamily="34" charset="0"/>
              <a:buChar char="•"/>
              <a:defRPr/>
            </a:pPr>
            <a:r>
              <a:rPr lang="en-US" sz="1000" b="1">
                <a:solidFill>
                  <a:srgbClr val="000000"/>
                </a:solidFill>
                <a:latin typeface="Helvetica Neue"/>
                <a:ea typeface="Helvetica Neue" panose="02000503000000020004" pitchFamily="2" charset="0"/>
                <a:cs typeface="Helvetica Neue" panose="02000503000000020004" pitchFamily="2" charset="0"/>
              </a:rPr>
              <a:t>Cultural Agility</a:t>
            </a:r>
            <a:r>
              <a:rPr lang="en-US" sz="1000">
                <a:solidFill>
                  <a:srgbClr val="000000"/>
                </a:solidFill>
                <a:latin typeface="Helvetica Neue"/>
                <a:ea typeface="Helvetica Neue" panose="02000503000000020004" pitchFamily="2" charset="0"/>
                <a:cs typeface="Helvetica Neue" panose="02000503000000020004" pitchFamily="2" charset="0"/>
              </a:rPr>
              <a:t>: Engage a mentor with Middle East expertise to refine influence and communication, building stronger trust and sponsorship.</a:t>
            </a:r>
          </a:p>
          <a:p>
            <a:pPr marL="171450" lvl="0" indent="-171450" algn="l" eaLnBrk="0" hangingPunct="0">
              <a:lnSpc>
                <a:spcPct val="100000"/>
              </a:lnSpc>
              <a:spcBef>
                <a:spcPct val="0"/>
              </a:spcBef>
              <a:buFont typeface="Arial" panose="020B0604020202020204" pitchFamily="34" charset="0"/>
              <a:buChar char="•"/>
              <a:defRPr/>
            </a:pPr>
            <a:endParaRPr lang="en-US" sz="100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lgn="l" eaLnBrk="0" hangingPunct="0">
              <a:lnSpc>
                <a:spcPct val="100000"/>
              </a:lnSpc>
              <a:spcBef>
                <a:spcPct val="0"/>
              </a:spcBef>
              <a:buFont typeface="Arial" panose="020B0604020202020204" pitchFamily="34" charset="0"/>
              <a:buChar char="•"/>
              <a:defRPr/>
            </a:pPr>
            <a:r>
              <a:rPr lang="en-US" sz="1000" b="1">
                <a:solidFill>
                  <a:srgbClr val="000000"/>
                </a:solidFill>
                <a:latin typeface="Helvetica Neue"/>
                <a:ea typeface="Helvetica Neue" panose="02000503000000020004" pitchFamily="2" charset="0"/>
                <a:cs typeface="Helvetica Neue" panose="02000503000000020004" pitchFamily="2" charset="0"/>
              </a:rPr>
              <a:t>Drive Execution Discipline and Cross-Functional Integration</a:t>
            </a:r>
            <a:r>
              <a:rPr lang="en-US" sz="1000">
                <a:solidFill>
                  <a:srgbClr val="000000"/>
                </a:solidFill>
                <a:latin typeface="Helvetica Neue"/>
                <a:ea typeface="Helvetica Neue" panose="02000503000000020004" pitchFamily="2" charset="0"/>
                <a:cs typeface="Helvetica Neue" panose="02000503000000020004" pitchFamily="2" charset="0"/>
              </a:rPr>
              <a:t>: Establish clear handoffs, shared KPIs, and governance rhythms with Operations, Finance, and Digital to ensure delivery and impact. Have a complement in your team to strengthen process and structure</a:t>
            </a:r>
          </a:p>
          <a:p>
            <a:pPr marL="171450" lvl="0" indent="-171450" algn="l" eaLnBrk="0" hangingPunct="0">
              <a:lnSpc>
                <a:spcPct val="100000"/>
              </a:lnSpc>
              <a:spcBef>
                <a:spcPct val="0"/>
              </a:spcBef>
              <a:buFont typeface="Arial" panose="020B0604020202020204" pitchFamily="34" charset="0"/>
              <a:buChar char="•"/>
              <a:defRPr/>
            </a:pPr>
            <a:endParaRPr lang="en-US" sz="1000">
              <a:solidFill>
                <a:srgbClr val="000000"/>
              </a:solidFill>
              <a:latin typeface="Helvetica Neue"/>
              <a:ea typeface="Helvetica Neue" panose="02000503000000020004" pitchFamily="2" charset="0"/>
              <a:cs typeface="Helvetica Neue" panose="02000503000000020004" pitchFamily="2" charset="0"/>
            </a:endParaRPr>
          </a:p>
        </p:txBody>
      </p:sp>
      <p:cxnSp>
        <p:nvCxnSpPr>
          <p:cNvPr id="9" name="Straight Connector 8">
            <a:extLst>
              <a:ext uri="{FF2B5EF4-FFF2-40B4-BE49-F238E27FC236}">
                <a16:creationId xmlns:a16="http://schemas.microsoft.com/office/drawing/2014/main" id="{18008E59-C06A-899C-4110-91A1EDADCF4C}"/>
              </a:ext>
            </a:extLst>
          </p:cNvPr>
          <p:cNvCxnSpPr/>
          <p:nvPr/>
        </p:nvCxnSpPr>
        <p:spPr>
          <a:xfrm>
            <a:off x="550423" y="3425364"/>
            <a:ext cx="11167924" cy="0"/>
          </a:xfrm>
          <a:prstGeom prst="line">
            <a:avLst/>
          </a:prstGeom>
          <a:ln w="9525">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Subtitle 2">
            <a:extLst>
              <a:ext uri="{FF2B5EF4-FFF2-40B4-BE49-F238E27FC236}">
                <a16:creationId xmlns:a16="http://schemas.microsoft.com/office/drawing/2014/main" id="{13B3F8C4-5A4D-38CC-CF43-15AE7ADEA22E}"/>
              </a:ext>
            </a:extLst>
          </p:cNvPr>
          <p:cNvSpPr txBox="1">
            <a:spLocks/>
          </p:cNvSpPr>
          <p:nvPr/>
        </p:nvSpPr>
        <p:spPr>
          <a:xfrm flipH="1">
            <a:off x="1977543" y="932906"/>
            <a:ext cx="978011" cy="152707"/>
          </a:xfrm>
          <a:prstGeom prst="rect">
            <a:avLst/>
          </a:prstGeom>
        </p:spPr>
        <p:txBody>
          <a:bodyPr vert="horz" lIns="0" tIns="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ts val="1200"/>
              </a:lnSpc>
              <a:spcBef>
                <a:spcPts val="0"/>
              </a:spcBef>
              <a:spcAft>
                <a:spcPts val="6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SUMMARY</a:t>
            </a:r>
          </a:p>
        </p:txBody>
      </p:sp>
      <p:sp>
        <p:nvSpPr>
          <p:cNvPr id="11" name="Subtitle 2">
            <a:extLst>
              <a:ext uri="{FF2B5EF4-FFF2-40B4-BE49-F238E27FC236}">
                <a16:creationId xmlns:a16="http://schemas.microsoft.com/office/drawing/2014/main" id="{1BA90CBD-0ABC-2605-6F38-663215B37BFD}"/>
              </a:ext>
            </a:extLst>
          </p:cNvPr>
          <p:cNvSpPr txBox="1">
            <a:spLocks/>
          </p:cNvSpPr>
          <p:nvPr/>
        </p:nvSpPr>
        <p:spPr>
          <a:xfrm flipH="1">
            <a:off x="6613550" y="932906"/>
            <a:ext cx="2871697" cy="137109"/>
          </a:xfrm>
          <a:prstGeom prst="rect">
            <a:avLst/>
          </a:prstGeom>
        </p:spPr>
        <p:txBody>
          <a:bodyPr vert="horz" lIns="0" tIns="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ts val="1200"/>
              </a:lnSpc>
              <a:spcBef>
                <a:spcPts val="0"/>
              </a:spcBef>
              <a:spcAft>
                <a:spcPts val="6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ENABLING SUCCESS PLAN</a:t>
            </a:r>
          </a:p>
        </p:txBody>
      </p:sp>
      <p:sp>
        <p:nvSpPr>
          <p:cNvPr id="14" name="Subtitle 2">
            <a:extLst>
              <a:ext uri="{FF2B5EF4-FFF2-40B4-BE49-F238E27FC236}">
                <a16:creationId xmlns:a16="http://schemas.microsoft.com/office/drawing/2014/main" id="{2DE5BDF2-88D4-3BC8-B0FA-FF7BB8E6CA30}"/>
              </a:ext>
            </a:extLst>
          </p:cNvPr>
          <p:cNvSpPr txBox="1">
            <a:spLocks/>
          </p:cNvSpPr>
          <p:nvPr/>
        </p:nvSpPr>
        <p:spPr>
          <a:xfrm flipH="1">
            <a:off x="1749238" y="3724541"/>
            <a:ext cx="4385147" cy="1119616"/>
          </a:xfrm>
          <a:prstGeom prst="rect">
            <a:avLst/>
          </a:prstGeom>
        </p:spPr>
        <p:txBody>
          <a:bodyPr vert="horz" lIns="0" tIns="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indent="-171450" algn="l">
              <a:buFont typeface="Arial" panose="020B0604020202020204" pitchFamily="34" charset="0"/>
              <a:buChar char="•"/>
              <a:defRPr/>
            </a:pPr>
            <a:r>
              <a:rPr lang="en-US" sz="1000">
                <a:latin typeface="Helvetica Neue"/>
                <a:ea typeface="Helvetica Neue" panose="02000503000000020004" pitchFamily="2" charset="0"/>
                <a:cs typeface="Helvetica Neue" panose="02000503000000020004" pitchFamily="2" charset="0"/>
              </a:rPr>
              <a:t>Ludovic’s strengths are his high standards for rigor, discipline, and technical excellence in risk management, as well as his calm, analytical approach</a:t>
            </a:r>
          </a:p>
          <a:p>
            <a:pPr marL="171450" indent="-171450" algn="l">
              <a:buFont typeface="Arial" panose="020B0604020202020204" pitchFamily="34" charset="0"/>
              <a:buChar char="•"/>
              <a:defRPr/>
            </a:pPr>
            <a:r>
              <a:rPr lang="en-US" sz="1000">
                <a:latin typeface="Helvetica Neue"/>
                <a:ea typeface="Helvetica Neue" panose="02000503000000020004" pitchFamily="2" charset="0"/>
                <a:cs typeface="Helvetica Neue" panose="02000503000000020004" pitchFamily="2" charset="0"/>
              </a:rPr>
              <a:t>He will benefit from enhancing his influence and adaptation across diverse teams, as he can be overly direct or skeptical when pressing for change or encountering entrenched norms, which may limit collaboration.</a:t>
            </a:r>
          </a:p>
          <a:p>
            <a:pPr marL="171450" indent="-171450" algn="l">
              <a:buFont typeface="Arial" panose="020B0604020202020204" pitchFamily="34" charset="0"/>
              <a:buChar char="•"/>
              <a:defRPr/>
            </a:pPr>
            <a:r>
              <a:rPr lang="en-US" sz="1000">
                <a:latin typeface="Helvetica Neue"/>
                <a:ea typeface="Helvetica Neue" panose="02000503000000020004" pitchFamily="2" charset="0"/>
                <a:cs typeface="Helvetica Neue" panose="02000503000000020004" pitchFamily="2" charset="0"/>
              </a:rPr>
              <a:t>Under stress, Ludovic’s Hogan profile indicates he may become critical, controlling, or impatient—prioritizing results and structure at the expense of empathy or flexibility; potentially reducing buy-in, when broader engagement is needed for cross-functional risk initiatives.</a:t>
            </a:r>
          </a:p>
          <a:p>
            <a:pPr marL="171450" indent="-171450" algn="l">
              <a:buFont typeface="Arial" panose="020B0604020202020204" pitchFamily="34" charset="0"/>
              <a:buChar char="•"/>
              <a:defRPr/>
            </a:pPr>
            <a:r>
              <a:rPr lang="en-US" sz="1000">
                <a:latin typeface="Helvetica Neue"/>
                <a:ea typeface="Helvetica Neue" panose="02000503000000020004" pitchFamily="2" charset="0"/>
                <a:cs typeface="Helvetica Neue" panose="02000503000000020004" pitchFamily="2" charset="0"/>
              </a:rPr>
              <a:t>His pronounced confidence might make it hard to challenge him or for other experts to advise him </a:t>
            </a:r>
          </a:p>
        </p:txBody>
      </p:sp>
      <p:sp>
        <p:nvSpPr>
          <p:cNvPr id="15" name="Subtitle 2">
            <a:extLst>
              <a:ext uri="{FF2B5EF4-FFF2-40B4-BE49-F238E27FC236}">
                <a16:creationId xmlns:a16="http://schemas.microsoft.com/office/drawing/2014/main" id="{3164A68F-0B6D-9BAD-7D0A-88296E6B9210}"/>
              </a:ext>
            </a:extLst>
          </p:cNvPr>
          <p:cNvSpPr txBox="1">
            <a:spLocks/>
          </p:cNvSpPr>
          <p:nvPr/>
        </p:nvSpPr>
        <p:spPr>
          <a:xfrm flipH="1">
            <a:off x="6454390" y="3634381"/>
            <a:ext cx="5270744" cy="2305403"/>
          </a:xfrm>
          <a:prstGeom prst="rect">
            <a:avLst/>
          </a:prstGeom>
        </p:spPr>
        <p:txBody>
          <a:bodyPr vert="horz" lIns="0" tIns="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lvl="0" indent="-171450" algn="l" eaLnBrk="0" hangingPunct="0">
              <a:lnSpc>
                <a:spcPct val="100000"/>
              </a:lnSpc>
              <a:spcBef>
                <a:spcPct val="0"/>
              </a:spcBef>
              <a:buFont typeface="Arial" panose="020B0604020202020204" pitchFamily="34" charset="0"/>
              <a:buChar char="•"/>
              <a:defRPr/>
            </a:pPr>
            <a:r>
              <a:rPr lang="en-US" sz="1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Influence Across Cultural and Functional Boundaries: </a:t>
            </a:r>
            <a:r>
              <a:rPr lang="en-US" sz="100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Build cultural fluency and relational influence through a local sponsor, targeted coaching, and regional leadership exposure.</a:t>
            </a:r>
          </a:p>
          <a:p>
            <a:pPr marL="171450" lvl="0" indent="-171450" algn="l" eaLnBrk="0" hangingPunct="0">
              <a:lnSpc>
                <a:spcPct val="100000"/>
              </a:lnSpc>
              <a:spcBef>
                <a:spcPct val="0"/>
              </a:spcBef>
              <a:buFont typeface="Arial" panose="020B0604020202020204" pitchFamily="34" charset="0"/>
              <a:buChar char="•"/>
              <a:defRPr/>
            </a:pPr>
            <a:endParaRPr lang="en-US" sz="100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a:p>
            <a:pPr marL="171450" lvl="0" indent="-171450" algn="l" eaLnBrk="0" hangingPunct="0">
              <a:lnSpc>
                <a:spcPct val="100000"/>
              </a:lnSpc>
              <a:spcBef>
                <a:spcPct val="0"/>
              </a:spcBef>
              <a:buFont typeface="Arial" panose="020B0604020202020204" pitchFamily="34" charset="0"/>
              <a:buChar char="•"/>
              <a:defRPr/>
            </a:pPr>
            <a:r>
              <a:rPr lang="en-US" sz="1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Reposition Risk as a Business Partner: </a:t>
            </a:r>
            <a:r>
              <a:rPr lang="en-US" sz="100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Redefine Risk’s mandate around partnership and foresight, embedding liaisons in key functions</a:t>
            </a:r>
          </a:p>
          <a:p>
            <a:pPr lvl="0" algn="l" eaLnBrk="0" hangingPunct="0">
              <a:lnSpc>
                <a:spcPct val="100000"/>
              </a:lnSpc>
              <a:spcBef>
                <a:spcPct val="0"/>
              </a:spcBef>
              <a:defRPr/>
            </a:pPr>
            <a:endParaRPr lang="en-US" sz="100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a:p>
            <a:pPr marL="171450" lvl="0" indent="-171450" algn="l" eaLnBrk="0" hangingPunct="0">
              <a:lnSpc>
                <a:spcPct val="100000"/>
              </a:lnSpc>
              <a:spcBef>
                <a:spcPct val="0"/>
              </a:spcBef>
              <a:buFont typeface="Arial" panose="020B0604020202020204" pitchFamily="34" charset="0"/>
              <a:buChar char="•"/>
              <a:defRPr/>
            </a:pPr>
            <a:r>
              <a:rPr lang="en-US" sz="1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Upgrade Team Capability and Performance: </a:t>
            </a:r>
            <a:r>
              <a:rPr lang="en-US" sz="100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Strengthen the Risk team by upgrading critical roles, developing high-potential talent, and driving accountability through clear scorecards.</a:t>
            </a:r>
          </a:p>
          <a:p>
            <a:pPr marL="171450" lvl="0" indent="-171450" algn="l" eaLnBrk="0" hangingPunct="0">
              <a:lnSpc>
                <a:spcPct val="100000"/>
              </a:lnSpc>
              <a:spcBef>
                <a:spcPct val="0"/>
              </a:spcBef>
              <a:buFont typeface="Arial" panose="020B0604020202020204" pitchFamily="34" charset="0"/>
              <a:buChar char="•"/>
              <a:defRPr/>
            </a:pPr>
            <a:endParaRPr lang="en-US" sz="100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a:p>
            <a:pPr marL="171450" lvl="0" indent="-171450" algn="l" eaLnBrk="0" hangingPunct="0">
              <a:lnSpc>
                <a:spcPct val="100000"/>
              </a:lnSpc>
              <a:spcBef>
                <a:spcPct val="0"/>
              </a:spcBef>
              <a:buFont typeface="Arial" panose="020B0604020202020204" pitchFamily="34" charset="0"/>
              <a:buChar char="•"/>
              <a:defRPr/>
            </a:pPr>
            <a:r>
              <a:rPr lang="en-US" sz="1000" b="1">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Strengthen Peer and Executive Relationships:  </a:t>
            </a:r>
            <a:r>
              <a:rPr lang="en-US" sz="100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Rebuild trust and alignment through pre-meeting dialogues, collaborative problem-solving, and active feedback from peers.</a:t>
            </a:r>
          </a:p>
        </p:txBody>
      </p:sp>
      <p:sp>
        <p:nvSpPr>
          <p:cNvPr id="2" name="Oval 1">
            <a:extLst>
              <a:ext uri="{FF2B5EF4-FFF2-40B4-BE49-F238E27FC236}">
                <a16:creationId xmlns:a16="http://schemas.microsoft.com/office/drawing/2014/main" id="{CD09978A-ED1F-9FFD-616D-E1FC01F13685}"/>
              </a:ext>
            </a:extLst>
          </p:cNvPr>
          <p:cNvSpPr/>
          <p:nvPr/>
        </p:nvSpPr>
        <p:spPr>
          <a:xfrm>
            <a:off x="518147" y="1593192"/>
            <a:ext cx="912772" cy="899677"/>
          </a:xfrm>
          <a:prstGeom prst="ellipse">
            <a:avLst/>
          </a:prstGeom>
          <a:solidFill>
            <a:srgbClr val="001E5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Helvetica Neue" panose="02000503000000020004" pitchFamily="2" charset="0"/>
                <a:ea typeface="Helvetica Neue" panose="02000503000000020004" pitchFamily="2" charset="0"/>
                <a:cs typeface="Helvetica Neue" panose="02000503000000020004" pitchFamily="2" charset="0"/>
              </a:rPr>
              <a:t>Dan</a:t>
            </a:r>
          </a:p>
        </p:txBody>
      </p:sp>
      <p:sp>
        <p:nvSpPr>
          <p:cNvPr id="3" name="Oval 2">
            <a:extLst>
              <a:ext uri="{FF2B5EF4-FFF2-40B4-BE49-F238E27FC236}">
                <a16:creationId xmlns:a16="http://schemas.microsoft.com/office/drawing/2014/main" id="{D7160864-7407-E57D-FA44-EBDDDD8CFE73}"/>
              </a:ext>
            </a:extLst>
          </p:cNvPr>
          <p:cNvSpPr/>
          <p:nvPr/>
        </p:nvSpPr>
        <p:spPr>
          <a:xfrm>
            <a:off x="536408" y="4229509"/>
            <a:ext cx="912772" cy="899677"/>
          </a:xfrm>
          <a:prstGeom prst="ellipse">
            <a:avLst/>
          </a:prstGeom>
          <a:solidFill>
            <a:srgbClr val="001E5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Helvetica Neue" panose="02000503000000020004" pitchFamily="2" charset="0"/>
                <a:ea typeface="Helvetica Neue" panose="02000503000000020004" pitchFamily="2" charset="0"/>
                <a:cs typeface="Helvetica Neue" panose="02000503000000020004" pitchFamily="2" charset="0"/>
              </a:rPr>
              <a:t>Ludovic</a:t>
            </a:r>
          </a:p>
        </p:txBody>
      </p:sp>
      <p:sp>
        <p:nvSpPr>
          <p:cNvPr id="4" name="Subtitle 2">
            <a:extLst>
              <a:ext uri="{FF2B5EF4-FFF2-40B4-BE49-F238E27FC236}">
                <a16:creationId xmlns:a16="http://schemas.microsoft.com/office/drawing/2014/main" id="{F15A38ED-DF26-62D2-1DE0-93A109489955}"/>
              </a:ext>
            </a:extLst>
          </p:cNvPr>
          <p:cNvSpPr txBox="1">
            <a:spLocks/>
          </p:cNvSpPr>
          <p:nvPr/>
        </p:nvSpPr>
        <p:spPr>
          <a:xfrm flipH="1">
            <a:off x="368118" y="2792045"/>
            <a:ext cx="1212830" cy="140530"/>
          </a:xfrm>
          <a:prstGeom prst="rect">
            <a:avLst/>
          </a:prstGeom>
        </p:spPr>
        <p:txBody>
          <a:bodyPr vert="horz" lIns="0" tIns="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defTabSz="914400" rtl="0" eaLnBrk="1" fontAlgn="auto" latinLnBrk="0" hangingPunct="1">
              <a:lnSpc>
                <a:spcPts val="1200"/>
              </a:lnSpc>
              <a:spcBef>
                <a:spcPts val="0"/>
              </a:spcBef>
              <a:spcAft>
                <a:spcPts val="600"/>
              </a:spcAft>
              <a:buClrTx/>
              <a:buSzTx/>
              <a:buFont typeface="Arial" panose="020B0604020202020204" pitchFamily="34" charset="0"/>
              <a:buNone/>
              <a:tabLst/>
              <a:defRPr/>
            </a:pPr>
            <a:r>
              <a:rPr lang="en-US" sz="1200" b="1">
                <a:solidFill>
                  <a:schemeClr val="tx1">
                    <a:lumMod val="65000"/>
                    <a:lumOff val="35000"/>
                  </a:schemeClr>
                </a:solidFill>
                <a:latin typeface="Helvetica Neue" panose="02000503000000020004" pitchFamily="2" charset="0"/>
                <a:ea typeface="Helvetica Neue" panose="02000503000000020004" pitchFamily="2" charset="0"/>
                <a:cs typeface="Helvetica Neue" panose="02000503000000020004" pitchFamily="2" charset="0"/>
              </a:rPr>
              <a:t>SLIDES  28-32</a:t>
            </a:r>
            <a:endParaRPr kumimoji="0" lang="en-US" sz="1200" b="1" i="0" u="none" strike="noStrike" kern="1200" cap="none" spc="0" normalizeH="0" baseline="0" noProof="0">
              <a:ln>
                <a:noFill/>
              </a:ln>
              <a:solidFill>
                <a:schemeClr val="tx1">
                  <a:lumMod val="65000"/>
                  <a:lumOff val="35000"/>
                </a:scheme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5" name="Subtitle 2">
            <a:extLst>
              <a:ext uri="{FF2B5EF4-FFF2-40B4-BE49-F238E27FC236}">
                <a16:creationId xmlns:a16="http://schemas.microsoft.com/office/drawing/2014/main" id="{1141899E-15A6-500B-1642-9FBA9FD666E6}"/>
              </a:ext>
            </a:extLst>
          </p:cNvPr>
          <p:cNvSpPr txBox="1">
            <a:spLocks/>
          </p:cNvSpPr>
          <p:nvPr/>
        </p:nvSpPr>
        <p:spPr>
          <a:xfrm flipH="1">
            <a:off x="455736" y="5507796"/>
            <a:ext cx="1212830" cy="140530"/>
          </a:xfrm>
          <a:prstGeom prst="rect">
            <a:avLst/>
          </a:prstGeom>
        </p:spPr>
        <p:txBody>
          <a:bodyPr vert="horz" lIns="0" tIns="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defTabSz="914400" rtl="0" eaLnBrk="1" fontAlgn="auto" latinLnBrk="0" hangingPunct="1">
              <a:lnSpc>
                <a:spcPts val="1200"/>
              </a:lnSpc>
              <a:spcBef>
                <a:spcPts val="0"/>
              </a:spcBef>
              <a:spcAft>
                <a:spcPts val="600"/>
              </a:spcAft>
              <a:buClrTx/>
              <a:buSzTx/>
              <a:buFont typeface="Arial" panose="020B0604020202020204" pitchFamily="34" charset="0"/>
              <a:buNone/>
              <a:tabLst/>
              <a:defRPr/>
            </a:pPr>
            <a:r>
              <a:rPr lang="en-US" sz="1200" b="1">
                <a:solidFill>
                  <a:schemeClr val="tx1">
                    <a:lumMod val="65000"/>
                    <a:lumOff val="35000"/>
                  </a:schemeClr>
                </a:solidFill>
                <a:latin typeface="Helvetica Neue" panose="02000503000000020004" pitchFamily="2" charset="0"/>
                <a:ea typeface="Helvetica Neue" panose="02000503000000020004" pitchFamily="2" charset="0"/>
                <a:cs typeface="Helvetica Neue" panose="02000503000000020004" pitchFamily="2" charset="0"/>
              </a:rPr>
              <a:t>SLIDES 33-38</a:t>
            </a:r>
            <a:endParaRPr kumimoji="0" lang="en-US" sz="1200" b="1" i="0" u="none" strike="noStrike" kern="1200" cap="none" spc="0" normalizeH="0" baseline="0" noProof="0">
              <a:ln>
                <a:noFill/>
              </a:ln>
              <a:solidFill>
                <a:schemeClr val="tx1">
                  <a:lumMod val="65000"/>
                  <a:lumOff val="35000"/>
                </a:scheme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Tree>
    <p:extLst>
      <p:ext uri="{BB962C8B-B14F-4D97-AF65-F5344CB8AC3E}">
        <p14:creationId xmlns:p14="http://schemas.microsoft.com/office/powerpoint/2010/main" val="4118707785"/>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3CA29A72-AB15-96F1-A05B-E7A81A83B209}"/>
            </a:ext>
          </a:extLst>
        </p:cNvPr>
        <p:cNvGrpSpPr/>
        <p:nvPr/>
      </p:nvGrpSpPr>
      <p:grpSpPr>
        <a:xfrm>
          <a:off x="0" y="0"/>
          <a:ext cx="0" cy="0"/>
          <a:chOff x="0" y="0"/>
          <a:chExt cx="0" cy="0"/>
        </a:xfrm>
      </p:grpSpPr>
      <p:sp>
        <p:nvSpPr>
          <p:cNvPr id="21507" name="Text Placeholder 1">
            <a:extLst>
              <a:ext uri="{FF2B5EF4-FFF2-40B4-BE49-F238E27FC236}">
                <a16:creationId xmlns:a16="http://schemas.microsoft.com/office/drawing/2014/main" id="{52136DBA-6034-E9E4-0C78-D6BEA84E6DFB}"/>
              </a:ext>
            </a:extLst>
          </p:cNvPr>
          <p:cNvSpPr>
            <a:spLocks noGrp="1" noChangeArrowheads="1"/>
          </p:cNvSpPr>
          <p:nvPr>
            <p:ph type="body" idx="1"/>
          </p:nvPr>
        </p:nvSpPr>
        <p:spPr bwMode="auto">
          <a:xfrm>
            <a:off x="727075" y="374650"/>
            <a:ext cx="7559675" cy="334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marL="0" indent="0">
              <a:spcBef>
                <a:spcPct val="0"/>
              </a:spcBef>
              <a:spcAft>
                <a:spcPct val="0"/>
              </a:spcAft>
              <a:buClr>
                <a:srgbClr val="000000"/>
              </a:buClr>
              <a:buSzPts val="2400"/>
              <a:buFont typeface="Arial" panose="020B0604020202020204" pitchFamily="34" charset="0"/>
              <a:buNone/>
            </a:pPr>
            <a:r>
              <a:rPr lang="en-US" altLang="en-US" sz="2000">
                <a:solidFill>
                  <a:srgbClr val="002060"/>
                </a:solidFill>
                <a:latin typeface="Arial"/>
                <a:cs typeface="Arial"/>
                <a:sym typeface="Helvetica Neue Light" panose="02000403000000020004" pitchFamily="2" charset="0"/>
              </a:rPr>
              <a:t>C-SUITE ENABLING SUCCESS PLAN OVERVIEW (2/3)</a:t>
            </a:r>
          </a:p>
        </p:txBody>
      </p:sp>
      <p:sp>
        <p:nvSpPr>
          <p:cNvPr id="21508" name="Slide Number Placeholder 2">
            <a:extLst>
              <a:ext uri="{FF2B5EF4-FFF2-40B4-BE49-F238E27FC236}">
                <a16:creationId xmlns:a16="http://schemas.microsoft.com/office/drawing/2014/main" id="{FD698619-684B-2AD7-CD1C-B6F9E47B5BA7}"/>
              </a:ext>
            </a:extLst>
          </p:cNvPr>
          <p:cNvSpPr>
            <a:spLocks noGrp="1" noChangeArrowheads="1"/>
          </p:cNvSpPr>
          <p:nvPr>
            <p:ph type="sldNum" sz="quarter" idx="10"/>
          </p:nvPr>
        </p:nvSpPr>
        <p:spPr>
          <a:xfrm>
            <a:off x="0" y="238125"/>
            <a:ext cx="557213" cy="557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94E6AC2-D12E-1843-971E-E4F9DE4AA8B8}"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19</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3" name="Subtitle 2">
            <a:extLst>
              <a:ext uri="{FF2B5EF4-FFF2-40B4-BE49-F238E27FC236}">
                <a16:creationId xmlns:a16="http://schemas.microsoft.com/office/drawing/2014/main" id="{C9C205F5-A82F-33C6-F64A-ECCA449CD873}"/>
              </a:ext>
            </a:extLst>
          </p:cNvPr>
          <p:cNvSpPr txBox="1">
            <a:spLocks/>
          </p:cNvSpPr>
          <p:nvPr/>
        </p:nvSpPr>
        <p:spPr>
          <a:xfrm flipH="1">
            <a:off x="1828800" y="993882"/>
            <a:ext cx="978011" cy="152707"/>
          </a:xfrm>
          <a:prstGeom prst="rect">
            <a:avLst/>
          </a:prstGeom>
        </p:spPr>
        <p:txBody>
          <a:bodyPr vert="horz" lIns="0" tIns="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ts val="1200"/>
              </a:lnSpc>
              <a:spcBef>
                <a:spcPts val="0"/>
              </a:spcBef>
              <a:spcAft>
                <a:spcPts val="6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SUMMARY</a:t>
            </a:r>
          </a:p>
        </p:txBody>
      </p:sp>
      <p:sp>
        <p:nvSpPr>
          <p:cNvPr id="4" name="Subtitle 2">
            <a:extLst>
              <a:ext uri="{FF2B5EF4-FFF2-40B4-BE49-F238E27FC236}">
                <a16:creationId xmlns:a16="http://schemas.microsoft.com/office/drawing/2014/main" id="{599F1CC4-F27B-1000-3E25-B9804CF0972A}"/>
              </a:ext>
            </a:extLst>
          </p:cNvPr>
          <p:cNvSpPr txBox="1">
            <a:spLocks/>
          </p:cNvSpPr>
          <p:nvPr/>
        </p:nvSpPr>
        <p:spPr>
          <a:xfrm flipH="1">
            <a:off x="6464807" y="993882"/>
            <a:ext cx="2871697" cy="137109"/>
          </a:xfrm>
          <a:prstGeom prst="rect">
            <a:avLst/>
          </a:prstGeom>
        </p:spPr>
        <p:txBody>
          <a:bodyPr vert="horz" lIns="0" tIns="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ts val="1200"/>
              </a:lnSpc>
              <a:spcBef>
                <a:spcPts val="0"/>
              </a:spcBef>
              <a:spcAft>
                <a:spcPts val="6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ENABLING SUCCESS PLAN</a:t>
            </a:r>
          </a:p>
        </p:txBody>
      </p:sp>
      <p:sp>
        <p:nvSpPr>
          <p:cNvPr id="5" name="Subtitle 2">
            <a:extLst>
              <a:ext uri="{FF2B5EF4-FFF2-40B4-BE49-F238E27FC236}">
                <a16:creationId xmlns:a16="http://schemas.microsoft.com/office/drawing/2014/main" id="{E40454C9-56DC-2660-65DA-941B81FDD240}"/>
              </a:ext>
            </a:extLst>
          </p:cNvPr>
          <p:cNvSpPr txBox="1">
            <a:spLocks/>
          </p:cNvSpPr>
          <p:nvPr/>
        </p:nvSpPr>
        <p:spPr>
          <a:xfrm flipH="1">
            <a:off x="1835552" y="1239760"/>
            <a:ext cx="4385147" cy="1169565"/>
          </a:xfrm>
          <a:prstGeom prst="rect">
            <a:avLst/>
          </a:prstGeom>
        </p:spPr>
        <p:txBody>
          <a:bodyPr vert="horz" lIns="0" tIns="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00330" marR="0" lvl="0" indent="-10033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Adeel’s strengths lie in operational management. He is pragmatic, reliable, and able to create a clear and stable environment for his department, especially the front office. His leadership is credited with retaining experienced team members over many years.</a:t>
            </a:r>
          </a:p>
          <a:p>
            <a:pPr marL="100330" marR="0" lvl="0" indent="-10033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Development areas for Adeel include enhancing cross-functional collaboration, proactively communicating strategy, and moving beyond skepticism or guardedness to champion positive, solution-oriented integration. </a:t>
            </a:r>
            <a:endParaRPr lang="en-US" sz="1000" b="0" i="0" u="none" strike="noStrike" kern="1200" cap="none" spc="0" normalizeH="0" baseline="0" noProof="0">
              <a:ln>
                <a:noFill/>
              </a:ln>
              <a:solidFill>
                <a:prstClr val="black"/>
              </a:solidFill>
              <a:effectLst/>
              <a:uLnTx/>
              <a:uFillTx/>
              <a:latin typeface="Helvetica Neue"/>
              <a:ea typeface="Helvetica Neue" panose="02000503000000020004" pitchFamily="2" charset="0"/>
              <a:cs typeface="Helvetica Neue" panose="02000503000000020004" pitchFamily="2" charset="0"/>
            </a:endParaRPr>
          </a:p>
          <a:p>
            <a:pPr marL="100330" marR="0" lvl="0" indent="-10033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His Hogan profile suggests that, under stress, he can become overly skeptical, </a:t>
            </a:r>
            <a:r>
              <a:rPr lang="en-US" sz="1000">
                <a:solidFill>
                  <a:prstClr val="black"/>
                </a:solidFill>
                <a:latin typeface="Helvetica Neue"/>
                <a:ea typeface="Helvetica Neue" panose="02000503000000020004" pitchFamily="2" charset="0"/>
                <a:cs typeface="Helvetica Neue" panose="02000503000000020004" pitchFamily="2" charset="0"/>
              </a:rPr>
              <a:t>distant, and rigid. He might instinctively do things himself and may struggle with delegation</a:t>
            </a:r>
          </a:p>
        </p:txBody>
      </p:sp>
      <p:sp>
        <p:nvSpPr>
          <p:cNvPr id="6" name="Subtitle 2">
            <a:extLst>
              <a:ext uri="{FF2B5EF4-FFF2-40B4-BE49-F238E27FC236}">
                <a16:creationId xmlns:a16="http://schemas.microsoft.com/office/drawing/2014/main" id="{1D4E1E79-6EAE-8EFC-26EC-0F82F5962D03}"/>
              </a:ext>
            </a:extLst>
          </p:cNvPr>
          <p:cNvSpPr txBox="1">
            <a:spLocks/>
          </p:cNvSpPr>
          <p:nvPr/>
        </p:nvSpPr>
        <p:spPr>
          <a:xfrm flipH="1">
            <a:off x="6464807" y="1321517"/>
            <a:ext cx="5270744" cy="1553193"/>
          </a:xfrm>
          <a:prstGeom prst="rect">
            <a:avLst/>
          </a:prstGeom>
        </p:spPr>
        <p:txBody>
          <a:bodyPr vert="horz" lIns="0" tIns="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00800" marR="0" lvl="0" indent="-1008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1"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Define and Communicate a Forward Agenda: </a:t>
            </a:r>
            <a:r>
              <a:rPr kumimoji="0" lang="en-US" sz="100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Set a clear front-office vision that connects current operational strength with future growth, centered on client expansion, digital enablement, and compliance excellence</a:t>
            </a:r>
            <a:endParaRPr kumimoji="0" lang="en-US" sz="1000" b="1"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00800" marR="0" lvl="0" indent="-1008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1"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Strengthen Cross-Functional Collaboration: </a:t>
            </a:r>
            <a:r>
              <a:rPr kumimoji="0" lang="en-US" sz="100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Establish a quarterly forum to align priorities, address bottlenecks early, and ensure new initiatives progress with both commercial speed and regulatory discipline.</a:t>
            </a:r>
          </a:p>
          <a:p>
            <a:pPr marL="100800" marR="0" lvl="0" indent="-1008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1"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Develop &amp; Retain the team </a:t>
            </a:r>
            <a:r>
              <a:rPr kumimoji="0" lang="en-US" sz="100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Empower critical members of the</a:t>
            </a:r>
            <a:r>
              <a:rPr lang="en-US" sz="100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 team </a:t>
            </a:r>
            <a:r>
              <a:rPr kumimoji="0" lang="en-US" sz="100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and invest in visible career paths to retain and grow top talent.</a:t>
            </a:r>
          </a:p>
        </p:txBody>
      </p:sp>
      <p:sp>
        <p:nvSpPr>
          <p:cNvPr id="11" name="Oval 10">
            <a:extLst>
              <a:ext uri="{FF2B5EF4-FFF2-40B4-BE49-F238E27FC236}">
                <a16:creationId xmlns:a16="http://schemas.microsoft.com/office/drawing/2014/main" id="{00C84D1F-2E69-FDE7-7400-DC1CACF99657}"/>
              </a:ext>
            </a:extLst>
          </p:cNvPr>
          <p:cNvSpPr/>
          <p:nvPr/>
        </p:nvSpPr>
        <p:spPr>
          <a:xfrm>
            <a:off x="518147" y="1593192"/>
            <a:ext cx="912772" cy="899677"/>
          </a:xfrm>
          <a:prstGeom prst="ellipse">
            <a:avLst/>
          </a:prstGeom>
          <a:solidFill>
            <a:srgbClr val="001E5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Helvetica Neue" panose="02000503000000020004" pitchFamily="2" charset="0"/>
                <a:ea typeface="Helvetica Neue" panose="02000503000000020004" pitchFamily="2" charset="0"/>
                <a:cs typeface="Helvetica Neue" panose="02000503000000020004" pitchFamily="2" charset="0"/>
              </a:rPr>
              <a:t>Adeel</a:t>
            </a:r>
          </a:p>
        </p:txBody>
      </p:sp>
      <p:cxnSp>
        <p:nvCxnSpPr>
          <p:cNvPr id="14" name="Straight Connector 13">
            <a:extLst>
              <a:ext uri="{FF2B5EF4-FFF2-40B4-BE49-F238E27FC236}">
                <a16:creationId xmlns:a16="http://schemas.microsoft.com/office/drawing/2014/main" id="{28BA023E-16BE-E5E7-9AC1-D2B710BA8242}"/>
              </a:ext>
            </a:extLst>
          </p:cNvPr>
          <p:cNvCxnSpPr/>
          <p:nvPr/>
        </p:nvCxnSpPr>
        <p:spPr>
          <a:xfrm>
            <a:off x="675125" y="3351144"/>
            <a:ext cx="11167924" cy="0"/>
          </a:xfrm>
          <a:prstGeom prst="line">
            <a:avLst/>
          </a:prstGeom>
          <a:ln w="952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9C53E369-79C5-1992-BCA8-BE2DD4001AB9}"/>
              </a:ext>
            </a:extLst>
          </p:cNvPr>
          <p:cNvCxnSpPr/>
          <p:nvPr/>
        </p:nvCxnSpPr>
        <p:spPr>
          <a:xfrm>
            <a:off x="636737" y="5593571"/>
            <a:ext cx="11167924" cy="0"/>
          </a:xfrm>
          <a:prstGeom prst="line">
            <a:avLst/>
          </a:prstGeom>
          <a:ln w="9525">
            <a:solidFill>
              <a:srgbClr val="C00000"/>
            </a:solidFill>
          </a:ln>
        </p:spPr>
        <p:style>
          <a:lnRef idx="2">
            <a:schemeClr val="accent1"/>
          </a:lnRef>
          <a:fillRef idx="0">
            <a:schemeClr val="accent1"/>
          </a:fillRef>
          <a:effectRef idx="1">
            <a:schemeClr val="accent1"/>
          </a:effectRef>
          <a:fontRef idx="minor">
            <a:schemeClr val="tx1"/>
          </a:fontRef>
        </p:style>
      </p:cxnSp>
      <p:sp>
        <p:nvSpPr>
          <p:cNvPr id="16" name="Subtitle 2">
            <a:extLst>
              <a:ext uri="{FF2B5EF4-FFF2-40B4-BE49-F238E27FC236}">
                <a16:creationId xmlns:a16="http://schemas.microsoft.com/office/drawing/2014/main" id="{2A5FC949-9517-093B-AD76-A8535ACAC47E}"/>
              </a:ext>
            </a:extLst>
          </p:cNvPr>
          <p:cNvSpPr txBox="1">
            <a:spLocks/>
          </p:cNvSpPr>
          <p:nvPr/>
        </p:nvSpPr>
        <p:spPr>
          <a:xfrm flipH="1">
            <a:off x="1749238" y="3716598"/>
            <a:ext cx="4385147" cy="1119616"/>
          </a:xfrm>
          <a:prstGeom prst="rect">
            <a:avLst/>
          </a:prstGeom>
        </p:spPr>
        <p:txBody>
          <a:bodyPr vert="horz" lIns="0" tIns="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indent="-171450" algn="l">
              <a:buFont typeface="Arial" panose="020B0604020202020204" pitchFamily="34" charset="0"/>
              <a:buChar char="•"/>
              <a:defRPr/>
            </a:pPr>
            <a:r>
              <a:rPr lang="en-US" sz="1000">
                <a:latin typeface="Helvetica Neue" panose="02000503000000020004" pitchFamily="2" charset="0"/>
                <a:ea typeface="Helvetica Neue" panose="02000503000000020004" pitchFamily="2" charset="0"/>
                <a:cs typeface="Helvetica Neue" panose="02000503000000020004" pitchFamily="2" charset="0"/>
              </a:rPr>
              <a:t>Vimal’s strengths are his disciplined, process-driven approach and his reputation as a highly dependable “workhorse” who delivers stability and structure, especially during periods of major operational change. He is extremely ambitious and thrives in visible environments. </a:t>
            </a:r>
            <a:endParaRPr lang="en-US" sz="1000">
              <a:highlight>
                <a:srgbClr val="FFFF00"/>
              </a:highlight>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lgn="l">
              <a:buFont typeface="Arial" panose="020B0604020202020204" pitchFamily="34" charset="0"/>
              <a:buChar char="•"/>
              <a:defRPr/>
            </a:pPr>
            <a:r>
              <a:rPr lang="en-US" sz="1000">
                <a:latin typeface="Helvetica Neue" panose="02000503000000020004" pitchFamily="2" charset="0"/>
                <a:ea typeface="Helvetica Neue" panose="02000503000000020004" pitchFamily="2" charset="0"/>
                <a:cs typeface="Helvetica Neue" panose="02000503000000020004" pitchFamily="2" charset="0"/>
              </a:rPr>
              <a:t>Development areas include challenging legacy practices within his team and building trust and openness to further boost collaboration and adaptability. </a:t>
            </a:r>
          </a:p>
          <a:p>
            <a:pPr marL="171450" indent="-171450" algn="l">
              <a:buFont typeface="Arial" panose="020B0604020202020204" pitchFamily="34" charset="0"/>
              <a:buChar char="•"/>
              <a:defRPr/>
            </a:pPr>
            <a:r>
              <a:rPr lang="en-US" sz="1000">
                <a:latin typeface="Helvetica Neue" panose="02000503000000020004" pitchFamily="2" charset="0"/>
                <a:ea typeface="Helvetica Neue" panose="02000503000000020004" pitchFamily="2" charset="0"/>
                <a:cs typeface="Helvetica Neue" panose="02000503000000020004" pitchFamily="2" charset="0"/>
              </a:rPr>
              <a:t>At times, efforts to increase influence can appear self-focused, unintentionally limiting trust.</a:t>
            </a:r>
          </a:p>
          <a:p>
            <a:pPr marL="171450" indent="-171450" algn="l">
              <a:buFont typeface="Arial" panose="020B0604020202020204" pitchFamily="34" charset="0"/>
              <a:buChar char="•"/>
              <a:defRPr/>
            </a:pPr>
            <a:endParaRPr lang="en-US" sz="100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7" name="Subtitle 2">
            <a:extLst>
              <a:ext uri="{FF2B5EF4-FFF2-40B4-BE49-F238E27FC236}">
                <a16:creationId xmlns:a16="http://schemas.microsoft.com/office/drawing/2014/main" id="{3ACE7B53-9708-2AC3-7D8E-0BBBE8B30670}"/>
              </a:ext>
            </a:extLst>
          </p:cNvPr>
          <p:cNvSpPr txBox="1">
            <a:spLocks/>
          </p:cNvSpPr>
          <p:nvPr/>
        </p:nvSpPr>
        <p:spPr>
          <a:xfrm flipH="1">
            <a:off x="6384848" y="3704604"/>
            <a:ext cx="5270744" cy="1111566"/>
          </a:xfrm>
          <a:prstGeom prst="rect">
            <a:avLst/>
          </a:prstGeom>
        </p:spPr>
        <p:txBody>
          <a:bodyPr vert="horz" lIns="0" tIns="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lvl="0" indent="-171450" algn="l" eaLnBrk="0" hangingPunct="0">
              <a:lnSpc>
                <a:spcPct val="100000"/>
              </a:lnSpc>
              <a:spcBef>
                <a:spcPct val="0"/>
              </a:spcBef>
              <a:buFont typeface="Arial" panose="020B0604020202020204" pitchFamily="34" charset="0"/>
              <a:buChar char="•"/>
              <a:defRPr/>
            </a:pPr>
            <a:r>
              <a:rPr lang="en-US" sz="1000" b="1">
                <a:solidFill>
                  <a:srgbClr val="000000"/>
                </a:solidFill>
                <a:latin typeface="Helvetica Neue"/>
                <a:ea typeface="Helvetica Neue" panose="02000503000000020004" pitchFamily="2" charset="0"/>
                <a:cs typeface="Helvetica Neue" panose="02000503000000020004" pitchFamily="2" charset="0"/>
              </a:rPr>
              <a:t>Position Operations as a Growth Enabler: </a:t>
            </a:r>
            <a:r>
              <a:rPr lang="en-US" sz="1000">
                <a:solidFill>
                  <a:srgbClr val="000000"/>
                </a:solidFill>
                <a:latin typeface="Helvetica Neue"/>
                <a:ea typeface="Helvetica Neue" panose="02000503000000020004" pitchFamily="2" charset="0"/>
                <a:cs typeface="Helvetica Neue" panose="02000503000000020004" pitchFamily="2" charset="0"/>
              </a:rPr>
              <a:t>Modernize core processes and embed digital tools to drive speed, efficiency, and continuous improvement across the business.</a:t>
            </a:r>
          </a:p>
          <a:p>
            <a:pPr marL="171450" lvl="0" indent="-171450" algn="l" eaLnBrk="0" hangingPunct="0">
              <a:lnSpc>
                <a:spcPct val="100000"/>
              </a:lnSpc>
              <a:spcBef>
                <a:spcPct val="0"/>
              </a:spcBef>
              <a:buFont typeface="Arial" panose="020B0604020202020204" pitchFamily="34" charset="0"/>
              <a:buChar char="•"/>
              <a:defRPr/>
            </a:pPr>
            <a:endParaRPr lang="en-US" sz="100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a:p>
            <a:pPr marL="171450" lvl="0" indent="-171450" algn="l" eaLnBrk="0" hangingPunct="0">
              <a:lnSpc>
                <a:spcPct val="100000"/>
              </a:lnSpc>
              <a:spcBef>
                <a:spcPct val="0"/>
              </a:spcBef>
              <a:buFont typeface="Arial" panose="020B0604020202020204" pitchFamily="34" charset="0"/>
              <a:buChar char="•"/>
              <a:defRPr/>
            </a:pPr>
            <a:r>
              <a:rPr lang="en-US" sz="1000" b="1">
                <a:solidFill>
                  <a:srgbClr val="000000"/>
                </a:solidFill>
                <a:latin typeface="Helvetica Neue"/>
                <a:ea typeface="Helvetica Neue" panose="02000503000000020004" pitchFamily="2" charset="0"/>
                <a:cs typeface="Helvetica Neue" panose="02000503000000020004" pitchFamily="2" charset="0"/>
              </a:rPr>
              <a:t>Shape a High-Performing, Future-Ready Team: </a:t>
            </a:r>
            <a:r>
              <a:rPr lang="en-US" sz="1000">
                <a:solidFill>
                  <a:srgbClr val="000000"/>
                </a:solidFill>
                <a:latin typeface="Helvetica Neue"/>
                <a:ea typeface="Helvetica Neue" panose="02000503000000020004" pitchFamily="2" charset="0"/>
                <a:cs typeface="Helvetica Neue" panose="02000503000000020004" pitchFamily="2" charset="0"/>
              </a:rPr>
              <a:t>Focus on critical roles, address underperformance with fairness, and develop next-generation leaders through targeted upskilling and visible career paths.</a:t>
            </a:r>
          </a:p>
          <a:p>
            <a:pPr marL="171450" lvl="0" indent="-171450" algn="l" eaLnBrk="0" hangingPunct="0">
              <a:lnSpc>
                <a:spcPct val="100000"/>
              </a:lnSpc>
              <a:spcBef>
                <a:spcPct val="0"/>
              </a:spcBef>
              <a:buFont typeface="Arial" panose="020B0604020202020204" pitchFamily="34" charset="0"/>
              <a:buChar char="•"/>
              <a:defRPr/>
            </a:pPr>
            <a:endParaRPr lang="en-US" sz="100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lgn="l" eaLnBrk="0" hangingPunct="0">
              <a:lnSpc>
                <a:spcPct val="100000"/>
              </a:lnSpc>
              <a:spcBef>
                <a:spcPct val="0"/>
              </a:spcBef>
              <a:buFont typeface="Arial" panose="020B0604020202020204" pitchFamily="34" charset="0"/>
              <a:buChar char="•"/>
              <a:defRPr/>
            </a:pPr>
            <a:r>
              <a:rPr lang="en-US" sz="1000" b="1">
                <a:solidFill>
                  <a:srgbClr val="000000"/>
                </a:solidFill>
                <a:latin typeface="Helvetica Neue"/>
                <a:ea typeface="Helvetica Neue" panose="02000503000000020004" pitchFamily="2" charset="0"/>
                <a:cs typeface="Helvetica Neue" panose="02000503000000020004" pitchFamily="2" charset="0"/>
              </a:rPr>
              <a:t>Lead Through Connection and Composure</a:t>
            </a:r>
            <a:r>
              <a:rPr lang="en-US" sz="1000">
                <a:solidFill>
                  <a:srgbClr val="000000"/>
                </a:solidFill>
                <a:latin typeface="Helvetica Neue"/>
                <a:ea typeface="Helvetica Neue" panose="02000503000000020004" pitchFamily="2" charset="0"/>
                <a:cs typeface="Helvetica Neue" panose="02000503000000020004" pitchFamily="2" charset="0"/>
              </a:rPr>
              <a:t>: Show up as a collaborative partner with peers and an empowering leader with the team — fostering trust, transparency, and shared momentum across the organization.</a:t>
            </a:r>
          </a:p>
          <a:p>
            <a:pPr marL="171450" lvl="0" indent="-171450" algn="l" eaLnBrk="0" hangingPunct="0">
              <a:lnSpc>
                <a:spcPct val="100000"/>
              </a:lnSpc>
              <a:spcBef>
                <a:spcPct val="0"/>
              </a:spcBef>
              <a:buFont typeface="Arial" panose="020B0604020202020204" pitchFamily="34" charset="0"/>
              <a:buChar char="•"/>
              <a:defRPr/>
            </a:pPr>
            <a:endParaRPr lang="en-US" sz="100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8" name="Oval 17">
            <a:extLst>
              <a:ext uri="{FF2B5EF4-FFF2-40B4-BE49-F238E27FC236}">
                <a16:creationId xmlns:a16="http://schemas.microsoft.com/office/drawing/2014/main" id="{034D17A0-2923-01F9-FE99-F0C8E855293A}"/>
              </a:ext>
            </a:extLst>
          </p:cNvPr>
          <p:cNvSpPr/>
          <p:nvPr/>
        </p:nvSpPr>
        <p:spPr>
          <a:xfrm>
            <a:off x="518147" y="4068339"/>
            <a:ext cx="912772" cy="899677"/>
          </a:xfrm>
          <a:prstGeom prst="ellipse">
            <a:avLst/>
          </a:prstGeom>
          <a:solidFill>
            <a:srgbClr val="001E5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Helvetica Neue" panose="02000503000000020004" pitchFamily="2" charset="0"/>
                <a:ea typeface="Helvetica Neue" panose="02000503000000020004" pitchFamily="2" charset="0"/>
                <a:cs typeface="Helvetica Neue" panose="02000503000000020004" pitchFamily="2" charset="0"/>
              </a:rPr>
              <a:t>Vimal</a:t>
            </a:r>
          </a:p>
        </p:txBody>
      </p:sp>
      <p:sp>
        <p:nvSpPr>
          <p:cNvPr id="2" name="Subtitle 2">
            <a:extLst>
              <a:ext uri="{FF2B5EF4-FFF2-40B4-BE49-F238E27FC236}">
                <a16:creationId xmlns:a16="http://schemas.microsoft.com/office/drawing/2014/main" id="{56C99CBB-AFB3-BCD4-2322-8802632B9CF8}"/>
              </a:ext>
            </a:extLst>
          </p:cNvPr>
          <p:cNvSpPr txBox="1">
            <a:spLocks/>
          </p:cNvSpPr>
          <p:nvPr/>
        </p:nvSpPr>
        <p:spPr>
          <a:xfrm flipH="1">
            <a:off x="368118" y="2792045"/>
            <a:ext cx="1212830" cy="140530"/>
          </a:xfrm>
          <a:prstGeom prst="rect">
            <a:avLst/>
          </a:prstGeom>
        </p:spPr>
        <p:txBody>
          <a:bodyPr vert="horz" lIns="0" tIns="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defTabSz="914400" rtl="0" eaLnBrk="1" fontAlgn="auto" latinLnBrk="0" hangingPunct="1">
              <a:lnSpc>
                <a:spcPts val="1200"/>
              </a:lnSpc>
              <a:spcBef>
                <a:spcPts val="0"/>
              </a:spcBef>
              <a:spcAft>
                <a:spcPts val="600"/>
              </a:spcAft>
              <a:buClrTx/>
              <a:buSzTx/>
              <a:buFont typeface="Arial" panose="020B0604020202020204" pitchFamily="34" charset="0"/>
              <a:buNone/>
              <a:tabLst/>
              <a:defRPr/>
            </a:pPr>
            <a:r>
              <a:rPr lang="en-US" sz="1200" b="1">
                <a:solidFill>
                  <a:schemeClr val="tx1">
                    <a:lumMod val="65000"/>
                    <a:lumOff val="35000"/>
                  </a:schemeClr>
                </a:solidFill>
                <a:latin typeface="Helvetica Neue" panose="02000503000000020004" pitchFamily="2" charset="0"/>
                <a:ea typeface="Helvetica Neue" panose="02000503000000020004" pitchFamily="2" charset="0"/>
                <a:cs typeface="Helvetica Neue" panose="02000503000000020004" pitchFamily="2" charset="0"/>
              </a:rPr>
              <a:t>SLIDES 38-42</a:t>
            </a:r>
            <a:endParaRPr kumimoji="0" lang="en-US" sz="1200" b="1" i="0" u="none" strike="noStrike" kern="1200" cap="none" spc="0" normalizeH="0" baseline="0" noProof="0">
              <a:ln>
                <a:noFill/>
              </a:ln>
              <a:solidFill>
                <a:schemeClr val="tx1">
                  <a:lumMod val="65000"/>
                  <a:lumOff val="35000"/>
                </a:scheme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7" name="Subtitle 2">
            <a:extLst>
              <a:ext uri="{FF2B5EF4-FFF2-40B4-BE49-F238E27FC236}">
                <a16:creationId xmlns:a16="http://schemas.microsoft.com/office/drawing/2014/main" id="{C15C8C95-5E0B-05A4-CFD8-09762A4362CF}"/>
              </a:ext>
            </a:extLst>
          </p:cNvPr>
          <p:cNvSpPr txBox="1">
            <a:spLocks/>
          </p:cNvSpPr>
          <p:nvPr/>
        </p:nvSpPr>
        <p:spPr>
          <a:xfrm flipH="1">
            <a:off x="480947" y="5210528"/>
            <a:ext cx="1212830" cy="140530"/>
          </a:xfrm>
          <a:prstGeom prst="rect">
            <a:avLst/>
          </a:prstGeom>
        </p:spPr>
        <p:txBody>
          <a:bodyPr vert="horz" lIns="0" tIns="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defTabSz="914400" rtl="0" eaLnBrk="1" fontAlgn="auto" latinLnBrk="0" hangingPunct="1">
              <a:lnSpc>
                <a:spcPts val="1200"/>
              </a:lnSpc>
              <a:spcBef>
                <a:spcPts val="0"/>
              </a:spcBef>
              <a:spcAft>
                <a:spcPts val="600"/>
              </a:spcAft>
              <a:buClrTx/>
              <a:buSzTx/>
              <a:buFont typeface="Arial" panose="020B0604020202020204" pitchFamily="34" charset="0"/>
              <a:buNone/>
              <a:tabLst/>
              <a:defRPr/>
            </a:pPr>
            <a:r>
              <a:rPr lang="en-US" sz="1200" b="1">
                <a:solidFill>
                  <a:schemeClr val="tx1">
                    <a:lumMod val="65000"/>
                    <a:lumOff val="35000"/>
                  </a:schemeClr>
                </a:solidFill>
                <a:latin typeface="Helvetica Neue" panose="02000503000000020004" pitchFamily="2" charset="0"/>
                <a:ea typeface="Helvetica Neue" panose="02000503000000020004" pitchFamily="2" charset="0"/>
                <a:cs typeface="Helvetica Neue" panose="02000503000000020004" pitchFamily="2" charset="0"/>
              </a:rPr>
              <a:t>SLIDES 43-47</a:t>
            </a:r>
            <a:endParaRPr kumimoji="0" lang="en-US" sz="1200" b="1" i="0" u="none" strike="noStrike" kern="1200" cap="none" spc="0" normalizeH="0" baseline="0" noProof="0">
              <a:ln>
                <a:noFill/>
              </a:ln>
              <a:solidFill>
                <a:schemeClr val="tx1">
                  <a:lumMod val="65000"/>
                  <a:lumOff val="35000"/>
                </a:scheme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Tree>
    <p:extLst>
      <p:ext uri="{BB962C8B-B14F-4D97-AF65-F5344CB8AC3E}">
        <p14:creationId xmlns:p14="http://schemas.microsoft.com/office/powerpoint/2010/main" val="40202532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49E52C43-172A-91DF-AC72-572593EDD729}"/>
            </a:ext>
          </a:extLst>
        </p:cNvPr>
        <p:cNvGrpSpPr/>
        <p:nvPr/>
      </p:nvGrpSpPr>
      <p:grpSpPr>
        <a:xfrm>
          <a:off x="0" y="0"/>
          <a:ext cx="0" cy="0"/>
          <a:chOff x="0" y="0"/>
          <a:chExt cx="0" cy="0"/>
        </a:xfrm>
      </p:grpSpPr>
      <p:sp>
        <p:nvSpPr>
          <p:cNvPr id="21507" name="Text Placeholder 1">
            <a:extLst>
              <a:ext uri="{FF2B5EF4-FFF2-40B4-BE49-F238E27FC236}">
                <a16:creationId xmlns:a16="http://schemas.microsoft.com/office/drawing/2014/main" id="{7141D8BF-420E-F6CD-0497-5DBDCC61C28E}"/>
              </a:ext>
            </a:extLst>
          </p:cNvPr>
          <p:cNvSpPr>
            <a:spLocks noGrp="1" noChangeArrowheads="1"/>
          </p:cNvSpPr>
          <p:nvPr>
            <p:ph type="body" idx="1"/>
          </p:nvPr>
        </p:nvSpPr>
        <p:spPr bwMode="auto">
          <a:xfrm>
            <a:off x="727075" y="374650"/>
            <a:ext cx="7559675" cy="334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marL="0" indent="0">
              <a:spcBef>
                <a:spcPct val="0"/>
              </a:spcBef>
              <a:spcAft>
                <a:spcPct val="0"/>
              </a:spcAft>
              <a:buClr>
                <a:srgbClr val="000000"/>
              </a:buClr>
              <a:buSzPts val="2400"/>
              <a:buFont typeface="Arial" panose="020B0604020202020204" pitchFamily="34" charset="0"/>
              <a:buNone/>
            </a:pPr>
            <a:r>
              <a:rPr lang="en-US" altLang="en-US" sz="2000">
                <a:solidFill>
                  <a:srgbClr val="002060"/>
                </a:solidFill>
                <a:latin typeface="Arial"/>
                <a:cs typeface="Arial"/>
                <a:sym typeface="Helvetica Neue Light" panose="02000403000000020004" pitchFamily="2" charset="0"/>
              </a:rPr>
              <a:t>C-SUITE ENABLING SUCCESS PLAN OVERVIEW (3/3)</a:t>
            </a:r>
          </a:p>
        </p:txBody>
      </p:sp>
      <p:sp>
        <p:nvSpPr>
          <p:cNvPr id="21508" name="Slide Number Placeholder 2">
            <a:extLst>
              <a:ext uri="{FF2B5EF4-FFF2-40B4-BE49-F238E27FC236}">
                <a16:creationId xmlns:a16="http://schemas.microsoft.com/office/drawing/2014/main" id="{F8684786-51C2-72C0-D7B9-BE745B9B2919}"/>
              </a:ext>
            </a:extLst>
          </p:cNvPr>
          <p:cNvSpPr>
            <a:spLocks noGrp="1" noChangeArrowheads="1"/>
          </p:cNvSpPr>
          <p:nvPr>
            <p:ph type="sldNum" sz="quarter" idx="10"/>
          </p:nvPr>
        </p:nvSpPr>
        <p:spPr>
          <a:xfrm>
            <a:off x="0" y="238125"/>
            <a:ext cx="557213" cy="557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94E6AC2-D12E-1843-971E-E4F9DE4AA8B8}"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20</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cxnSp>
        <p:nvCxnSpPr>
          <p:cNvPr id="2" name="Straight Connector 1">
            <a:extLst>
              <a:ext uri="{FF2B5EF4-FFF2-40B4-BE49-F238E27FC236}">
                <a16:creationId xmlns:a16="http://schemas.microsoft.com/office/drawing/2014/main" id="{BD0F8AB1-5F3F-95EA-513F-690010D4E0D3}"/>
              </a:ext>
            </a:extLst>
          </p:cNvPr>
          <p:cNvCxnSpPr/>
          <p:nvPr/>
        </p:nvCxnSpPr>
        <p:spPr>
          <a:xfrm>
            <a:off x="636737" y="3946776"/>
            <a:ext cx="11167924" cy="0"/>
          </a:xfrm>
          <a:prstGeom prst="line">
            <a:avLst/>
          </a:prstGeom>
          <a:ln w="9525">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Subtitle 2">
            <a:extLst>
              <a:ext uri="{FF2B5EF4-FFF2-40B4-BE49-F238E27FC236}">
                <a16:creationId xmlns:a16="http://schemas.microsoft.com/office/drawing/2014/main" id="{99AAE0D5-15AD-0AA8-9183-46375DD98FF0}"/>
              </a:ext>
            </a:extLst>
          </p:cNvPr>
          <p:cNvSpPr txBox="1">
            <a:spLocks/>
          </p:cNvSpPr>
          <p:nvPr/>
        </p:nvSpPr>
        <p:spPr>
          <a:xfrm flipH="1">
            <a:off x="1828800" y="993882"/>
            <a:ext cx="978011" cy="152707"/>
          </a:xfrm>
          <a:prstGeom prst="rect">
            <a:avLst/>
          </a:prstGeom>
        </p:spPr>
        <p:txBody>
          <a:bodyPr vert="horz" lIns="0" tIns="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ts val="1200"/>
              </a:lnSpc>
              <a:spcBef>
                <a:spcPts val="0"/>
              </a:spcBef>
              <a:spcAft>
                <a:spcPts val="6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SUMMARY</a:t>
            </a:r>
          </a:p>
        </p:txBody>
      </p:sp>
      <p:sp>
        <p:nvSpPr>
          <p:cNvPr id="4" name="Subtitle 2">
            <a:extLst>
              <a:ext uri="{FF2B5EF4-FFF2-40B4-BE49-F238E27FC236}">
                <a16:creationId xmlns:a16="http://schemas.microsoft.com/office/drawing/2014/main" id="{6A9E1B0E-B4D9-26CB-8126-5AF1A0898307}"/>
              </a:ext>
            </a:extLst>
          </p:cNvPr>
          <p:cNvSpPr txBox="1">
            <a:spLocks/>
          </p:cNvSpPr>
          <p:nvPr/>
        </p:nvSpPr>
        <p:spPr>
          <a:xfrm flipH="1">
            <a:off x="6464807" y="993882"/>
            <a:ext cx="2871697" cy="137109"/>
          </a:xfrm>
          <a:prstGeom prst="rect">
            <a:avLst/>
          </a:prstGeom>
        </p:spPr>
        <p:txBody>
          <a:bodyPr vert="horz" lIns="0" tIns="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ts val="1200"/>
              </a:lnSpc>
              <a:spcBef>
                <a:spcPts val="0"/>
              </a:spcBef>
              <a:spcAft>
                <a:spcPts val="6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ENABLING SUCCESS PLAN</a:t>
            </a:r>
          </a:p>
        </p:txBody>
      </p:sp>
      <p:sp>
        <p:nvSpPr>
          <p:cNvPr id="7" name="Subtitle 2">
            <a:extLst>
              <a:ext uri="{FF2B5EF4-FFF2-40B4-BE49-F238E27FC236}">
                <a16:creationId xmlns:a16="http://schemas.microsoft.com/office/drawing/2014/main" id="{697B4418-96F3-52C3-43D7-D66C3B9634A1}"/>
              </a:ext>
            </a:extLst>
          </p:cNvPr>
          <p:cNvSpPr txBox="1">
            <a:spLocks/>
          </p:cNvSpPr>
          <p:nvPr/>
        </p:nvSpPr>
        <p:spPr>
          <a:xfrm flipH="1">
            <a:off x="1835555" y="4011325"/>
            <a:ext cx="4385147" cy="1119616"/>
          </a:xfrm>
          <a:prstGeom prst="rect">
            <a:avLst/>
          </a:prstGeom>
        </p:spPr>
        <p:txBody>
          <a:bodyPr vert="horz" lIns="0" tIns="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indent="-171450" algn="l" eaLnBrk="0" hangingPunct="0">
              <a:lnSpc>
                <a:spcPct val="100000"/>
              </a:lnSpc>
              <a:spcBef>
                <a:spcPct val="0"/>
              </a:spcBef>
              <a:spcAft>
                <a:spcPts val="600"/>
              </a:spcAft>
              <a:buFont typeface="Arial" panose="020B0604020202020204" pitchFamily="34" charset="0"/>
              <a:buChar char="•"/>
              <a:defRPr/>
            </a:pPr>
            <a:r>
              <a:rPr kumimoji="0" lang="en-GB" sz="1000" b="0" i="0" u="none" strike="noStrike" kern="0" cap="none" spc="0" normalizeH="0" baseline="0" noProof="0">
                <a:ln>
                  <a:noFill/>
                </a:ln>
                <a:solidFill>
                  <a:sysClr val="windowText" lastClr="000000"/>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Chris brings strong industry expertise and future-focused thinking, offering valuable perspective on technology, data, and digital transformation. His energy is oriented </a:t>
            </a:r>
            <a:r>
              <a:rPr lang="en-GB" sz="1000" kern="0">
                <a:solidFill>
                  <a:sysClr val="windowText" lastClr="000000"/>
                </a:solidFill>
                <a:latin typeface="Helvetica Neue"/>
                <a:ea typeface="Helvetica Neue" panose="02000503000000020004" pitchFamily="2" charset="0"/>
                <a:cs typeface="Helvetica Neue" panose="02000503000000020004" pitchFamily="2" charset="0"/>
              </a:rPr>
              <a:t>towards</a:t>
            </a:r>
            <a:r>
              <a:rPr kumimoji="0" lang="en-GB" sz="1000" b="0" i="0" u="none" strike="noStrike" kern="0" cap="none" spc="0" normalizeH="0" baseline="0" noProof="0">
                <a:ln>
                  <a:noFill/>
                </a:ln>
                <a:solidFill>
                  <a:sysClr val="windowText" lastClr="000000"/>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 building the </a:t>
            </a:r>
            <a:r>
              <a:rPr lang="en-GB" sz="1000" kern="0">
                <a:solidFill>
                  <a:sysClr val="windowText" lastClr="000000"/>
                </a:solidFill>
                <a:latin typeface="Helvetica Neue"/>
                <a:ea typeface="Helvetica Neue" panose="02000503000000020004" pitchFamily="2" charset="0"/>
                <a:cs typeface="Helvetica Neue" panose="02000503000000020004" pitchFamily="2" charset="0"/>
              </a:rPr>
              <a:t>future and less</a:t>
            </a:r>
            <a:r>
              <a:rPr kumimoji="0" lang="en-GB" sz="1000" b="0" i="0" u="none" strike="noStrike" kern="0" cap="none" spc="0" normalizeH="0" baseline="0" noProof="0">
                <a:ln>
                  <a:noFill/>
                </a:ln>
                <a:solidFill>
                  <a:sysClr val="windowText" lastClr="000000"/>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 on fixing the present.</a:t>
            </a:r>
          </a:p>
          <a:p>
            <a:pPr marL="171450" indent="-171450" algn="l" eaLnBrk="0" hangingPunct="0">
              <a:lnSpc>
                <a:spcPct val="100000"/>
              </a:lnSpc>
              <a:spcBef>
                <a:spcPct val="0"/>
              </a:spcBef>
              <a:spcAft>
                <a:spcPts val="600"/>
              </a:spcAft>
              <a:buFont typeface="Arial" panose="020B0604020202020204" pitchFamily="34" charset="0"/>
              <a:buChar char="•"/>
              <a:defRPr/>
            </a:pPr>
            <a:r>
              <a:rPr kumimoji="0" lang="en-GB" sz="1000" b="0" i="0" u="none" strike="noStrike" kern="0" cap="none" spc="0" normalizeH="0" baseline="0" noProof="0">
                <a:ln>
                  <a:noFill/>
                </a:ln>
                <a:solidFill>
                  <a:sysClr val="windowText" lastClr="000000"/>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Needs to strengthen influence and relationships with the CEO and peers by adapting to a relationship-driven, locally nuanced culture.</a:t>
            </a:r>
            <a:endParaRPr lang="en-GB" sz="1000" b="0" i="0" u="none" strike="noStrike" kern="0" cap="none" spc="0" normalizeH="0" baseline="0" noProof="0">
              <a:ln>
                <a:noFill/>
              </a:ln>
              <a:solidFill>
                <a:sysClr val="windowText" lastClr="000000"/>
              </a:solidFill>
              <a:effectLst/>
              <a:uLnTx/>
              <a:uFillTx/>
              <a:latin typeface="Helvetica Neue"/>
              <a:ea typeface="Helvetica Neue" panose="02000503000000020004" pitchFamily="2" charset="0"/>
              <a:cs typeface="Helvetica Neue" panose="02000503000000020004" pitchFamily="2" charset="0"/>
            </a:endParaRPr>
          </a:p>
          <a:p>
            <a:pPr marL="171450" indent="-171450" algn="l" eaLnBrk="0" hangingPunct="0">
              <a:lnSpc>
                <a:spcPct val="100000"/>
              </a:lnSpc>
              <a:spcBef>
                <a:spcPct val="0"/>
              </a:spcBef>
              <a:spcAft>
                <a:spcPts val="600"/>
              </a:spcAft>
              <a:buFont typeface="Arial" panose="020B0604020202020204" pitchFamily="34" charset="0"/>
              <a:buChar char="•"/>
              <a:defRPr/>
            </a:pPr>
            <a:r>
              <a:rPr kumimoji="0" lang="en-GB" sz="1000" b="0" i="0" u="none" strike="noStrike" kern="0" cap="none" spc="0" normalizeH="0" baseline="0" noProof="0">
                <a:ln>
                  <a:noFill/>
                </a:ln>
                <a:solidFill>
                  <a:sysClr val="windowText" lastClr="000000"/>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At times may appear too reserved or analytical, missing informal or political signals that shape decisions.</a:t>
            </a:r>
            <a:endParaRPr lang="en-GB" sz="1000" b="0" i="0" u="none" strike="noStrike" kern="0" cap="none" spc="0" normalizeH="0" baseline="0" noProof="0">
              <a:ln>
                <a:noFill/>
              </a:ln>
              <a:solidFill>
                <a:sysClr val="windowText" lastClr="000000"/>
              </a:solidFill>
              <a:effectLst/>
              <a:uLnTx/>
              <a:uFillTx/>
              <a:latin typeface="Helvetica Neue"/>
              <a:ea typeface="Helvetica Neue" panose="02000503000000020004" pitchFamily="2" charset="0"/>
              <a:cs typeface="Helvetica Neue" panose="02000503000000020004" pitchFamily="2" charset="0"/>
            </a:endParaRPr>
          </a:p>
          <a:p>
            <a:pPr marL="171450" indent="-171450" algn="l" eaLnBrk="0" hangingPunct="0">
              <a:lnSpc>
                <a:spcPct val="100000"/>
              </a:lnSpc>
              <a:spcBef>
                <a:spcPct val="0"/>
              </a:spcBef>
              <a:spcAft>
                <a:spcPts val="600"/>
              </a:spcAft>
              <a:buFont typeface="Arial" panose="020B0604020202020204" pitchFamily="34" charset="0"/>
              <a:buChar char="•"/>
              <a:defRPr/>
            </a:pPr>
            <a:r>
              <a:rPr kumimoji="0" lang="en-GB" sz="1000" b="0" i="0" u="none" strike="noStrike" kern="0" cap="none" spc="0" normalizeH="0" baseline="0" noProof="0">
                <a:ln>
                  <a:noFill/>
                </a:ln>
                <a:solidFill>
                  <a:sysClr val="windowText" lastClr="000000"/>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Should build greater trust and presence by communicating with more confidence, warmth, and contextual awareness.</a:t>
            </a:r>
            <a:endParaRPr lang="en-GB" sz="1000" b="0" i="0" u="none" strike="noStrike" kern="0" cap="none" spc="0" normalizeH="0" baseline="0" noProof="0">
              <a:ln>
                <a:noFill/>
              </a:ln>
              <a:solidFill>
                <a:sysClr val="windowText" lastClr="000000"/>
              </a:solidFill>
              <a:effectLst/>
              <a:uLnTx/>
              <a:uFillTx/>
              <a:latin typeface="Helvetica Neue"/>
              <a:ea typeface="Helvetica Neue" panose="02000503000000020004" pitchFamily="2" charset="0"/>
              <a:cs typeface="Helvetica Neue" panose="02000503000000020004" pitchFamily="2" charset="0"/>
            </a:endParaRPr>
          </a:p>
        </p:txBody>
      </p:sp>
      <p:sp>
        <p:nvSpPr>
          <p:cNvPr id="8" name="Subtitle 2">
            <a:extLst>
              <a:ext uri="{FF2B5EF4-FFF2-40B4-BE49-F238E27FC236}">
                <a16:creationId xmlns:a16="http://schemas.microsoft.com/office/drawing/2014/main" id="{97AA79E4-A721-91AD-CBDA-C298CC43BF67}"/>
              </a:ext>
            </a:extLst>
          </p:cNvPr>
          <p:cNvSpPr txBox="1">
            <a:spLocks/>
          </p:cNvSpPr>
          <p:nvPr/>
        </p:nvSpPr>
        <p:spPr>
          <a:xfrm flipH="1">
            <a:off x="6464411" y="4016613"/>
            <a:ext cx="5446540" cy="1909635"/>
          </a:xfrm>
          <a:prstGeom prst="rect">
            <a:avLst/>
          </a:prstGeom>
        </p:spPr>
        <p:txBody>
          <a:bodyPr vert="horz" lIns="0" tIns="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indent="-171450" algn="l" fontAlgn="auto">
              <a:lnSpc>
                <a:spcPct val="100000"/>
              </a:lnSpc>
              <a:spcBef>
                <a:spcPts val="0"/>
              </a:spcBef>
              <a:spcAft>
                <a:spcPts val="600"/>
              </a:spcAft>
              <a:buFont typeface="Arial" panose="020B0604020202020204" pitchFamily="34" charset="0"/>
              <a:buChar char="•"/>
              <a:defRPr/>
            </a:pPr>
            <a:r>
              <a:rPr lang="en-US" sz="1000" b="1">
                <a:solidFill>
                  <a:prstClr val="black"/>
                </a:solidFill>
                <a:latin typeface="Helvetica Neue" panose="02000503000000020004" pitchFamily="2" charset="0"/>
                <a:ea typeface="Helvetica Neue" panose="02000503000000020004" pitchFamily="2" charset="0"/>
                <a:cs typeface="Helvetica Neue" panose="02000503000000020004" pitchFamily="2" charset="0"/>
              </a:rPr>
              <a:t>Clarify the Digital Strategy: </a:t>
            </a:r>
            <a:r>
              <a:rPr lang="en-US" sz="100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Provide visibility on progress, decisions, and business impact to build clarity and trust that technology is enabling today’s results while shaping tomorrow’s growth.</a:t>
            </a:r>
            <a:endParaRPr lang="en-US" sz="1000" b="1">
              <a:solidFill>
                <a:prstClr val="black"/>
              </a:solidFill>
              <a:latin typeface="Helvetica Neue" panose="02000503000000020004" pitchFamily="2" charset="0"/>
              <a:ea typeface="Helvetica Neue" panose="02000503000000020004" pitchFamily="2" charset="0"/>
              <a:cs typeface="Helvetica Neue" panose="02000503000000020004" pitchFamily="2" charset="0"/>
            </a:endParaRPr>
          </a:p>
          <a:p>
            <a:pPr marL="171450" lvl="0" indent="-171450" algn="l" fontAlgn="auto">
              <a:lnSpc>
                <a:spcPct val="100000"/>
              </a:lnSpc>
              <a:spcBef>
                <a:spcPts val="0"/>
              </a:spcBef>
              <a:spcAft>
                <a:spcPts val="600"/>
              </a:spcAft>
              <a:buFont typeface="Arial" panose="020B0604020202020204" pitchFamily="34" charset="0"/>
              <a:buChar char="•"/>
              <a:defRPr/>
            </a:pPr>
            <a:r>
              <a:rPr lang="en-US" sz="1000" b="1">
                <a:solidFill>
                  <a:prstClr val="black"/>
                </a:solidFill>
                <a:latin typeface="Helvetica Neue" panose="02000503000000020004" pitchFamily="2" charset="0"/>
                <a:ea typeface="Helvetica Neue" panose="02000503000000020004" pitchFamily="2" charset="0"/>
                <a:cs typeface="Helvetica Neue" panose="02000503000000020004" pitchFamily="2" charset="0"/>
              </a:rPr>
              <a:t>Strengthen </a:t>
            </a:r>
            <a:r>
              <a:rPr kumimoji="0" lang="en-US" sz="1000" b="1"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CEO and Peer Relationships: </a:t>
            </a:r>
            <a:r>
              <a:rPr kumimoji="0" lang="en-US" sz="1000" b="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Use regular 1:1 touchpoints to align on priorities, secure advocacy, and reinforce technology’s role in business growth.</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1"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Close Technology and Data Capability Gaps: </a:t>
            </a:r>
            <a:r>
              <a:rPr kumimoji="0" lang="en-US" sz="1000" b="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Conduct a focused skills audit, prioritizing upskilling, targeted recruitment, and leadership development for critical roles.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1"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Deepen Cultural Integration and Leadership Presence: </a:t>
            </a:r>
            <a:r>
              <a:rPr kumimoji="0" lang="en-US" sz="1000" b="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Build cultural awareness and relational influence through coaching and mentoring; balance technical credibility with warmth, adaptability, and visible engagement.</a:t>
            </a:r>
          </a:p>
        </p:txBody>
      </p:sp>
      <p:sp>
        <p:nvSpPr>
          <p:cNvPr id="13" name="Subtitle 2">
            <a:extLst>
              <a:ext uri="{FF2B5EF4-FFF2-40B4-BE49-F238E27FC236}">
                <a16:creationId xmlns:a16="http://schemas.microsoft.com/office/drawing/2014/main" id="{70DDE32D-3FD2-857B-2F91-A20FE9683007}"/>
              </a:ext>
            </a:extLst>
          </p:cNvPr>
          <p:cNvSpPr txBox="1">
            <a:spLocks/>
          </p:cNvSpPr>
          <p:nvPr/>
        </p:nvSpPr>
        <p:spPr>
          <a:xfrm flipH="1">
            <a:off x="1828800" y="1282395"/>
            <a:ext cx="4385147" cy="1119616"/>
          </a:xfrm>
          <a:prstGeom prst="rect">
            <a:avLst/>
          </a:prstGeom>
        </p:spPr>
        <p:txBody>
          <a:bodyPr vert="horz" lIns="0" tIns="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marR="0" lvl="0" indent="-17145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Ammar’s strengths lie in his deep institutional knowledge, technical expertise, and practical, commercially focused approach, which have provided ADSS with stable financial stewardship and fostered trust across teams. </a:t>
            </a:r>
          </a:p>
          <a:p>
            <a:pPr marL="171450" marR="0" lvl="0" indent="-17145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His main development areas are proactively aligning leadership around growth versus cost priorities and ensuring transparent, actionable communication throughout the organization, especially with legacy staff. </a:t>
            </a:r>
          </a:p>
          <a:p>
            <a:pPr marL="171450" marR="0" lvl="0" indent="-17145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Ammar is probably less visible and connected than he could be.</a:t>
            </a:r>
          </a:p>
          <a:p>
            <a:pPr marL="171450" indent="-171450" algn="l">
              <a:buFont typeface="Arial" panose="020B0604020202020204" pitchFamily="34" charset="0"/>
              <a:buChar char="•"/>
              <a:defRPr/>
            </a:pPr>
            <a:r>
              <a:rPr kumimoji="0" lang="en-US" sz="1000" b="0" i="0" u="none" strike="noStrike" kern="1200" cap="none" spc="0" normalizeH="0" baseline="0" noProof="0">
                <a:ln>
                  <a:noFill/>
                </a:ln>
                <a:solidFill>
                  <a:srgbClr val="000000"/>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Leadership might be an under-developed area for Ammar. He may struggle with delegation (Skeptical) and empathy. Combined this could inhibit him building and developing a talented team </a:t>
            </a:r>
            <a:r>
              <a:rPr lang="en-US" sz="1000">
                <a:solidFill>
                  <a:srgbClr val="000000"/>
                </a:solidFill>
                <a:latin typeface="Helvetica Neue"/>
                <a:ea typeface="Helvetica Neue" panose="02000503000000020004" pitchFamily="2" charset="0"/>
                <a:cs typeface="Helvetica Neue" panose="02000503000000020004" pitchFamily="2" charset="0"/>
              </a:rPr>
              <a:t>that needs</a:t>
            </a:r>
            <a:r>
              <a:rPr kumimoji="0" lang="en-US" sz="1000" b="0" i="0" u="none" strike="noStrike" kern="1200" cap="none" spc="0" normalizeH="0" baseline="0" noProof="0">
                <a:ln>
                  <a:noFill/>
                </a:ln>
                <a:solidFill>
                  <a:srgbClr val="000000"/>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 to collaborate effectively with other functions.</a:t>
            </a:r>
            <a:endParaRPr lang="en-US" sz="1000" b="0" i="0" u="none" strike="noStrike" kern="1200" cap="none" spc="0" normalizeH="0" baseline="0" noProof="0">
              <a:ln>
                <a:noFill/>
              </a:ln>
              <a:solidFill>
                <a:srgbClr val="000000"/>
              </a:solidFill>
              <a:effectLst/>
              <a:uLnTx/>
              <a:uFillTx/>
              <a:latin typeface="Helvetica Neue"/>
              <a:ea typeface="Helvetica Neue" panose="02000503000000020004" pitchFamily="2" charset="0"/>
              <a:cs typeface="Helvetica Neue" panose="02000503000000020004" pitchFamily="2" charset="0"/>
            </a:endParaRPr>
          </a:p>
          <a:p>
            <a:pPr marL="171450" marR="0" lvl="0" indent="-17145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14" name="Subtitle 2">
            <a:extLst>
              <a:ext uri="{FF2B5EF4-FFF2-40B4-BE49-F238E27FC236}">
                <a16:creationId xmlns:a16="http://schemas.microsoft.com/office/drawing/2014/main" id="{5E3DCA89-04B3-C202-5207-4FE2EA44AB0C}"/>
              </a:ext>
            </a:extLst>
          </p:cNvPr>
          <p:cNvSpPr txBox="1">
            <a:spLocks/>
          </p:cNvSpPr>
          <p:nvPr/>
        </p:nvSpPr>
        <p:spPr>
          <a:xfrm flipH="1">
            <a:off x="6464411" y="1271739"/>
            <a:ext cx="5270744" cy="2468937"/>
          </a:xfrm>
          <a:prstGeom prst="rect">
            <a:avLst/>
          </a:prstGeom>
        </p:spPr>
        <p:txBody>
          <a:bodyPr vert="horz" lIns="0" tIns="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Drive Both Cost and Growth</a:t>
            </a:r>
            <a:r>
              <a:rPr kumimoji="0" lang="en-US" sz="1000" b="0" i="0" u="none" strike="noStrike" kern="1200" cap="none" spc="0" normalizeH="0" baseline="0" noProof="0">
                <a:ln>
                  <a:noFill/>
                </a:ln>
                <a:solidFill>
                  <a:srgbClr val="000000"/>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 Establish a unified financial philosophy with the CEO and CCO — balancing discipline with ambition — and champion a “1 dirham, 1.01 decision” mindset to ensure every spend creates measurable value.</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sz="100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Upgrade Team Capability and Performance: </a:t>
            </a:r>
            <a:r>
              <a:rPr kumimoji="0" lang="en-US" sz="1000" b="0" i="0" u="none" strike="noStrike" kern="1200" cap="none" spc="0" normalizeH="0" baseline="0" noProof="0">
                <a:ln>
                  <a:noFill/>
                </a:ln>
                <a:solidFill>
                  <a:srgbClr val="000000"/>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Review team structure and critical roles, elevate business-partnering capability, and strengthen accountability through clear KPIs and talent development for future value creation.</a:t>
            </a:r>
            <a:endParaRPr lang="en-US" sz="1000" b="0" i="0" u="none" strike="noStrike" kern="1200" cap="none" spc="0" normalizeH="0" baseline="0" noProof="0">
              <a:ln>
                <a:noFill/>
              </a:ln>
              <a:solidFill>
                <a:srgbClr val="000000"/>
              </a:solidFill>
              <a:effectLst/>
              <a:uLnTx/>
              <a:uFillTx/>
              <a:latin typeface="Helvetica Neue"/>
              <a:ea typeface="Helvetica Neue" panose="02000503000000020004" pitchFamily="2" charset="0"/>
              <a:cs typeface="Helvetica Neue" panose="02000503000000020004"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sz="100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Increase Communication To and From the Business: </a:t>
            </a:r>
            <a:r>
              <a:rPr kumimoji="0" lang="en-US" sz="1000" b="0" i="0" u="none" strike="noStrike" kern="1200" cap="none" spc="0" normalizeH="0" baseline="0" noProof="0">
                <a:ln>
                  <a:noFill/>
                </a:ln>
                <a:solidFill>
                  <a:srgbClr val="000000"/>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Simplify reporting and storytelling to make performance visible and actionable</a:t>
            </a:r>
            <a:endParaRPr lang="en-US" sz="1000">
              <a:solidFill>
                <a:srgbClr val="000000"/>
              </a:solidFill>
              <a:latin typeface="Helvetica Neue"/>
              <a:ea typeface="Helvetica Neue" panose="02000503000000020004" pitchFamily="2" charset="0"/>
              <a:cs typeface="Helvetica Neue" panose="02000503000000020004"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sz="1000">
              <a:solidFill>
                <a:srgbClr val="000000"/>
              </a:solidFill>
              <a:latin typeface="Helvetica Neue" panose="02000503000000020004" pitchFamily="2" charset="0"/>
              <a:ea typeface="Helvetica Neue" panose="02000503000000020004" pitchFamily="2" charset="0"/>
              <a:cs typeface="Helvetica Neue" panose="02000503000000020004"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Be a thinking</a:t>
            </a:r>
            <a:r>
              <a:rPr lang="en-US" sz="1000" b="1">
                <a:solidFill>
                  <a:srgbClr val="000000"/>
                </a:solidFill>
                <a:latin typeface="Helvetica Neue"/>
                <a:ea typeface="Helvetica Neue" panose="02000503000000020004" pitchFamily="2" charset="0"/>
                <a:cs typeface="Helvetica Neue" panose="02000503000000020004" pitchFamily="2" charset="0"/>
              </a:rPr>
              <a:t> partner for the CEO -  </a:t>
            </a:r>
            <a:r>
              <a:rPr lang="en-US" sz="1000">
                <a:solidFill>
                  <a:srgbClr val="000000"/>
                </a:solidFill>
                <a:latin typeface="Helvetica Neue"/>
                <a:ea typeface="Helvetica Neue" panose="02000503000000020004" pitchFamily="2" charset="0"/>
                <a:cs typeface="Helvetica Neue" panose="02000503000000020004" pitchFamily="2" charset="0"/>
              </a:rPr>
              <a:t>Increase your voice and presence within the leadership team</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000" b="1" i="0" u="none" strike="noStrike" kern="1200" cap="none" spc="0" normalizeH="0" baseline="0" noProof="0">
              <a:ln>
                <a:noFill/>
              </a:ln>
              <a:solidFill>
                <a:srgbClr val="000000"/>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Strengthen Peer Relationships and Cross-Functional Alignment: </a:t>
            </a:r>
            <a:r>
              <a:rPr kumimoji="0" lang="en-US" sz="1000" i="0" u="none" strike="noStrike" kern="1200" cap="none" spc="0" normalizeH="0" baseline="0" noProof="0">
                <a:ln>
                  <a:noFill/>
                </a:ln>
                <a:solidFill>
                  <a:srgbClr val="000000"/>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Proactively align with </a:t>
            </a:r>
            <a:r>
              <a:rPr kumimoji="0" lang="en-US" sz="1000" b="0" i="0" u="none" strike="noStrike" kern="1200" cap="none" spc="0" normalizeH="0" baseline="0" noProof="0">
                <a:ln>
                  <a:noFill/>
                </a:ln>
                <a:solidFill>
                  <a:srgbClr val="000000"/>
                </a:solidFill>
                <a:effectLst/>
                <a:uLnTx/>
                <a:uFillTx/>
                <a:latin typeface="Helvetica Neue"/>
                <a:ea typeface="Helvetica Neue" panose="02000503000000020004" pitchFamily="2" charset="0"/>
                <a:cs typeface="Helvetica Neue" panose="02000503000000020004" pitchFamily="2" charset="0"/>
                <a:sym typeface="Arial" panose="020B0604020202020204" pitchFamily="34" charset="0"/>
              </a:rPr>
              <a:t>peers through joint reviews and 1:1 engagement and reinforcing Finance as a connector between functions.</a:t>
            </a:r>
            <a:endParaRPr lang="en-US" sz="1000" b="0" i="0" u="none" strike="noStrike" kern="1200" cap="none" spc="0" normalizeH="0" baseline="0" noProof="0">
              <a:ln>
                <a:noFill/>
              </a:ln>
              <a:solidFill>
                <a:srgbClr val="000000"/>
              </a:solidFill>
              <a:effectLst/>
              <a:uLnTx/>
              <a:uFillTx/>
              <a:latin typeface="Helvetica Neue"/>
              <a:ea typeface="Helvetica Neue" panose="02000503000000020004" pitchFamily="2" charset="0"/>
              <a:cs typeface="Helvetica Neue" panose="02000503000000020004" pitchFamily="2" charset="0"/>
            </a:endParaRPr>
          </a:p>
        </p:txBody>
      </p:sp>
      <p:pic>
        <p:nvPicPr>
          <p:cNvPr id="16" name="Picture 15">
            <a:extLst>
              <a:ext uri="{FF2B5EF4-FFF2-40B4-BE49-F238E27FC236}">
                <a16:creationId xmlns:a16="http://schemas.microsoft.com/office/drawing/2014/main" id="{0E687B2D-007A-9B8D-8B02-0AD9DE6FB862}"/>
              </a:ext>
            </a:extLst>
          </p:cNvPr>
          <p:cNvPicPr>
            <a:picLocks noChangeAspect="1"/>
          </p:cNvPicPr>
          <p:nvPr/>
        </p:nvPicPr>
        <p:blipFill>
          <a:blip r:embed="rId4"/>
          <a:stretch>
            <a:fillRect/>
          </a:stretch>
        </p:blipFill>
        <p:spPr>
          <a:xfrm>
            <a:off x="573985" y="1731459"/>
            <a:ext cx="905955" cy="963782"/>
          </a:xfrm>
          <a:prstGeom prst="rect">
            <a:avLst/>
          </a:prstGeom>
        </p:spPr>
      </p:pic>
      <p:pic>
        <p:nvPicPr>
          <p:cNvPr id="18" name="Picture 17">
            <a:extLst>
              <a:ext uri="{FF2B5EF4-FFF2-40B4-BE49-F238E27FC236}">
                <a16:creationId xmlns:a16="http://schemas.microsoft.com/office/drawing/2014/main" id="{7A65B303-F157-8E7D-ADCB-BE4E6B39A2F4}"/>
              </a:ext>
            </a:extLst>
          </p:cNvPr>
          <p:cNvPicPr>
            <a:picLocks noChangeAspect="1"/>
          </p:cNvPicPr>
          <p:nvPr/>
        </p:nvPicPr>
        <p:blipFill>
          <a:blip r:embed="rId5"/>
          <a:stretch>
            <a:fillRect/>
          </a:stretch>
        </p:blipFill>
        <p:spPr>
          <a:xfrm>
            <a:off x="514882" y="4361468"/>
            <a:ext cx="905955" cy="963782"/>
          </a:xfrm>
          <a:prstGeom prst="rect">
            <a:avLst/>
          </a:prstGeom>
        </p:spPr>
      </p:pic>
      <p:sp>
        <p:nvSpPr>
          <p:cNvPr id="5" name="Subtitle 2">
            <a:extLst>
              <a:ext uri="{FF2B5EF4-FFF2-40B4-BE49-F238E27FC236}">
                <a16:creationId xmlns:a16="http://schemas.microsoft.com/office/drawing/2014/main" id="{61B686AE-036F-B994-62E7-302838BED33D}"/>
              </a:ext>
            </a:extLst>
          </p:cNvPr>
          <p:cNvSpPr txBox="1">
            <a:spLocks/>
          </p:cNvSpPr>
          <p:nvPr/>
        </p:nvSpPr>
        <p:spPr>
          <a:xfrm flipH="1">
            <a:off x="361444" y="2898234"/>
            <a:ext cx="1212830" cy="140530"/>
          </a:xfrm>
          <a:prstGeom prst="rect">
            <a:avLst/>
          </a:prstGeom>
        </p:spPr>
        <p:txBody>
          <a:bodyPr vert="horz" lIns="0" tIns="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defTabSz="914400" rtl="0" eaLnBrk="1" fontAlgn="auto" latinLnBrk="0" hangingPunct="1">
              <a:lnSpc>
                <a:spcPts val="1200"/>
              </a:lnSpc>
              <a:spcBef>
                <a:spcPts val="0"/>
              </a:spcBef>
              <a:spcAft>
                <a:spcPts val="600"/>
              </a:spcAft>
              <a:buClrTx/>
              <a:buSzTx/>
              <a:buFont typeface="Arial" panose="020B0604020202020204" pitchFamily="34" charset="0"/>
              <a:buNone/>
              <a:tabLst/>
              <a:defRPr/>
            </a:pPr>
            <a:r>
              <a:rPr lang="en-US" sz="1200" b="1">
                <a:solidFill>
                  <a:schemeClr val="tx1">
                    <a:lumMod val="65000"/>
                    <a:lumOff val="35000"/>
                  </a:schemeClr>
                </a:solidFill>
                <a:latin typeface="Helvetica Neue" panose="02000503000000020004" pitchFamily="2" charset="0"/>
                <a:ea typeface="Helvetica Neue" panose="02000503000000020004" pitchFamily="2" charset="0"/>
                <a:cs typeface="Helvetica Neue" panose="02000503000000020004" pitchFamily="2" charset="0"/>
              </a:rPr>
              <a:t>SLIDES 48-52</a:t>
            </a:r>
            <a:endParaRPr kumimoji="0" lang="en-US" sz="1200" b="1" i="0" u="none" strike="noStrike" kern="1200" cap="none" spc="0" normalizeH="0" baseline="0" noProof="0">
              <a:ln>
                <a:noFill/>
              </a:ln>
              <a:solidFill>
                <a:schemeClr val="tx1">
                  <a:lumMod val="65000"/>
                  <a:lumOff val="35000"/>
                </a:scheme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6" name="Subtitle 2">
            <a:extLst>
              <a:ext uri="{FF2B5EF4-FFF2-40B4-BE49-F238E27FC236}">
                <a16:creationId xmlns:a16="http://schemas.microsoft.com/office/drawing/2014/main" id="{4B28220D-CA62-2980-2D10-B54A6C5DD37B}"/>
              </a:ext>
            </a:extLst>
          </p:cNvPr>
          <p:cNvSpPr txBox="1">
            <a:spLocks/>
          </p:cNvSpPr>
          <p:nvPr/>
        </p:nvSpPr>
        <p:spPr>
          <a:xfrm flipH="1">
            <a:off x="514882" y="5528243"/>
            <a:ext cx="1110899" cy="220117"/>
          </a:xfrm>
          <a:prstGeom prst="rect">
            <a:avLst/>
          </a:prstGeom>
        </p:spPr>
        <p:txBody>
          <a:bodyPr vert="horz" lIns="0" tIns="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Lato" panose="020F0502020204030203" pitchFamily="34" charset="77"/>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Lato" panose="020F0502020204030203" pitchFamily="34" charset="77"/>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Lato" panose="020F0502020204030203" pitchFamily="34" charset="77"/>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Lato" panose="020F0502020204030203" pitchFamily="34"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defTabSz="914400" rtl="0" eaLnBrk="1" fontAlgn="auto" latinLnBrk="0" hangingPunct="1">
              <a:lnSpc>
                <a:spcPts val="1200"/>
              </a:lnSpc>
              <a:spcBef>
                <a:spcPts val="0"/>
              </a:spcBef>
              <a:spcAft>
                <a:spcPts val="600"/>
              </a:spcAft>
              <a:buClrTx/>
              <a:buSzTx/>
              <a:buFont typeface="Arial" panose="020B0604020202020204" pitchFamily="34" charset="0"/>
              <a:buNone/>
              <a:tabLst/>
              <a:defRPr/>
            </a:pPr>
            <a:r>
              <a:rPr lang="en-US" sz="1200" b="1">
                <a:solidFill>
                  <a:schemeClr val="tx1">
                    <a:lumMod val="65000"/>
                    <a:lumOff val="35000"/>
                  </a:schemeClr>
                </a:solidFill>
                <a:latin typeface="Helvetica Neue" panose="02000503000000020004" pitchFamily="2" charset="0"/>
                <a:ea typeface="Helvetica Neue" panose="02000503000000020004" pitchFamily="2" charset="0"/>
                <a:cs typeface="Helvetica Neue" panose="02000503000000020004" pitchFamily="2" charset="0"/>
              </a:rPr>
              <a:t>SLIDES 53-57</a:t>
            </a:r>
            <a:endParaRPr kumimoji="0" lang="en-US" sz="1200" b="1" i="0" u="none" strike="noStrike" kern="1200" cap="none" spc="0" normalizeH="0" baseline="0" noProof="0">
              <a:ln>
                <a:noFill/>
              </a:ln>
              <a:solidFill>
                <a:schemeClr val="tx1">
                  <a:lumMod val="65000"/>
                  <a:lumOff val="35000"/>
                </a:scheme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Tree>
    <p:extLst>
      <p:ext uri="{BB962C8B-B14F-4D97-AF65-F5344CB8AC3E}">
        <p14:creationId xmlns:p14="http://schemas.microsoft.com/office/powerpoint/2010/main" val="240142271"/>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8A742-FAD7-5D3F-1C10-B78F86EF9019}"/>
            </a:ext>
          </a:extLst>
        </p:cNvPr>
        <p:cNvGrpSpPr/>
        <p:nvPr/>
      </p:nvGrpSpPr>
      <p:grpSpPr>
        <a:xfrm>
          <a:off x="0" y="0"/>
          <a:ext cx="0" cy="0"/>
          <a:chOff x="0" y="0"/>
          <a:chExt cx="0" cy="0"/>
        </a:xfrm>
      </p:grpSpPr>
      <p:sp>
        <p:nvSpPr>
          <p:cNvPr id="19457" name="Text Placeholder 1">
            <a:extLst>
              <a:ext uri="{FF2B5EF4-FFF2-40B4-BE49-F238E27FC236}">
                <a16:creationId xmlns:a16="http://schemas.microsoft.com/office/drawing/2014/main" id="{029EF566-3856-6FEC-7D21-4F307C5298DA}"/>
              </a:ext>
            </a:extLst>
          </p:cNvPr>
          <p:cNvSpPr>
            <a:spLocks noGrp="1" noChangeArrowheads="1"/>
          </p:cNvSpPr>
          <p:nvPr>
            <p:ph type="body" idx="1"/>
          </p:nvPr>
        </p:nvSpPr>
        <p:spPr bwMode="auto">
          <a:xfrm>
            <a:off x="143668" y="3608388"/>
            <a:ext cx="4841875" cy="1966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a:spcBef>
                <a:spcPct val="0"/>
              </a:spcBef>
              <a:spcAft>
                <a:spcPct val="0"/>
              </a:spcAft>
              <a:buClr>
                <a:srgbClr val="000000"/>
              </a:buClr>
              <a:buFont typeface="Arial" panose="020B0604020202020204" pitchFamily="34" charset="0"/>
              <a:buNone/>
            </a:pPr>
            <a:r>
              <a:rPr lang="en-US" altLang="en-US" sz="4000" b="1">
                <a:solidFill>
                  <a:srgbClr val="112D59"/>
                </a:solidFill>
                <a:latin typeface="Helvetica Neue" panose="02000503000000020004" pitchFamily="2" charset="0"/>
                <a:cs typeface="Arial" panose="020B0604020202020204" pitchFamily="34" charset="0"/>
                <a:sym typeface="Helvetica Neue" panose="02000503000000020004" pitchFamily="2" charset="0"/>
              </a:rPr>
              <a:t>INCUMBENT </a:t>
            </a:r>
          </a:p>
          <a:p>
            <a:pPr>
              <a:spcBef>
                <a:spcPct val="0"/>
              </a:spcBef>
              <a:spcAft>
                <a:spcPct val="0"/>
              </a:spcAft>
              <a:buClr>
                <a:srgbClr val="000000"/>
              </a:buClr>
              <a:buFont typeface="Arial" panose="020B0604020202020204" pitchFamily="34" charset="0"/>
              <a:buNone/>
            </a:pPr>
            <a:r>
              <a:rPr lang="en-US" altLang="en-US" sz="4000" b="1">
                <a:solidFill>
                  <a:srgbClr val="112D59"/>
                </a:solidFill>
                <a:latin typeface="Helvetica Neue" panose="02000503000000020004" pitchFamily="2" charset="0"/>
                <a:cs typeface="Arial" panose="020B0604020202020204" pitchFamily="34" charset="0"/>
                <a:sym typeface="Helvetica Neue" panose="02000503000000020004" pitchFamily="2" charset="0"/>
              </a:rPr>
              <a:t>REPORTS</a:t>
            </a:r>
          </a:p>
        </p:txBody>
      </p:sp>
      <p:sp>
        <p:nvSpPr>
          <p:cNvPr id="19458" name="Text Placeholder 2">
            <a:extLst>
              <a:ext uri="{FF2B5EF4-FFF2-40B4-BE49-F238E27FC236}">
                <a16:creationId xmlns:a16="http://schemas.microsoft.com/office/drawing/2014/main" id="{23959E80-04A9-3B68-1304-2A78D51D145A}"/>
              </a:ext>
            </a:extLst>
          </p:cNvPr>
          <p:cNvSpPr>
            <a:spLocks noGrp="1" noChangeArrowheads="1"/>
          </p:cNvSpPr>
          <p:nvPr>
            <p:ph type="body" idx="2"/>
          </p:nvPr>
        </p:nvSpPr>
        <p:spPr bwMode="auto">
          <a:xfrm>
            <a:off x="158750" y="5043488"/>
            <a:ext cx="4703763" cy="736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a:spcAft>
                <a:spcPct val="0"/>
              </a:spcAft>
              <a:buClr>
                <a:srgbClr val="000000"/>
              </a:buClr>
              <a:buFont typeface="Arial" panose="020B0604020202020204" pitchFamily="34" charset="0"/>
              <a:buNone/>
            </a:pPr>
            <a:r>
              <a:rPr lang="en-US" altLang="en-US" sz="180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sym typeface="Helvetica Neue Light" panose="02000403000000020004" pitchFamily="2" charset="0"/>
              </a:rPr>
              <a:t>NOV 2025 </a:t>
            </a:r>
          </a:p>
        </p:txBody>
      </p:sp>
      <p:cxnSp>
        <p:nvCxnSpPr>
          <p:cNvPr id="8" name="Straight Connector 7">
            <a:extLst>
              <a:ext uri="{FF2B5EF4-FFF2-40B4-BE49-F238E27FC236}">
                <a16:creationId xmlns:a16="http://schemas.microsoft.com/office/drawing/2014/main" id="{FD674F7D-B670-348A-3C6B-734B52487704}"/>
              </a:ext>
            </a:extLst>
          </p:cNvPr>
          <p:cNvCxnSpPr/>
          <p:nvPr/>
        </p:nvCxnSpPr>
        <p:spPr>
          <a:xfrm>
            <a:off x="471488" y="5043488"/>
            <a:ext cx="41862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46530FF7-4F80-8071-B739-9A92C636AB82}"/>
              </a:ext>
            </a:extLst>
          </p:cNvPr>
          <p:cNvPicPr>
            <a:picLocks noChangeAspect="1"/>
          </p:cNvPicPr>
          <p:nvPr/>
        </p:nvPicPr>
        <p:blipFill>
          <a:blip r:embed="rId2"/>
          <a:stretch>
            <a:fillRect/>
          </a:stretch>
        </p:blipFill>
        <p:spPr>
          <a:xfrm>
            <a:off x="257731" y="2475232"/>
            <a:ext cx="1705683" cy="774380"/>
          </a:xfrm>
          <a:prstGeom prst="rect">
            <a:avLst/>
          </a:prstGeom>
        </p:spPr>
      </p:pic>
    </p:spTree>
    <p:extLst>
      <p:ext uri="{BB962C8B-B14F-4D97-AF65-F5344CB8AC3E}">
        <p14:creationId xmlns:p14="http://schemas.microsoft.com/office/powerpoint/2010/main" val="12525672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D6DBF-2DDC-310E-6DC6-F248A580636A}"/>
            </a:ext>
          </a:extLst>
        </p:cNvPr>
        <p:cNvGrpSpPr/>
        <p:nvPr/>
      </p:nvGrpSpPr>
      <p:grpSpPr>
        <a:xfrm>
          <a:off x="0" y="0"/>
          <a:ext cx="0" cy="0"/>
          <a:chOff x="0" y="0"/>
          <a:chExt cx="0" cy="0"/>
        </a:xfrm>
      </p:grpSpPr>
      <p:sp>
        <p:nvSpPr>
          <p:cNvPr id="19457" name="Text Placeholder 1">
            <a:extLst>
              <a:ext uri="{FF2B5EF4-FFF2-40B4-BE49-F238E27FC236}">
                <a16:creationId xmlns:a16="http://schemas.microsoft.com/office/drawing/2014/main" id="{5C2583C7-C66F-3129-F291-A1852C1AE443}"/>
              </a:ext>
            </a:extLst>
          </p:cNvPr>
          <p:cNvSpPr>
            <a:spLocks noGrp="1" noChangeArrowheads="1"/>
          </p:cNvSpPr>
          <p:nvPr>
            <p:ph type="body" idx="1"/>
          </p:nvPr>
        </p:nvSpPr>
        <p:spPr bwMode="auto">
          <a:xfrm>
            <a:off x="143668" y="3298103"/>
            <a:ext cx="4841875" cy="1966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a:spcBef>
                <a:spcPct val="0"/>
              </a:spcBef>
              <a:spcAft>
                <a:spcPct val="0"/>
              </a:spcAft>
              <a:buClr>
                <a:srgbClr val="000000"/>
              </a:buClr>
              <a:buFont typeface="Arial" panose="020B0604020202020204" pitchFamily="34" charset="0"/>
              <a:buNone/>
            </a:pPr>
            <a:r>
              <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rPr>
              <a:t>Group CEO | </a:t>
            </a:r>
          </a:p>
          <a:p>
            <a:pPr>
              <a:spcBef>
                <a:spcPct val="0"/>
              </a:spcBef>
              <a:spcAft>
                <a:spcPct val="0"/>
              </a:spcAft>
              <a:buClr>
                <a:srgbClr val="000000"/>
              </a:buClr>
              <a:buFont typeface="Arial" panose="020B0604020202020204" pitchFamily="34" charset="0"/>
              <a:buNone/>
            </a:pPr>
            <a:r>
              <a:rPr lang="en-US" altLang="en-US" sz="4000" b="1">
                <a:solidFill>
                  <a:srgbClr val="112D59"/>
                </a:solidFill>
                <a:latin typeface="Helvetica Neue" panose="02000503000000020004" pitchFamily="2" charset="0"/>
                <a:cs typeface="Arial" panose="020B0604020202020204" pitchFamily="34" charset="0"/>
                <a:sym typeface="Helvetica Neue" panose="02000503000000020004" pitchFamily="2" charset="0"/>
              </a:rPr>
              <a:t>Ahmed Khalifa </a:t>
            </a:r>
          </a:p>
          <a:p>
            <a:pPr>
              <a:spcBef>
                <a:spcPct val="0"/>
              </a:spcBef>
              <a:spcAft>
                <a:spcPct val="0"/>
              </a:spcAft>
              <a:buClr>
                <a:srgbClr val="000000"/>
              </a:buClr>
              <a:buFont typeface="Arial" panose="020B0604020202020204" pitchFamily="34" charset="0"/>
              <a:buNone/>
            </a:pPr>
            <a:r>
              <a:rPr lang="en-US" altLang="en-US" sz="4000" b="1" err="1">
                <a:solidFill>
                  <a:srgbClr val="112D59"/>
                </a:solidFill>
                <a:latin typeface="Helvetica Neue" panose="02000503000000020004" pitchFamily="2" charset="0"/>
                <a:cs typeface="Arial" panose="020B0604020202020204" pitchFamily="34" charset="0"/>
                <a:sym typeface="Helvetica Neue" panose="02000503000000020004" pitchFamily="2" charset="0"/>
              </a:rPr>
              <a:t>Almehairi</a:t>
            </a:r>
            <a:endParaRPr lang="en-US" altLang="en-US" sz="4000" b="1">
              <a:solidFill>
                <a:srgbClr val="112D59"/>
              </a:solidFill>
              <a:latin typeface="Helvetica Neue" panose="02000503000000020004" pitchFamily="2" charset="0"/>
              <a:cs typeface="Arial" panose="020B0604020202020204" pitchFamily="34" charset="0"/>
              <a:sym typeface="Helvetica Neue" panose="02000503000000020004" pitchFamily="2" charset="0"/>
            </a:endParaRPr>
          </a:p>
        </p:txBody>
      </p:sp>
      <p:sp>
        <p:nvSpPr>
          <p:cNvPr id="19458" name="Text Placeholder 2">
            <a:extLst>
              <a:ext uri="{FF2B5EF4-FFF2-40B4-BE49-F238E27FC236}">
                <a16:creationId xmlns:a16="http://schemas.microsoft.com/office/drawing/2014/main" id="{5AA62167-F3B7-7235-8C7C-E93AAFC110A8}"/>
              </a:ext>
            </a:extLst>
          </p:cNvPr>
          <p:cNvSpPr>
            <a:spLocks noGrp="1" noChangeArrowheads="1"/>
          </p:cNvSpPr>
          <p:nvPr>
            <p:ph type="body" idx="2"/>
          </p:nvPr>
        </p:nvSpPr>
        <p:spPr bwMode="auto">
          <a:xfrm>
            <a:off x="158750" y="5043488"/>
            <a:ext cx="4703763" cy="736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a:spcAft>
                <a:spcPct val="0"/>
              </a:spcAft>
              <a:buClr>
                <a:srgbClr val="000000"/>
              </a:buClr>
            </a:pPr>
            <a:r>
              <a:rPr lang="en-US" altLang="en-US" sz="180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sym typeface="Helvetica Neue Light" panose="02000403000000020004" pitchFamily="2" charset="0"/>
              </a:rPr>
              <a:t>NOV 2025 </a:t>
            </a:r>
          </a:p>
        </p:txBody>
      </p:sp>
      <p:cxnSp>
        <p:nvCxnSpPr>
          <p:cNvPr id="8" name="Straight Connector 7">
            <a:extLst>
              <a:ext uri="{FF2B5EF4-FFF2-40B4-BE49-F238E27FC236}">
                <a16:creationId xmlns:a16="http://schemas.microsoft.com/office/drawing/2014/main" id="{419679F5-1A01-3519-BC6B-45BDF454F2C2}"/>
              </a:ext>
            </a:extLst>
          </p:cNvPr>
          <p:cNvCxnSpPr/>
          <p:nvPr/>
        </p:nvCxnSpPr>
        <p:spPr>
          <a:xfrm>
            <a:off x="471488" y="5043488"/>
            <a:ext cx="41862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EC75B5E-E6F5-D457-22CD-8A67F69B6691}"/>
              </a:ext>
            </a:extLst>
          </p:cNvPr>
          <p:cNvPicPr>
            <a:picLocks noChangeAspect="1"/>
          </p:cNvPicPr>
          <p:nvPr/>
        </p:nvPicPr>
        <p:blipFill>
          <a:blip r:embed="rId2"/>
          <a:stretch>
            <a:fillRect/>
          </a:stretch>
        </p:blipFill>
        <p:spPr>
          <a:xfrm>
            <a:off x="257731" y="2475232"/>
            <a:ext cx="1705683" cy="774380"/>
          </a:xfrm>
          <a:prstGeom prst="rect">
            <a:avLst/>
          </a:prstGeom>
        </p:spPr>
      </p:pic>
    </p:spTree>
    <p:extLst>
      <p:ext uri="{BB962C8B-B14F-4D97-AF65-F5344CB8AC3E}">
        <p14:creationId xmlns:p14="http://schemas.microsoft.com/office/powerpoint/2010/main" val="2583166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8816CA5C-6210-8F22-4C06-EC6FEF810D21}"/>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9F0F16AC-D659-18B1-C0E0-2DE2A13E03D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23</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9BCC8FA6-1014-49DF-B1CC-9C25D3E33D70}"/>
              </a:ext>
            </a:extLst>
          </p:cNvPr>
          <p:cNvSpPr txBox="1">
            <a:spLocks noChangeArrowheads="1"/>
          </p:cNvSpPr>
          <p:nvPr/>
        </p:nvSpPr>
        <p:spPr bwMode="auto">
          <a:xfrm>
            <a:off x="550863" y="374650"/>
            <a:ext cx="75596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lvl="0">
              <a:lnSpc>
                <a:spcPct val="90000"/>
              </a:lnSpc>
              <a:buClr>
                <a:srgbClr val="000000"/>
              </a:buClr>
              <a:buSzPts val="2400"/>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Jobs To Be Done</a:t>
            </a:r>
            <a:r>
              <a:rPr lang="en-US" altLang="en-US" sz="2000">
                <a:solidFill>
                  <a:srgbClr val="002060"/>
                </a:solidFill>
                <a:latin typeface="Helvetica Neue" panose="02000503000000020004" pitchFamily="2" charset="0"/>
                <a:sym typeface="Helvetica Neue Light" panose="02000403000000020004" pitchFamily="2" charset="0"/>
              </a:rPr>
              <a:t> | Group </a:t>
            </a: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CEO | </a:t>
            </a:r>
            <a:r>
              <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Ahmed Khalifa </a:t>
            </a:r>
            <a:r>
              <a:rPr kumimoji="0" lang="en-US" altLang="en-US" sz="2000" b="0" i="0" u="none" strike="noStrike" kern="1200" cap="none" spc="0" normalizeH="0" baseline="0" noProof="0" err="1">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Almehairi</a:t>
            </a:r>
            <a:endPar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p:txBody>
      </p:sp>
      <p:sp>
        <p:nvSpPr>
          <p:cNvPr id="4" name="Google Shape;57;p3">
            <a:extLst>
              <a:ext uri="{FF2B5EF4-FFF2-40B4-BE49-F238E27FC236}">
                <a16:creationId xmlns:a16="http://schemas.microsoft.com/office/drawing/2014/main" id="{32D237B5-0DFA-51BD-4293-B04A6E68BAAC}"/>
              </a:ext>
            </a:extLst>
          </p:cNvPr>
          <p:cNvSpPr/>
          <p:nvPr/>
        </p:nvSpPr>
        <p:spPr>
          <a:xfrm>
            <a:off x="3398274" y="1067113"/>
            <a:ext cx="5555948" cy="4901850"/>
          </a:xfrm>
          <a:prstGeom prst="roundRect">
            <a:avLst>
              <a:gd name="adj" fmla="val 3135"/>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p:txBody>
      </p:sp>
      <p:sp>
        <p:nvSpPr>
          <p:cNvPr id="6" name="Google Shape;61;p3">
            <a:extLst>
              <a:ext uri="{FF2B5EF4-FFF2-40B4-BE49-F238E27FC236}">
                <a16:creationId xmlns:a16="http://schemas.microsoft.com/office/drawing/2014/main" id="{954E2C60-6970-7010-1EA2-9C2D9A22C6C7}"/>
              </a:ext>
            </a:extLst>
          </p:cNvPr>
          <p:cNvSpPr txBox="1"/>
          <p:nvPr/>
        </p:nvSpPr>
        <p:spPr>
          <a:xfrm>
            <a:off x="3689234" y="1226812"/>
            <a:ext cx="4229815" cy="230812"/>
          </a:xfrm>
          <a:prstGeom prst="rect">
            <a:avLst/>
          </a:prstGeom>
          <a:noFill/>
          <a:ln>
            <a:noFill/>
          </a:ln>
        </p:spPr>
        <p:txBody>
          <a:bodyPr spcFirstLastPara="1" wrap="square" lIns="22850" tIns="22850" rIns="22850" bIns="22850" anchor="t"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1" i="0" u="none" strike="noStrike" kern="0" cap="none" spc="0" normalizeH="0" baseline="0" noProof="0">
                <a:ln>
                  <a:noFill/>
                </a:ln>
                <a:solidFill>
                  <a:srgbClr val="BA0C2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Jobs To Be Done</a:t>
            </a:r>
            <a:endParaRPr kumimoji="0" sz="7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p:txBody>
      </p:sp>
      <p:graphicFrame>
        <p:nvGraphicFramePr>
          <p:cNvPr id="7" name="Table 6">
            <a:extLst>
              <a:ext uri="{FF2B5EF4-FFF2-40B4-BE49-F238E27FC236}">
                <a16:creationId xmlns:a16="http://schemas.microsoft.com/office/drawing/2014/main" id="{F29CED58-136D-C42E-CC91-BBA14DE38A05}"/>
              </a:ext>
            </a:extLst>
          </p:cNvPr>
          <p:cNvGraphicFramePr>
            <a:graphicFrameLocks noGrp="1"/>
          </p:cNvGraphicFramePr>
          <p:nvPr>
            <p:extLst>
              <p:ext uri="{D42A27DB-BD31-4B8C-83A1-F6EECF244321}">
                <p14:modId xmlns:p14="http://schemas.microsoft.com/office/powerpoint/2010/main" val="2572097618"/>
              </p:ext>
            </p:extLst>
          </p:nvPr>
        </p:nvGraphicFramePr>
        <p:xfrm>
          <a:off x="3599905" y="1488402"/>
          <a:ext cx="5285186" cy="4480560"/>
        </p:xfrm>
        <a:graphic>
          <a:graphicData uri="http://schemas.openxmlformats.org/drawingml/2006/table">
            <a:tbl>
              <a:tblPr firstRow="1" bandRow="1">
                <a:tableStyleId>{5C22544A-7EE6-4342-B048-85BDC9FD1C3A}</a:tableStyleId>
              </a:tblPr>
              <a:tblGrid>
                <a:gridCol w="5285186">
                  <a:extLst>
                    <a:ext uri="{9D8B030D-6E8A-4147-A177-3AD203B41FA5}">
                      <a16:colId xmlns:a16="http://schemas.microsoft.com/office/drawing/2014/main" val="2300840210"/>
                    </a:ext>
                  </a:extLst>
                </a:gridCol>
              </a:tblGrid>
              <a:tr h="885112">
                <a:tc>
                  <a:txBody>
                    <a:bodyPr/>
                    <a:lstStyle/>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200" b="1" i="0" u="none" strike="noStrike" cap="none">
                          <a:solidFill>
                            <a:schemeClr val="tx1"/>
                          </a:solidFill>
                          <a:effectLst/>
                          <a:latin typeface="Helvetica Neue"/>
                          <a:ea typeface="Helvetica Neue" panose="02000503000000020004" pitchFamily="2" charset="0"/>
                          <a:cs typeface="Helvetica Neue" panose="02000503000000020004" pitchFamily="2" charset="0"/>
                          <a:sym typeface="Arial"/>
                        </a:rPr>
                        <a:t>Drive Operational Excellence &amp; Cost Discipline</a:t>
                      </a:r>
                      <a:r>
                        <a:rPr lang="en-US" sz="1200" b="0" i="0" u="none" strike="noStrike" cap="none">
                          <a:solidFill>
                            <a:schemeClr val="tx1"/>
                          </a:solidFill>
                          <a:effectLst/>
                          <a:latin typeface="Helvetica Neue"/>
                          <a:ea typeface="Helvetica Neue" panose="02000503000000020004" pitchFamily="2" charset="0"/>
                          <a:cs typeface="Helvetica Neue" panose="02000503000000020004" pitchFamily="2" charset="0"/>
                          <a:sym typeface="Arial"/>
                        </a:rPr>
                        <a:t>: Oversee and enforce operational efficiency, cost optimization, and governance standards</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1200" b="0" i="0" u="none" strike="noStrike" cap="none">
                        <a:solidFill>
                          <a:schemeClr val="tx1"/>
                        </a:solidFill>
                        <a:effectLst/>
                        <a:latin typeface="Helvetica Neue"/>
                        <a:ea typeface="Helvetica Neue" panose="02000503000000020004" pitchFamily="2" charset="0"/>
                        <a:cs typeface="Helvetica Neue" panose="02000503000000020004" pitchFamily="2" charset="0"/>
                        <a:sym typeface="Arial"/>
                      </a:endParaRPr>
                    </a:p>
                    <a:p>
                      <a:pPr marL="171450" indent="-171450">
                        <a:buFont typeface="Arial" panose="020B0604020202020204" pitchFamily="34" charset="0"/>
                        <a:buChar char="•"/>
                      </a:pPr>
                      <a:endParaRPr lang="en-US" sz="120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171450" indent="-171450">
                        <a:buFont typeface="Arial" panose="020B0604020202020204" pitchFamily="34" charset="0"/>
                        <a:buChar char="•"/>
                      </a:pPr>
                      <a:r>
                        <a:rPr lang="en-US" sz="120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Lead Diversification &amp; Strategic Growth</a:t>
                      </a:r>
                      <a:r>
                        <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 Set the vision and drive execution for transforming ADSS from a legacy brokerage to a multi-asset, regionally diversified, and tech-enabled platform—balancing growth ambitions with core stability.</a:t>
                      </a:r>
                    </a:p>
                    <a:p>
                      <a:pPr marL="171450" indent="-171450">
                        <a:buFont typeface="Arial" panose="020B0604020202020204" pitchFamily="34" charset="0"/>
                        <a:buChar char="•"/>
                      </a:pPr>
                      <a:endPar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171450" marR="0" lvl="0" indent="-171450" algn="l" rtl="0" eaLnBrk="1" fontAlgn="auto" latinLnBrk="0" hangingPunct="1">
                        <a:lnSpc>
                          <a:spcPct val="100000"/>
                        </a:lnSpc>
                        <a:spcBef>
                          <a:spcPts val="0"/>
                        </a:spcBef>
                        <a:spcAft>
                          <a:spcPts val="0"/>
                        </a:spcAft>
                        <a:buClr>
                          <a:srgbClr val="000000"/>
                        </a:buClr>
                        <a:buSzTx/>
                        <a:buFont typeface="Arial" panose="020B0604020202020204" pitchFamily="34" charset="0"/>
                        <a:buChar char="•"/>
                      </a:pPr>
                      <a:r>
                        <a:rPr lang="en-US" sz="1200" b="1" i="0" u="none" strike="noStrike" cap="none">
                          <a:solidFill>
                            <a:schemeClr val="tx1"/>
                          </a:solidFill>
                          <a:effectLst/>
                          <a:latin typeface="Helvetica Neue"/>
                          <a:ea typeface="Helvetica Neue" panose="02000503000000020004" pitchFamily="2" charset="0"/>
                          <a:cs typeface="Helvetica Neue" panose="02000503000000020004" pitchFamily="2" charset="0"/>
                          <a:sym typeface="Arial"/>
                        </a:rPr>
                        <a:t>Embed a </a:t>
                      </a:r>
                      <a:r>
                        <a:rPr lang="en-US" sz="1200" b="1" i="0" u="none" strike="noStrike" cap="none">
                          <a:solidFill>
                            <a:schemeClr val="tx1"/>
                          </a:solidFill>
                          <a:effectLst/>
                          <a:latin typeface="Helvetica Neue"/>
                          <a:ea typeface="Helvetica Neue" panose="02000503000000020004" pitchFamily="2" charset="0"/>
                          <a:cs typeface="Helvetica Neue" panose="02000503000000020004" pitchFamily="2" charset="0"/>
                        </a:rPr>
                        <a:t>Digital Client</a:t>
                      </a:r>
                      <a:r>
                        <a:rPr lang="en-US" sz="1200" b="1" i="0" u="none" strike="noStrike" cap="none">
                          <a:solidFill>
                            <a:schemeClr val="tx1"/>
                          </a:solidFill>
                          <a:effectLst/>
                          <a:latin typeface="Helvetica Neue"/>
                          <a:ea typeface="Helvetica Neue" panose="02000503000000020004" pitchFamily="2" charset="0"/>
                          <a:cs typeface="Helvetica Neue" panose="02000503000000020004" pitchFamily="2" charset="0"/>
                          <a:sym typeface="Arial"/>
                        </a:rPr>
                        <a:t> / Customer -Centric Culture</a:t>
                      </a:r>
                      <a:r>
                        <a:rPr lang="en-US" sz="1200" b="0" i="0" u="none" strike="noStrike" cap="none">
                          <a:solidFill>
                            <a:schemeClr val="tx1"/>
                          </a:solidFill>
                          <a:effectLst/>
                          <a:latin typeface="Helvetica Neue"/>
                          <a:ea typeface="Helvetica Neue" panose="02000503000000020004" pitchFamily="2" charset="0"/>
                          <a:cs typeface="Helvetica Neue" panose="02000503000000020004" pitchFamily="2" charset="0"/>
                          <a:sym typeface="Arial"/>
                        </a:rPr>
                        <a:t>: Ensure the organization moves from legacy processes towards robust data-driven decision-making and a culture that relentlessly focuses on client value, compliance, and execution.</a:t>
                      </a:r>
                    </a:p>
                    <a:p>
                      <a:pPr marL="171450" indent="-171450">
                        <a:buFont typeface="Arial" panose="020B0604020202020204" pitchFamily="34" charset="0"/>
                        <a:buChar char="•"/>
                      </a:pPr>
                      <a:endParaRPr lang="en-US" sz="1200" b="0" i="0" u="none" strike="noStrike" cap="none">
                        <a:solidFill>
                          <a:schemeClr val="tx1"/>
                        </a:solidFill>
                        <a:effectLst/>
                        <a:latin typeface="Helvetica Neue"/>
                        <a:ea typeface="Helvetica Neue" panose="02000503000000020004" pitchFamily="2" charset="0"/>
                        <a:cs typeface="Helvetica Neue" panose="02000503000000020004" pitchFamily="2" charset="0"/>
                        <a:sym typeface="Arial"/>
                      </a:endParaRPr>
                    </a:p>
                    <a:p>
                      <a:pPr marL="171450" indent="-171450">
                        <a:buFont typeface="Arial" panose="020B0604020202020204" pitchFamily="34" charset="0"/>
                        <a:buChar char="•"/>
                      </a:pPr>
                      <a:r>
                        <a:rPr lang="en-US" sz="1200" b="1" i="0" u="none" strike="noStrike" cap="none">
                          <a:solidFill>
                            <a:schemeClr val="tx1"/>
                          </a:solidFill>
                          <a:effectLst/>
                          <a:latin typeface="Helvetica Neue"/>
                          <a:ea typeface="Helvetica Neue" panose="02000503000000020004" pitchFamily="2" charset="0"/>
                          <a:cs typeface="Helvetica Neue" panose="02000503000000020004" pitchFamily="2" charset="0"/>
                          <a:sym typeface="Arial"/>
                        </a:rPr>
                        <a:t>Build &amp; Align the Executive Team</a:t>
                      </a:r>
                      <a:r>
                        <a:rPr lang="en-US" sz="1200" b="0" i="0" u="none" strike="noStrike" cap="none">
                          <a:solidFill>
                            <a:schemeClr val="tx1"/>
                          </a:solidFill>
                          <a:effectLst/>
                          <a:latin typeface="Helvetica Neue"/>
                          <a:ea typeface="Helvetica Neue" panose="02000503000000020004" pitchFamily="2" charset="0"/>
                          <a:cs typeface="Helvetica Neue" panose="02000503000000020004" pitchFamily="2" charset="0"/>
                          <a:sym typeface="Arial"/>
                        </a:rPr>
                        <a:t>: Empower and hold accountable a new leadership bench capable of collaborating across functions and delivering on transformation goals; ensure the right talent is matched to strategic</a:t>
                      </a:r>
                      <a:r>
                        <a:rPr lang="en-US" sz="1200" b="0" i="0" u="none" strike="noStrike" cap="none">
                          <a:solidFill>
                            <a:schemeClr val="tx1"/>
                          </a:solidFill>
                          <a:effectLst/>
                          <a:latin typeface="Helvetica Neue"/>
                          <a:ea typeface="Helvetica Neue" panose="02000503000000020004" pitchFamily="2" charset="0"/>
                          <a:cs typeface="Helvetica Neue" panose="02000503000000020004" pitchFamily="2" charset="0"/>
                        </a:rPr>
                        <a:t> goals.</a:t>
                      </a:r>
                      <a:endParaRPr lang="en-US" sz="1200" b="0" i="0" u="none" strike="noStrike" cap="none">
                        <a:solidFill>
                          <a:schemeClr val="tx1"/>
                        </a:solidFill>
                        <a:effectLst/>
                        <a:latin typeface="Helvetica Neue"/>
                        <a:ea typeface="Helvetica Neue" panose="02000503000000020004" pitchFamily="2" charset="0"/>
                        <a:cs typeface="Helvetica Neue" panose="02000503000000020004" pitchFamily="2" charset="0"/>
                        <a:sym typeface="Arial"/>
                      </a:endParaRPr>
                    </a:p>
                    <a:p>
                      <a:pPr marL="171450" indent="-171450">
                        <a:buFont typeface="Arial" panose="020B0604020202020204" pitchFamily="34" charset="0"/>
                        <a:buChar char="•"/>
                      </a:pPr>
                      <a:endPar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171450" indent="-171450">
                        <a:buFont typeface="Arial" panose="020B0604020202020204" pitchFamily="34" charset="0"/>
                        <a:buChar char="•"/>
                      </a:pPr>
                      <a:r>
                        <a:rPr lang="en-US" sz="120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Sustain Stakeholder Trust &amp; Governance</a:t>
                      </a:r>
                      <a:r>
                        <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 Communicate transparently with the board, shareholder (ADQ), and regulators; provide timely reporting, anticipate risks, and steward reputation to sustain confidence throughout the transformation journey.</a:t>
                      </a:r>
                    </a:p>
                    <a:p>
                      <a:pPr marL="171450" indent="-171450">
                        <a:buFont typeface="Arial" panose="020B0604020202020204" pitchFamily="34" charset="0"/>
                        <a:buChar char="•"/>
                      </a:pPr>
                      <a:endPar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a:lnL w="12700" cap="flat" cmpd="sng" algn="ctr">
                      <a:solidFill>
                        <a:schemeClr val="bg1">
                          <a:lumMod val="95000"/>
                        </a:schemeClr>
                      </a:solidFill>
                      <a:prstDash val="solid"/>
                      <a:round/>
                      <a:headEnd type="none" w="med" len="med"/>
                      <a:tailEnd type="none" w="med" len="med"/>
                    </a:lnL>
                    <a:lnB w="12700" cap="flat" cmpd="sng" algn="ctr">
                      <a:solidFill>
                        <a:srgbClr val="BC8F00"/>
                      </a:solidFill>
                      <a:prstDash val="solid"/>
                      <a:round/>
                      <a:headEnd type="none" w="med" len="med"/>
                      <a:tailEnd type="none" w="med" len="med"/>
                    </a:lnB>
                    <a:noFill/>
                  </a:tcPr>
                </a:tc>
                <a:extLst>
                  <a:ext uri="{0D108BD9-81ED-4DB2-BD59-A6C34878D82A}">
                    <a16:rowId xmlns:a16="http://schemas.microsoft.com/office/drawing/2014/main" val="2440114098"/>
                  </a:ext>
                </a:extLst>
              </a:tr>
            </a:tbl>
          </a:graphicData>
        </a:graphic>
      </p:graphicFrame>
      <p:sp>
        <p:nvSpPr>
          <p:cNvPr id="15" name="Google Shape;57;p3">
            <a:extLst>
              <a:ext uri="{FF2B5EF4-FFF2-40B4-BE49-F238E27FC236}">
                <a16:creationId xmlns:a16="http://schemas.microsoft.com/office/drawing/2014/main" id="{14BF5A28-28A3-9F5D-57B1-9A73A51D4A44}"/>
              </a:ext>
            </a:extLst>
          </p:cNvPr>
          <p:cNvSpPr/>
          <p:nvPr/>
        </p:nvSpPr>
        <p:spPr>
          <a:xfrm>
            <a:off x="511497" y="1067113"/>
            <a:ext cx="2783451" cy="4901850"/>
          </a:xfrm>
          <a:prstGeom prst="roundRect">
            <a:avLst>
              <a:gd name="adj" fmla="val 5837"/>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p:txBody>
      </p:sp>
      <p:sp>
        <p:nvSpPr>
          <p:cNvPr id="16" name="Google Shape;57;p3">
            <a:extLst>
              <a:ext uri="{FF2B5EF4-FFF2-40B4-BE49-F238E27FC236}">
                <a16:creationId xmlns:a16="http://schemas.microsoft.com/office/drawing/2014/main" id="{E8E3845A-EE1E-6148-89E3-04ACD08635A8}"/>
              </a:ext>
            </a:extLst>
          </p:cNvPr>
          <p:cNvSpPr/>
          <p:nvPr/>
        </p:nvSpPr>
        <p:spPr>
          <a:xfrm>
            <a:off x="9057548" y="1067113"/>
            <a:ext cx="2783451" cy="4901850"/>
          </a:xfrm>
          <a:prstGeom prst="roundRect">
            <a:avLst>
              <a:gd name="adj" fmla="val 5837"/>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p:txBody>
      </p:sp>
      <p:sp>
        <p:nvSpPr>
          <p:cNvPr id="17" name="Google Shape;72;p3">
            <a:extLst>
              <a:ext uri="{FF2B5EF4-FFF2-40B4-BE49-F238E27FC236}">
                <a16:creationId xmlns:a16="http://schemas.microsoft.com/office/drawing/2014/main" id="{425A3CCC-A148-B92F-2AAC-44CF861D5A70}"/>
              </a:ext>
            </a:extLst>
          </p:cNvPr>
          <p:cNvSpPr txBox="1"/>
          <p:nvPr/>
        </p:nvSpPr>
        <p:spPr>
          <a:xfrm>
            <a:off x="9230003" y="1257590"/>
            <a:ext cx="2438539"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1" i="0" u="none" strike="noStrike" kern="0" cap="none" spc="0" normalizeH="0" baseline="0" noProof="0">
                <a:ln>
                  <a:noFill/>
                </a:ln>
                <a:solidFill>
                  <a:srgbClr val="BA0C2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Superpowers</a:t>
            </a:r>
            <a:endParaRPr kumimoji="0" lang="en-US" sz="12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p:txBody>
      </p:sp>
      <p:sp>
        <p:nvSpPr>
          <p:cNvPr id="18" name="TextBox 17">
            <a:extLst>
              <a:ext uri="{FF2B5EF4-FFF2-40B4-BE49-F238E27FC236}">
                <a16:creationId xmlns:a16="http://schemas.microsoft.com/office/drawing/2014/main" id="{B43D928A-38D4-5A0D-B39C-9ABB29519FFB}"/>
              </a:ext>
            </a:extLst>
          </p:cNvPr>
          <p:cNvSpPr txBox="1"/>
          <p:nvPr/>
        </p:nvSpPr>
        <p:spPr>
          <a:xfrm>
            <a:off x="9193050" y="1756857"/>
            <a:ext cx="2512443" cy="3016210"/>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IN"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Transformational Vision &amp; Influence</a:t>
            </a:r>
            <a:r>
              <a:rPr kumimoji="0" lang="en-IN"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The capacity to articulate a compelling direction, energize diverse stakeholders, and align the organization toward strategic pivots and growth.</a:t>
            </a:r>
          </a:p>
          <a:p>
            <a:pPr marL="228600" marR="0" lvl="0" indent="-2286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IN"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Decisive Empowerment</a:t>
            </a:r>
            <a:r>
              <a:rPr kumimoji="0" lang="en-IN"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The ability to rapidly diagnose issues, make tough calls, and—crucially—build trust and accountability so an empowered executive team can execute and adapt at scale.</a:t>
            </a:r>
            <a:endParaRPr kumimoji="0" lang="en-US" sz="1200" b="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22" name="Google Shape;72;p3">
            <a:extLst>
              <a:ext uri="{FF2B5EF4-FFF2-40B4-BE49-F238E27FC236}">
                <a16:creationId xmlns:a16="http://schemas.microsoft.com/office/drawing/2014/main" id="{D0140CC3-A522-F489-BB7B-94C40FB0BC33}"/>
              </a:ext>
            </a:extLst>
          </p:cNvPr>
          <p:cNvSpPr txBox="1"/>
          <p:nvPr/>
        </p:nvSpPr>
        <p:spPr>
          <a:xfrm>
            <a:off x="988909" y="1257434"/>
            <a:ext cx="2438539" cy="243636"/>
          </a:xfrm>
          <a:prstGeom prst="rect">
            <a:avLst/>
          </a:prstGeom>
          <a:noFill/>
          <a:ln>
            <a:noFill/>
          </a:ln>
        </p:spPr>
        <p:txBody>
          <a:bodyPr spcFirstLastPara="1" wrap="square" lIns="22850" tIns="22850" rIns="22850" bIns="22850" anchor="b" anchorCtr="0">
            <a:spAutoFit/>
          </a:bodyPr>
          <a:lstStyle/>
          <a:p>
            <a:pPr marL="12700" marR="0" lvl="0" indent="0" algn="l" defTabSz="914400" rtl="0" eaLnBrk="0" fontAlgn="base" latinLnBrk="0" hangingPunct="0">
              <a:lnSpc>
                <a:spcPct val="100000"/>
              </a:lnSpc>
              <a:spcBef>
                <a:spcPts val="100"/>
              </a:spcBef>
              <a:spcAft>
                <a:spcPct val="0"/>
              </a:spcAft>
              <a:buClrTx/>
              <a:buSzTx/>
              <a:buFontTx/>
              <a:buNone/>
              <a:tabLst/>
              <a:defRPr/>
            </a:pPr>
            <a:r>
              <a:rPr kumimoji="0" lang="en-US" sz="1200" b="0" i="0" u="none" strike="noStrike" kern="1200" cap="none" spc="-35"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Jobs To Be Done </a:t>
            </a:r>
            <a:r>
              <a:rPr kumimoji="0" lang="en-US" sz="1200" b="0" i="0" u="none" strike="noStrike" kern="1200" cap="none" spc="-35"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Pivot</a:t>
            </a:r>
          </a:p>
        </p:txBody>
      </p:sp>
      <p:sp>
        <p:nvSpPr>
          <p:cNvPr id="23" name="TextBox 22">
            <a:extLst>
              <a:ext uri="{FF2B5EF4-FFF2-40B4-BE49-F238E27FC236}">
                <a16:creationId xmlns:a16="http://schemas.microsoft.com/office/drawing/2014/main" id="{5F7E2CEF-5B53-D607-B65D-94C453F12D51}"/>
              </a:ext>
            </a:extLst>
          </p:cNvPr>
          <p:cNvSpPr txBox="1"/>
          <p:nvPr/>
        </p:nvSpPr>
        <p:spPr>
          <a:xfrm>
            <a:off x="702812" y="1809051"/>
            <a:ext cx="2438539" cy="1990288"/>
          </a:xfrm>
          <a:prstGeom prst="rect">
            <a:avLst/>
          </a:prstGeom>
          <a:noFill/>
        </p:spPr>
        <p:txBody>
          <a:bodyPr wrap="square">
            <a:spAutoFit/>
          </a:bodyPr>
          <a:lstStyle/>
          <a:p>
            <a:pPr marL="171450" marR="0" lvl="0" indent="-171450" algn="l" defTabSz="914400" rtl="0" eaLnBrk="0" fontAlgn="base" latinLnBrk="0" hangingPunct="0">
              <a:lnSpc>
                <a:spcPct val="100000"/>
              </a:lnSpc>
              <a:spcBef>
                <a:spcPct val="0"/>
              </a:spcBef>
              <a:spcAft>
                <a:spcPts val="36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From</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a legacy brokerage business reliant on core CFDs and cost-cutting</a:t>
            </a:r>
          </a:p>
          <a:p>
            <a:pPr marL="171450" marR="0" lvl="0" indent="-171450" algn="l" defTabSz="914400" rtl="0" eaLnBrk="0" fontAlgn="base" latinLnBrk="0" hangingPunct="0">
              <a:lnSpc>
                <a:spcPct val="100000"/>
              </a:lnSpc>
              <a:spcBef>
                <a:spcPct val="0"/>
              </a:spcBef>
              <a:spcAft>
                <a:spcPts val="36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To</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a client-focused, multi-asset digital platform that leverages technology, diversified products, and geographic expansion to create sustainable, profitable growth</a:t>
            </a:r>
          </a:p>
        </p:txBody>
      </p:sp>
      <p:sp>
        <p:nvSpPr>
          <p:cNvPr id="8" name="TextBox 7">
            <a:extLst>
              <a:ext uri="{FF2B5EF4-FFF2-40B4-BE49-F238E27FC236}">
                <a16:creationId xmlns:a16="http://schemas.microsoft.com/office/drawing/2014/main" id="{94A87CCB-D20C-EE40-FD1C-612BCED059DD}"/>
              </a:ext>
            </a:extLst>
          </p:cNvPr>
          <p:cNvSpPr txBox="1"/>
          <p:nvPr/>
        </p:nvSpPr>
        <p:spPr>
          <a:xfrm rot="19103358">
            <a:off x="3879785" y="3136612"/>
            <a:ext cx="4592924" cy="584775"/>
          </a:xfrm>
          <a:prstGeom prst="rect">
            <a:avLst/>
          </a:prstGeom>
          <a:noFill/>
        </p:spPr>
        <p:txBody>
          <a:bodyPr wrap="none" rtlCol="0">
            <a:spAutoFit/>
          </a:bodyPr>
          <a:lstStyle/>
          <a:p>
            <a:r>
              <a:rPr lang="en-US" sz="3200">
                <a:solidFill>
                  <a:srgbClr val="000000">
                    <a:alpha val="30000"/>
                  </a:srgbClr>
                </a:solidFill>
                <a:latin typeface="Helvetica Neue" panose="02000503000000020004" pitchFamily="2" charset="0"/>
                <a:ea typeface="Helvetica Neue" panose="02000503000000020004" pitchFamily="2" charset="0"/>
                <a:cs typeface="Helvetica Neue" panose="02000503000000020004" pitchFamily="2" charset="0"/>
              </a:rPr>
              <a:t>WORKING DOCUMENT</a:t>
            </a:r>
          </a:p>
        </p:txBody>
      </p:sp>
    </p:spTree>
    <p:extLst>
      <p:ext uri="{BB962C8B-B14F-4D97-AF65-F5344CB8AC3E}">
        <p14:creationId xmlns:p14="http://schemas.microsoft.com/office/powerpoint/2010/main" val="6791873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960B7D3F-7F76-8787-1354-0F33F3D653E8}"/>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1A4CA5BC-B602-5D29-D473-437EFD0A8D7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24</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12CDB482-600F-F89E-9709-C5CDAE6C4F19}"/>
              </a:ext>
            </a:extLst>
          </p:cNvPr>
          <p:cNvSpPr txBox="1">
            <a:spLocks noChangeArrowheads="1"/>
          </p:cNvSpPr>
          <p:nvPr/>
        </p:nvSpPr>
        <p:spPr bwMode="auto">
          <a:xfrm>
            <a:off x="550863" y="374650"/>
            <a:ext cx="75596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Jobs To Be Done | Group CEO | </a:t>
            </a:r>
            <a:r>
              <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Ahmed Khalifa </a:t>
            </a:r>
            <a:r>
              <a:rPr kumimoji="0" lang="en-US" altLang="en-US" sz="2000" b="0" i="0" u="none" strike="noStrike" kern="1200" cap="none" spc="0" normalizeH="0" baseline="0" noProof="0" err="1">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Almehairi</a:t>
            </a:r>
            <a:endPar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p:txBody>
      </p:sp>
      <p:sp>
        <p:nvSpPr>
          <p:cNvPr id="4" name="Google Shape;57;p3">
            <a:extLst>
              <a:ext uri="{FF2B5EF4-FFF2-40B4-BE49-F238E27FC236}">
                <a16:creationId xmlns:a16="http://schemas.microsoft.com/office/drawing/2014/main" id="{B0BB1252-4211-A1FA-818E-0898C1552B24}"/>
              </a:ext>
            </a:extLst>
          </p:cNvPr>
          <p:cNvSpPr/>
          <p:nvPr/>
        </p:nvSpPr>
        <p:spPr>
          <a:xfrm>
            <a:off x="2165130" y="1287672"/>
            <a:ext cx="8576442" cy="4524549"/>
          </a:xfrm>
          <a:prstGeom prst="roundRect">
            <a:avLst>
              <a:gd name="adj" fmla="val 3135"/>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p:txBody>
      </p:sp>
      <p:sp>
        <p:nvSpPr>
          <p:cNvPr id="6" name="Google Shape;61;p3">
            <a:extLst>
              <a:ext uri="{FF2B5EF4-FFF2-40B4-BE49-F238E27FC236}">
                <a16:creationId xmlns:a16="http://schemas.microsoft.com/office/drawing/2014/main" id="{70379614-AFAA-A860-C122-19623A8F8FB5}"/>
              </a:ext>
            </a:extLst>
          </p:cNvPr>
          <p:cNvSpPr txBox="1"/>
          <p:nvPr/>
        </p:nvSpPr>
        <p:spPr>
          <a:xfrm>
            <a:off x="4525823" y="1579422"/>
            <a:ext cx="4229815" cy="230812"/>
          </a:xfrm>
          <a:prstGeom prst="rect">
            <a:avLst/>
          </a:prstGeom>
          <a:noFill/>
          <a:ln>
            <a:noFill/>
          </a:ln>
        </p:spPr>
        <p:txBody>
          <a:bodyPr spcFirstLastPara="1" wrap="square" lIns="22850" tIns="22850" rIns="22850" bIns="22850" anchor="t"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1" i="0" u="none" strike="noStrike" kern="0" cap="none" spc="0" normalizeH="0" baseline="0" noProof="0">
                <a:ln>
                  <a:noFill/>
                </a:ln>
                <a:solidFill>
                  <a:srgbClr val="BA0C2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Jobs To Be Done</a:t>
            </a:r>
            <a:endParaRPr kumimoji="0" sz="7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p:txBody>
      </p:sp>
      <p:graphicFrame>
        <p:nvGraphicFramePr>
          <p:cNvPr id="7" name="Table 6">
            <a:extLst>
              <a:ext uri="{FF2B5EF4-FFF2-40B4-BE49-F238E27FC236}">
                <a16:creationId xmlns:a16="http://schemas.microsoft.com/office/drawing/2014/main" id="{30312D39-1BD3-A398-5B7C-7BABE8755A1A}"/>
              </a:ext>
            </a:extLst>
          </p:cNvPr>
          <p:cNvGraphicFramePr>
            <a:graphicFrameLocks noGrp="1"/>
          </p:cNvGraphicFramePr>
          <p:nvPr/>
        </p:nvGraphicFramePr>
        <p:xfrm>
          <a:off x="2286766" y="1810234"/>
          <a:ext cx="8196860" cy="3931920"/>
        </p:xfrm>
        <a:graphic>
          <a:graphicData uri="http://schemas.openxmlformats.org/drawingml/2006/table">
            <a:tbl>
              <a:tblPr firstRow="1" bandRow="1">
                <a:tableStyleId>{5C22544A-7EE6-4342-B048-85BDC9FD1C3A}</a:tableStyleId>
              </a:tblPr>
              <a:tblGrid>
                <a:gridCol w="1010888">
                  <a:extLst>
                    <a:ext uri="{9D8B030D-6E8A-4147-A177-3AD203B41FA5}">
                      <a16:colId xmlns:a16="http://schemas.microsoft.com/office/drawing/2014/main" val="2853019389"/>
                    </a:ext>
                  </a:extLst>
                </a:gridCol>
                <a:gridCol w="1010888">
                  <a:extLst>
                    <a:ext uri="{9D8B030D-6E8A-4147-A177-3AD203B41FA5}">
                      <a16:colId xmlns:a16="http://schemas.microsoft.com/office/drawing/2014/main" val="501905364"/>
                    </a:ext>
                  </a:extLst>
                </a:gridCol>
                <a:gridCol w="6175084">
                  <a:extLst>
                    <a:ext uri="{9D8B030D-6E8A-4147-A177-3AD203B41FA5}">
                      <a16:colId xmlns:a16="http://schemas.microsoft.com/office/drawing/2014/main" val="2300840210"/>
                    </a:ext>
                  </a:extLst>
                </a:gridCol>
              </a:tblGrid>
              <a:tr h="885112">
                <a:tc>
                  <a:txBody>
                    <a:bodyPr/>
                    <a:lstStyle/>
                    <a:p>
                      <a:pPr marL="0" indent="0">
                        <a:buFont typeface="Arial" panose="020B0604020202020204" pitchFamily="34" charset="0"/>
                        <a:buNone/>
                      </a:pPr>
                      <a:endPar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panose="020B0604020202020204" pitchFamily="34" charset="0"/>
                        <a:buNone/>
                      </a:pPr>
                      <a:endPar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indent="0" algn="ctr">
                        <a:buFont typeface="Arial" panose="020B0604020202020204" pitchFamily="34" charset="0"/>
                        <a:buNone/>
                      </a:pPr>
                      <a:r>
                        <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JTBD 1</a:t>
                      </a:r>
                    </a:p>
                    <a:p>
                      <a:pPr marL="0" indent="0" algn="ctr">
                        <a:buFont typeface="Arial" panose="020B0604020202020204" pitchFamily="34" charset="0"/>
                        <a:buNone/>
                      </a:pPr>
                      <a:r>
                        <a:rPr lang="en-US" sz="1200" b="1" i="0" u="none" strike="noStrike" cap="none">
                          <a:solidFill>
                            <a:srgbClr val="C00000"/>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20%</a:t>
                      </a:r>
                    </a:p>
                    <a:p>
                      <a:pPr marL="0" indent="0" algn="ctr">
                        <a:buFont typeface="Arial" panose="020B0604020202020204" pitchFamily="34" charset="0"/>
                        <a:buNone/>
                      </a:pPr>
                      <a:endPar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endPar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JTBD 2</a:t>
                      </a: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200" b="1" i="0" u="none" strike="noStrike" cap="none">
                          <a:solidFill>
                            <a:srgbClr val="C00000"/>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30%</a:t>
                      </a: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endPar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endPar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JTBD 3</a:t>
                      </a: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200" b="1" i="0" u="none" strike="noStrike" cap="none">
                          <a:solidFill>
                            <a:srgbClr val="C00000"/>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20%</a:t>
                      </a:r>
                    </a:p>
                    <a:p>
                      <a:pPr marL="0" indent="0" algn="ctr">
                        <a:buFont typeface="Arial" panose="020B0604020202020204" pitchFamily="34" charset="0"/>
                        <a:buNone/>
                      </a:pPr>
                      <a:endPar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indent="0" algn="ctr">
                        <a:buFont typeface="Arial" panose="020B0604020202020204" pitchFamily="34" charset="0"/>
                        <a:buNone/>
                      </a:pPr>
                      <a:endPar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JTBD 4</a:t>
                      </a: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200" b="1" i="0" u="none" strike="noStrike" cap="none">
                          <a:solidFill>
                            <a:srgbClr val="C00000"/>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20%</a:t>
                      </a: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endParaRPr lang="en-US" sz="1200" b="1" i="0" u="none" strike="noStrike" cap="none">
                        <a:solidFill>
                          <a:srgbClr val="C00000"/>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endParaRPr lang="en-US" sz="1200" b="1" i="0" u="none" strike="noStrike" cap="none">
                        <a:solidFill>
                          <a:srgbClr val="C00000"/>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JTBD 5</a:t>
                      </a: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200" b="1" i="0" u="none" strike="noStrike" cap="none">
                          <a:solidFill>
                            <a:srgbClr val="C00000"/>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10%</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endPar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indent="0">
                        <a:buFont typeface="Arial" panose="020B0604020202020204" pitchFamily="34" charset="0"/>
                        <a:buNone/>
                      </a:pPr>
                      <a:endPar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1200" b="1" i="0" u="none" strike="noStrike" cap="none">
                        <a:solidFill>
                          <a:schemeClr val="tx1"/>
                        </a:solidFill>
                        <a:effectLst/>
                        <a:latin typeface="Helvetica Neue"/>
                        <a:ea typeface="Helvetica Neue" panose="02000503000000020004" pitchFamily="2" charset="0"/>
                        <a:cs typeface="Helvetica Neue" panose="02000503000000020004" pitchFamily="2" charset="0"/>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200" b="1" i="0" u="none" strike="noStrike" cap="none">
                          <a:solidFill>
                            <a:schemeClr val="tx1"/>
                          </a:solidFill>
                          <a:effectLst/>
                          <a:latin typeface="Helvetica Neue"/>
                          <a:ea typeface="Helvetica Neue" panose="02000503000000020004" pitchFamily="2" charset="0"/>
                          <a:cs typeface="Helvetica Neue" panose="02000503000000020004" pitchFamily="2" charset="0"/>
                          <a:sym typeface="Arial"/>
                        </a:rPr>
                        <a:t>Drive Operational Excellence &amp; Cost Discipline</a:t>
                      </a:r>
                      <a:r>
                        <a:rPr lang="en-US" sz="1200" b="0" i="0" u="none" strike="noStrike" cap="none">
                          <a:solidFill>
                            <a:schemeClr val="tx1"/>
                          </a:solidFill>
                          <a:effectLst/>
                          <a:latin typeface="Helvetica Neue"/>
                          <a:ea typeface="Helvetica Neue" panose="02000503000000020004" pitchFamily="2" charset="0"/>
                          <a:cs typeface="Helvetica Neue" panose="02000503000000020004" pitchFamily="2" charset="0"/>
                          <a:sym typeface="Arial"/>
                        </a:rPr>
                        <a:t>: Oversee and enforce operational efficiency, cost optimization, and governance standards</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1200" b="0" i="0" u="none" strike="noStrike" cap="none">
                        <a:solidFill>
                          <a:schemeClr val="tx1"/>
                        </a:solidFill>
                        <a:effectLst/>
                        <a:latin typeface="Helvetica Neue"/>
                        <a:ea typeface="Helvetica Neue" panose="02000503000000020004" pitchFamily="2" charset="0"/>
                        <a:cs typeface="Helvetica Neue" panose="02000503000000020004" pitchFamily="2" charset="0"/>
                        <a:sym typeface="Arial"/>
                      </a:endParaRPr>
                    </a:p>
                    <a:p>
                      <a:pPr marL="171450" indent="-171450">
                        <a:buFont typeface="Arial" panose="020B0604020202020204" pitchFamily="34" charset="0"/>
                        <a:buChar char="•"/>
                      </a:pPr>
                      <a:endParaRPr lang="en-US" sz="120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171450" indent="-171450">
                        <a:buFont typeface="Arial" panose="020B0604020202020204" pitchFamily="34" charset="0"/>
                        <a:buChar char="•"/>
                      </a:pPr>
                      <a:r>
                        <a:rPr lang="en-US" sz="120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Lead Diversification &amp; Strategic Growth</a:t>
                      </a:r>
                      <a:r>
                        <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 Set the vision and drive execution for transforming ADSS from a legacy brokerage to a multi-asset, regionally diversified, and tech-enabled platform—balancing growth ambitions with core stability.</a:t>
                      </a:r>
                    </a:p>
                    <a:p>
                      <a:pPr marL="171450" indent="-171450">
                        <a:buFont typeface="Arial" panose="020B0604020202020204" pitchFamily="34" charset="0"/>
                        <a:buChar char="•"/>
                      </a:pPr>
                      <a:endPar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171450" marR="0" lvl="0" indent="-171450" algn="l" rtl="0" eaLnBrk="1" fontAlgn="auto" latinLnBrk="0" hangingPunct="1">
                        <a:lnSpc>
                          <a:spcPct val="100000"/>
                        </a:lnSpc>
                        <a:spcBef>
                          <a:spcPts val="0"/>
                        </a:spcBef>
                        <a:spcAft>
                          <a:spcPts val="0"/>
                        </a:spcAft>
                        <a:buClr>
                          <a:srgbClr val="000000"/>
                        </a:buClr>
                        <a:buSzTx/>
                        <a:buFont typeface="Arial" panose="020B0604020202020204" pitchFamily="34" charset="0"/>
                        <a:buChar char="•"/>
                      </a:pPr>
                      <a:r>
                        <a:rPr lang="en-US" sz="1200" b="1" i="0" u="none" strike="noStrike" cap="none">
                          <a:solidFill>
                            <a:schemeClr val="tx1"/>
                          </a:solidFill>
                          <a:effectLst/>
                          <a:latin typeface="Helvetica Neue"/>
                          <a:ea typeface="Helvetica Neue" panose="02000503000000020004" pitchFamily="2" charset="0"/>
                          <a:cs typeface="Helvetica Neue" panose="02000503000000020004" pitchFamily="2" charset="0"/>
                          <a:sym typeface="Arial"/>
                        </a:rPr>
                        <a:t>Embed a </a:t>
                      </a:r>
                      <a:r>
                        <a:rPr lang="en-US" sz="1200" b="1" i="0" u="none" strike="noStrike" cap="none">
                          <a:solidFill>
                            <a:schemeClr val="tx1"/>
                          </a:solidFill>
                          <a:effectLst/>
                          <a:latin typeface="Helvetica Neue"/>
                          <a:ea typeface="Helvetica Neue" panose="02000503000000020004" pitchFamily="2" charset="0"/>
                          <a:cs typeface="Helvetica Neue" panose="02000503000000020004" pitchFamily="2" charset="0"/>
                        </a:rPr>
                        <a:t>Digital Client</a:t>
                      </a:r>
                      <a:r>
                        <a:rPr lang="en-US" sz="1200" b="1" i="0" u="none" strike="noStrike" cap="none">
                          <a:solidFill>
                            <a:schemeClr val="tx1"/>
                          </a:solidFill>
                          <a:effectLst/>
                          <a:latin typeface="Helvetica Neue"/>
                          <a:ea typeface="Helvetica Neue" panose="02000503000000020004" pitchFamily="2" charset="0"/>
                          <a:cs typeface="Helvetica Neue" panose="02000503000000020004" pitchFamily="2" charset="0"/>
                          <a:sym typeface="Arial"/>
                        </a:rPr>
                        <a:t> / Customer -Centric Culture</a:t>
                      </a:r>
                      <a:r>
                        <a:rPr lang="en-US" sz="1200" b="0" i="0" u="none" strike="noStrike" cap="none">
                          <a:solidFill>
                            <a:schemeClr val="tx1"/>
                          </a:solidFill>
                          <a:effectLst/>
                          <a:latin typeface="Helvetica Neue"/>
                          <a:ea typeface="Helvetica Neue" panose="02000503000000020004" pitchFamily="2" charset="0"/>
                          <a:cs typeface="Helvetica Neue" panose="02000503000000020004" pitchFamily="2" charset="0"/>
                          <a:sym typeface="Arial"/>
                        </a:rPr>
                        <a:t>: Ensure the organization moves from legacy processes towards robust data-driven decision-making and a culture that relentlessly focuses on client value, compliance, and execution.</a:t>
                      </a:r>
                    </a:p>
                    <a:p>
                      <a:pPr marL="171450" indent="-171450">
                        <a:buFont typeface="Arial" panose="020B0604020202020204" pitchFamily="34" charset="0"/>
                        <a:buChar char="•"/>
                      </a:pPr>
                      <a:endParaRPr lang="en-US" sz="1200" b="0" i="0" u="none" strike="noStrike" cap="none">
                        <a:solidFill>
                          <a:schemeClr val="tx1"/>
                        </a:solidFill>
                        <a:effectLst/>
                        <a:latin typeface="Helvetica Neue"/>
                        <a:ea typeface="Helvetica Neue" panose="02000503000000020004" pitchFamily="2" charset="0"/>
                        <a:cs typeface="Helvetica Neue" panose="02000503000000020004" pitchFamily="2" charset="0"/>
                        <a:sym typeface="Arial"/>
                      </a:endParaRPr>
                    </a:p>
                    <a:p>
                      <a:pPr marL="171450" indent="-171450">
                        <a:buFont typeface="Arial" panose="020B0604020202020204" pitchFamily="34" charset="0"/>
                        <a:buChar char="•"/>
                      </a:pPr>
                      <a:r>
                        <a:rPr lang="en-US" sz="1200" b="1" i="0" u="none" strike="noStrike" cap="none">
                          <a:solidFill>
                            <a:schemeClr val="tx1"/>
                          </a:solidFill>
                          <a:effectLst/>
                          <a:latin typeface="Helvetica Neue"/>
                          <a:ea typeface="Helvetica Neue" panose="02000503000000020004" pitchFamily="2" charset="0"/>
                          <a:cs typeface="Helvetica Neue" panose="02000503000000020004" pitchFamily="2" charset="0"/>
                          <a:sym typeface="Arial"/>
                        </a:rPr>
                        <a:t>Build &amp; Align the Executive Team</a:t>
                      </a:r>
                      <a:r>
                        <a:rPr lang="en-US" sz="1200" b="0" i="0" u="none" strike="noStrike" cap="none">
                          <a:solidFill>
                            <a:schemeClr val="tx1"/>
                          </a:solidFill>
                          <a:effectLst/>
                          <a:latin typeface="Helvetica Neue"/>
                          <a:ea typeface="Helvetica Neue" panose="02000503000000020004" pitchFamily="2" charset="0"/>
                          <a:cs typeface="Helvetica Neue" panose="02000503000000020004" pitchFamily="2" charset="0"/>
                          <a:sym typeface="Arial"/>
                        </a:rPr>
                        <a:t>: Empower and hold accountable a new leadership bench capable of collaborating across functions and delivering on transformation goals; ensure the right talent is matched to strategic</a:t>
                      </a:r>
                      <a:r>
                        <a:rPr lang="en-US" sz="1200" b="0" i="0" u="none" strike="noStrike" cap="none">
                          <a:solidFill>
                            <a:schemeClr val="tx1"/>
                          </a:solidFill>
                          <a:effectLst/>
                          <a:latin typeface="Helvetica Neue"/>
                          <a:ea typeface="Helvetica Neue" panose="02000503000000020004" pitchFamily="2" charset="0"/>
                          <a:cs typeface="Helvetica Neue" panose="02000503000000020004" pitchFamily="2" charset="0"/>
                        </a:rPr>
                        <a:t> goals.</a:t>
                      </a:r>
                      <a:endParaRPr lang="en-US" sz="1200" b="0" i="0" u="none" strike="noStrike" cap="none">
                        <a:solidFill>
                          <a:schemeClr val="tx1"/>
                        </a:solidFill>
                        <a:effectLst/>
                        <a:latin typeface="Helvetica Neue"/>
                        <a:ea typeface="Helvetica Neue" panose="02000503000000020004" pitchFamily="2" charset="0"/>
                        <a:cs typeface="Helvetica Neue" panose="02000503000000020004" pitchFamily="2" charset="0"/>
                        <a:sym typeface="Arial"/>
                      </a:endParaRPr>
                    </a:p>
                    <a:p>
                      <a:pPr marL="171450" indent="-171450">
                        <a:buFont typeface="Arial" panose="020B0604020202020204" pitchFamily="34" charset="0"/>
                        <a:buChar char="•"/>
                      </a:pPr>
                      <a:endPar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171450" indent="-171450">
                        <a:buFont typeface="Arial" panose="020B0604020202020204" pitchFamily="34" charset="0"/>
                        <a:buChar char="•"/>
                      </a:pPr>
                      <a:r>
                        <a:rPr lang="en-US" sz="120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Sustain Stakeholder Trust &amp; Governance</a:t>
                      </a:r>
                      <a:r>
                        <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 Communicate transparently with the board, shareholder (ADQ), and regulators; provide timely reporting, anticipate risks, and steward reputation to sustain confidence throughout the transformation journey.</a:t>
                      </a:r>
                    </a:p>
                    <a:p>
                      <a:pPr marL="171450" indent="-171450">
                        <a:buFont typeface="Arial" panose="020B0604020202020204" pitchFamily="34" charset="0"/>
                        <a:buChar char="•"/>
                      </a:pPr>
                      <a:endParaRPr lang="en-US" sz="12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0114098"/>
                  </a:ext>
                </a:extLst>
              </a:tr>
            </a:tbl>
          </a:graphicData>
        </a:graphic>
      </p:graphicFrame>
      <p:pic>
        <p:nvPicPr>
          <p:cNvPr id="39" name="Picture 38">
            <a:extLst>
              <a:ext uri="{FF2B5EF4-FFF2-40B4-BE49-F238E27FC236}">
                <a16:creationId xmlns:a16="http://schemas.microsoft.com/office/drawing/2014/main" id="{27C902A4-7FCE-8D4A-53EE-E1F64644BFDB}"/>
              </a:ext>
            </a:extLst>
          </p:cNvPr>
          <p:cNvPicPr>
            <a:picLocks noChangeAspect="1"/>
          </p:cNvPicPr>
          <p:nvPr/>
        </p:nvPicPr>
        <p:blipFill>
          <a:blip r:embed="rId3"/>
          <a:stretch>
            <a:fillRect/>
          </a:stretch>
        </p:blipFill>
        <p:spPr>
          <a:xfrm>
            <a:off x="2412890" y="4187106"/>
            <a:ext cx="587584" cy="561584"/>
          </a:xfrm>
          <a:prstGeom prst="rect">
            <a:avLst/>
          </a:prstGeom>
        </p:spPr>
      </p:pic>
      <p:pic>
        <p:nvPicPr>
          <p:cNvPr id="40" name="Picture 39">
            <a:extLst>
              <a:ext uri="{FF2B5EF4-FFF2-40B4-BE49-F238E27FC236}">
                <a16:creationId xmlns:a16="http://schemas.microsoft.com/office/drawing/2014/main" id="{69E4F828-D921-2E08-D0D9-7BE5B139A616}"/>
              </a:ext>
            </a:extLst>
          </p:cNvPr>
          <p:cNvPicPr>
            <a:picLocks noChangeAspect="1"/>
          </p:cNvPicPr>
          <p:nvPr/>
        </p:nvPicPr>
        <p:blipFill>
          <a:blip r:embed="rId4"/>
          <a:stretch>
            <a:fillRect/>
          </a:stretch>
        </p:blipFill>
        <p:spPr>
          <a:xfrm>
            <a:off x="2412890" y="1974144"/>
            <a:ext cx="587584" cy="561584"/>
          </a:xfrm>
          <a:prstGeom prst="rect">
            <a:avLst/>
          </a:prstGeom>
        </p:spPr>
      </p:pic>
      <p:pic>
        <p:nvPicPr>
          <p:cNvPr id="41" name="Picture 40">
            <a:extLst>
              <a:ext uri="{FF2B5EF4-FFF2-40B4-BE49-F238E27FC236}">
                <a16:creationId xmlns:a16="http://schemas.microsoft.com/office/drawing/2014/main" id="{DA2449EC-AB66-CA19-3F4A-1B22164AE106}"/>
              </a:ext>
            </a:extLst>
          </p:cNvPr>
          <p:cNvPicPr>
            <a:picLocks noChangeAspect="1"/>
          </p:cNvPicPr>
          <p:nvPr/>
        </p:nvPicPr>
        <p:blipFill>
          <a:blip r:embed="rId5"/>
          <a:stretch>
            <a:fillRect/>
          </a:stretch>
        </p:blipFill>
        <p:spPr>
          <a:xfrm>
            <a:off x="2412890" y="2702810"/>
            <a:ext cx="587584" cy="561584"/>
          </a:xfrm>
          <a:prstGeom prst="rect">
            <a:avLst/>
          </a:prstGeom>
        </p:spPr>
      </p:pic>
      <p:pic>
        <p:nvPicPr>
          <p:cNvPr id="42" name="Picture 41">
            <a:extLst>
              <a:ext uri="{FF2B5EF4-FFF2-40B4-BE49-F238E27FC236}">
                <a16:creationId xmlns:a16="http://schemas.microsoft.com/office/drawing/2014/main" id="{F82BEF5C-4AD2-03BB-F61D-20DDFC13E9D2}"/>
              </a:ext>
            </a:extLst>
          </p:cNvPr>
          <p:cNvPicPr>
            <a:picLocks noChangeAspect="1"/>
          </p:cNvPicPr>
          <p:nvPr/>
        </p:nvPicPr>
        <p:blipFill>
          <a:blip r:embed="rId5"/>
          <a:stretch>
            <a:fillRect/>
          </a:stretch>
        </p:blipFill>
        <p:spPr>
          <a:xfrm>
            <a:off x="2412890" y="3476823"/>
            <a:ext cx="587584" cy="561584"/>
          </a:xfrm>
          <a:prstGeom prst="rect">
            <a:avLst/>
          </a:prstGeom>
        </p:spPr>
      </p:pic>
      <p:sp>
        <p:nvSpPr>
          <p:cNvPr id="43" name="Google Shape;61;p3">
            <a:extLst>
              <a:ext uri="{FF2B5EF4-FFF2-40B4-BE49-F238E27FC236}">
                <a16:creationId xmlns:a16="http://schemas.microsoft.com/office/drawing/2014/main" id="{80B8F511-99C8-E183-D0B2-45A5B3B67B37}"/>
              </a:ext>
            </a:extLst>
          </p:cNvPr>
          <p:cNvSpPr txBox="1"/>
          <p:nvPr/>
        </p:nvSpPr>
        <p:spPr>
          <a:xfrm>
            <a:off x="2362355" y="1579422"/>
            <a:ext cx="1023991" cy="230812"/>
          </a:xfrm>
          <a:prstGeom prst="rect">
            <a:avLst/>
          </a:prstGeom>
          <a:noFill/>
          <a:ln>
            <a:noFill/>
          </a:ln>
        </p:spPr>
        <p:txBody>
          <a:bodyPr spcFirstLastPara="1" wrap="square" lIns="22850" tIns="22850" rIns="22850" bIns="22850" anchor="t"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1" i="0" u="none" strike="noStrike" kern="0" cap="none" spc="0" normalizeH="0" baseline="0" noProof="0">
                <a:ln>
                  <a:noFill/>
                </a:ln>
                <a:solidFill>
                  <a:srgbClr val="BA0C2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Score</a:t>
            </a:r>
            <a:endParaRPr kumimoji="0" sz="7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p:txBody>
      </p:sp>
      <p:sp>
        <p:nvSpPr>
          <p:cNvPr id="2" name="Google Shape;61;p3">
            <a:extLst>
              <a:ext uri="{FF2B5EF4-FFF2-40B4-BE49-F238E27FC236}">
                <a16:creationId xmlns:a16="http://schemas.microsoft.com/office/drawing/2014/main" id="{3433562C-569D-9FBB-3D3E-EA12539FFB99}"/>
              </a:ext>
            </a:extLst>
          </p:cNvPr>
          <p:cNvSpPr txBox="1"/>
          <p:nvPr/>
        </p:nvSpPr>
        <p:spPr>
          <a:xfrm>
            <a:off x="3386346" y="1579422"/>
            <a:ext cx="1658989" cy="230812"/>
          </a:xfrm>
          <a:prstGeom prst="rect">
            <a:avLst/>
          </a:prstGeom>
          <a:noFill/>
          <a:ln>
            <a:noFill/>
          </a:ln>
        </p:spPr>
        <p:txBody>
          <a:bodyPr spcFirstLastPara="1" wrap="square" lIns="22850" tIns="22850" rIns="22850" bIns="22850" anchor="t"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1" i="0" u="none" strike="noStrike" kern="0" cap="none" spc="0" normalizeH="0" baseline="0" noProof="0">
                <a:ln>
                  <a:noFill/>
                </a:ln>
                <a:solidFill>
                  <a:srgbClr val="BA0C2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 Weight</a:t>
            </a:r>
            <a:endParaRPr kumimoji="0" sz="7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p:txBody>
      </p:sp>
      <p:pic>
        <p:nvPicPr>
          <p:cNvPr id="3" name="Picture 2">
            <a:extLst>
              <a:ext uri="{FF2B5EF4-FFF2-40B4-BE49-F238E27FC236}">
                <a16:creationId xmlns:a16="http://schemas.microsoft.com/office/drawing/2014/main" id="{FCD37800-0FF0-901B-6ADE-AF9F287FBF07}"/>
              </a:ext>
            </a:extLst>
          </p:cNvPr>
          <p:cNvPicPr>
            <a:picLocks noChangeAspect="1"/>
          </p:cNvPicPr>
          <p:nvPr/>
        </p:nvPicPr>
        <p:blipFill>
          <a:blip r:embed="rId4"/>
          <a:stretch>
            <a:fillRect/>
          </a:stretch>
        </p:blipFill>
        <p:spPr>
          <a:xfrm>
            <a:off x="2412890" y="4864096"/>
            <a:ext cx="587584" cy="561584"/>
          </a:xfrm>
          <a:prstGeom prst="rect">
            <a:avLst/>
          </a:prstGeom>
        </p:spPr>
      </p:pic>
    </p:spTree>
    <p:extLst>
      <p:ext uri="{BB962C8B-B14F-4D97-AF65-F5344CB8AC3E}">
        <p14:creationId xmlns:p14="http://schemas.microsoft.com/office/powerpoint/2010/main" val="30178826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B56535F2-5272-8A08-DD7B-CC54D7C65E1A}"/>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08CF20FC-559F-2D77-9117-C7B2AE7D8989}"/>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25</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D1D47ED4-F4E2-EDCA-7121-C9FEEA989976}"/>
              </a:ext>
            </a:extLst>
          </p:cNvPr>
          <p:cNvSpPr txBox="1">
            <a:spLocks noChangeArrowheads="1"/>
          </p:cNvSpPr>
          <p:nvPr/>
        </p:nvSpPr>
        <p:spPr bwMode="auto">
          <a:xfrm>
            <a:off x="550863" y="374650"/>
            <a:ext cx="75596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Jobs To Be Done Match | Group CEO | </a:t>
            </a:r>
            <a:r>
              <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Ahmed Khalifa </a:t>
            </a:r>
            <a:r>
              <a:rPr kumimoji="0" lang="en-US" altLang="en-US" sz="2000" b="0" i="0" u="none" strike="noStrike" kern="1200" cap="none" spc="0" normalizeH="0" baseline="0" noProof="0" err="1">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Almehairi</a:t>
            </a:r>
            <a:endPar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p:txBody>
      </p:sp>
      <p:sp>
        <p:nvSpPr>
          <p:cNvPr id="2" name="Google Shape;57;p3">
            <a:extLst>
              <a:ext uri="{FF2B5EF4-FFF2-40B4-BE49-F238E27FC236}">
                <a16:creationId xmlns:a16="http://schemas.microsoft.com/office/drawing/2014/main" id="{CE2BDD7C-68BC-0A44-8DF9-0A84F5706635}"/>
              </a:ext>
            </a:extLst>
          </p:cNvPr>
          <p:cNvSpPr/>
          <p:nvPr/>
        </p:nvSpPr>
        <p:spPr>
          <a:xfrm>
            <a:off x="669671" y="831850"/>
            <a:ext cx="11124931" cy="5783532"/>
          </a:xfrm>
          <a:prstGeom prst="roundRect">
            <a:avLst>
              <a:gd name="adj" fmla="val 225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Tx/>
              <a:buNone/>
              <a:tabLst/>
              <a:defRPr/>
            </a:pPr>
            <a:r>
              <a:rPr kumimoji="0" lang="en-US" sz="1200" b="1" i="0" u="none" strike="noStrike" kern="0" cap="none" spc="0" normalizeH="0" baseline="0" noProof="0">
                <a:ln>
                  <a:noFill/>
                </a:ln>
                <a:solidFill>
                  <a:srgbClr val="000000"/>
                </a:solidFill>
                <a:effectLst/>
                <a:uLnTx/>
                <a:uFillTx/>
                <a:latin typeface="Lato"/>
                <a:ea typeface="Lato"/>
                <a:cs typeface="Lato"/>
                <a:sym typeface="Lato"/>
              </a:rPr>
              <a:t> </a:t>
            </a:r>
          </a:p>
        </p:txBody>
      </p:sp>
      <p:sp>
        <p:nvSpPr>
          <p:cNvPr id="8" name="TextBox 7">
            <a:extLst>
              <a:ext uri="{FF2B5EF4-FFF2-40B4-BE49-F238E27FC236}">
                <a16:creationId xmlns:a16="http://schemas.microsoft.com/office/drawing/2014/main" id="{D17C8C4B-CB1E-D755-E016-D470A809F98C}"/>
              </a:ext>
            </a:extLst>
          </p:cNvPr>
          <p:cNvSpPr txBox="1"/>
          <p:nvPr/>
        </p:nvSpPr>
        <p:spPr>
          <a:xfrm>
            <a:off x="824424" y="1058788"/>
            <a:ext cx="10697905" cy="4455066"/>
          </a:xfrm>
          <a:prstGeom prst="rect">
            <a:avLst/>
          </a:prstGeom>
          <a:noFill/>
        </p:spPr>
        <p:txBody>
          <a:bodyPr wrap="square" lIns="91440" tIns="45720" rIns="91440" bIns="45720" rtlCol="0" anchor="t">
            <a:spAutoFit/>
          </a:bodyPr>
          <a:lstStyle/>
          <a:p>
            <a:r>
              <a:rPr lang="en-US" sz="1050" b="1">
                <a:latin typeface="Helvetica Neue" panose="02000503000000020004" pitchFamily="2" charset="0"/>
                <a:ea typeface="Helvetica Neue" panose="02000503000000020004" pitchFamily="2" charset="0"/>
                <a:cs typeface="Helvetica Neue" panose="02000503000000020004" pitchFamily="2" charset="0"/>
              </a:rPr>
              <a:t>Role Pivots &amp; Risks</a:t>
            </a:r>
          </a:p>
          <a:p>
            <a:endParaRPr lang="en-US" sz="1050" b="1">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050">
                <a:latin typeface="Helvetica Neue" panose="02000503000000020004" pitchFamily="2" charset="0"/>
                <a:ea typeface="Helvetica Neue" panose="02000503000000020004" pitchFamily="2" charset="0"/>
                <a:cs typeface="Helvetica Neue" panose="02000503000000020004" pitchFamily="2" charset="0"/>
              </a:rPr>
              <a:t>Ahmed’s leadership has been vital in stabilizing and transforming ADSS—achieving rapid operational improvements, financial discipline, and renewed board and shareholder trust through a period of significant change. Building on this solid foundation, the organization is now ready for its next pivotal phase: leading ADSS beyond cost control and compliance into a future of multi-asset, digital-first commercial growth. This step forward invites a bold focus on product diversification, enhancing the overall client journey, and elevating the capabilities of the commercial and digital teams. By channeling this energy into growth, Ahmed can further inspire the organization, unify the C-suite, and position the business for sustainable success. Attention to team integration, energizing transformation efforts, and supporting teams through continued change will sustain momentum and morale.</a:t>
            </a:r>
          </a:p>
          <a:p>
            <a:pPr marL="171450" indent="-171450">
              <a:buFont typeface="Arial" panose="020B0604020202020204" pitchFamily="34" charset="0"/>
              <a:buChar char="•"/>
            </a:pPr>
            <a:endParaRPr lang="en-US" sz="105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050">
                <a:latin typeface="Helvetica Neue" panose="02000503000000020004" pitchFamily="2" charset="0"/>
                <a:ea typeface="Helvetica Neue" panose="02000503000000020004" pitchFamily="2" charset="0"/>
                <a:cs typeface="Helvetica Neue" panose="02000503000000020004" pitchFamily="2" charset="0"/>
              </a:rPr>
              <a:t>With the core leadership structure secure, Ahmed is ideally positioned to shift his leadership focus from hands-on execution and direct problem-solving to empowering and aligning his newly strengthened C-suite. By emphasizing coaching, guidance, and trust, he enables the executive team to take greater ownership, collaborate more fully, and drive innovation throughout the organization. Moving away from reliance on reporting and legacy top-down oversight toward enabling and inspiring others ensures that the collective leadership delivers at its highest potential—igniting cross-functional collaboration and shared accountability for ADSS’s commercial and digital ambitions.</a:t>
            </a:r>
          </a:p>
          <a:p>
            <a:endParaRPr lang="en-US" sz="1050">
              <a:latin typeface="Helvetica Neue" panose="02000503000000020004" pitchFamily="2" charset="0"/>
              <a:ea typeface="Helvetica Neue" panose="02000503000000020004" pitchFamily="2" charset="0"/>
              <a:cs typeface="Helvetica Neue" panose="02000503000000020004" pitchFamily="2" charset="0"/>
            </a:endParaRPr>
          </a:p>
          <a:p>
            <a:r>
              <a:rPr lang="en-US" sz="1050" b="1">
                <a:latin typeface="Helvetica Neue" panose="02000503000000020004" pitchFamily="2" charset="0"/>
                <a:ea typeface="Helvetica Neue" panose="02000503000000020004" pitchFamily="2" charset="0"/>
                <a:cs typeface="Helvetica Neue" panose="02000503000000020004" pitchFamily="2" charset="0"/>
              </a:rPr>
              <a:t>Is the Talent Equipped for Success? </a:t>
            </a:r>
          </a:p>
          <a:p>
            <a:endParaRPr lang="en-US" sz="1050" b="1">
              <a:solidFill>
                <a:srgbClr val="4C608C"/>
              </a:solidFill>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050">
                <a:latin typeface="Helvetica Neue" panose="02000503000000020004" pitchFamily="2" charset="0"/>
                <a:ea typeface="Helvetica Neue" panose="02000503000000020004" pitchFamily="2" charset="0"/>
                <a:cs typeface="Helvetica Neue" panose="02000503000000020004" pitchFamily="2" charset="0"/>
              </a:rPr>
              <a:t>Ahmed is highly disciplined, operationally thorough, and accountable — he sets clear standards and delivers on shareholder and board mandates with speed and rigor. He brings courage and urgency to driving change, restructuring teams, and establishing processes where legacy gaps existed. He is attentive to governance and compliance, maintaining constructive relationships with both shareholders and the Board. </a:t>
            </a:r>
          </a:p>
          <a:p>
            <a:pPr marL="171450" indent="-171450">
              <a:buFont typeface="Arial" panose="020B0604020202020204" pitchFamily="34" charset="0"/>
              <a:buChar char="•"/>
            </a:pPr>
            <a:endParaRPr lang="en-US" sz="105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050">
                <a:latin typeface="Helvetica Neue" panose="02000503000000020004" pitchFamily="2" charset="0"/>
                <a:ea typeface="Helvetica Neue" panose="02000503000000020004" pitchFamily="2" charset="0"/>
                <a:cs typeface="Helvetica Neue" panose="02000503000000020004" pitchFamily="2" charset="0"/>
              </a:rPr>
              <a:t>Over the past period, he has played an important role in stabilizing and strengthening ADSS, helping to restore organizational confidence and trust. With this foundation now in place, the organization is ready for its next pivotal phase, where the emphasis shifts from stabilization to growth. Ahmed can continue refining systems and controls, but they no longer need to dominate the agenda or messaging. </a:t>
            </a:r>
          </a:p>
          <a:p>
            <a:pPr marL="171450" indent="-171450">
              <a:buFont typeface="Arial" panose="020B0604020202020204" pitchFamily="34" charset="0"/>
              <a:buChar char="•"/>
            </a:pPr>
            <a:endParaRPr lang="en-US" sz="105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050">
                <a:latin typeface="Helvetica Neue" panose="02000503000000020004" pitchFamily="2" charset="0"/>
                <a:ea typeface="Helvetica Neue" panose="02000503000000020004" pitchFamily="2" charset="0"/>
                <a:cs typeface="Helvetica Neue" panose="02000503000000020004" pitchFamily="2" charset="0"/>
              </a:rPr>
              <a:t>To accelerate the next stage, he will need to unify the C-suite around shared priorities, encourage greater ownership, and strengthen collaboration. As his team matures, he may benefit from applying more situational leadership — evolving from a directive, hands-on style with less experienced leaders to a more coaching- and delegation-oriented approach with senior, capable executives.</a:t>
            </a:r>
          </a:p>
        </p:txBody>
      </p:sp>
    </p:spTree>
    <p:extLst>
      <p:ext uri="{BB962C8B-B14F-4D97-AF65-F5344CB8AC3E}">
        <p14:creationId xmlns:p14="http://schemas.microsoft.com/office/powerpoint/2010/main" val="555054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4E789E18-149B-B318-B1E3-7658D7A33226}"/>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1174B56A-AFB7-ED47-C20A-75157572795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26</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F453DF90-BBBB-F911-D6E7-00E8116E5057}"/>
              </a:ext>
            </a:extLst>
          </p:cNvPr>
          <p:cNvSpPr txBox="1">
            <a:spLocks noChangeArrowheads="1"/>
          </p:cNvSpPr>
          <p:nvPr/>
        </p:nvSpPr>
        <p:spPr bwMode="auto">
          <a:xfrm>
            <a:off x="550863" y="374650"/>
            <a:ext cx="75596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HOGAN | Group CEO | </a:t>
            </a:r>
            <a:r>
              <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Ahmed Khalifa </a:t>
            </a:r>
            <a:r>
              <a:rPr kumimoji="0" lang="en-US" altLang="en-US" sz="2000" b="0" i="0" u="none" strike="noStrike" kern="1200" cap="none" spc="0" normalizeH="0" baseline="0" noProof="0" err="1">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Almehairi</a:t>
            </a:r>
            <a:endPar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p:txBody>
      </p:sp>
      <p:grpSp>
        <p:nvGrpSpPr>
          <p:cNvPr id="4" name="Group 3">
            <a:extLst>
              <a:ext uri="{FF2B5EF4-FFF2-40B4-BE49-F238E27FC236}">
                <a16:creationId xmlns:a16="http://schemas.microsoft.com/office/drawing/2014/main" id="{9B0ED594-9C1D-ECC6-4CAD-0EEFDB6C96B3}"/>
              </a:ext>
            </a:extLst>
          </p:cNvPr>
          <p:cNvGrpSpPr/>
          <p:nvPr/>
        </p:nvGrpSpPr>
        <p:grpSpPr>
          <a:xfrm>
            <a:off x="758455" y="930427"/>
            <a:ext cx="6226053" cy="655403"/>
            <a:chOff x="529855" y="131505"/>
            <a:chExt cx="6226053" cy="655403"/>
          </a:xfrm>
        </p:grpSpPr>
        <p:sp>
          <p:nvSpPr>
            <p:cNvPr id="6" name="TextBox 5">
              <a:extLst>
                <a:ext uri="{FF2B5EF4-FFF2-40B4-BE49-F238E27FC236}">
                  <a16:creationId xmlns:a16="http://schemas.microsoft.com/office/drawing/2014/main" id="{1046D0CF-4E5C-FE4C-B945-745D89803707}"/>
                </a:ext>
              </a:extLst>
            </p:cNvPr>
            <p:cNvSpPr txBox="1"/>
            <p:nvPr/>
          </p:nvSpPr>
          <p:spPr>
            <a:xfrm>
              <a:off x="529855" y="131505"/>
              <a:ext cx="680414" cy="253916"/>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lumMod val="50000"/>
                      <a:lumOff val="50000"/>
                    </a:srgbClr>
                  </a:solidFill>
                  <a:effectLst/>
                  <a:uLnTx/>
                  <a:uFillTx/>
                  <a:latin typeface="Lato Light" panose="020F0502020204030203" pitchFamily="34" charset="0"/>
                  <a:ea typeface="Lato Light" panose="020F0502020204030203" pitchFamily="34" charset="0"/>
                  <a:cs typeface="Lato Light" panose="020F0502020204030203" pitchFamily="34" charset="0"/>
                  <a:sym typeface="Arial" panose="020B0604020202020204" pitchFamily="34" charset="0"/>
                </a:rPr>
                <a:t>ROLE</a:t>
              </a:r>
            </a:p>
          </p:txBody>
        </p:sp>
        <p:sp>
          <p:nvSpPr>
            <p:cNvPr id="7" name="TextBox 6">
              <a:extLst>
                <a:ext uri="{FF2B5EF4-FFF2-40B4-BE49-F238E27FC236}">
                  <a16:creationId xmlns:a16="http://schemas.microsoft.com/office/drawing/2014/main" id="{04BF89EB-351B-854F-8F91-714408E88868}"/>
                </a:ext>
              </a:extLst>
            </p:cNvPr>
            <p:cNvSpPr txBox="1"/>
            <p:nvPr/>
          </p:nvSpPr>
          <p:spPr>
            <a:xfrm>
              <a:off x="529855" y="356566"/>
              <a:ext cx="3201164" cy="430342"/>
            </a:xfrm>
            <a:prstGeom prst="rect">
              <a:avLst/>
            </a:prstGeom>
            <a:noFill/>
          </p:spPr>
          <p:txBody>
            <a:bodyPr wrap="square" lIns="91440" tIns="45720" rIns="9144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rial" panose="020B0604020202020204" pitchFamily="34" charset="0"/>
                  <a:ea typeface="Lato Light" panose="020F0502020204030203" pitchFamily="34" charset="0"/>
                  <a:cs typeface="Arial" panose="020B0604020202020204" pitchFamily="34" charset="0"/>
                  <a:sym typeface="Arial" panose="020B0604020202020204" pitchFamily="34" charset="0"/>
                </a:rPr>
                <a:t>Group CEO </a:t>
              </a:r>
            </a:p>
          </p:txBody>
        </p:sp>
        <p:sp>
          <p:nvSpPr>
            <p:cNvPr id="12" name="TextBox 11">
              <a:extLst>
                <a:ext uri="{FF2B5EF4-FFF2-40B4-BE49-F238E27FC236}">
                  <a16:creationId xmlns:a16="http://schemas.microsoft.com/office/drawing/2014/main" id="{45CDDA4A-7F16-6EC1-16D4-CBC200D04AFD}"/>
                </a:ext>
              </a:extLst>
            </p:cNvPr>
            <p:cNvSpPr txBox="1"/>
            <p:nvPr/>
          </p:nvSpPr>
          <p:spPr>
            <a:xfrm>
              <a:off x="5962084" y="131505"/>
              <a:ext cx="748798" cy="253916"/>
            </a:xfrm>
            <a:prstGeom prst="rect">
              <a:avLst/>
            </a:prstGeom>
            <a:noFill/>
          </p:spPr>
          <p:txBody>
            <a:bodyPr wrap="square"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lumMod val="50000"/>
                      <a:lumOff val="50000"/>
                    </a:srgbClr>
                  </a:solidFill>
                  <a:effectLst/>
                  <a:uLnTx/>
                  <a:uFillTx/>
                  <a:latin typeface="Lato Light" panose="020F0502020204030203" pitchFamily="34" charset="0"/>
                  <a:ea typeface="Lato Light" panose="020F0502020204030203" pitchFamily="34" charset="0"/>
                  <a:cs typeface="Lato Light" panose="020F0502020204030203" pitchFamily="34" charset="0"/>
                  <a:sym typeface="Arial" panose="020B0604020202020204" pitchFamily="34" charset="0"/>
                </a:rPr>
                <a:t>TALENT</a:t>
              </a:r>
            </a:p>
          </p:txBody>
        </p:sp>
        <p:sp>
          <p:nvSpPr>
            <p:cNvPr id="13" name="TextBox 12">
              <a:extLst>
                <a:ext uri="{FF2B5EF4-FFF2-40B4-BE49-F238E27FC236}">
                  <a16:creationId xmlns:a16="http://schemas.microsoft.com/office/drawing/2014/main" id="{C7296254-D641-2AF7-EF64-F5789346A2A7}"/>
                </a:ext>
              </a:extLst>
            </p:cNvPr>
            <p:cNvSpPr txBox="1"/>
            <p:nvPr/>
          </p:nvSpPr>
          <p:spPr>
            <a:xfrm>
              <a:off x="3665327" y="296859"/>
              <a:ext cx="3090581" cy="490041"/>
            </a:xfrm>
            <a:prstGeom prst="rect">
              <a:avLst/>
            </a:prstGeom>
            <a:noFill/>
          </p:spPr>
          <p:txBody>
            <a:bodyPr wrap="square" lIns="91440" tIns="45720" rIns="91440" bIns="4572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rial" panose="020B0604020202020204" pitchFamily="34" charset="0"/>
                  <a:ea typeface="Lato Light" panose="020F0502020204030203" pitchFamily="34" charset="0"/>
                  <a:cs typeface="Arial" panose="020B0604020202020204" pitchFamily="34" charset="0"/>
                  <a:sym typeface="Arial" panose="020B0604020202020204" pitchFamily="34" charset="0"/>
                </a:rPr>
                <a:t>Ahmed Khalifa </a:t>
              </a:r>
              <a:r>
                <a:rPr kumimoji="0" lang="en-US" sz="1400" b="1" i="0" u="none" strike="noStrike" kern="1200" cap="none" spc="0" normalizeH="0" baseline="0" noProof="0" err="1">
                  <a:ln>
                    <a:noFill/>
                  </a:ln>
                  <a:solidFill>
                    <a:prstClr val="black"/>
                  </a:solidFill>
                  <a:effectLst/>
                  <a:uLnTx/>
                  <a:uFillTx/>
                  <a:latin typeface="Arial" panose="020B0604020202020204" pitchFamily="34" charset="0"/>
                  <a:ea typeface="Lato Light" panose="020F0502020204030203" pitchFamily="34" charset="0"/>
                  <a:cs typeface="Arial" panose="020B0604020202020204" pitchFamily="34" charset="0"/>
                  <a:sym typeface="Arial" panose="020B0604020202020204" pitchFamily="34" charset="0"/>
                </a:rPr>
                <a:t>Almehairi</a:t>
              </a:r>
              <a:endParaRPr kumimoji="0" lang="en-US" sz="1400" b="1" i="0" u="none" strike="noStrike" kern="1200" cap="none" spc="0" normalizeH="0" baseline="0" noProof="0">
                <a:ln>
                  <a:noFill/>
                </a:ln>
                <a:solidFill>
                  <a:prstClr val="black"/>
                </a:solidFill>
                <a:effectLst/>
                <a:uLnTx/>
                <a:uFillTx/>
                <a:latin typeface="Arial" panose="020B0604020202020204" pitchFamily="34" charset="0"/>
                <a:ea typeface="Lato Light" panose="020F0502020204030203" pitchFamily="34" charset="0"/>
                <a:cs typeface="Arial" panose="020B0604020202020204" pitchFamily="34" charset="0"/>
                <a:sym typeface="Arial" panose="020B0604020202020204" pitchFamily="34" charset="0"/>
              </a:endParaRPr>
            </a:p>
          </p:txBody>
        </p:sp>
      </p:grpSp>
      <p:pic>
        <p:nvPicPr>
          <p:cNvPr id="3" name="Picture 2" descr="A screenshot of a graph&#10;&#10;AI-generated content may be incorrect.">
            <a:extLst>
              <a:ext uri="{FF2B5EF4-FFF2-40B4-BE49-F238E27FC236}">
                <a16:creationId xmlns:a16="http://schemas.microsoft.com/office/drawing/2014/main" id="{B59209AC-3CC0-2B9C-8342-8946B4E8AF67}"/>
              </a:ext>
            </a:extLst>
          </p:cNvPr>
          <p:cNvPicPr>
            <a:picLocks noChangeAspect="1"/>
          </p:cNvPicPr>
          <p:nvPr/>
        </p:nvPicPr>
        <p:blipFill>
          <a:blip r:embed="rId4"/>
          <a:stretch>
            <a:fillRect/>
          </a:stretch>
        </p:blipFill>
        <p:spPr>
          <a:xfrm>
            <a:off x="7772400" y="831850"/>
            <a:ext cx="4419600" cy="5240559"/>
          </a:xfrm>
          <a:prstGeom prst="rect">
            <a:avLst/>
          </a:prstGeom>
        </p:spPr>
      </p:pic>
      <p:sp>
        <p:nvSpPr>
          <p:cNvPr id="2" name="TextBox 1">
            <a:extLst>
              <a:ext uri="{FF2B5EF4-FFF2-40B4-BE49-F238E27FC236}">
                <a16:creationId xmlns:a16="http://schemas.microsoft.com/office/drawing/2014/main" id="{FA9D0CF6-BBC6-AE62-F3DD-F27A8BE7F846}"/>
              </a:ext>
            </a:extLst>
          </p:cNvPr>
          <p:cNvSpPr txBox="1"/>
          <p:nvPr/>
        </p:nvSpPr>
        <p:spPr>
          <a:xfrm>
            <a:off x="580059" y="1540568"/>
            <a:ext cx="6388103" cy="4531841"/>
          </a:xfrm>
          <a:prstGeom prst="rect">
            <a:avLst/>
          </a:prstGeom>
          <a:noFill/>
        </p:spPr>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00000"/>
                </a:solidFill>
                <a:effectLst/>
                <a:uLnTx/>
                <a:uFillTx/>
                <a:latin typeface="Arial"/>
                <a:ea typeface="Lato Light"/>
                <a:cs typeface="Lato Light"/>
                <a:sym typeface="Arial" panose="020B0604020202020204" pitchFamily="34" charset="0"/>
              </a:rPr>
              <a:t>Role · Talent Match</a:t>
            </a:r>
            <a:br>
              <a:rPr lang="en-US" sz="1100" b="1" i="0" u="none" strike="noStrike" kern="1200" cap="none" spc="0" normalizeH="0" baseline="0" noProof="0">
                <a:ln>
                  <a:noFill/>
                </a:ln>
                <a:effectLst/>
                <a:uLnTx/>
                <a:uFillTx/>
                <a:latin typeface="Arial"/>
                <a:ea typeface="Lato Light" panose="020F0502020204030203" pitchFamily="34" charset="0"/>
                <a:cs typeface="Lato Light" panose="020F0502020204030203" pitchFamily="34" charset="0"/>
              </a:rPr>
            </a:br>
            <a:endParaRPr kumimoji="0" lang="en-US" sz="1100" b="1"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171450" indent="-171450" algn="just" eaLnBrk="1" fontAlgn="auto" hangingPunct="1">
              <a:spcBef>
                <a:spcPts val="0"/>
              </a:spcBef>
              <a:spcAft>
                <a:spcPts val="600"/>
              </a:spcAft>
              <a:buFont typeface="Arial" panose="020B0604020202020204" pitchFamily="34" charset="0"/>
              <a:buChar char="•"/>
              <a:defRPr/>
            </a:pPr>
            <a:endParaRPr lang="en-US" sz="1100">
              <a:solidFill>
                <a:srgbClr val="404040"/>
              </a:solidFill>
              <a:latin typeface="Arial"/>
              <a:ea typeface="Lato Light"/>
              <a:cs typeface="Lato Light"/>
            </a:endParaRPr>
          </a:p>
          <a:p>
            <a:pPr marL="171450" indent="-171450" algn="just">
              <a:spcBef>
                <a:spcPts val="0"/>
              </a:spcBef>
              <a:spcAft>
                <a:spcPts val="600"/>
              </a:spcAft>
              <a:buFont typeface="Arial" panose="020B0604020202020204" pitchFamily="34" charset="0"/>
              <a:buChar char="•"/>
              <a:defRPr/>
            </a:pPr>
            <a:r>
              <a:rPr lang="en-US" sz="1100">
                <a:solidFill>
                  <a:srgbClr val="404040"/>
                </a:solidFill>
                <a:latin typeface="Arial"/>
                <a:ea typeface="Lato Light"/>
                <a:cs typeface="Arial"/>
              </a:rPr>
              <a:t>Ahmed appears to have natural ability to do big picture thinking and create impact (Excitable,  Commerce, Inquisitive). </a:t>
            </a:r>
            <a:r>
              <a:rPr kumimoji="0" lang="en-US" sz="1100" b="0" i="0" u="none" strike="noStrike" kern="1200" cap="none" spc="0" normalizeH="0" baseline="0" noProof="0">
                <a:ln>
                  <a:noFill/>
                </a:ln>
                <a:solidFill>
                  <a:srgbClr val="404040"/>
                </a:solidFill>
                <a:effectLst/>
                <a:uLnTx/>
                <a:uFillTx/>
                <a:latin typeface="Arial"/>
                <a:ea typeface="Lato Light"/>
                <a:cs typeface="Lato Light"/>
                <a:sym typeface="Arial" panose="020B0604020202020204" pitchFamily="34" charset="0"/>
              </a:rPr>
              <a:t>Given Ahmed’s wide-ranging interests and his enthusiasm for a multitude of endeavors (generally elevated across MVPI) </a:t>
            </a:r>
            <a:r>
              <a:rPr lang="en-US" sz="1100">
                <a:solidFill>
                  <a:srgbClr val="404040"/>
                </a:solidFill>
                <a:latin typeface="Arial"/>
                <a:ea typeface="Lato Light"/>
                <a:cs typeface="Lato Light"/>
              </a:rPr>
              <a:t>he can get excited</a:t>
            </a:r>
            <a:r>
              <a:rPr kumimoji="0" lang="en-US" sz="1100" b="0" i="0" u="none" strike="noStrike" kern="1200" cap="none" spc="0" normalizeH="0" baseline="0" noProof="0">
                <a:ln>
                  <a:noFill/>
                </a:ln>
                <a:solidFill>
                  <a:srgbClr val="404040"/>
                </a:solidFill>
                <a:effectLst/>
                <a:uLnTx/>
                <a:uFillTx/>
                <a:latin typeface="Arial"/>
                <a:ea typeface="Lato Light"/>
                <a:cs typeface="Lato Light"/>
                <a:sym typeface="Arial" panose="020B0604020202020204" pitchFamily="34" charset="0"/>
              </a:rPr>
              <a:t> by the prospect of moving from a reliance on core CFDs to a multi-asset platform of diversified products and geographic expansion.</a:t>
            </a:r>
            <a:endParaRPr lang="en-US">
              <a:ea typeface="Lato Light"/>
              <a:cs typeface="Lato Light"/>
            </a:endParaRPr>
          </a:p>
          <a:p>
            <a:pPr marL="171450" indent="-171450" algn="just" eaLnBrk="1" fontAlgn="auto" hangingPunct="1">
              <a:spcBef>
                <a:spcPts val="0"/>
              </a:spcBef>
              <a:spcAft>
                <a:spcPts val="600"/>
              </a:spcAft>
              <a:buFont typeface="Arial" panose="020B0604020202020204" pitchFamily="34" charset="0"/>
              <a:buChar char="•"/>
              <a:defRPr/>
            </a:pPr>
            <a:r>
              <a:rPr lang="en-US" sz="1100">
                <a:solidFill>
                  <a:srgbClr val="404040"/>
                </a:solidFill>
                <a:latin typeface="Arial"/>
                <a:ea typeface="Lato Light"/>
                <a:cs typeface="Lato Light"/>
              </a:rPr>
              <a:t>Ahmed should be able</a:t>
            </a:r>
            <a:r>
              <a:rPr kumimoji="0" lang="en-US" sz="1100" b="0" i="0" u="none" strike="noStrike" kern="1200" cap="none" spc="0" normalizeH="0" baseline="0" noProof="0">
                <a:ln>
                  <a:noFill/>
                </a:ln>
                <a:solidFill>
                  <a:srgbClr val="404040"/>
                </a:solidFill>
                <a:effectLst/>
                <a:uLnTx/>
                <a:uFillTx/>
                <a:latin typeface="Arial"/>
                <a:ea typeface="Lato Light"/>
                <a:cs typeface="Lato Light"/>
                <a:sym typeface="Arial" panose="020B0604020202020204" pitchFamily="34" charset="0"/>
              </a:rPr>
              <a:t> </a:t>
            </a:r>
            <a:r>
              <a:rPr lang="en-US" sz="1100">
                <a:solidFill>
                  <a:srgbClr val="404040"/>
                </a:solidFill>
                <a:latin typeface="Arial"/>
                <a:ea typeface="Lato Light"/>
                <a:cs typeface="Lato Light"/>
              </a:rPr>
              <a:t>to </a:t>
            </a:r>
            <a:r>
              <a:rPr kumimoji="0" lang="en-US" sz="1100" b="0" i="0" u="none" strike="noStrike" kern="1200" cap="none" spc="0" normalizeH="0" baseline="0" noProof="0">
                <a:ln>
                  <a:noFill/>
                </a:ln>
                <a:solidFill>
                  <a:srgbClr val="404040"/>
                </a:solidFill>
                <a:effectLst/>
                <a:uLnTx/>
                <a:uFillTx/>
                <a:latin typeface="Arial"/>
                <a:ea typeface="Lato Light"/>
                <a:cs typeface="Lato Light"/>
                <a:sym typeface="Arial" panose="020B0604020202020204" pitchFamily="34" charset="0"/>
              </a:rPr>
              <a:t>rapidly diagnosing issues and, given his courage and capacity for big decisions (Bold, Power), he will be unafraid to make the tough calls. </a:t>
            </a:r>
            <a:endParaRPr lang="en-US" sz="1100" b="0" i="0" u="none" strike="noStrike" kern="1200" cap="none" spc="0" normalizeH="0" baseline="0" noProof="0">
              <a:ln>
                <a:noFill/>
              </a:ln>
              <a:solidFill>
                <a:srgbClr val="404040"/>
              </a:solidFill>
              <a:effectLst/>
              <a:uLnTx/>
              <a:uFillTx/>
              <a:latin typeface="Arial"/>
              <a:ea typeface="Lato Light"/>
              <a:cs typeface="Lato Ligh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00000"/>
                </a:solidFill>
                <a:effectLst/>
                <a:uLnTx/>
                <a:uFillTx/>
                <a:latin typeface="Arial"/>
                <a:ea typeface="Lato Light"/>
                <a:cs typeface="Lato Light"/>
                <a:sym typeface="Arial" panose="020B0604020202020204" pitchFamily="34" charset="0"/>
              </a:rPr>
              <a:t>Potential Derailers </a:t>
            </a:r>
            <a:br>
              <a:rPr lang="en-US" sz="1100" b="1" i="0" u="none" strike="noStrike" kern="1200" cap="none" spc="0" normalizeH="0" baseline="0" noProof="0">
                <a:ln>
                  <a:noFill/>
                </a:ln>
                <a:effectLst/>
                <a:uLnTx/>
                <a:uFillTx/>
                <a:latin typeface="Arial"/>
                <a:ea typeface="Lato Light" panose="020F0502020204030203" pitchFamily="34" charset="0"/>
                <a:cs typeface="Lato Light" panose="020F0502020204030203" pitchFamily="34" charset="0"/>
              </a:rPr>
            </a:br>
            <a:endParaRPr kumimoji="0" lang="en-US" sz="1100" b="1" i="0" u="none" strike="noStrike" kern="1200" cap="none" spc="0" normalizeH="0" baseline="0" noProof="0">
              <a:ln>
                <a:noFill/>
              </a:ln>
              <a:solidFill>
                <a:srgbClr val="C0000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171450" indent="-171450" algn="just" eaLnBrk="1" fontAlgn="auto" hangingPunct="1">
              <a:spcBef>
                <a:spcPts val="0"/>
              </a:spcBef>
              <a:spcAft>
                <a:spcPts val="600"/>
              </a:spcAft>
              <a:buFont typeface="Arial" panose="020B0604020202020204" pitchFamily="34" charset="0"/>
              <a:buChar char="•"/>
              <a:defRPr/>
            </a:pPr>
            <a:r>
              <a:rPr kumimoji="0" lang="en-US" sz="1100" b="0" i="0" u="none" strike="noStrike" kern="1200" cap="none" spc="0" normalizeH="0" baseline="0" noProof="0">
                <a:ln>
                  <a:noFill/>
                </a:ln>
                <a:solidFill>
                  <a:srgbClr val="404040"/>
                </a:solidFill>
                <a:effectLst/>
                <a:uLnTx/>
                <a:uFillTx/>
                <a:latin typeface="Arial"/>
                <a:ea typeface="Lato Light"/>
                <a:cs typeface="Lato Light"/>
                <a:sym typeface="Arial" panose="020B0604020202020204" pitchFamily="34" charset="0"/>
              </a:rPr>
              <a:t>Whilst we see plenty of drive and energy in Ahmed’s profile (elevated across HDS and MVPI) much of this suggests a singular, personal ambition and definition of success (Recognition, relatively</a:t>
            </a:r>
            <a:r>
              <a:rPr kumimoji="0" lang="en-US" sz="1100" b="0" i="1" u="none" strike="noStrike" kern="1200" cap="none" spc="0" normalizeH="0" baseline="0" noProof="0">
                <a:ln>
                  <a:noFill/>
                </a:ln>
                <a:solidFill>
                  <a:srgbClr val="404040"/>
                </a:solidFill>
                <a:effectLst/>
                <a:uLnTx/>
                <a:uFillTx/>
                <a:latin typeface="Arial"/>
                <a:ea typeface="Lato Light"/>
                <a:cs typeface="Lato Light"/>
                <a:sym typeface="Arial" panose="020B0604020202020204" pitchFamily="34" charset="0"/>
              </a:rPr>
              <a:t> </a:t>
            </a:r>
            <a:r>
              <a:rPr kumimoji="0" lang="en-US" sz="1100" b="0" i="0" u="none" strike="noStrike" kern="1200" cap="none" spc="0" normalizeH="0" baseline="0" noProof="0">
                <a:ln>
                  <a:noFill/>
                </a:ln>
                <a:solidFill>
                  <a:srgbClr val="404040"/>
                </a:solidFill>
                <a:effectLst/>
                <a:uLnTx/>
                <a:uFillTx/>
                <a:latin typeface="Arial"/>
                <a:ea typeface="Lato Light"/>
                <a:cs typeface="Lato Light"/>
                <a:sym typeface="Arial" panose="020B0604020202020204" pitchFamily="34" charset="0"/>
              </a:rPr>
              <a:t>low</a:t>
            </a:r>
            <a:r>
              <a:rPr kumimoji="0" lang="en-US" sz="1100" b="0" i="1" u="none" strike="noStrike" kern="1200" cap="none" spc="0" normalizeH="0" baseline="0" noProof="0">
                <a:ln>
                  <a:noFill/>
                </a:ln>
                <a:solidFill>
                  <a:srgbClr val="404040"/>
                </a:solidFill>
                <a:effectLst/>
                <a:uLnTx/>
                <a:uFillTx/>
                <a:latin typeface="Arial"/>
                <a:ea typeface="Lato Light"/>
                <a:cs typeface="Lato Light"/>
                <a:sym typeface="Arial" panose="020B0604020202020204" pitchFamily="34" charset="0"/>
              </a:rPr>
              <a:t> </a:t>
            </a:r>
            <a:r>
              <a:rPr kumimoji="0" lang="en-US" sz="1100" b="0" i="0" u="none" strike="noStrike" kern="1200" cap="none" spc="0" normalizeH="0" baseline="0" noProof="0">
                <a:ln>
                  <a:noFill/>
                </a:ln>
                <a:solidFill>
                  <a:srgbClr val="404040"/>
                </a:solidFill>
                <a:effectLst/>
                <a:uLnTx/>
                <a:uFillTx/>
                <a:latin typeface="Arial"/>
                <a:ea typeface="Lato Light"/>
                <a:cs typeface="Lato Light"/>
                <a:sym typeface="Arial" panose="020B0604020202020204" pitchFamily="34" charset="0"/>
              </a:rPr>
              <a:t>Altruism). He may therefore have to fight against his natural instincts if</a:t>
            </a:r>
            <a:r>
              <a:rPr lang="en-US" sz="1100">
                <a:solidFill>
                  <a:srgbClr val="404040"/>
                </a:solidFill>
                <a:latin typeface="Arial"/>
                <a:ea typeface="Lato Light"/>
                <a:cs typeface="Lato Light"/>
              </a:rPr>
              <a:t> he is</a:t>
            </a:r>
            <a:r>
              <a:rPr kumimoji="0" lang="en-US" sz="1100" b="0" i="0" u="none" strike="noStrike" kern="1200" cap="none" spc="0" normalizeH="0" baseline="0" noProof="0">
                <a:ln>
                  <a:noFill/>
                </a:ln>
                <a:solidFill>
                  <a:srgbClr val="404040"/>
                </a:solidFill>
                <a:effectLst/>
                <a:uLnTx/>
                <a:uFillTx/>
                <a:latin typeface="Arial"/>
                <a:ea typeface="Lato Light"/>
                <a:cs typeface="Lato Light"/>
                <a:sym typeface="Arial" panose="020B0604020202020204" pitchFamily="34" charset="0"/>
              </a:rPr>
              <a:t> to be the champion of a more customer-centric culture where stakeholders and others are energized.</a:t>
            </a:r>
            <a:endParaRPr lang="en-US" sz="1100" b="0" i="0" u="none" strike="noStrike" kern="1200" cap="none" spc="0" normalizeH="0" baseline="0" noProof="0">
              <a:ln>
                <a:noFill/>
              </a:ln>
              <a:solidFill>
                <a:srgbClr val="404040"/>
              </a:solidFill>
              <a:effectLst/>
              <a:uLnTx/>
              <a:uFillTx/>
              <a:latin typeface="Arial"/>
              <a:ea typeface="Lato Light"/>
              <a:cs typeface="Lato Light"/>
            </a:endParaRPr>
          </a:p>
          <a:p>
            <a:pPr marL="171450" indent="-171450" algn="just" eaLnBrk="1" fontAlgn="auto" hangingPunct="1">
              <a:spcBef>
                <a:spcPts val="0"/>
              </a:spcBef>
              <a:spcAft>
                <a:spcPts val="600"/>
              </a:spcAft>
              <a:buFont typeface="Arial" panose="020B0604020202020204" pitchFamily="34" charset="0"/>
              <a:buChar char="•"/>
              <a:defRPr/>
            </a:pPr>
            <a:r>
              <a:rPr kumimoji="0" lang="en-US" sz="1100" b="0" i="0" u="none" strike="noStrike" kern="1200" cap="none" spc="0" normalizeH="0" baseline="0" noProof="0">
                <a:ln>
                  <a:noFill/>
                </a:ln>
                <a:solidFill>
                  <a:srgbClr val="404040"/>
                </a:solidFill>
                <a:effectLst/>
                <a:uLnTx/>
                <a:uFillTx/>
                <a:latin typeface="Arial"/>
                <a:ea typeface="Lato Light"/>
                <a:cs typeface="Lato Light"/>
                <a:sym typeface="Arial" panose="020B0604020202020204" pitchFamily="34" charset="0"/>
              </a:rPr>
              <a:t>Similarly, he may </a:t>
            </a:r>
            <a:r>
              <a:rPr lang="en-US" sz="1100">
                <a:solidFill>
                  <a:srgbClr val="404040"/>
                </a:solidFill>
                <a:latin typeface="Arial"/>
                <a:ea typeface="Lato Light"/>
                <a:cs typeface="Lato Light"/>
              </a:rPr>
              <a:t>need to be </a:t>
            </a:r>
            <a:r>
              <a:rPr lang="en-US" sz="1100" err="1">
                <a:solidFill>
                  <a:srgbClr val="404040"/>
                </a:solidFill>
                <a:latin typeface="Arial"/>
                <a:ea typeface="Lato Light"/>
                <a:cs typeface="Lato Light"/>
              </a:rPr>
              <a:t>thoughful</a:t>
            </a:r>
            <a:r>
              <a:rPr lang="en-US" sz="1100">
                <a:solidFill>
                  <a:srgbClr val="404040"/>
                </a:solidFill>
                <a:latin typeface="Arial"/>
                <a:ea typeface="Lato Light"/>
                <a:cs typeface="Lato Light"/>
              </a:rPr>
              <a:t> of letting</a:t>
            </a:r>
            <a:r>
              <a:rPr kumimoji="0" lang="en-US" sz="1100" b="0" i="0" u="none" strike="noStrike" kern="1200" cap="none" spc="0" normalizeH="0" baseline="0" noProof="0">
                <a:ln>
                  <a:noFill/>
                </a:ln>
                <a:solidFill>
                  <a:srgbClr val="404040"/>
                </a:solidFill>
                <a:effectLst/>
                <a:uLnTx/>
                <a:uFillTx/>
                <a:latin typeface="Arial"/>
                <a:ea typeface="Lato Light"/>
                <a:cs typeface="Lato Light"/>
                <a:sym typeface="Arial" panose="020B0604020202020204" pitchFamily="34" charset="0"/>
              </a:rPr>
              <a:t> go and encouraging his team to be the stars (Power, Skeptical, low Interpersonal Sensitivity), which could have implications for him decisively empowering and building trust across the executive team</a:t>
            </a:r>
            <a:r>
              <a:rPr lang="en-US" sz="1100">
                <a:solidFill>
                  <a:srgbClr val="404040"/>
                </a:solidFill>
                <a:latin typeface="Arial"/>
                <a:ea typeface="Lato Light"/>
                <a:cs typeface="Lato Light"/>
              </a:rPr>
              <a:t> in the next phase of growth</a:t>
            </a:r>
            <a:r>
              <a:rPr kumimoji="0" lang="en-US" sz="1100" b="0" i="0" u="none" strike="noStrike" kern="1200" cap="none" spc="0" normalizeH="0" baseline="0" noProof="0">
                <a:ln>
                  <a:noFill/>
                </a:ln>
                <a:solidFill>
                  <a:srgbClr val="404040"/>
                </a:solidFill>
                <a:effectLst/>
                <a:uLnTx/>
                <a:uFillTx/>
                <a:latin typeface="Arial"/>
                <a:ea typeface="Lato Light"/>
                <a:cs typeface="Lato Light"/>
                <a:sym typeface="Arial" panose="020B0604020202020204" pitchFamily="34" charset="0"/>
              </a:rPr>
              <a:t>.</a:t>
            </a:r>
            <a:endParaRPr lang="en-US" sz="1100" b="0" i="0" u="none" strike="noStrike" kern="1200" cap="none" spc="0" normalizeH="0" baseline="0" noProof="0">
              <a:ln>
                <a:noFill/>
              </a:ln>
              <a:solidFill>
                <a:srgbClr val="404040"/>
              </a:solidFill>
              <a:effectLst/>
              <a:uLnTx/>
              <a:uFillTx/>
              <a:latin typeface="Arial"/>
              <a:ea typeface="Lato Light"/>
              <a:cs typeface="Lato Light"/>
            </a:endParaRPr>
          </a:p>
          <a:p>
            <a:pPr marL="171450" indent="-171450" algn="just" eaLnBrk="1" fontAlgn="auto" hangingPunct="1">
              <a:spcBef>
                <a:spcPts val="0"/>
              </a:spcBef>
              <a:spcAft>
                <a:spcPts val="600"/>
              </a:spcAft>
              <a:buFont typeface="Arial" panose="020B0604020202020204" pitchFamily="34" charset="0"/>
              <a:buChar char="•"/>
              <a:defRPr/>
            </a:pPr>
            <a:r>
              <a:rPr kumimoji="0" lang="en-US" sz="1100" b="0" i="0" u="none" strike="noStrike" kern="1200" cap="none" spc="0" normalizeH="0" baseline="0" noProof="0">
                <a:ln>
                  <a:noFill/>
                </a:ln>
                <a:solidFill>
                  <a:srgbClr val="404040"/>
                </a:solidFill>
                <a:effectLst/>
                <a:uLnTx/>
                <a:uFillTx/>
                <a:latin typeface="Arial"/>
                <a:ea typeface="Lato Light"/>
                <a:cs typeface="Lato Light"/>
                <a:sym typeface="Arial" panose="020B0604020202020204" pitchFamily="34" charset="0"/>
              </a:rPr>
              <a:t>Making money is clearly a huge driver for Ahmed (Commerce), but he may not be known for being rigorous </a:t>
            </a:r>
            <a:r>
              <a:rPr lang="en-US" sz="1100">
                <a:solidFill>
                  <a:srgbClr val="404040"/>
                </a:solidFill>
                <a:latin typeface="Arial"/>
                <a:ea typeface="Lato Light"/>
                <a:cs typeface="Lato Light"/>
              </a:rPr>
              <a:t>about structure and </a:t>
            </a:r>
            <a:r>
              <a:rPr lang="en-US" sz="1100" err="1">
                <a:solidFill>
                  <a:srgbClr val="404040"/>
                </a:solidFill>
                <a:latin typeface="Arial"/>
                <a:ea typeface="Lato Light"/>
                <a:cs typeface="Lato Light"/>
              </a:rPr>
              <a:t>proceeses</a:t>
            </a:r>
            <a:r>
              <a:rPr lang="en-US" sz="1100">
                <a:solidFill>
                  <a:srgbClr val="404040"/>
                </a:solidFill>
                <a:latin typeface="Arial"/>
                <a:ea typeface="Lato Light"/>
                <a:cs typeface="Lato Light"/>
              </a:rPr>
              <a:t> with</a:t>
            </a:r>
            <a:r>
              <a:rPr kumimoji="0" lang="en-US" sz="1100" b="0" i="0" u="none" strike="noStrike" kern="1200" cap="none" spc="0" normalizeH="0" baseline="0" noProof="0">
                <a:ln>
                  <a:noFill/>
                </a:ln>
                <a:solidFill>
                  <a:srgbClr val="404040"/>
                </a:solidFill>
                <a:effectLst/>
                <a:uLnTx/>
                <a:uFillTx/>
                <a:latin typeface="Arial"/>
                <a:ea typeface="Lato Light"/>
                <a:cs typeface="Lato Light"/>
                <a:sym typeface="Arial" panose="020B0604020202020204" pitchFamily="34" charset="0"/>
              </a:rPr>
              <a:t> regards to operational excellence </a:t>
            </a:r>
            <a:r>
              <a:rPr lang="en-US" sz="1100">
                <a:solidFill>
                  <a:srgbClr val="404040"/>
                </a:solidFill>
                <a:latin typeface="Arial"/>
                <a:ea typeface="Lato Light"/>
                <a:cs typeface="Lato Light"/>
              </a:rPr>
              <a:t>and systems. </a:t>
            </a:r>
            <a:endParaRPr lang="en-US" sz="1100" b="0" i="0" u="none" strike="noStrike" kern="1200" cap="none" spc="0" normalizeH="0" baseline="0" noProof="0">
              <a:ln>
                <a:noFill/>
              </a:ln>
              <a:solidFill>
                <a:srgbClr val="404040"/>
              </a:solidFill>
              <a:effectLst/>
              <a:uLnTx/>
              <a:uFillTx/>
              <a:latin typeface="Arial"/>
              <a:ea typeface="Lato Light"/>
              <a:cs typeface="Lato Light"/>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p:txBody>
      </p:sp>
    </p:spTree>
    <p:extLst>
      <p:ext uri="{BB962C8B-B14F-4D97-AF65-F5344CB8AC3E}">
        <p14:creationId xmlns:p14="http://schemas.microsoft.com/office/powerpoint/2010/main" val="164029240"/>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94FBEFA4-4FBA-B4B5-A430-BE83A780A811}"/>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193BB17C-89CC-2649-BF0C-92C3609E2C02}"/>
              </a:ext>
            </a:extLst>
          </p:cNvPr>
          <p:cNvSpPr/>
          <p:nvPr/>
        </p:nvSpPr>
        <p:spPr>
          <a:xfrm>
            <a:off x="4064605" y="1184943"/>
            <a:ext cx="7933715" cy="5459697"/>
          </a:xfrm>
          <a:prstGeom prst="roundRect">
            <a:avLst>
              <a:gd name="adj" fmla="val 5430"/>
            </a:avLst>
          </a:prstGeom>
          <a:solidFill>
            <a:srgbClr val="FFFFFF"/>
          </a:solidFill>
          <a:ln w="6350" cap="flat" cmpd="sng" algn="ctr">
            <a:solidFill>
              <a:srgbClr val="C00000"/>
            </a:solidFill>
            <a:prstDash val="solid"/>
            <a:miter lim="800000"/>
          </a:ln>
          <a:effectLst/>
        </p:spPr>
        <p:txBody>
          <a:bodyPr lIns="144000" tIns="180000" rIns="144000" bIns="468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21507" name="Text Placeholder 1">
            <a:extLst>
              <a:ext uri="{FF2B5EF4-FFF2-40B4-BE49-F238E27FC236}">
                <a16:creationId xmlns:a16="http://schemas.microsoft.com/office/drawing/2014/main" id="{2BD2B299-A1F7-95A9-243A-E88192565313}"/>
              </a:ext>
            </a:extLst>
          </p:cNvPr>
          <p:cNvSpPr>
            <a:spLocks noGrp="1" noChangeArrowheads="1"/>
          </p:cNvSpPr>
          <p:nvPr>
            <p:ph type="body" idx="1"/>
          </p:nvPr>
        </p:nvSpPr>
        <p:spPr bwMode="auto">
          <a:xfrm>
            <a:off x="727075" y="374650"/>
            <a:ext cx="7559675" cy="334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marL="0" lvl="0" indent="0">
              <a:spcBef>
                <a:spcPct val="0"/>
              </a:spcBef>
              <a:spcAft>
                <a:spcPct val="0"/>
              </a:spcAft>
              <a:buClr>
                <a:srgbClr val="000000"/>
              </a:buClr>
              <a:buSzPts val="2400"/>
              <a:defRPr/>
            </a:pPr>
            <a:r>
              <a:rPr lang="en-US" altLang="en-US" sz="2000" kern="1200">
                <a:solidFill>
                  <a:srgbClr val="002060"/>
                </a:solidFill>
                <a:latin typeface="Helvetica Neue" panose="02000503000000020004" pitchFamily="2" charset="0"/>
                <a:cs typeface="Arial" panose="020B0604020202020204" pitchFamily="34" charset="0"/>
                <a:sym typeface="Helvetica Neue Light" panose="02000403000000020004" pitchFamily="2" charset="0"/>
              </a:rPr>
              <a:t>Enabling Success Plan | Group CEO | </a:t>
            </a:r>
            <a:r>
              <a:rPr lang="en-US" altLang="en-US" sz="2000" kern="1200">
                <a:solidFill>
                  <a:srgbClr val="000000"/>
                </a:solidFill>
                <a:latin typeface="Helvetica Neue" panose="02000503000000020004" pitchFamily="2" charset="0"/>
                <a:cs typeface="Arial" panose="020B0604020202020204" pitchFamily="34" charset="0"/>
                <a:sym typeface="Helvetica Neue Light" panose="02000403000000020004" pitchFamily="2" charset="0"/>
              </a:rPr>
              <a:t>Ahmed Khalifa </a:t>
            </a:r>
            <a:r>
              <a:rPr lang="en-US" altLang="en-US" sz="2000" kern="1200" err="1">
                <a:solidFill>
                  <a:srgbClr val="000000"/>
                </a:solidFill>
                <a:latin typeface="Helvetica Neue" panose="02000503000000020004" pitchFamily="2" charset="0"/>
                <a:cs typeface="Arial" panose="020B0604020202020204" pitchFamily="34" charset="0"/>
                <a:sym typeface="Helvetica Neue Light" panose="02000403000000020004" pitchFamily="2" charset="0"/>
              </a:rPr>
              <a:t>Almehairi</a:t>
            </a:r>
            <a:endParaRPr lang="en-US" altLang="en-US" sz="2000" kern="1200">
              <a:solidFill>
                <a:srgbClr val="000000"/>
              </a:solidFill>
              <a:latin typeface="Helvetica Neue" panose="02000503000000020004" pitchFamily="2" charset="0"/>
              <a:cs typeface="Arial" panose="020B0604020202020204" pitchFamily="34" charset="0"/>
              <a:sym typeface="Helvetica Neue Light" panose="02000403000000020004" pitchFamily="2" charset="0"/>
            </a:endParaRPr>
          </a:p>
        </p:txBody>
      </p:sp>
      <p:sp>
        <p:nvSpPr>
          <p:cNvPr id="21508" name="Slide Number Placeholder 2">
            <a:extLst>
              <a:ext uri="{FF2B5EF4-FFF2-40B4-BE49-F238E27FC236}">
                <a16:creationId xmlns:a16="http://schemas.microsoft.com/office/drawing/2014/main" id="{839E22C3-77E5-F605-C99B-B32CFAC7ADEA}"/>
              </a:ext>
            </a:extLst>
          </p:cNvPr>
          <p:cNvSpPr>
            <a:spLocks noGrp="1" noChangeArrowheads="1"/>
          </p:cNvSpPr>
          <p:nvPr>
            <p:ph type="sldNum" sz="quarter" idx="10"/>
          </p:nvPr>
        </p:nvSpPr>
        <p:spPr>
          <a:xfrm>
            <a:off x="0" y="238125"/>
            <a:ext cx="557213" cy="557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94E6AC2-D12E-1843-971E-E4F9DE4AA8B8}"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27</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4" name="TextBox 3">
            <a:extLst>
              <a:ext uri="{FF2B5EF4-FFF2-40B4-BE49-F238E27FC236}">
                <a16:creationId xmlns:a16="http://schemas.microsoft.com/office/drawing/2014/main" id="{FDC13256-3F2E-4017-AD8F-F1B428847425}"/>
              </a:ext>
            </a:extLst>
          </p:cNvPr>
          <p:cNvSpPr txBox="1"/>
          <p:nvPr/>
        </p:nvSpPr>
        <p:spPr>
          <a:xfrm>
            <a:off x="4174610" y="1462356"/>
            <a:ext cx="7713703" cy="4538812"/>
          </a:xfrm>
          <a:prstGeom prst="rect">
            <a:avLst/>
          </a:prstGeom>
          <a:noFill/>
        </p:spPr>
        <p:txBody>
          <a:bodyPr wrap="square"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Finish the Transformation</a:t>
            </a:r>
          </a:p>
          <a:p>
            <a:pPr marL="171450" lvl="0" indent="-171450" eaLnBrk="1" fontAlgn="auto" hangingPunct="1">
              <a:spcBef>
                <a:spcPts val="0"/>
              </a:spcBef>
              <a:spcAft>
                <a:spcPts val="0"/>
              </a:spcAft>
              <a:buFont typeface="Arial" panose="020B0604020202020204" pitchFamily="34" charset="0"/>
              <a:buChar char="•"/>
              <a:defRPr/>
            </a:pPr>
            <a:r>
              <a:rPr lang="en-US" sz="1100" kern="0">
                <a:solidFill>
                  <a:sysClr val="windowText" lastClr="000000"/>
                </a:solidFill>
                <a:latin typeface="Helvetica Neue"/>
                <a:ea typeface="Helvetica Neue" panose="02000503000000020004" pitchFamily="2" charset="0"/>
                <a:cs typeface="Helvetica Neue" panose="02000503000000020004" pitchFamily="2" charset="0"/>
              </a:rPr>
              <a:t>Continue tightening and refining — but it doesn’t need to dominate the agenda or messaging</a:t>
            </a:r>
          </a:p>
          <a:p>
            <a:pPr marL="171450" indent="-171450" eaLnBrk="1" fontAlgn="auto" hangingPunct="1">
              <a:spcBef>
                <a:spcPts val="0"/>
              </a:spcBef>
              <a:spcAft>
                <a:spcPts val="0"/>
              </a:spcAft>
              <a:buFont typeface="Arial" panose="020B0604020202020204" pitchFamily="34" charset="0"/>
              <a:buChar char="•"/>
              <a:defRPr/>
            </a:pPr>
            <a:r>
              <a:rPr lang="en-US" sz="1100">
                <a:latin typeface="Helvetica Neue" panose="02000503000000020004" pitchFamily="2" charset="0"/>
                <a:ea typeface="Helvetica Neue" panose="02000503000000020004" pitchFamily="2" charset="0"/>
                <a:cs typeface="Helvetica Neue" panose="02000503000000020004" pitchFamily="2" charset="0"/>
              </a:rPr>
              <a:t>Publish and track key transformation milestones and celebrate quick wins publicly to reinforce momentum and help employees see progress and value in the change.</a:t>
            </a:r>
          </a:p>
          <a:p>
            <a:pPr marR="0" lvl="0" algn="l" defTabSz="914400" rtl="0" eaLnBrk="1" fontAlgn="auto" latinLnBrk="0" hangingPunct="1">
              <a:lnSpc>
                <a:spcPct val="100000"/>
              </a:lnSpc>
              <a:spcBef>
                <a:spcPts val="0"/>
              </a:spcBef>
              <a:spcAft>
                <a:spcPts val="0"/>
              </a:spcAft>
              <a:buClrTx/>
              <a:buSzTx/>
              <a:tabLst/>
              <a:defRPr/>
            </a:pPr>
            <a:endParaRPr lang="en-US" sz="1100" b="1" kern="0">
              <a:solidFill>
                <a:sysClr val="windowText" lastClr="000000"/>
              </a:solidFill>
              <a:latin typeface="Helvetica Neue" panose="02000503000000020004" pitchFamily="2" charset="0"/>
              <a:ea typeface="Helvetica Neue" panose="02000503000000020004" pitchFamily="2" charset="0"/>
              <a:cs typeface="Helvetica Neue" panose="02000503000000020004" pitchFamily="2" charset="0"/>
            </a:endParaRPr>
          </a:p>
          <a:p>
            <a:pPr lvl="0" eaLnBrk="1" fontAlgn="auto" hangingPunct="1">
              <a:spcBef>
                <a:spcPts val="0"/>
              </a:spcBef>
              <a:spcAft>
                <a:spcPts val="0"/>
              </a:spcAft>
              <a:defRPr/>
            </a:pPr>
            <a:r>
              <a:rPr lang="en-US" sz="1600" b="1" kern="0">
                <a:solidFill>
                  <a:srgbClr val="001E5A"/>
                </a:solidFill>
                <a:latin typeface="Helvetica Neue" panose="02000503000000020004" pitchFamily="2" charset="0"/>
                <a:ea typeface="Helvetica Neue" panose="02000503000000020004" pitchFamily="2" charset="0"/>
                <a:cs typeface="Helvetica Neue" panose="02000503000000020004" pitchFamily="2" charset="0"/>
              </a:rPr>
              <a:t>Transition from Transformation to Growth </a:t>
            </a:r>
          </a:p>
          <a:p>
            <a:pPr marL="171450" indent="-171450" eaLnBrk="1" fontAlgn="auto" hangingPunct="1">
              <a:spcBef>
                <a:spcPts val="0"/>
              </a:spcBef>
              <a:spcAft>
                <a:spcPts val="0"/>
              </a:spcAft>
              <a:buFont typeface="Arial" panose="020B0604020202020204" pitchFamily="34" charset="0"/>
              <a:buChar char="•"/>
              <a:defRPr/>
            </a:pPr>
            <a:r>
              <a:rPr lang="en-US" sz="1100">
                <a:latin typeface="Helvetica Neue"/>
                <a:ea typeface="Helvetica Neue" panose="02000503000000020004" pitchFamily="2" charset="0"/>
                <a:cs typeface="Helvetica Neue" panose="02000503000000020004" pitchFamily="2" charset="0"/>
              </a:rPr>
              <a:t>Align with ADQ / Board on prioritization of growth in the next phase. </a:t>
            </a:r>
            <a:endParaRPr lang="en-US" sz="1100" kern="0">
              <a:solidFill>
                <a:sysClr val="windowText" lastClr="000000"/>
              </a:solidFill>
              <a:latin typeface="Helvetica Neue" panose="02000503000000020004" pitchFamily="2" charset="0"/>
              <a:ea typeface="Helvetica Neue" panose="02000503000000020004" pitchFamily="2" charset="0"/>
              <a:cs typeface="Helvetica Neue" panose="02000503000000020004" pitchFamily="2" charset="0"/>
            </a:endParaRPr>
          </a:p>
          <a:p>
            <a:pPr marL="171450" lvl="0" indent="-171450" eaLnBrk="1" fontAlgn="auto" hangingPunct="1">
              <a:spcBef>
                <a:spcPts val="0"/>
              </a:spcBef>
              <a:spcAft>
                <a:spcPts val="0"/>
              </a:spcAft>
              <a:buFont typeface="Arial" panose="020B0604020202020204" pitchFamily="34" charset="0"/>
              <a:buChar char="•"/>
              <a:defRPr/>
            </a:pPr>
            <a:r>
              <a:rPr lang="en-US" sz="1100" kern="0">
                <a:solidFill>
                  <a:sysClr val="windowText" lastClr="000000"/>
                </a:solidFill>
                <a:latin typeface="Helvetica Neue" panose="02000503000000020004" pitchFamily="2" charset="0"/>
                <a:ea typeface="Helvetica Neue" panose="02000503000000020004" pitchFamily="2" charset="0"/>
                <a:cs typeface="Helvetica Neue" panose="02000503000000020004" pitchFamily="2" charset="0"/>
              </a:rPr>
              <a:t>Define with the Chiefs —and communicate broadly—a 12–18 month digital and commercial growth roadmap, linking technology upgrades directly to new business goals and revenue streams.</a:t>
            </a:r>
          </a:p>
          <a:p>
            <a:pPr marL="171450" lvl="0" indent="-171450" eaLnBrk="1" fontAlgn="auto" hangingPunct="1">
              <a:spcBef>
                <a:spcPts val="0"/>
              </a:spcBef>
              <a:spcAft>
                <a:spcPts val="0"/>
              </a:spcAft>
              <a:buFont typeface="Arial" panose="020B0604020202020204" pitchFamily="34" charset="0"/>
              <a:buChar char="•"/>
              <a:defRPr/>
            </a:pPr>
            <a:r>
              <a:rPr lang="en-US" sz="1100" kern="0">
                <a:solidFill>
                  <a:sysClr val="windowText" lastClr="000000"/>
                </a:solidFill>
                <a:latin typeface="Helvetica Neue" panose="02000503000000020004" pitchFamily="2" charset="0"/>
                <a:ea typeface="Helvetica Neue" panose="02000503000000020004" pitchFamily="2" charset="0"/>
                <a:cs typeface="Helvetica Neue" panose="02000503000000020004" pitchFamily="2" charset="0"/>
              </a:rPr>
              <a:t>Empower a joint digital-commercial task force, including commercial, product, tech, and data leaders, charged with breaking roadblocks and delivering milestone results.</a:t>
            </a:r>
          </a:p>
          <a:p>
            <a:pPr lvl="0" eaLnBrk="1" fontAlgn="auto" hangingPunct="1">
              <a:spcBef>
                <a:spcPts val="0"/>
              </a:spcBef>
              <a:spcAft>
                <a:spcPts val="0"/>
              </a:spcAft>
              <a:defRPr/>
            </a:pPr>
            <a:endParaRPr lang="en-US" sz="1100" kern="0">
              <a:solidFill>
                <a:sysClr val="windowText" lastClr="000000"/>
              </a:solidFill>
              <a:latin typeface="Helvetica Neue" panose="02000503000000020004" pitchFamily="2" charset="0"/>
              <a:ea typeface="Helvetica Neue" panose="02000503000000020004" pitchFamily="2" charset="0"/>
              <a:cs typeface="Helvetica Neue" panose="02000503000000020004" pitchFamily="2" charset="0"/>
            </a:endParaRPr>
          </a:p>
          <a:p>
            <a:pPr lvl="0" eaLnBrk="1" fontAlgn="auto" hangingPunct="1">
              <a:spcBef>
                <a:spcPts val="0"/>
              </a:spcBef>
              <a:spcAft>
                <a:spcPts val="0"/>
              </a:spcAft>
              <a:defRPr/>
            </a:pPr>
            <a:r>
              <a:rPr lang="en-US" sz="1600" b="1" kern="0">
                <a:solidFill>
                  <a:srgbClr val="001E5A"/>
                </a:solidFill>
                <a:latin typeface="Helvetica Neue" panose="02000503000000020004" pitchFamily="2" charset="0"/>
                <a:ea typeface="Helvetica Neue" panose="02000503000000020004" pitchFamily="2" charset="0"/>
                <a:cs typeface="Helvetica Neue" panose="02000503000000020004" pitchFamily="2" charset="0"/>
              </a:rPr>
              <a:t>Siloed Team</a:t>
            </a:r>
          </a:p>
          <a:p>
            <a:pPr marL="171450" indent="-171450">
              <a:buFont typeface="Arial" panose="020B0604020202020204" pitchFamily="34" charset="0"/>
              <a:buChar char="•"/>
              <a:defRPr/>
            </a:pPr>
            <a:r>
              <a:rPr lang="en-US" sz="1100" kern="0">
                <a:solidFill>
                  <a:sysClr val="windowText" lastClr="000000"/>
                </a:solidFill>
                <a:latin typeface="Helvetica Neue" panose="02000503000000020004" pitchFamily="2" charset="0"/>
                <a:ea typeface="Helvetica Neue" panose="02000503000000020004" pitchFamily="2" charset="0"/>
                <a:cs typeface="Helvetica Neue" panose="02000503000000020004" pitchFamily="2" charset="0"/>
              </a:rPr>
              <a:t>The new team is mostly capable. Strengthen situational leadership by flexing style based on team maturity — move from a directive, hands-on approach with less experienced leaders to a more coaching and delegating style with more experienced ones.</a:t>
            </a:r>
          </a:p>
          <a:p>
            <a:pPr marL="171450" lvl="0" indent="-171450">
              <a:buFont typeface="Arial" panose="020B0604020202020204" pitchFamily="34" charset="0"/>
              <a:buChar char="•"/>
              <a:defRPr/>
            </a:pPr>
            <a:r>
              <a:rPr lang="en-US" sz="1100">
                <a:latin typeface="Helvetica Neue" panose="02000503000000020004" pitchFamily="2" charset="0"/>
                <a:ea typeface="Helvetica Neue" panose="02000503000000020004" pitchFamily="2" charset="0"/>
                <a:cs typeface="Helvetica Neue" panose="02000503000000020004" pitchFamily="2" charset="0"/>
              </a:rPr>
              <a:t>As a team, map out the top 5–7 cross-functional interdependencies that are critical to delivering the business plan. Feature these in weekly meetings, with rotating “deep dives” to discuss progress, challenges, and resource trade-offs.</a:t>
            </a:r>
            <a:endParaRPr lang="en-US" sz="1100" kern="0">
              <a:solidFill>
                <a:sysClr val="windowText" lastClr="000000"/>
              </a:solidFill>
              <a:latin typeface="Helvetica Neue" panose="02000503000000020004" pitchFamily="2" charset="0"/>
              <a:ea typeface="Helvetica Neue" panose="02000503000000020004" pitchFamily="2" charset="0"/>
              <a:cs typeface="Helvetica Neue" panose="02000503000000020004" pitchFamily="2" charset="0"/>
            </a:endParaRPr>
          </a:p>
          <a:p>
            <a:pPr marL="171450" lvl="0" indent="-171450">
              <a:buFont typeface="Arial" panose="020B0604020202020204" pitchFamily="34" charset="0"/>
              <a:buChar char="•"/>
              <a:defRPr/>
            </a:pPr>
            <a:r>
              <a:rPr lang="en-US" sz="1100" kern="0">
                <a:solidFill>
                  <a:sysClr val="windowText" lastClr="000000"/>
                </a:solidFill>
                <a:latin typeface="Helvetica Neue" panose="02000503000000020004" pitchFamily="2" charset="0"/>
                <a:ea typeface="Helvetica Neue" panose="02000503000000020004" pitchFamily="2" charset="0"/>
                <a:cs typeface="Helvetica Neue" panose="02000503000000020004" pitchFamily="2" charset="0"/>
              </a:rPr>
              <a:t>Define a clear weekly and monthly cadence — one forum for decisions, one voice to the organization.</a:t>
            </a:r>
          </a:p>
          <a:p>
            <a:pPr marL="171450" lvl="0" indent="-171450">
              <a:buFont typeface="Arial" panose="020B0604020202020204" pitchFamily="34" charset="0"/>
              <a:buChar char="•"/>
              <a:defRPr/>
            </a:pPr>
            <a:r>
              <a:rPr lang="en-US" sz="1100" kern="0">
                <a:solidFill>
                  <a:sysClr val="windowText" lastClr="000000"/>
                </a:solidFill>
                <a:latin typeface="Helvetica Neue" panose="02000503000000020004" pitchFamily="2" charset="0"/>
                <a:ea typeface="Helvetica Neue" panose="02000503000000020004" pitchFamily="2" charset="0"/>
                <a:cs typeface="Helvetica Neue" panose="02000503000000020004" pitchFamily="2" charset="0"/>
              </a:rPr>
              <a:t>Targeted team-building to replace silos with alignment, trust, and teamwork.</a:t>
            </a:r>
          </a:p>
          <a:p>
            <a:pPr marL="171450" lvl="0" indent="-171450">
              <a:buFont typeface="Arial" panose="020B0604020202020204" pitchFamily="34" charset="0"/>
              <a:buChar char="•"/>
              <a:defRPr/>
            </a:pPr>
            <a:r>
              <a:rPr lang="en-US" sz="1100" kern="0">
                <a:solidFill>
                  <a:sysClr val="windowText" lastClr="000000"/>
                </a:solidFill>
                <a:latin typeface="Helvetica Neue" panose="02000503000000020004" pitchFamily="2" charset="0"/>
                <a:ea typeface="Helvetica Neue" panose="02000503000000020004" pitchFamily="2" charset="0"/>
                <a:cs typeface="Helvetica Neue" panose="02000503000000020004" pitchFamily="2" charset="0"/>
              </a:rPr>
              <a:t>Support cultural integration for team members new to the UAE.</a:t>
            </a:r>
          </a:p>
          <a:p>
            <a:pPr lvl="0">
              <a:defRPr/>
            </a:pPr>
            <a:endParaRPr lang="en-US" sz="1100" kern="0">
              <a:solidFill>
                <a:sysClr val="windowText" lastClr="000000"/>
              </a:solidFill>
              <a:latin typeface="Helvetica Neue" panose="02000503000000020004" pitchFamily="2" charset="0"/>
              <a:ea typeface="Helvetica Neue" panose="02000503000000020004" pitchFamily="2" charset="0"/>
              <a:cs typeface="Helvetica Neue" panose="02000503000000020004" pitchFamily="2" charset="0"/>
            </a:endParaRPr>
          </a:p>
          <a:p>
            <a:pPr lvl="0" eaLnBrk="1" fontAlgn="auto" hangingPunct="1">
              <a:spcBef>
                <a:spcPts val="0"/>
              </a:spcBef>
              <a:spcAft>
                <a:spcPts val="0"/>
              </a:spcAft>
              <a:defRPr/>
            </a:pPr>
            <a:r>
              <a:rPr lang="en-US" sz="1600" b="1" kern="0">
                <a:solidFill>
                  <a:srgbClr val="001E5A"/>
                </a:solidFill>
                <a:latin typeface="Helvetica Neue" panose="02000503000000020004" pitchFamily="2" charset="0"/>
                <a:ea typeface="Helvetica Neue" panose="02000503000000020004" pitchFamily="2" charset="0"/>
                <a:cs typeface="Helvetica Neue" panose="02000503000000020004" pitchFamily="2" charset="0"/>
              </a:rPr>
              <a:t>Organizational Energy </a:t>
            </a:r>
            <a:endParaRPr lang="en-US" sz="1100">
              <a:latin typeface="Arial"/>
              <a:ea typeface="Arial"/>
              <a:cs typeface="Arial"/>
            </a:endParaRPr>
          </a:p>
          <a:p>
            <a:pPr marL="171450" indent="-171450">
              <a:buFont typeface="Arial" panose="020B0604020202020204" pitchFamily="34" charset="0"/>
              <a:buChar char="•"/>
              <a:defRPr/>
            </a:pPr>
            <a:r>
              <a:rPr lang="en-US" sz="1100" kern="0">
                <a:solidFill>
                  <a:sysClr val="windowText" lastClr="000000"/>
                </a:solidFill>
                <a:latin typeface="Helvetica Neue" panose="02000503000000020004" pitchFamily="2" charset="0"/>
                <a:ea typeface="Helvetica Neue" panose="02000503000000020004" pitchFamily="2" charset="0"/>
                <a:cs typeface="Helvetica Neue" panose="02000503000000020004" pitchFamily="2" charset="0"/>
              </a:rPr>
              <a:t>Remove remaining low performers</a:t>
            </a:r>
          </a:p>
          <a:p>
            <a:pPr marL="171450" lvl="0" indent="-171450">
              <a:buFont typeface="Arial" panose="020B0604020202020204" pitchFamily="34" charset="0"/>
              <a:buChar char="•"/>
              <a:defRPr/>
            </a:pPr>
            <a:r>
              <a:rPr lang="en-US" sz="1100">
                <a:latin typeface="Arial"/>
                <a:ea typeface="Arial"/>
                <a:cs typeface="Arial"/>
              </a:rPr>
              <a:t>Identify and safeguard the Top 30-40 critical roles</a:t>
            </a:r>
          </a:p>
          <a:p>
            <a:pPr marL="171450" lvl="0" indent="-171450">
              <a:buFont typeface="Arial" panose="020B0604020202020204" pitchFamily="34" charset="0"/>
              <a:buChar char="•"/>
              <a:defRPr/>
            </a:pPr>
            <a:r>
              <a:rPr lang="en-US" sz="1100">
                <a:latin typeface="Arial"/>
                <a:ea typeface="Arial"/>
                <a:cs typeface="Arial"/>
              </a:rPr>
              <a:t>Connect the support functions to Value (need to build their business acumen)  </a:t>
            </a:r>
            <a:endParaRPr lang="en-US" sz="1100" kern="0">
              <a:solidFill>
                <a:sysClr val="windowText" lastClr="000000"/>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Rounded Rectangle 5">
            <a:extLst>
              <a:ext uri="{FF2B5EF4-FFF2-40B4-BE49-F238E27FC236}">
                <a16:creationId xmlns:a16="http://schemas.microsoft.com/office/drawing/2014/main" id="{1FDB1ACF-5756-6CC3-C6B6-40C0A01A8547}"/>
              </a:ext>
            </a:extLst>
          </p:cNvPr>
          <p:cNvSpPr/>
          <p:nvPr/>
        </p:nvSpPr>
        <p:spPr>
          <a:xfrm>
            <a:off x="698743" y="1154368"/>
            <a:ext cx="2945794" cy="5459697"/>
          </a:xfrm>
          <a:prstGeom prst="roundRect">
            <a:avLst>
              <a:gd name="adj" fmla="val 5430"/>
            </a:avLst>
          </a:prstGeom>
          <a:solidFill>
            <a:srgbClr val="FFFFFF"/>
          </a:solidFill>
          <a:ln w="6350" cap="flat" cmpd="sng" algn="ctr">
            <a:solidFill>
              <a:srgbClr val="C00000"/>
            </a:solidFill>
            <a:prstDash val="solid"/>
            <a:miter lim="800000"/>
          </a:ln>
          <a:effectLst/>
        </p:spPr>
        <p:txBody>
          <a:bodyPr lIns="144000" tIns="180000" rIns="144000" bIns="46800" rtlCol="0" anchor="t" anchorCtr="0"/>
          <a:lstStyle/>
          <a:p>
            <a:pPr marL="0" marR="0" lvl="2"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What are We Solving For?</a:t>
            </a:r>
          </a:p>
          <a:p>
            <a:pPr marL="0" marR="0" lvl="2"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a:ln>
                <a:noFill/>
              </a:ln>
              <a:solidFill>
                <a:srgbClr val="001E5A"/>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21522" name="TextBox 21521">
            <a:extLst>
              <a:ext uri="{FF2B5EF4-FFF2-40B4-BE49-F238E27FC236}">
                <a16:creationId xmlns:a16="http://schemas.microsoft.com/office/drawing/2014/main" id="{32EF13D8-BECF-C2CD-B53F-12C6CA6B5A42}"/>
              </a:ext>
            </a:extLst>
          </p:cNvPr>
          <p:cNvSpPr txBox="1"/>
          <p:nvPr/>
        </p:nvSpPr>
        <p:spPr>
          <a:xfrm>
            <a:off x="762403" y="1814037"/>
            <a:ext cx="2751506" cy="3139321"/>
          </a:xfrm>
          <a:prstGeom prst="rect">
            <a:avLst/>
          </a:prstGeom>
          <a:noFill/>
        </p:spPr>
        <p:txBody>
          <a:bodyPr wrap="square">
            <a:spAutoFit/>
          </a:bodyPr>
          <a:lstStyle/>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sz="1100" b="1" i="0" u="none" strike="noStrike" kern="1200" cap="none" spc="0" normalizeH="0" baseline="0" noProof="0">
                <a:ln>
                  <a:noFill/>
                </a:ln>
                <a:solidFill>
                  <a:srgbClr val="000000"/>
                </a:solidFill>
                <a:effectLst/>
                <a:uLnTx/>
                <a:uFillTx/>
                <a:latin typeface="Arial"/>
                <a:ea typeface="Arial"/>
                <a:cs typeface="Arial"/>
                <a:sym typeface="Arial" panose="020B0604020202020204" pitchFamily="34" charset="0"/>
              </a:rPr>
              <a:t>Finish the Transformation </a:t>
            </a:r>
            <a:r>
              <a:rPr kumimoji="0" lang="en-US" sz="1100" b="0" i="0" u="none" strike="noStrike" kern="1200" cap="none" spc="0" normalizeH="0" baseline="0" noProof="0">
                <a:ln>
                  <a:noFill/>
                </a:ln>
                <a:solidFill>
                  <a:srgbClr val="000000"/>
                </a:solidFill>
                <a:effectLst/>
                <a:uLnTx/>
                <a:uFillTx/>
                <a:latin typeface="Arial"/>
                <a:ea typeface="Arial"/>
                <a:cs typeface="Arial"/>
                <a:sym typeface="Arial" panose="020B0604020202020204" pitchFamily="34" charset="0"/>
              </a:rPr>
              <a:t>— keep improving quietly but stop letting ‘cleanup’ be the company’s story.</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endParaRPr kumimoji="0" lang="en-US" sz="1100" b="1" i="0" u="none" strike="noStrike" kern="1200" cap="none" spc="0" normalizeH="0" baseline="0" noProof="0">
              <a:ln>
                <a:noFill/>
              </a:ln>
              <a:solidFill>
                <a:srgbClr val="000000"/>
              </a:solidFill>
              <a:effectLst/>
              <a:uLnTx/>
              <a:uFillTx/>
              <a:latin typeface="Arial"/>
              <a:ea typeface="Arial"/>
              <a:cs typeface="Arial"/>
              <a:sym typeface="Arial" panose="020B060402020202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sz="1100" b="1" i="0" u="none" strike="noStrike" kern="1200" cap="none" spc="0" normalizeH="0" baseline="0" noProof="0">
                <a:ln>
                  <a:noFill/>
                </a:ln>
                <a:solidFill>
                  <a:srgbClr val="000000"/>
                </a:solidFill>
                <a:effectLst/>
                <a:uLnTx/>
                <a:uFillTx/>
                <a:latin typeface="Arial"/>
                <a:ea typeface="Arial"/>
                <a:cs typeface="Arial"/>
                <a:sym typeface="Arial" panose="020B0604020202020204" pitchFamily="34" charset="0"/>
              </a:rPr>
              <a:t>Transition from Transformation to Growth - </a:t>
            </a:r>
            <a:r>
              <a:rPr kumimoji="0" lang="en-US" sz="1100" b="0" i="0" u="none" strike="noStrike" kern="1200" cap="none" spc="0" normalizeH="0" baseline="0" noProof="0">
                <a:ln>
                  <a:noFill/>
                </a:ln>
                <a:solidFill>
                  <a:srgbClr val="000000"/>
                </a:solidFill>
                <a:effectLst/>
                <a:uLnTx/>
                <a:uFillTx/>
                <a:latin typeface="Arial"/>
                <a:ea typeface="Arial"/>
                <a:cs typeface="Arial"/>
                <a:sym typeface="Arial" panose="020B0604020202020204" pitchFamily="34" charset="0"/>
              </a:rPr>
              <a:t>Right now, too many decisions depend directly on you. That’s normal during cleanup, but it slows growth execution.</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endParaRPr kumimoji="0" lang="en-US" sz="1100" b="1" i="0" u="none" strike="noStrike" kern="1200" cap="none" spc="0" normalizeH="0" baseline="0" noProof="0">
              <a:ln>
                <a:noFill/>
              </a:ln>
              <a:solidFill>
                <a:srgbClr val="000000"/>
              </a:solidFill>
              <a:effectLst/>
              <a:uLnTx/>
              <a:uFillTx/>
              <a:latin typeface="Arial"/>
              <a:ea typeface="Arial"/>
              <a:cs typeface="Arial"/>
              <a:sym typeface="Arial" panose="020B0604020202020204" pitchFamily="34" charset="0"/>
            </a:endParaRPr>
          </a:p>
          <a:p>
            <a:pPr marL="228600" lvl="0" indent="-228600">
              <a:buFont typeface="+mj-lt"/>
              <a:buAutoNum type="arabicPeriod"/>
            </a:pPr>
            <a:r>
              <a:rPr kumimoji="0" lang="en-US" sz="1100" b="1" i="0" u="none" strike="noStrike" kern="1200" cap="none" spc="0" normalizeH="0" baseline="0" noProof="0">
                <a:ln>
                  <a:noFill/>
                </a:ln>
                <a:solidFill>
                  <a:srgbClr val="000000"/>
                </a:solidFill>
                <a:effectLst/>
                <a:uLnTx/>
                <a:uFillTx/>
                <a:latin typeface="Arial"/>
                <a:ea typeface="Arial"/>
                <a:cs typeface="Arial"/>
                <a:sym typeface="Arial" panose="020B0604020202020204" pitchFamily="34" charset="0"/>
              </a:rPr>
              <a:t>Siloed Team - </a:t>
            </a:r>
            <a:r>
              <a:rPr lang="en-US" sz="1100" kern="0">
                <a:solidFill>
                  <a:sysClr val="windowText" lastClr="000000"/>
                </a:solidFill>
                <a:latin typeface="Helvetica Neue" panose="02000503000000020004" pitchFamily="2" charset="0"/>
                <a:ea typeface="Helvetica Neue" panose="02000503000000020004" pitchFamily="2" charset="0"/>
                <a:cs typeface="Helvetica Neue" panose="02000503000000020004" pitchFamily="2" charset="0"/>
              </a:rPr>
              <a:t>Synchronizing the team around a few enterprise priorities increases speed and reduces your firefighting load</a:t>
            </a:r>
          </a:p>
          <a:p>
            <a:pPr marL="228600" lvl="0" indent="-228600">
              <a:buFont typeface="+mj-lt"/>
              <a:buAutoNum type="arabicPeriod"/>
            </a:pPr>
            <a:endParaRPr kumimoji="0" lang="en-US" sz="1100" b="0" i="0" u="none" strike="noStrike" kern="1200" cap="none" spc="0" normalizeH="0" baseline="0" noProof="0">
              <a:ln>
                <a:noFill/>
              </a:ln>
              <a:solidFill>
                <a:srgbClr val="000000"/>
              </a:solidFill>
              <a:effectLst/>
              <a:uLnTx/>
              <a:uFillTx/>
              <a:latin typeface="Arial"/>
              <a:ea typeface="Arial"/>
              <a:cs typeface="Arial"/>
              <a:sym typeface="Arial" panose="020B060402020202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sz="1100" b="1" i="0" u="none" strike="noStrike" kern="1200" cap="none" spc="0" normalizeH="0" baseline="0" noProof="0">
                <a:ln>
                  <a:noFill/>
                </a:ln>
                <a:solidFill>
                  <a:srgbClr val="000000"/>
                </a:solidFill>
                <a:effectLst/>
                <a:uLnTx/>
                <a:uFillTx/>
                <a:latin typeface="Arial"/>
                <a:ea typeface="Arial"/>
                <a:cs typeface="Arial"/>
                <a:sym typeface="Arial" panose="020B0604020202020204" pitchFamily="34" charset="0"/>
              </a:rPr>
              <a:t>Organizational Energy - </a:t>
            </a:r>
            <a:r>
              <a:rPr kumimoji="0" lang="en-US" sz="1100" b="0" i="0" u="none" strike="noStrike" kern="1200" cap="none" spc="0" normalizeH="0" baseline="0" noProof="0">
                <a:ln>
                  <a:noFill/>
                </a:ln>
                <a:solidFill>
                  <a:srgbClr val="000000"/>
                </a:solidFill>
                <a:effectLst/>
                <a:uLnTx/>
                <a:uFillTx/>
                <a:latin typeface="Arial"/>
                <a:ea typeface="Arial"/>
                <a:cs typeface="Arial"/>
                <a:sym typeface="Arial" panose="020B0604020202020204" pitchFamily="34" charset="0"/>
              </a:rPr>
              <a:t>Remove underperformers and safeguard critical roles.</a:t>
            </a:r>
          </a:p>
        </p:txBody>
      </p:sp>
      <p:sp>
        <p:nvSpPr>
          <p:cNvPr id="3" name="TextBox 2">
            <a:extLst>
              <a:ext uri="{FF2B5EF4-FFF2-40B4-BE49-F238E27FC236}">
                <a16:creationId xmlns:a16="http://schemas.microsoft.com/office/drawing/2014/main" id="{0F2D4104-876E-7AED-28BF-EAD594993AA3}"/>
              </a:ext>
            </a:extLst>
          </p:cNvPr>
          <p:cNvSpPr txBox="1"/>
          <p:nvPr/>
        </p:nvSpPr>
        <p:spPr>
          <a:xfrm>
            <a:off x="6438405" y="1123846"/>
            <a:ext cx="2834640"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
                <a:srgbClr val="BA0C2F"/>
              </a:buClr>
              <a:buSzPts val="3600"/>
              <a:buFontTx/>
              <a:buNone/>
              <a:tabLst/>
              <a:defRPr/>
            </a:pPr>
            <a:r>
              <a:rPr kumimoji="0" lang="en-US" sz="1800" b="1" i="0" u="none" strike="noStrike" kern="0" cap="none" spc="0" normalizeH="0" baseline="0" noProof="0">
                <a:ln>
                  <a:noFill/>
                </a:ln>
                <a:solidFill>
                  <a:srgbClr val="000000"/>
                </a:solidFill>
                <a:effectLst/>
                <a:uLnTx/>
                <a:uFillTx/>
                <a:latin typeface="Arial" panose="020B0604020202020204" pitchFamily="34" charset="0"/>
                <a:ea typeface="Lato"/>
                <a:cs typeface="Arial" panose="020B0604020202020204" pitchFamily="34" charset="0"/>
                <a:sym typeface="Lato"/>
              </a:rPr>
              <a:t>Success Enabling </a:t>
            </a:r>
            <a:r>
              <a:rPr kumimoji="0" lang="en-US" sz="1800" b="1" i="0" u="none" strike="noStrike" kern="0" cap="none" spc="0" normalizeH="0" baseline="0" noProof="0">
                <a:ln>
                  <a:noFill/>
                </a:ln>
                <a:solidFill>
                  <a:srgbClr val="BA0C2F"/>
                </a:solidFill>
                <a:effectLst/>
                <a:uLnTx/>
                <a:uFillTx/>
                <a:latin typeface="Arial" panose="020B0604020202020204" pitchFamily="34" charset="0"/>
                <a:ea typeface="Lato"/>
                <a:cs typeface="Arial" panose="020B0604020202020204" pitchFamily="34" charset="0"/>
                <a:sym typeface="Lato"/>
              </a:rPr>
              <a:t>Plan</a:t>
            </a:r>
            <a:endParaRPr kumimoji="0" lang="en-US" sz="1800" b="1" i="0" u="none" strike="noStrike" kern="0" cap="none" spc="0" normalizeH="0" baseline="0" noProof="0">
              <a:ln>
                <a:noFill/>
              </a:ln>
              <a:solidFill>
                <a:prstClr val="black"/>
              </a:solidFill>
              <a:effectLst/>
              <a:uLnTx/>
              <a:uFillTx/>
              <a:latin typeface="Arial" panose="020B0604020202020204" pitchFamily="34" charset="0"/>
              <a:ea typeface="Lato"/>
              <a:cs typeface="Arial" panose="020B0604020202020204" pitchFamily="34" charset="0"/>
              <a:sym typeface="Lato"/>
            </a:endParaRPr>
          </a:p>
        </p:txBody>
      </p:sp>
    </p:spTree>
    <p:extLst>
      <p:ext uri="{BB962C8B-B14F-4D97-AF65-F5344CB8AC3E}">
        <p14:creationId xmlns:p14="http://schemas.microsoft.com/office/powerpoint/2010/main" val="32544142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F1E06-AE96-89FB-8354-56998776203B}"/>
            </a:ext>
          </a:extLst>
        </p:cNvPr>
        <p:cNvGrpSpPr/>
        <p:nvPr/>
      </p:nvGrpSpPr>
      <p:grpSpPr>
        <a:xfrm>
          <a:off x="0" y="0"/>
          <a:ext cx="0" cy="0"/>
          <a:chOff x="0" y="0"/>
          <a:chExt cx="0" cy="0"/>
        </a:xfrm>
      </p:grpSpPr>
      <p:sp>
        <p:nvSpPr>
          <p:cNvPr id="19457" name="Text Placeholder 1">
            <a:extLst>
              <a:ext uri="{FF2B5EF4-FFF2-40B4-BE49-F238E27FC236}">
                <a16:creationId xmlns:a16="http://schemas.microsoft.com/office/drawing/2014/main" id="{AE11C98C-F0A6-8F3F-6959-933743AF0AE1}"/>
              </a:ext>
            </a:extLst>
          </p:cNvPr>
          <p:cNvSpPr>
            <a:spLocks noGrp="1" noChangeArrowheads="1"/>
          </p:cNvSpPr>
          <p:nvPr>
            <p:ph type="body" idx="1"/>
          </p:nvPr>
        </p:nvSpPr>
        <p:spPr bwMode="auto">
          <a:xfrm>
            <a:off x="143668" y="3298103"/>
            <a:ext cx="4841875" cy="1966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a:spcBef>
                <a:spcPct val="0"/>
              </a:spcBef>
              <a:spcAft>
                <a:spcPct val="0"/>
              </a:spcAft>
              <a:buClr>
                <a:srgbClr val="000000"/>
              </a:buClr>
              <a:buFont typeface="Arial" panose="020B0604020202020204" pitchFamily="34" charset="0"/>
              <a:buNone/>
            </a:pPr>
            <a:r>
              <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rPr>
              <a:t>Chief Commercial </a:t>
            </a:r>
          </a:p>
          <a:p>
            <a:pPr>
              <a:spcBef>
                <a:spcPct val="0"/>
              </a:spcBef>
              <a:spcAft>
                <a:spcPct val="0"/>
              </a:spcAft>
              <a:buClr>
                <a:srgbClr val="000000"/>
              </a:buClr>
              <a:buFont typeface="Arial" panose="020B0604020202020204" pitchFamily="34" charset="0"/>
              <a:buNone/>
            </a:pPr>
            <a:r>
              <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rPr>
              <a:t>Officer </a:t>
            </a:r>
            <a:r>
              <a:rPr lang="en-US" altLang="en-US" sz="4000" b="1">
                <a:solidFill>
                  <a:srgbClr val="001E5A"/>
                </a:solidFill>
                <a:latin typeface="Helvetica Neue" panose="02000503000000020004" pitchFamily="2" charset="0"/>
                <a:cs typeface="Arial" panose="020B0604020202020204" pitchFamily="34" charset="0"/>
                <a:sym typeface="Helvetica Neue" panose="02000503000000020004" pitchFamily="2" charset="0"/>
              </a:rPr>
              <a:t>| DANIEL </a:t>
            </a:r>
          </a:p>
          <a:p>
            <a:pPr>
              <a:spcBef>
                <a:spcPct val="0"/>
              </a:spcBef>
              <a:spcAft>
                <a:spcPct val="0"/>
              </a:spcAft>
              <a:buClr>
                <a:srgbClr val="000000"/>
              </a:buClr>
              <a:buFont typeface="Arial" panose="020B0604020202020204" pitchFamily="34" charset="0"/>
              <a:buNone/>
            </a:pPr>
            <a:r>
              <a:rPr lang="en-US" altLang="en-US" sz="4000" b="1">
                <a:solidFill>
                  <a:srgbClr val="001E5A"/>
                </a:solidFill>
                <a:latin typeface="Helvetica Neue" panose="02000503000000020004" pitchFamily="2" charset="0"/>
                <a:cs typeface="Arial" panose="020B0604020202020204" pitchFamily="34" charset="0"/>
                <a:sym typeface="Helvetica Neue" panose="02000503000000020004" pitchFamily="2" charset="0"/>
              </a:rPr>
              <a:t>SQUIRES</a:t>
            </a:r>
          </a:p>
          <a:p>
            <a:pPr>
              <a:spcBef>
                <a:spcPct val="0"/>
              </a:spcBef>
              <a:spcAft>
                <a:spcPct val="0"/>
              </a:spcAft>
              <a:buClr>
                <a:srgbClr val="000000"/>
              </a:buClr>
              <a:buFont typeface="Arial" panose="020B0604020202020204" pitchFamily="34" charset="0"/>
              <a:buNone/>
            </a:pPr>
            <a:endPar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endParaRPr>
          </a:p>
          <a:p>
            <a:pPr>
              <a:spcBef>
                <a:spcPct val="0"/>
              </a:spcBef>
              <a:spcAft>
                <a:spcPct val="0"/>
              </a:spcAft>
              <a:buClr>
                <a:srgbClr val="000000"/>
              </a:buClr>
              <a:buFont typeface="Arial" panose="020B0604020202020204" pitchFamily="34" charset="0"/>
              <a:buNone/>
            </a:pPr>
            <a:endPar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endParaRPr>
          </a:p>
          <a:p>
            <a:pPr>
              <a:spcBef>
                <a:spcPct val="0"/>
              </a:spcBef>
              <a:spcAft>
                <a:spcPct val="0"/>
              </a:spcAft>
              <a:buClr>
                <a:srgbClr val="000000"/>
              </a:buClr>
              <a:buFont typeface="Arial" panose="020B0604020202020204" pitchFamily="34" charset="0"/>
              <a:buNone/>
            </a:pPr>
            <a:endParaRPr lang="en-US" altLang="en-US" sz="4000" b="1">
              <a:solidFill>
                <a:srgbClr val="112D59"/>
              </a:solidFill>
              <a:latin typeface="Helvetica Neue" panose="02000503000000020004" pitchFamily="2" charset="0"/>
              <a:cs typeface="Arial" panose="020B0604020202020204" pitchFamily="34" charset="0"/>
              <a:sym typeface="Helvetica Neue" panose="02000503000000020004" pitchFamily="2" charset="0"/>
            </a:endParaRPr>
          </a:p>
        </p:txBody>
      </p:sp>
      <p:sp>
        <p:nvSpPr>
          <p:cNvPr id="19458" name="Text Placeholder 2">
            <a:extLst>
              <a:ext uri="{FF2B5EF4-FFF2-40B4-BE49-F238E27FC236}">
                <a16:creationId xmlns:a16="http://schemas.microsoft.com/office/drawing/2014/main" id="{DF3C797D-8DD6-056F-B60F-406F568AA01E}"/>
              </a:ext>
            </a:extLst>
          </p:cNvPr>
          <p:cNvSpPr>
            <a:spLocks noGrp="1" noChangeArrowheads="1"/>
          </p:cNvSpPr>
          <p:nvPr>
            <p:ph type="body" idx="2"/>
          </p:nvPr>
        </p:nvSpPr>
        <p:spPr bwMode="auto">
          <a:xfrm>
            <a:off x="158750" y="5043488"/>
            <a:ext cx="4703763" cy="736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a:spcAft>
                <a:spcPct val="0"/>
              </a:spcAft>
              <a:buClr>
                <a:srgbClr val="000000"/>
              </a:buClr>
            </a:pPr>
            <a:r>
              <a:rPr lang="en-US" altLang="en-US" sz="180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sym typeface="Helvetica Neue Light" panose="02000403000000020004" pitchFamily="2" charset="0"/>
              </a:rPr>
              <a:t>NOV 2025 </a:t>
            </a:r>
          </a:p>
        </p:txBody>
      </p:sp>
      <p:cxnSp>
        <p:nvCxnSpPr>
          <p:cNvPr id="8" name="Straight Connector 7">
            <a:extLst>
              <a:ext uri="{FF2B5EF4-FFF2-40B4-BE49-F238E27FC236}">
                <a16:creationId xmlns:a16="http://schemas.microsoft.com/office/drawing/2014/main" id="{34516E31-91DD-E90A-44A7-01505A499396}"/>
              </a:ext>
            </a:extLst>
          </p:cNvPr>
          <p:cNvCxnSpPr/>
          <p:nvPr/>
        </p:nvCxnSpPr>
        <p:spPr>
          <a:xfrm>
            <a:off x="471488" y="5043488"/>
            <a:ext cx="41862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8FEA9D8B-8CDE-84F2-BD51-88EF7B170E11}"/>
              </a:ext>
            </a:extLst>
          </p:cNvPr>
          <p:cNvPicPr>
            <a:picLocks noChangeAspect="1"/>
          </p:cNvPicPr>
          <p:nvPr/>
        </p:nvPicPr>
        <p:blipFill>
          <a:blip r:embed="rId2"/>
          <a:stretch>
            <a:fillRect/>
          </a:stretch>
        </p:blipFill>
        <p:spPr>
          <a:xfrm>
            <a:off x="257731" y="2475232"/>
            <a:ext cx="1705683" cy="774380"/>
          </a:xfrm>
          <a:prstGeom prst="rect">
            <a:avLst/>
          </a:prstGeom>
        </p:spPr>
      </p:pic>
    </p:spTree>
    <p:extLst>
      <p:ext uri="{BB962C8B-B14F-4D97-AF65-F5344CB8AC3E}">
        <p14:creationId xmlns:p14="http://schemas.microsoft.com/office/powerpoint/2010/main" val="23879702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8199FB00-D880-8F0C-FAE8-EE0A2A0FB400}"/>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2499AA0D-39D7-48D5-DFA1-F762903225B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29</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4" name="Google Shape;57;p3">
            <a:extLst>
              <a:ext uri="{FF2B5EF4-FFF2-40B4-BE49-F238E27FC236}">
                <a16:creationId xmlns:a16="http://schemas.microsoft.com/office/drawing/2014/main" id="{ECEBBE46-D75C-26D8-DB59-4D17647A1BFE}"/>
              </a:ext>
            </a:extLst>
          </p:cNvPr>
          <p:cNvSpPr/>
          <p:nvPr/>
        </p:nvSpPr>
        <p:spPr>
          <a:xfrm>
            <a:off x="3398274" y="1067112"/>
            <a:ext cx="5555948" cy="4533298"/>
          </a:xfrm>
          <a:prstGeom prst="roundRect">
            <a:avLst>
              <a:gd name="adj" fmla="val 3135"/>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p:txBody>
      </p:sp>
      <p:sp>
        <p:nvSpPr>
          <p:cNvPr id="6" name="Google Shape;61;p3">
            <a:extLst>
              <a:ext uri="{FF2B5EF4-FFF2-40B4-BE49-F238E27FC236}">
                <a16:creationId xmlns:a16="http://schemas.microsoft.com/office/drawing/2014/main" id="{1DF9D4AD-BCF1-84FF-6073-B65845068EB7}"/>
              </a:ext>
            </a:extLst>
          </p:cNvPr>
          <p:cNvSpPr txBox="1"/>
          <p:nvPr/>
        </p:nvSpPr>
        <p:spPr>
          <a:xfrm>
            <a:off x="3689234" y="1226812"/>
            <a:ext cx="4229815" cy="230812"/>
          </a:xfrm>
          <a:prstGeom prst="rect">
            <a:avLst/>
          </a:prstGeom>
          <a:noFill/>
          <a:ln>
            <a:noFill/>
          </a:ln>
        </p:spPr>
        <p:txBody>
          <a:bodyPr spcFirstLastPara="1" wrap="square" lIns="22850" tIns="22850" rIns="22850" bIns="22850" anchor="t"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1" i="0" u="none" strike="noStrike" kern="0" cap="none" spc="0" normalizeH="0" baseline="0" noProof="0">
                <a:ln>
                  <a:noFill/>
                </a:ln>
                <a:solidFill>
                  <a:srgbClr val="BA0C2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Jobs To Be Done</a:t>
            </a:r>
            <a:endParaRPr kumimoji="0" sz="7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p:txBody>
      </p:sp>
      <p:graphicFrame>
        <p:nvGraphicFramePr>
          <p:cNvPr id="7" name="Table 6">
            <a:extLst>
              <a:ext uri="{FF2B5EF4-FFF2-40B4-BE49-F238E27FC236}">
                <a16:creationId xmlns:a16="http://schemas.microsoft.com/office/drawing/2014/main" id="{5023711A-AE42-34BA-CE89-179E99BE835A}"/>
              </a:ext>
            </a:extLst>
          </p:cNvPr>
          <p:cNvGraphicFramePr>
            <a:graphicFrameLocks noGrp="1"/>
          </p:cNvGraphicFramePr>
          <p:nvPr/>
        </p:nvGraphicFramePr>
        <p:xfrm>
          <a:off x="3599905" y="1488402"/>
          <a:ext cx="5285186" cy="3931920"/>
        </p:xfrm>
        <a:graphic>
          <a:graphicData uri="http://schemas.openxmlformats.org/drawingml/2006/table">
            <a:tbl>
              <a:tblPr firstRow="1" bandRow="1">
                <a:tableStyleId>{5C22544A-7EE6-4342-B048-85BDC9FD1C3A}</a:tableStyleId>
              </a:tblPr>
              <a:tblGrid>
                <a:gridCol w="5285186">
                  <a:extLst>
                    <a:ext uri="{9D8B030D-6E8A-4147-A177-3AD203B41FA5}">
                      <a16:colId xmlns:a16="http://schemas.microsoft.com/office/drawing/2014/main" val="2300840210"/>
                    </a:ext>
                  </a:extLst>
                </a:gridCol>
              </a:tblGrid>
              <a:tr h="885112">
                <a:tc>
                  <a:txBody>
                    <a:bodyPr/>
                    <a:lstStyle/>
                    <a:p>
                      <a:pPr marL="0" indent="0">
                        <a:buFont typeface="Arial" panose="020B0604020202020204" pitchFamily="34" charset="0"/>
                        <a:buNone/>
                      </a:pPr>
                      <a:r>
                        <a:rPr kumimoji="0" lang="en-US" sz="1200" b="1" i="0" u="none" strike="noStrike" kern="1200" cap="none" spc="0" normalizeH="0" baseline="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rPr>
                        <a:t>Build an Integrated, Client-Centric Commercial Engine</a:t>
                      </a:r>
                    </a:p>
                    <a:p>
                      <a:pPr marL="171450" indent="-171450">
                        <a:buFont typeface="Arial" panose="020B0604020202020204" pitchFamily="34" charset="0"/>
                        <a:buChar char="•"/>
                      </a:pPr>
                      <a:r>
                        <a:rPr kumimoji="0" lang="en-US" sz="1200" b="0" i="0" u="none" strike="noStrike" kern="1200" cap="none" spc="0" normalizeH="0" baseline="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rPr>
                        <a:t>Unify product, marketing, and sales to deliver a seamless client experience and maximize revenue opportunities.</a:t>
                      </a:r>
                    </a:p>
                    <a:p>
                      <a:pPr marL="171450" indent="-171450">
                        <a:buFont typeface="Arial" panose="020B0604020202020204" pitchFamily="34" charset="0"/>
                        <a:buChar char="•"/>
                      </a:pPr>
                      <a:r>
                        <a:rPr kumimoji="0" lang="en-US" sz="1200" b="0" i="0" u="none" strike="noStrike" kern="1200" cap="none" spc="0" normalizeH="0" baseline="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rPr>
                        <a:t>Develop and manage a differentiated product portfolio that meets market needs and drives profitable growth.</a:t>
                      </a:r>
                    </a:p>
                    <a:p>
                      <a:pPr marL="171450" indent="-171450">
                        <a:buFont typeface="Arial" panose="020B0604020202020204" pitchFamily="34" charset="0"/>
                        <a:buChar char="•"/>
                      </a:pPr>
                      <a:endParaRPr kumimoji="0" lang="en-US" sz="1200" b="0" i="0" u="none" strike="noStrike" kern="1200" cap="none" spc="0" normalizeH="0" baseline="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indent="0">
                        <a:buFont typeface="Arial" panose="020B0604020202020204" pitchFamily="34" charset="0"/>
                        <a:buNone/>
                      </a:pPr>
                      <a:r>
                        <a:rPr kumimoji="0" lang="en-US" sz="1200" b="1" i="0" u="none" strike="noStrike" kern="1200" cap="none" spc="0" normalizeH="0" baseline="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rPr>
                        <a:t>Strengthen Data-Driven Marketing and Revenue Operations</a:t>
                      </a:r>
                    </a:p>
                    <a:p>
                      <a:pPr marL="171450" indent="-171450">
                        <a:buFont typeface="Arial" panose="020B0604020202020204" pitchFamily="34" charset="0"/>
                        <a:buChar char="•"/>
                      </a:pPr>
                      <a:r>
                        <a:rPr kumimoji="0" lang="en-US" sz="1200" b="0" i="0" u="none" strike="noStrike" kern="1200" cap="none" spc="0" normalizeH="0" baseline="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rPr>
                        <a:t>Use analytics, segmentation, and funnel performance data to drive smarter commercial decisions and ROI-based marketing.</a:t>
                      </a:r>
                    </a:p>
                    <a:p>
                      <a:pPr marL="171450" indent="-171450">
                        <a:buFont typeface="Arial" panose="020B0604020202020204" pitchFamily="34" charset="0"/>
                        <a:buChar char="•"/>
                      </a:pPr>
                      <a:r>
                        <a:rPr kumimoji="0" lang="en-US" sz="1200" b="0" i="0" u="none" strike="noStrike" kern="1200" cap="none" spc="0" normalizeH="0" baseline="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rPr>
                        <a:t>Implement compensation and NCV frameworks that reward cross-functional collaboration and sustainable growth.</a:t>
                      </a:r>
                    </a:p>
                    <a:p>
                      <a:pPr marL="171450" indent="-171450">
                        <a:buFont typeface="Arial" panose="020B0604020202020204" pitchFamily="34" charset="0"/>
                        <a:buChar char="•"/>
                      </a:pPr>
                      <a:endParaRPr kumimoji="0" lang="en-US" sz="1200" b="0" i="0" u="none" strike="noStrike" kern="1200" cap="none" spc="0" normalizeH="0" baseline="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indent="0">
                        <a:buFont typeface="Arial" panose="020B0604020202020204" pitchFamily="34" charset="0"/>
                        <a:buNone/>
                      </a:pPr>
                      <a:r>
                        <a:rPr kumimoji="0" lang="en-US" sz="1200" b="1" i="0" u="none" strike="noStrike" kern="1200" cap="none" spc="0" normalizeH="0" baseline="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rPr>
                        <a:t>Accelerate Client Acquisition and Brand Leadership</a:t>
                      </a:r>
                    </a:p>
                    <a:p>
                      <a:pPr marL="171450" indent="-171450">
                        <a:buFont typeface="Arial" panose="020B0604020202020204" pitchFamily="34" charset="0"/>
                        <a:buChar char="•"/>
                      </a:pPr>
                      <a:r>
                        <a:rPr kumimoji="0" lang="en-US" sz="1200" b="0" i="0" u="none" strike="noStrike" kern="1200" cap="none" spc="0" normalizeH="0" baseline="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rPr>
                        <a:t>Design and execute marketing and brand strategies that elevate visibility, trust, and client loyalty.</a:t>
                      </a:r>
                    </a:p>
                    <a:p>
                      <a:pPr marL="171450" indent="-171450">
                        <a:buFont typeface="Arial" panose="020B0604020202020204" pitchFamily="34" charset="0"/>
                        <a:buChar char="•"/>
                      </a:pPr>
                      <a:r>
                        <a:rPr kumimoji="0" lang="en-US" sz="1200" b="0" i="0" u="none" strike="noStrike" kern="1200" cap="none" spc="0" normalizeH="0" baseline="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rPr>
                        <a:t>Optimize sales coverage across client segments (Elite, HNW, Retail) to improve retention and wallet share.</a:t>
                      </a:r>
                    </a:p>
                    <a:p>
                      <a:pPr marL="171450" indent="-171450">
                        <a:buFont typeface="Arial" panose="020B0604020202020204" pitchFamily="34" charset="0"/>
                        <a:buChar char="•"/>
                      </a:pPr>
                      <a:endParaRPr kumimoji="0" lang="en-US" sz="1200" b="0" i="0" u="none" strike="noStrike" kern="1200" cap="none" spc="0" normalizeH="0" baseline="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indent="0">
                        <a:buFont typeface="Arial" panose="020B0604020202020204" pitchFamily="34" charset="0"/>
                        <a:buNone/>
                      </a:pPr>
                      <a:r>
                        <a:rPr kumimoji="0" lang="en-US" sz="1200" b="1" i="0" u="none" strike="noStrike" kern="1200" cap="none" spc="0" normalizeH="0" baseline="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rPr>
                        <a:t>Elevate Leadership and Team Effectiveness</a:t>
                      </a:r>
                    </a:p>
                    <a:p>
                      <a:pPr marL="171450" indent="-171450">
                        <a:buFont typeface="Arial" panose="020B0604020202020204" pitchFamily="34" charset="0"/>
                        <a:buChar char="•"/>
                      </a:pPr>
                      <a:r>
                        <a:rPr kumimoji="0" lang="en-US" sz="1200" b="0" i="0" u="none" strike="noStrike" kern="1200" cap="none" spc="0" normalizeH="0" baseline="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rPr>
                        <a:t>Build high-performing commercial teams, develop next-generation leaders, and strengthen alignment with Digital, Risk, and Operations.</a:t>
                      </a:r>
                    </a:p>
                  </a:txBody>
                  <a:tcPr>
                    <a:lnL w="12700" cap="flat" cmpd="sng" algn="ctr">
                      <a:solidFill>
                        <a:schemeClr val="bg1">
                          <a:lumMod val="95000"/>
                        </a:schemeClr>
                      </a:solidFill>
                      <a:prstDash val="solid"/>
                      <a:round/>
                      <a:headEnd type="none" w="med" len="med"/>
                      <a:tailEnd type="none" w="med" len="med"/>
                    </a:lnL>
                    <a:lnB w="12700" cap="flat" cmpd="sng" algn="ctr">
                      <a:solidFill>
                        <a:srgbClr val="BC8F00"/>
                      </a:solidFill>
                      <a:prstDash val="solid"/>
                      <a:round/>
                      <a:headEnd type="none" w="med" len="med"/>
                      <a:tailEnd type="none" w="med" len="med"/>
                    </a:lnB>
                    <a:noFill/>
                  </a:tcPr>
                </a:tc>
                <a:extLst>
                  <a:ext uri="{0D108BD9-81ED-4DB2-BD59-A6C34878D82A}">
                    <a16:rowId xmlns:a16="http://schemas.microsoft.com/office/drawing/2014/main" val="2440114098"/>
                  </a:ext>
                </a:extLst>
              </a:tr>
            </a:tbl>
          </a:graphicData>
        </a:graphic>
      </p:graphicFrame>
      <p:sp>
        <p:nvSpPr>
          <p:cNvPr id="15" name="Google Shape;57;p3">
            <a:extLst>
              <a:ext uri="{FF2B5EF4-FFF2-40B4-BE49-F238E27FC236}">
                <a16:creationId xmlns:a16="http://schemas.microsoft.com/office/drawing/2014/main" id="{F36D1CC5-EFC4-0E3C-4F2E-487F557585E9}"/>
              </a:ext>
            </a:extLst>
          </p:cNvPr>
          <p:cNvSpPr/>
          <p:nvPr/>
        </p:nvSpPr>
        <p:spPr>
          <a:xfrm>
            <a:off x="511497" y="1067112"/>
            <a:ext cx="2783451" cy="4533298"/>
          </a:xfrm>
          <a:prstGeom prst="roundRect">
            <a:avLst>
              <a:gd name="adj" fmla="val 5837"/>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p:txBody>
      </p:sp>
      <p:sp>
        <p:nvSpPr>
          <p:cNvPr id="16" name="Google Shape;57;p3">
            <a:extLst>
              <a:ext uri="{FF2B5EF4-FFF2-40B4-BE49-F238E27FC236}">
                <a16:creationId xmlns:a16="http://schemas.microsoft.com/office/drawing/2014/main" id="{2A08F0F0-4322-AFA2-2E56-CAE3C6730545}"/>
              </a:ext>
            </a:extLst>
          </p:cNvPr>
          <p:cNvSpPr/>
          <p:nvPr/>
        </p:nvSpPr>
        <p:spPr>
          <a:xfrm>
            <a:off x="9057548" y="1067112"/>
            <a:ext cx="2783451" cy="4533298"/>
          </a:xfrm>
          <a:prstGeom prst="roundRect">
            <a:avLst>
              <a:gd name="adj" fmla="val 5837"/>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p:txBody>
      </p:sp>
      <p:sp>
        <p:nvSpPr>
          <p:cNvPr id="17" name="Google Shape;72;p3">
            <a:extLst>
              <a:ext uri="{FF2B5EF4-FFF2-40B4-BE49-F238E27FC236}">
                <a16:creationId xmlns:a16="http://schemas.microsoft.com/office/drawing/2014/main" id="{880B0AE6-EEFE-E451-D424-CA33330A9A6C}"/>
              </a:ext>
            </a:extLst>
          </p:cNvPr>
          <p:cNvSpPr txBox="1"/>
          <p:nvPr/>
        </p:nvSpPr>
        <p:spPr>
          <a:xfrm>
            <a:off x="9230003" y="1257590"/>
            <a:ext cx="2438539"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1" i="0" u="none" strike="noStrike" kern="0" cap="none" spc="0" normalizeH="0" baseline="0" noProof="0">
                <a:ln>
                  <a:noFill/>
                </a:ln>
                <a:solidFill>
                  <a:srgbClr val="BA0C2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Superpowers</a:t>
            </a:r>
            <a:endParaRPr kumimoji="0" lang="en-US" sz="12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p:txBody>
      </p:sp>
      <p:sp>
        <p:nvSpPr>
          <p:cNvPr id="18" name="TextBox 17">
            <a:extLst>
              <a:ext uri="{FF2B5EF4-FFF2-40B4-BE49-F238E27FC236}">
                <a16:creationId xmlns:a16="http://schemas.microsoft.com/office/drawing/2014/main" id="{04B373AF-C0E9-2916-040D-A358F644B20A}"/>
              </a:ext>
            </a:extLst>
          </p:cNvPr>
          <p:cNvSpPr txBox="1"/>
          <p:nvPr/>
        </p:nvSpPr>
        <p:spPr>
          <a:xfrm>
            <a:off x="9193050" y="1756857"/>
            <a:ext cx="2512443" cy="3200876"/>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IN"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Analytical Commercial Leadership: </a:t>
            </a:r>
            <a:r>
              <a:rPr kumimoji="0" lang="en-IN"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The ability to synthesize complex market data, client insights, and business trends into actionable go-to-market strategies that measurably grow revenue and client value.</a:t>
            </a:r>
          </a:p>
          <a:p>
            <a:pPr marL="171450" marR="0" lvl="0"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IN"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Integrator &amp; Cross-Functional Catalyst: </a:t>
            </a:r>
            <a:r>
              <a:rPr kumimoji="0" lang="en-IN"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The skill to break down silos, unite diverse teams, and drive consensus—ensuring commercial, product, and client-facing leaders execute as one cohesive unit.</a:t>
            </a:r>
          </a:p>
        </p:txBody>
      </p:sp>
      <p:sp>
        <p:nvSpPr>
          <p:cNvPr id="22" name="Google Shape;72;p3">
            <a:extLst>
              <a:ext uri="{FF2B5EF4-FFF2-40B4-BE49-F238E27FC236}">
                <a16:creationId xmlns:a16="http://schemas.microsoft.com/office/drawing/2014/main" id="{3E256824-7364-C750-7311-4A5600B8D9B6}"/>
              </a:ext>
            </a:extLst>
          </p:cNvPr>
          <p:cNvSpPr txBox="1"/>
          <p:nvPr/>
        </p:nvSpPr>
        <p:spPr>
          <a:xfrm>
            <a:off x="988909" y="1257434"/>
            <a:ext cx="2438539" cy="243636"/>
          </a:xfrm>
          <a:prstGeom prst="rect">
            <a:avLst/>
          </a:prstGeom>
          <a:noFill/>
          <a:ln>
            <a:noFill/>
          </a:ln>
        </p:spPr>
        <p:txBody>
          <a:bodyPr spcFirstLastPara="1" wrap="square" lIns="22850" tIns="22850" rIns="22850" bIns="22850" anchor="b" anchorCtr="0">
            <a:spAutoFit/>
          </a:bodyPr>
          <a:lstStyle/>
          <a:p>
            <a:pPr marL="12700" marR="0" lvl="0" indent="0" algn="l" defTabSz="914400" rtl="0" eaLnBrk="0" fontAlgn="base" latinLnBrk="0" hangingPunct="0">
              <a:lnSpc>
                <a:spcPct val="100000"/>
              </a:lnSpc>
              <a:spcBef>
                <a:spcPts val="100"/>
              </a:spcBef>
              <a:spcAft>
                <a:spcPct val="0"/>
              </a:spcAft>
              <a:buClrTx/>
              <a:buSzTx/>
              <a:buFontTx/>
              <a:buNone/>
              <a:tabLst/>
              <a:defRPr/>
            </a:pPr>
            <a:r>
              <a:rPr kumimoji="0" lang="en-US" sz="1200" b="0" i="0" u="none" strike="noStrike" kern="1200" cap="none" spc="-35"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Jobs To Be Done </a:t>
            </a:r>
            <a:r>
              <a:rPr kumimoji="0" lang="en-US" sz="1200" b="0" i="0" u="none" strike="noStrike" kern="1200" cap="none" spc="-35"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Pivot</a:t>
            </a:r>
          </a:p>
        </p:txBody>
      </p:sp>
      <p:sp>
        <p:nvSpPr>
          <p:cNvPr id="23" name="TextBox 22">
            <a:extLst>
              <a:ext uri="{FF2B5EF4-FFF2-40B4-BE49-F238E27FC236}">
                <a16:creationId xmlns:a16="http://schemas.microsoft.com/office/drawing/2014/main" id="{D267C916-8BD0-282E-7421-1396E8D11038}"/>
              </a:ext>
            </a:extLst>
          </p:cNvPr>
          <p:cNvSpPr txBox="1"/>
          <p:nvPr/>
        </p:nvSpPr>
        <p:spPr>
          <a:xfrm>
            <a:off x="702812" y="1809051"/>
            <a:ext cx="2438539" cy="1856919"/>
          </a:xfrm>
          <a:prstGeom prst="rect">
            <a:avLst/>
          </a:prstGeom>
          <a:noFill/>
        </p:spPr>
        <p:txBody>
          <a:bodyPr wrap="square">
            <a:spAutoFit/>
          </a:bodyPr>
          <a:lstStyle/>
          <a:p>
            <a:pPr marL="171450" marR="0" lvl="0" indent="-171450" algn="l" defTabSz="914400" rtl="0" eaLnBrk="0" fontAlgn="base" latinLnBrk="0" hangingPunct="0">
              <a:lnSpc>
                <a:spcPct val="100000"/>
              </a:lnSpc>
              <a:spcBef>
                <a:spcPct val="0"/>
              </a:spcBef>
              <a:spcAft>
                <a:spcPts val="36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From: </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Siloed, transactional focus on core products and near-term KPIs</a:t>
            </a:r>
          </a:p>
          <a:p>
            <a:pPr marL="171450" marR="0" lvl="0" indent="-171450" algn="l" defTabSz="914400" rtl="0" eaLnBrk="0" fontAlgn="base" latinLnBrk="0" hangingPunct="0">
              <a:lnSpc>
                <a:spcPct val="100000"/>
              </a:lnSpc>
              <a:spcBef>
                <a:spcPct val="0"/>
              </a:spcBef>
              <a:spcAft>
                <a:spcPts val="36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ts val="36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To</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Integrated, data-driven commercial leadership that delivers sustained growth, diversified revenue, and scalable client engagement</a:t>
            </a:r>
          </a:p>
        </p:txBody>
      </p:sp>
      <p:sp>
        <p:nvSpPr>
          <p:cNvPr id="2" name="Text Placeholder 1">
            <a:extLst>
              <a:ext uri="{FF2B5EF4-FFF2-40B4-BE49-F238E27FC236}">
                <a16:creationId xmlns:a16="http://schemas.microsoft.com/office/drawing/2014/main" id="{E96D2E76-D1F9-232F-40AD-90C8B6CB974A}"/>
              </a:ext>
            </a:extLst>
          </p:cNvPr>
          <p:cNvSpPr txBox="1">
            <a:spLocks noChangeArrowheads="1"/>
          </p:cNvSpPr>
          <p:nvPr/>
        </p:nvSpPr>
        <p:spPr bwMode="auto">
          <a:xfrm>
            <a:off x="702812" y="424169"/>
            <a:ext cx="75596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Jobs To Be Done | Chief Commercial Officer </a:t>
            </a:r>
            <a:r>
              <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 DANIEL SQUIRES</a:t>
            </a:r>
          </a:p>
        </p:txBody>
      </p:sp>
      <p:sp>
        <p:nvSpPr>
          <p:cNvPr id="8" name="TextBox 7">
            <a:extLst>
              <a:ext uri="{FF2B5EF4-FFF2-40B4-BE49-F238E27FC236}">
                <a16:creationId xmlns:a16="http://schemas.microsoft.com/office/drawing/2014/main" id="{746E2CC6-7F6B-F715-9F7E-82972F2494D7}"/>
              </a:ext>
            </a:extLst>
          </p:cNvPr>
          <p:cNvSpPr txBox="1"/>
          <p:nvPr/>
        </p:nvSpPr>
        <p:spPr>
          <a:xfrm rot="19103358">
            <a:off x="3879785" y="3136612"/>
            <a:ext cx="4592924" cy="584775"/>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200" b="0" i="0" u="none" strike="noStrike" kern="1200" cap="none" spc="0" normalizeH="0" baseline="0" noProof="0">
                <a:ln>
                  <a:noFill/>
                </a:ln>
                <a:solidFill>
                  <a:srgbClr val="000000">
                    <a:alpha val="30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WORKING DOCUMENT</a:t>
            </a:r>
          </a:p>
        </p:txBody>
      </p:sp>
    </p:spTree>
    <p:extLst>
      <p:ext uri="{BB962C8B-B14F-4D97-AF65-F5344CB8AC3E}">
        <p14:creationId xmlns:p14="http://schemas.microsoft.com/office/powerpoint/2010/main" val="14608709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A09F06D2-C52B-78CB-2710-B9136D494784}"/>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2BB88F89-AAB0-393F-895E-4FE1083625E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30</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DE62EA08-F3FC-5040-3C88-E61A1847AA5B}"/>
              </a:ext>
            </a:extLst>
          </p:cNvPr>
          <p:cNvSpPr txBox="1">
            <a:spLocks noChangeArrowheads="1"/>
          </p:cNvSpPr>
          <p:nvPr/>
        </p:nvSpPr>
        <p:spPr bwMode="auto">
          <a:xfrm>
            <a:off x="550863" y="374650"/>
            <a:ext cx="8787101"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Jobs To Be Done Match | Chief Commercial Officer | DANIEL SQUIRES</a:t>
            </a: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p:txBody>
      </p:sp>
      <p:sp>
        <p:nvSpPr>
          <p:cNvPr id="4" name="Google Shape;57;p3">
            <a:extLst>
              <a:ext uri="{FF2B5EF4-FFF2-40B4-BE49-F238E27FC236}">
                <a16:creationId xmlns:a16="http://schemas.microsoft.com/office/drawing/2014/main" id="{63EA0C82-CDAA-B9F3-C236-1BA8E2290606}"/>
              </a:ext>
            </a:extLst>
          </p:cNvPr>
          <p:cNvSpPr/>
          <p:nvPr/>
        </p:nvSpPr>
        <p:spPr>
          <a:xfrm>
            <a:off x="669672" y="831850"/>
            <a:ext cx="11077828" cy="5213350"/>
          </a:xfrm>
          <a:prstGeom prst="roundRect">
            <a:avLst>
              <a:gd name="adj" fmla="val 225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Tx/>
              <a:buNone/>
              <a:tabLst/>
              <a:defRPr/>
            </a:pPr>
            <a:r>
              <a:rPr kumimoji="0" lang="en-US" sz="1200" b="1" i="0" u="none" strike="noStrike" kern="0" cap="none" spc="0" normalizeH="0" baseline="0" noProof="0">
                <a:ln>
                  <a:noFill/>
                </a:ln>
                <a:solidFill>
                  <a:srgbClr val="000000"/>
                </a:solidFill>
                <a:effectLst/>
                <a:uLnTx/>
                <a:uFillTx/>
                <a:latin typeface="Lato"/>
                <a:ea typeface="Lato"/>
                <a:cs typeface="Lato"/>
                <a:sym typeface="Lato"/>
              </a:rPr>
              <a:t> </a:t>
            </a:r>
          </a:p>
        </p:txBody>
      </p:sp>
      <p:sp>
        <p:nvSpPr>
          <p:cNvPr id="2" name="TextBox 1">
            <a:extLst>
              <a:ext uri="{FF2B5EF4-FFF2-40B4-BE49-F238E27FC236}">
                <a16:creationId xmlns:a16="http://schemas.microsoft.com/office/drawing/2014/main" id="{7969E1F9-79CE-C824-99CE-0BF5CA8ACF8A}"/>
              </a:ext>
            </a:extLst>
          </p:cNvPr>
          <p:cNvSpPr txBox="1"/>
          <p:nvPr/>
        </p:nvSpPr>
        <p:spPr>
          <a:xfrm>
            <a:off x="769709" y="950375"/>
            <a:ext cx="10752619" cy="5001369"/>
          </a:xfrm>
          <a:prstGeom prst="rect">
            <a:avLst/>
          </a:prstGeom>
          <a:noFill/>
        </p:spPr>
        <p:txBody>
          <a:bodyPr wrap="square" lIns="91440" tIns="45720" rIns="91440" bIns="45720" rtlCol="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Role Pivots &amp; Risks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indent="-171450">
              <a:buFont typeface="Arial" panose="020B0604020202020204" pitchFamily="34" charset="0"/>
              <a:buChar char="•"/>
              <a:defRPr/>
            </a:pPr>
            <a:r>
              <a:rPr lang="en-US" sz="1100">
                <a:latin typeface="Helvetica Neue" panose="02000503000000020004" pitchFamily="2" charset="0"/>
                <a:ea typeface="Helvetica Neue" panose="02000503000000020004" pitchFamily="2" charset="0"/>
                <a:cs typeface="Helvetica Neue" panose="02000503000000020004" pitchFamily="2" charset="0"/>
              </a:rPr>
              <a:t>The business context and feedback make it clear that success in this role depends on building trust, fostering cross-functional alignment, and influencing outcomes through collaboration</a:t>
            </a:r>
          </a:p>
          <a:p>
            <a:pPr marL="171450" indent="-171450">
              <a:buFont typeface="Arial" panose="020B0604020202020204" pitchFamily="34" charset="0"/>
              <a:buChar char="•"/>
              <a:defRPr/>
            </a:pPr>
            <a:endParaRPr lang="en-US" sz="110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defRPr/>
            </a:pPr>
            <a:r>
              <a:rPr lang="en-US" sz="1100">
                <a:latin typeface="Helvetica Neue" panose="02000503000000020004" pitchFamily="2" charset="0"/>
                <a:ea typeface="Helvetica Neue" panose="02000503000000020004" pitchFamily="2" charset="0"/>
                <a:cs typeface="Helvetica Neue" panose="02000503000000020004" pitchFamily="2" charset="0"/>
              </a:rPr>
              <a:t>Upon joining, Dan inherited a team with high attrition. His task now is to rebuild commercial capabilities from the ground up: strengthening talent, embedding a results-focused but collaborative culture. </a:t>
            </a:r>
          </a:p>
          <a:p>
            <a:pPr marL="171450" indent="-171450">
              <a:buFont typeface="Arial" panose="020B0604020202020204" pitchFamily="34" charset="0"/>
              <a:buChar char="•"/>
              <a:defRPr/>
            </a:pPr>
            <a:endParaRPr lang="en-US" sz="110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defRPr/>
            </a:pPr>
            <a:r>
              <a:rPr lang="en-US" sz="1100">
                <a:latin typeface="Helvetica Neue"/>
                <a:ea typeface="Helvetica Neue" panose="02000503000000020004" pitchFamily="2" charset="0"/>
                <a:cs typeface="Helvetica Neue" panose="02000503000000020004" pitchFamily="2" charset="0"/>
              </a:rPr>
              <a:t>This role goes beyond operations — it requires understanding Middle East business culture, building strong informal networks, staying close to customers, and leading visibly and credibly to drive commercial momentum by working closely with internal teams and external stakeholders.</a:t>
            </a:r>
            <a:endPar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Is the Talent Equipped for Success?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Dan approaches challenges with intellectual curiosity and logic, motivating his team through a clear focus on outcomes and continuous learning. His analytical approach and commercial focus are genuine assets—strengths that, when combined with a compelling vision, can further inspire and align the broader team.</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indent="-171450">
              <a:buFont typeface="Arial" panose="020B0604020202020204" pitchFamily="34" charset="0"/>
              <a:buChar char="•"/>
              <a:defRPr/>
            </a:pPr>
            <a:r>
              <a:rPr lang="en-US" sz="1100">
                <a:latin typeface="Helvetica Neue" panose="02000503000000020004" pitchFamily="2" charset="0"/>
                <a:ea typeface="Helvetica Neue" panose="02000503000000020004" pitchFamily="2" charset="0"/>
                <a:cs typeface="Helvetica Neue" panose="02000503000000020004" pitchFamily="2" charset="0"/>
              </a:rPr>
              <a:t>He is naturally more task- and business-focused than people-oriented, which can translate to limited visibility, slower relationship-building, and less proactive engagement with colleagues.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To accelerate sustainable growth, he will benefit from proactively building relationships across functions and levels; in this culture, informal influence and consensus are powerful enablers of speed, buy-in, and collective execution. He can amplify his impact by investing more in collaborative dialogue and proactive cross-functional alignment.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Balancing his drive for measurable results with disciplined attention to process and follow-through will help strengthen execution. Consistent routines and clear accountability will magnify his impact and reduce execution risk during periods of change.</a:t>
            </a:r>
            <a:endParaRPr lang="en-US" sz="1100">
              <a:latin typeface="Helvetica Neue" panose="02000503000000020004" pitchFamily="2" charset="0"/>
              <a:ea typeface="Helvetica Neue" panose="02000503000000020004" pitchFamily="2" charset="0"/>
              <a:cs typeface="Helvetica Neue" panose="02000503000000020004"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100">
                <a:latin typeface="Helvetica Neue" panose="02000503000000020004" pitchFamily="2" charset="0"/>
                <a:ea typeface="Helvetica Neue" panose="02000503000000020004" pitchFamily="2" charset="0"/>
                <a:cs typeface="Helvetica Neue" panose="02000503000000020004" pitchFamily="2" charset="0"/>
              </a:rPr>
              <a:t>He needs to be aware that the</a:t>
            </a:r>
            <a:r>
              <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organization — and the broader Middle East context — carries elements of an entitlement culture, where comments and decisions can be easily misinterpreted— requiring mindful, culturally aware communication.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sz="110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021526039"/>
      </p:ext>
    </p:extLst>
  </p:cSld>
  <p:clrMapOvr>
    <a:masterClrMapping/>
  </p:clrMapOvr>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A0E0E73B-3B02-4BA6-B216-C92B995E9622}"/>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3FFFBFE8-D9FD-FD8C-2373-7B9D3D6BBE5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31</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6089FE3C-BA09-25C5-3F2F-F4EA5BF93580}"/>
              </a:ext>
            </a:extLst>
          </p:cNvPr>
          <p:cNvSpPr txBox="1">
            <a:spLocks noChangeArrowheads="1"/>
          </p:cNvSpPr>
          <p:nvPr/>
        </p:nvSpPr>
        <p:spPr bwMode="auto">
          <a:xfrm>
            <a:off x="550863" y="374650"/>
            <a:ext cx="75596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HOGAN | Chief Commercial Officer | DANIEL SQUIRES</a:t>
            </a: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p:txBody>
      </p:sp>
      <p:grpSp>
        <p:nvGrpSpPr>
          <p:cNvPr id="4" name="Group 3">
            <a:extLst>
              <a:ext uri="{FF2B5EF4-FFF2-40B4-BE49-F238E27FC236}">
                <a16:creationId xmlns:a16="http://schemas.microsoft.com/office/drawing/2014/main" id="{474F3EAD-1835-F702-04AD-FAEF086175DC}"/>
              </a:ext>
            </a:extLst>
          </p:cNvPr>
          <p:cNvGrpSpPr/>
          <p:nvPr/>
        </p:nvGrpSpPr>
        <p:grpSpPr>
          <a:xfrm>
            <a:off x="758455" y="791531"/>
            <a:ext cx="6226053" cy="655403"/>
            <a:chOff x="529855" y="131505"/>
            <a:chExt cx="6226053" cy="655403"/>
          </a:xfrm>
        </p:grpSpPr>
        <p:sp>
          <p:nvSpPr>
            <p:cNvPr id="6" name="TextBox 5">
              <a:extLst>
                <a:ext uri="{FF2B5EF4-FFF2-40B4-BE49-F238E27FC236}">
                  <a16:creationId xmlns:a16="http://schemas.microsoft.com/office/drawing/2014/main" id="{71F7AEFD-8FE0-28BC-49BF-04B367409AD0}"/>
                </a:ext>
              </a:extLst>
            </p:cNvPr>
            <p:cNvSpPr txBox="1"/>
            <p:nvPr/>
          </p:nvSpPr>
          <p:spPr>
            <a:xfrm>
              <a:off x="529855" y="131505"/>
              <a:ext cx="680414" cy="253916"/>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lumMod val="50000"/>
                      <a:lumOff val="50000"/>
                    </a:srgbClr>
                  </a:solidFill>
                  <a:effectLst/>
                  <a:uLnTx/>
                  <a:uFillTx/>
                  <a:latin typeface="Lato Light" panose="020F0502020204030203" pitchFamily="34" charset="0"/>
                  <a:ea typeface="Lato Light" panose="020F0502020204030203" pitchFamily="34" charset="0"/>
                  <a:cs typeface="Lato Light" panose="020F0502020204030203" pitchFamily="34" charset="0"/>
                  <a:sym typeface="Arial" panose="020B0604020202020204" pitchFamily="34" charset="0"/>
                </a:rPr>
                <a:t>ROLE</a:t>
              </a:r>
            </a:p>
          </p:txBody>
        </p:sp>
        <p:sp>
          <p:nvSpPr>
            <p:cNvPr id="7" name="TextBox 6">
              <a:extLst>
                <a:ext uri="{FF2B5EF4-FFF2-40B4-BE49-F238E27FC236}">
                  <a16:creationId xmlns:a16="http://schemas.microsoft.com/office/drawing/2014/main" id="{A7C9CCC2-18C8-8A57-1DB7-E1B97B900C54}"/>
                </a:ext>
              </a:extLst>
            </p:cNvPr>
            <p:cNvSpPr txBox="1"/>
            <p:nvPr/>
          </p:nvSpPr>
          <p:spPr>
            <a:xfrm>
              <a:off x="529855" y="356566"/>
              <a:ext cx="3201164" cy="430342"/>
            </a:xfrm>
            <a:prstGeom prst="rect">
              <a:avLst/>
            </a:prstGeom>
            <a:noFill/>
          </p:spPr>
          <p:txBody>
            <a:bodyPr wrap="square" lIns="91440" tIns="45720" rIns="9144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rial" panose="020B0604020202020204" pitchFamily="34" charset="0"/>
                  <a:ea typeface="Lato Light" panose="020F0502020204030203" pitchFamily="34" charset="0"/>
                  <a:cs typeface="Arial" panose="020B0604020202020204" pitchFamily="34" charset="0"/>
                  <a:sym typeface="Arial" panose="020B0604020202020204" pitchFamily="34" charset="0"/>
                </a:rPr>
                <a:t>Chief Commercial Officer </a:t>
              </a:r>
            </a:p>
          </p:txBody>
        </p:sp>
        <p:sp>
          <p:nvSpPr>
            <p:cNvPr id="12" name="TextBox 11">
              <a:extLst>
                <a:ext uri="{FF2B5EF4-FFF2-40B4-BE49-F238E27FC236}">
                  <a16:creationId xmlns:a16="http://schemas.microsoft.com/office/drawing/2014/main" id="{B0A1E61D-011F-BD65-0AC7-2D751A8D3B6D}"/>
                </a:ext>
              </a:extLst>
            </p:cNvPr>
            <p:cNvSpPr txBox="1"/>
            <p:nvPr/>
          </p:nvSpPr>
          <p:spPr>
            <a:xfrm>
              <a:off x="5962084" y="131505"/>
              <a:ext cx="748798" cy="253916"/>
            </a:xfrm>
            <a:prstGeom prst="rect">
              <a:avLst/>
            </a:prstGeom>
            <a:noFill/>
          </p:spPr>
          <p:txBody>
            <a:bodyPr wrap="square"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lumMod val="50000"/>
                      <a:lumOff val="50000"/>
                    </a:srgbClr>
                  </a:solidFill>
                  <a:effectLst/>
                  <a:uLnTx/>
                  <a:uFillTx/>
                  <a:latin typeface="Lato Light" panose="020F0502020204030203" pitchFamily="34" charset="0"/>
                  <a:ea typeface="Lato Light" panose="020F0502020204030203" pitchFamily="34" charset="0"/>
                  <a:cs typeface="Lato Light" panose="020F0502020204030203" pitchFamily="34" charset="0"/>
                  <a:sym typeface="Arial" panose="020B0604020202020204" pitchFamily="34" charset="0"/>
                </a:rPr>
                <a:t>TALENT</a:t>
              </a:r>
            </a:p>
          </p:txBody>
        </p:sp>
        <p:sp>
          <p:nvSpPr>
            <p:cNvPr id="13" name="TextBox 12">
              <a:extLst>
                <a:ext uri="{FF2B5EF4-FFF2-40B4-BE49-F238E27FC236}">
                  <a16:creationId xmlns:a16="http://schemas.microsoft.com/office/drawing/2014/main" id="{DE2D6B73-F893-23DC-D0FB-B4F2EE9A501D}"/>
                </a:ext>
              </a:extLst>
            </p:cNvPr>
            <p:cNvSpPr txBox="1"/>
            <p:nvPr/>
          </p:nvSpPr>
          <p:spPr>
            <a:xfrm>
              <a:off x="3665327" y="296859"/>
              <a:ext cx="3090581" cy="490041"/>
            </a:xfrm>
            <a:prstGeom prst="rect">
              <a:avLst/>
            </a:prstGeom>
            <a:noFill/>
          </p:spPr>
          <p:txBody>
            <a:bodyPr wrap="square" lIns="91440" tIns="45720" rIns="91440" bIns="4572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rial" panose="020B0604020202020204" pitchFamily="34" charset="0"/>
                  <a:ea typeface="Lato Light" panose="020F0502020204030203" pitchFamily="34" charset="0"/>
                  <a:cs typeface="Arial" panose="020B0604020202020204" pitchFamily="34" charset="0"/>
                  <a:sym typeface="Arial" panose="020B0604020202020204" pitchFamily="34" charset="0"/>
                </a:rPr>
                <a:t>DANIEL SQUIRES</a:t>
              </a:r>
            </a:p>
          </p:txBody>
        </p:sp>
      </p:grpSp>
      <p:pic>
        <p:nvPicPr>
          <p:cNvPr id="2" name="Picture 1">
            <a:extLst>
              <a:ext uri="{FF2B5EF4-FFF2-40B4-BE49-F238E27FC236}">
                <a16:creationId xmlns:a16="http://schemas.microsoft.com/office/drawing/2014/main" id="{434A850A-ECF5-414D-B068-7CA9D0C9329A}"/>
              </a:ext>
            </a:extLst>
          </p:cNvPr>
          <p:cNvPicPr>
            <a:picLocks noChangeAspect="1"/>
          </p:cNvPicPr>
          <p:nvPr/>
        </p:nvPicPr>
        <p:blipFill>
          <a:blip r:embed="rId4"/>
          <a:stretch>
            <a:fillRect/>
          </a:stretch>
        </p:blipFill>
        <p:spPr>
          <a:xfrm>
            <a:off x="7376160" y="831850"/>
            <a:ext cx="4815840" cy="5887804"/>
          </a:xfrm>
          <a:prstGeom prst="rect">
            <a:avLst/>
          </a:prstGeom>
        </p:spPr>
      </p:pic>
      <p:sp>
        <p:nvSpPr>
          <p:cNvPr id="3" name="TextBox 2">
            <a:extLst>
              <a:ext uri="{FF2B5EF4-FFF2-40B4-BE49-F238E27FC236}">
                <a16:creationId xmlns:a16="http://schemas.microsoft.com/office/drawing/2014/main" id="{209A01AB-59B6-E06F-AF98-57117183A0F0}"/>
              </a:ext>
            </a:extLst>
          </p:cNvPr>
          <p:cNvSpPr txBox="1"/>
          <p:nvPr/>
        </p:nvSpPr>
        <p:spPr>
          <a:xfrm>
            <a:off x="580059" y="1540568"/>
            <a:ext cx="6388103" cy="4531841"/>
          </a:xfrm>
          <a:prstGeom prst="rect">
            <a:avLst/>
          </a:prstGeom>
          <a:noFill/>
        </p:spPr>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0000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Role · Talent Match</a:t>
            </a:r>
            <a:br>
              <a:rPr kumimoji="0" lang="en-US" sz="1100" b="1" i="0" u="none" strike="noStrike" kern="1200" cap="none" spc="0" normalizeH="0" baseline="0" noProof="0">
                <a:ln>
                  <a:noFill/>
                </a:ln>
                <a:solidFill>
                  <a:prstClr val="black"/>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br>
            <a:endParaRPr kumimoji="0" lang="en-US" sz="1100" b="1"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Dan is likely a strong proponent of data-driven transformation (Science, low Tradition) and so should happily help drive the organization away from being product-orientated towards a more data-driven revenue-scalable engine. </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Signs all point to his pace, agility and responsiveness (low Prudence, low Security, Excitable), suggesting a talent for accelerating delivery of new product launches and responding rapidly to market shifts.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0000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Potential Derailers </a:t>
            </a:r>
            <a:br>
              <a:rPr kumimoji="0" lang="en-US" sz="1100" b="1" i="0" u="none" strike="noStrike" kern="1200" cap="none" spc="0" normalizeH="0" baseline="0" noProof="0">
                <a:ln>
                  <a:noFill/>
                </a:ln>
                <a:solidFill>
                  <a:prstClr val="black"/>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br>
            <a:endParaRPr kumimoji="0" lang="en-US" sz="1100" b="0" i="0" u="none" strike="noStrike" kern="1200" cap="none" spc="0" normalizeH="0" baseline="0" noProof="0">
              <a:ln>
                <a:noFill/>
              </a:ln>
              <a:solidFill>
                <a:srgbClr val="404040"/>
              </a:solidFill>
              <a:effectLst/>
              <a:highlight>
                <a:srgbClr val="FFFF00"/>
              </a:highligh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Dan shows strong commercial and analytical orientation (Commerce, Science), though he may benefit from additional support in building coordination and connectedness across teams such as product, sales</a:t>
            </a:r>
            <a:r>
              <a:rPr lang="en-US" sz="1100">
                <a:solidFill>
                  <a:srgbClr val="404040"/>
                </a:solidFill>
                <a:latin typeface="Arial"/>
                <a:ea typeface="Lato Light" panose="020F0502020204030203" pitchFamily="34" charset="0"/>
                <a:cs typeface="Lato Light" panose="020F0502020204030203" pitchFamily="34" charset="0"/>
              </a:rPr>
              <a:t> and</a:t>
            </a: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 marketing.</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While perceptive and insightful (Skeptical, Inquisitive), it may help to have a complement in his team to strengthen process and structure and to translate ideas into practical, measurable go-to-market strategies.</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404040"/>
              </a:solidFill>
              <a:effectLst/>
              <a:highlight>
                <a:srgbClr val="FFFF00"/>
              </a:highligh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p:txBody>
      </p:sp>
    </p:spTree>
    <p:extLst>
      <p:ext uri="{BB962C8B-B14F-4D97-AF65-F5344CB8AC3E}">
        <p14:creationId xmlns:p14="http://schemas.microsoft.com/office/powerpoint/2010/main" val="3344683539"/>
      </p:ext>
    </p:extLst>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C520CFE3-E867-E202-5340-026A92B9CC1D}"/>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8069435A-92AD-3EA4-6052-1117432A07D3}"/>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32</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F848CDB6-B36B-674E-E542-5C80876D1098}"/>
              </a:ext>
            </a:extLst>
          </p:cNvPr>
          <p:cNvSpPr txBox="1">
            <a:spLocks noChangeArrowheads="1"/>
          </p:cNvSpPr>
          <p:nvPr/>
        </p:nvSpPr>
        <p:spPr bwMode="auto">
          <a:xfrm>
            <a:off x="550863" y="374650"/>
            <a:ext cx="8722182"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Enabling Success Plan | Chief Commercial Officer | DANIEL SQUIRES</a:t>
            </a: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p:txBody>
      </p:sp>
      <p:sp>
        <p:nvSpPr>
          <p:cNvPr id="4" name="Google Shape;57;p3">
            <a:extLst>
              <a:ext uri="{FF2B5EF4-FFF2-40B4-BE49-F238E27FC236}">
                <a16:creationId xmlns:a16="http://schemas.microsoft.com/office/drawing/2014/main" id="{62355560-2F49-AEE9-DBDF-A41E2BDFF838}"/>
              </a:ext>
            </a:extLst>
          </p:cNvPr>
          <p:cNvSpPr/>
          <p:nvPr/>
        </p:nvSpPr>
        <p:spPr>
          <a:xfrm>
            <a:off x="462166" y="1097720"/>
            <a:ext cx="3418461" cy="4507433"/>
          </a:xfrm>
          <a:prstGeom prst="roundRect">
            <a:avLst>
              <a:gd name="adj" fmla="val 3135"/>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Lato" panose="020F0502020204030203" pitchFamily="34" charset="77"/>
              <a:ea typeface="Lato"/>
              <a:cs typeface="Lato"/>
              <a:sym typeface="Lato"/>
            </a:endParaRPr>
          </a:p>
        </p:txBody>
      </p:sp>
      <p:sp>
        <p:nvSpPr>
          <p:cNvPr id="6" name="Google Shape;57;p3">
            <a:extLst>
              <a:ext uri="{FF2B5EF4-FFF2-40B4-BE49-F238E27FC236}">
                <a16:creationId xmlns:a16="http://schemas.microsoft.com/office/drawing/2014/main" id="{46F60B72-D8D2-1E3F-CEA6-3FAFAE56E88A}"/>
              </a:ext>
            </a:extLst>
          </p:cNvPr>
          <p:cNvSpPr/>
          <p:nvPr/>
        </p:nvSpPr>
        <p:spPr>
          <a:xfrm>
            <a:off x="4170556" y="1097720"/>
            <a:ext cx="7696576" cy="4507433"/>
          </a:xfrm>
          <a:prstGeom prst="roundRect">
            <a:avLst>
              <a:gd name="adj" fmla="val 225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Arial"/>
                <a:sym typeface="Arial" panose="020B0604020202020204" pitchFamily="34" charset="0"/>
              </a:rPr>
              <a:t>1. Rebuild Marketing Capabilities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Arial"/>
                <a:sym typeface="Arial" panose="020B0604020202020204" pitchFamily="34" charset="0"/>
              </a:rPr>
              <a:t>2. Strengthen Team Capability, Structure, and Accountability</a:t>
            </a:r>
            <a:endParaRPr kumimoji="0" lang="en-US" sz="1200" b="0" i="0" u="none" strike="noStrike" kern="1200" cap="none" spc="0" normalizeH="0" baseline="0" noProof="0">
              <a:ln>
                <a:noFill/>
              </a:ln>
              <a:solidFill>
                <a:srgbClr val="000000"/>
              </a:solidFill>
              <a:effectLst/>
              <a:uLnTx/>
              <a:uFillTx/>
              <a:latin typeface="Arial"/>
              <a:ea typeface="+mn-ea"/>
              <a:cs typeface="Arial"/>
              <a:sym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a:sym typeface="Arial" panose="020B0604020202020204" pitchFamily="34" charset="0"/>
              </a:rPr>
              <a:t>Identify and elevate the 3–5 most critical commercial roles that drive dipropionate growth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a:sym typeface="Arial" panose="020B0604020202020204" pitchFamily="34" charset="0"/>
              </a:rPr>
              <a:t>Act decisively on underperformance, ensuring clarity of expectations and coaching support where potential exists.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a:sym typeface="Arial" panose="020B0604020202020204" pitchFamily="34" charset="0"/>
              </a:rPr>
              <a:t>Build a structured development path for high-potential talent to strengthen leadership succession and continuity.</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Arial"/>
                <a:sym typeface="Arial" panose="020B0604020202020204" pitchFamily="34" charset="0"/>
              </a:rPr>
              <a:t>3.  Cultural Sensitivity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a:sym typeface="Arial" panose="020B0604020202020204" pitchFamily="34" charset="0"/>
              </a:rPr>
              <a:t>Engage an experienced mentor or executive coach — ideally someone with deep Middle East commercial and cultural expertise — to refine influence, communication, and relational style.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a:sym typeface="Arial" panose="020B0604020202020204" pitchFamily="34" charset="0"/>
              </a:rPr>
              <a:t>Be more intentional about informal alignment — spending time with peers, listening for unspoken cues, and calibrating tone to build trust and sponsorship.</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Arial"/>
                <a:sym typeface="Arial" panose="020B0604020202020204" pitchFamily="34" charset="0"/>
              </a:rPr>
              <a:t>4. Drive Execution Discipline and Cross-Functional Integration</a:t>
            </a:r>
            <a:endParaRPr kumimoji="0" lang="en-US" sz="1200" b="0" i="0" u="none" strike="noStrike" kern="1200" cap="none" spc="0" normalizeH="0" baseline="0" noProof="0">
              <a:ln>
                <a:noFill/>
              </a:ln>
              <a:solidFill>
                <a:srgbClr val="000000"/>
              </a:solidFill>
              <a:effectLst/>
              <a:uLnTx/>
              <a:uFillTx/>
              <a:latin typeface="Arial"/>
              <a:ea typeface="+mn-ea"/>
              <a:cs typeface="Arial"/>
              <a:sym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a:sym typeface="Arial" panose="020B0604020202020204" pitchFamily="34" charset="0"/>
              </a:rPr>
              <a:t>Create a governance rhythm with Operations, Finance, and Digital to track progress, resolve bottlenecks, and connect commercial initiatives to enterprise value creation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200">
                <a:latin typeface="Arial"/>
                <a:cs typeface="Arial"/>
              </a:rPr>
              <a:t>Complement your team with someone who can strengthen process and structure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Arial" panose="020B0604020202020204" pitchFamily="34" charset="0"/>
              <a:ea typeface="Lato Light"/>
              <a:cs typeface="Lato Light"/>
              <a:sym typeface="Arial" panose="020B0604020202020204" pitchFamily="34" charset="0"/>
            </a:endParaRPr>
          </a:p>
        </p:txBody>
      </p:sp>
      <p:sp>
        <p:nvSpPr>
          <p:cNvPr id="7" name="Google Shape;61;p3">
            <a:extLst>
              <a:ext uri="{FF2B5EF4-FFF2-40B4-BE49-F238E27FC236}">
                <a16:creationId xmlns:a16="http://schemas.microsoft.com/office/drawing/2014/main" id="{735AB4B3-E49B-2FE8-48D8-9B990234E578}"/>
              </a:ext>
            </a:extLst>
          </p:cNvPr>
          <p:cNvSpPr txBox="1"/>
          <p:nvPr/>
        </p:nvSpPr>
        <p:spPr>
          <a:xfrm>
            <a:off x="637485" y="1257419"/>
            <a:ext cx="2877611" cy="2723802"/>
          </a:xfrm>
          <a:prstGeom prst="rect">
            <a:avLst/>
          </a:prstGeom>
          <a:noFill/>
          <a:ln>
            <a:noFill/>
          </a:ln>
        </p:spPr>
        <p:txBody>
          <a:bodyPr spcFirstLastPara="1" wrap="square" lIns="22850" tIns="22850" rIns="22850" bIns="22850" anchor="t"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400" b="1"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What are We </a:t>
            </a:r>
            <a:r>
              <a:rPr kumimoji="0" lang="en-US" sz="1400" b="1" i="0" u="none" strike="noStrike" kern="0" cap="none" spc="0"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Solving For?</a:t>
            </a: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kumimoji="0" lang="en-US" sz="1400" b="1" i="0" u="none" strike="noStrike" kern="0" cap="none" spc="0"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kumimoji="0" lang="en-US" sz="1400" b="1" i="0" u="none" strike="noStrike" kern="0" cap="none" spc="0"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0"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1. </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Rebuild Marketing Capabilities</a:t>
            </a:r>
            <a:endParaRPr kumimoji="0" lang="en-US" sz="1200" b="0"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kumimoji="0" lang="en-US" sz="1200" b="0"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2. Strengthen Team Capability, Structure, and Accountability</a:t>
            </a:r>
            <a:endParaRPr kumimoji="0" lang="en-US" sz="1200" b="0"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kumimoji="0" lang="en-US" sz="1200" b="0"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3. Culture Sensitivity</a:t>
            </a: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kumimoji="0" lang="en-US" sz="1200" b="0"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4. Drive Execution Discipline and Cross-Functional Integration</a:t>
            </a: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kumimoji="0" lang="en-US" sz="1200" b="0" i="0" u="none" strike="noStrike" kern="0" cap="none" spc="0" normalizeH="0" baseline="0" noProof="0">
              <a:ln>
                <a:noFill/>
              </a:ln>
              <a:solidFill>
                <a:prstClr val="black"/>
              </a:solidFill>
              <a:effectLst/>
              <a:uLnTx/>
              <a:uFillTx/>
              <a:latin typeface="Arial" panose="020B0604020202020204" pitchFamily="34" charset="0"/>
              <a:ea typeface="Lato"/>
              <a:cs typeface="Arial" panose="020B0604020202020204" pitchFamily="34" charset="0"/>
              <a:sym typeface="Arial"/>
            </a:endParaRP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kumimoji="0" sz="1200" b="0" i="0" u="none" strike="noStrike" kern="0" cap="none" spc="0" normalizeH="0" baseline="0" noProof="0">
              <a:ln>
                <a:noFill/>
              </a:ln>
              <a:solidFill>
                <a:prstClr val="black"/>
              </a:solidFill>
              <a:effectLst/>
              <a:uLnTx/>
              <a:uFillTx/>
              <a:latin typeface="Arial" panose="020B0604020202020204" pitchFamily="34" charset="0"/>
              <a:ea typeface="Lato"/>
              <a:cs typeface="Arial" panose="020B0604020202020204" pitchFamily="34" charset="0"/>
              <a:sym typeface="Arial"/>
            </a:endParaRPr>
          </a:p>
        </p:txBody>
      </p:sp>
      <p:sp>
        <p:nvSpPr>
          <p:cNvPr id="8" name="TextBox 7">
            <a:extLst>
              <a:ext uri="{FF2B5EF4-FFF2-40B4-BE49-F238E27FC236}">
                <a16:creationId xmlns:a16="http://schemas.microsoft.com/office/drawing/2014/main" id="{3C877DA9-08D3-AE4D-363F-92DCE09CB666}"/>
              </a:ext>
            </a:extLst>
          </p:cNvPr>
          <p:cNvSpPr txBox="1"/>
          <p:nvPr/>
        </p:nvSpPr>
        <p:spPr>
          <a:xfrm>
            <a:off x="6438405" y="1097720"/>
            <a:ext cx="2834640"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
                <a:srgbClr val="BA0C2F"/>
              </a:buClr>
              <a:buSzPts val="3600"/>
              <a:buFontTx/>
              <a:buNone/>
              <a:tabLst/>
              <a:defRPr/>
            </a:pPr>
            <a:r>
              <a:rPr kumimoji="0" lang="en-US" sz="1800" b="1" i="0" u="none" strike="noStrike" kern="0" cap="none" spc="0" normalizeH="0" baseline="0" noProof="0">
                <a:ln>
                  <a:noFill/>
                </a:ln>
                <a:solidFill>
                  <a:srgbClr val="000000"/>
                </a:solidFill>
                <a:effectLst/>
                <a:uLnTx/>
                <a:uFillTx/>
                <a:latin typeface="Arial" panose="020B0604020202020204" pitchFamily="34" charset="0"/>
                <a:ea typeface="Lato"/>
                <a:cs typeface="Arial" panose="020B0604020202020204" pitchFamily="34" charset="0"/>
                <a:sym typeface="Lato"/>
              </a:rPr>
              <a:t>Success Enabling </a:t>
            </a:r>
            <a:r>
              <a:rPr kumimoji="0" lang="en-US" sz="1800" b="1" i="0" u="none" strike="noStrike" kern="0" cap="none" spc="0" normalizeH="0" baseline="0" noProof="0">
                <a:ln>
                  <a:noFill/>
                </a:ln>
                <a:solidFill>
                  <a:srgbClr val="BA0C2F"/>
                </a:solidFill>
                <a:effectLst/>
                <a:uLnTx/>
                <a:uFillTx/>
                <a:latin typeface="Arial" panose="020B0604020202020204" pitchFamily="34" charset="0"/>
                <a:ea typeface="Lato"/>
                <a:cs typeface="Arial" panose="020B0604020202020204" pitchFamily="34" charset="0"/>
                <a:sym typeface="Lato"/>
              </a:rPr>
              <a:t>Plan</a:t>
            </a:r>
            <a:endParaRPr kumimoji="0" lang="en-US" sz="1800" b="1" i="0" u="none" strike="noStrike" kern="0" cap="none" spc="0" normalizeH="0" baseline="0" noProof="0">
              <a:ln>
                <a:noFill/>
              </a:ln>
              <a:solidFill>
                <a:prstClr val="black"/>
              </a:solidFill>
              <a:effectLst/>
              <a:uLnTx/>
              <a:uFillTx/>
              <a:latin typeface="Arial" panose="020B0604020202020204" pitchFamily="34" charset="0"/>
              <a:ea typeface="Lato"/>
              <a:cs typeface="Arial" panose="020B0604020202020204" pitchFamily="34" charset="0"/>
              <a:sym typeface="Lato"/>
            </a:endParaRPr>
          </a:p>
        </p:txBody>
      </p:sp>
    </p:spTree>
    <p:extLst>
      <p:ext uri="{BB962C8B-B14F-4D97-AF65-F5344CB8AC3E}">
        <p14:creationId xmlns:p14="http://schemas.microsoft.com/office/powerpoint/2010/main" val="39286627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39505-2D0F-7F0B-CE9E-078B0E49B5B5}"/>
            </a:ext>
          </a:extLst>
        </p:cNvPr>
        <p:cNvGrpSpPr/>
        <p:nvPr/>
      </p:nvGrpSpPr>
      <p:grpSpPr>
        <a:xfrm>
          <a:off x="0" y="0"/>
          <a:ext cx="0" cy="0"/>
          <a:chOff x="0" y="0"/>
          <a:chExt cx="0" cy="0"/>
        </a:xfrm>
      </p:grpSpPr>
      <p:sp>
        <p:nvSpPr>
          <p:cNvPr id="19457" name="Text Placeholder 1">
            <a:extLst>
              <a:ext uri="{FF2B5EF4-FFF2-40B4-BE49-F238E27FC236}">
                <a16:creationId xmlns:a16="http://schemas.microsoft.com/office/drawing/2014/main" id="{D2FB94AE-6B11-DEAD-0E28-ADF82066E2FD}"/>
              </a:ext>
            </a:extLst>
          </p:cNvPr>
          <p:cNvSpPr>
            <a:spLocks noGrp="1" noChangeArrowheads="1"/>
          </p:cNvSpPr>
          <p:nvPr>
            <p:ph type="body" idx="1"/>
          </p:nvPr>
        </p:nvSpPr>
        <p:spPr bwMode="auto">
          <a:xfrm>
            <a:off x="143668" y="3298103"/>
            <a:ext cx="4841875" cy="1966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a:spcBef>
                <a:spcPct val="0"/>
              </a:spcBef>
              <a:spcAft>
                <a:spcPct val="0"/>
              </a:spcAft>
              <a:buClr>
                <a:srgbClr val="000000"/>
              </a:buClr>
              <a:buFont typeface="Arial" panose="020B0604020202020204" pitchFamily="34" charset="0"/>
              <a:buNone/>
            </a:pPr>
            <a:r>
              <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rPr>
              <a:t>Head of Risk</a:t>
            </a:r>
          </a:p>
          <a:p>
            <a:pPr>
              <a:spcBef>
                <a:spcPct val="0"/>
              </a:spcBef>
              <a:spcAft>
                <a:spcPct val="0"/>
              </a:spcAft>
              <a:buClr>
                <a:srgbClr val="000000"/>
              </a:buClr>
              <a:buFont typeface="Arial" panose="020B0604020202020204" pitchFamily="34" charset="0"/>
              <a:buNone/>
            </a:pPr>
            <a:r>
              <a:rPr lang="en-US" altLang="en-US" sz="4000" b="1">
                <a:solidFill>
                  <a:srgbClr val="001E5A"/>
                </a:solidFill>
                <a:latin typeface="Helvetica Neue" panose="02000503000000020004" pitchFamily="2" charset="0"/>
                <a:cs typeface="Arial" panose="020B0604020202020204" pitchFamily="34" charset="0"/>
                <a:sym typeface="Helvetica Neue" panose="02000503000000020004" pitchFamily="2" charset="0"/>
              </a:rPr>
              <a:t>| LUDOVIC</a:t>
            </a:r>
          </a:p>
          <a:p>
            <a:pPr>
              <a:spcBef>
                <a:spcPct val="0"/>
              </a:spcBef>
              <a:spcAft>
                <a:spcPct val="0"/>
              </a:spcAft>
              <a:buClr>
                <a:srgbClr val="000000"/>
              </a:buClr>
              <a:buFont typeface="Arial" panose="020B0604020202020204" pitchFamily="34" charset="0"/>
              <a:buNone/>
            </a:pPr>
            <a:r>
              <a:rPr lang="en-US" altLang="en-US" sz="4000" b="1">
                <a:solidFill>
                  <a:srgbClr val="001E5A"/>
                </a:solidFill>
                <a:latin typeface="Helvetica Neue" panose="02000503000000020004" pitchFamily="2" charset="0"/>
                <a:cs typeface="Arial" panose="020B0604020202020204" pitchFamily="34" charset="0"/>
                <a:sym typeface="Helvetica Neue" panose="02000503000000020004" pitchFamily="2" charset="0"/>
              </a:rPr>
              <a:t>LOMBARD</a:t>
            </a:r>
          </a:p>
          <a:p>
            <a:pPr>
              <a:spcBef>
                <a:spcPct val="0"/>
              </a:spcBef>
              <a:spcAft>
                <a:spcPct val="0"/>
              </a:spcAft>
              <a:buClr>
                <a:srgbClr val="000000"/>
              </a:buClr>
              <a:buFont typeface="Arial" panose="020B0604020202020204" pitchFamily="34" charset="0"/>
              <a:buNone/>
            </a:pPr>
            <a:endPar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endParaRPr>
          </a:p>
          <a:p>
            <a:pPr>
              <a:spcBef>
                <a:spcPct val="0"/>
              </a:spcBef>
              <a:spcAft>
                <a:spcPct val="0"/>
              </a:spcAft>
              <a:buClr>
                <a:srgbClr val="000000"/>
              </a:buClr>
              <a:buFont typeface="Arial" panose="020B0604020202020204" pitchFamily="34" charset="0"/>
              <a:buNone/>
            </a:pPr>
            <a:endPar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endParaRPr>
          </a:p>
          <a:p>
            <a:pPr>
              <a:spcBef>
                <a:spcPct val="0"/>
              </a:spcBef>
              <a:spcAft>
                <a:spcPct val="0"/>
              </a:spcAft>
              <a:buClr>
                <a:srgbClr val="000000"/>
              </a:buClr>
              <a:buFont typeface="Arial" panose="020B0604020202020204" pitchFamily="34" charset="0"/>
              <a:buNone/>
            </a:pPr>
            <a:endPar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endParaRPr>
          </a:p>
          <a:p>
            <a:pPr>
              <a:spcBef>
                <a:spcPct val="0"/>
              </a:spcBef>
              <a:spcAft>
                <a:spcPct val="0"/>
              </a:spcAft>
              <a:buClr>
                <a:srgbClr val="000000"/>
              </a:buClr>
              <a:buFont typeface="Arial" panose="020B0604020202020204" pitchFamily="34" charset="0"/>
              <a:buNone/>
            </a:pPr>
            <a:endPar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endParaRPr>
          </a:p>
          <a:p>
            <a:pPr>
              <a:spcBef>
                <a:spcPct val="0"/>
              </a:spcBef>
              <a:spcAft>
                <a:spcPct val="0"/>
              </a:spcAft>
              <a:buClr>
                <a:srgbClr val="000000"/>
              </a:buClr>
              <a:buFont typeface="Arial" panose="020B0604020202020204" pitchFamily="34" charset="0"/>
              <a:buNone/>
            </a:pPr>
            <a:endPar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endParaRPr>
          </a:p>
          <a:p>
            <a:pPr>
              <a:spcBef>
                <a:spcPct val="0"/>
              </a:spcBef>
              <a:spcAft>
                <a:spcPct val="0"/>
              </a:spcAft>
              <a:buClr>
                <a:srgbClr val="000000"/>
              </a:buClr>
              <a:buFont typeface="Arial" panose="020B0604020202020204" pitchFamily="34" charset="0"/>
              <a:buNone/>
            </a:pPr>
            <a:endPar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endParaRPr>
          </a:p>
          <a:p>
            <a:pPr>
              <a:spcBef>
                <a:spcPct val="0"/>
              </a:spcBef>
              <a:spcAft>
                <a:spcPct val="0"/>
              </a:spcAft>
              <a:buClr>
                <a:srgbClr val="000000"/>
              </a:buClr>
              <a:buFont typeface="Arial" panose="020B0604020202020204" pitchFamily="34" charset="0"/>
              <a:buNone/>
            </a:pPr>
            <a:endParaRPr lang="en-US" altLang="en-US" sz="4000" b="1">
              <a:solidFill>
                <a:srgbClr val="112D59"/>
              </a:solidFill>
              <a:latin typeface="Helvetica Neue" panose="02000503000000020004" pitchFamily="2" charset="0"/>
              <a:cs typeface="Arial" panose="020B0604020202020204" pitchFamily="34" charset="0"/>
              <a:sym typeface="Helvetica Neue" panose="02000503000000020004" pitchFamily="2" charset="0"/>
            </a:endParaRPr>
          </a:p>
        </p:txBody>
      </p:sp>
      <p:sp>
        <p:nvSpPr>
          <p:cNvPr id="19458" name="Text Placeholder 2">
            <a:extLst>
              <a:ext uri="{FF2B5EF4-FFF2-40B4-BE49-F238E27FC236}">
                <a16:creationId xmlns:a16="http://schemas.microsoft.com/office/drawing/2014/main" id="{166A496A-F6B5-4A2B-A606-291619F5F0C6}"/>
              </a:ext>
            </a:extLst>
          </p:cNvPr>
          <p:cNvSpPr>
            <a:spLocks noGrp="1" noChangeArrowheads="1"/>
          </p:cNvSpPr>
          <p:nvPr>
            <p:ph type="body" idx="2"/>
          </p:nvPr>
        </p:nvSpPr>
        <p:spPr bwMode="auto">
          <a:xfrm>
            <a:off x="158750" y="5043488"/>
            <a:ext cx="4703763" cy="736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a:spcAft>
                <a:spcPct val="0"/>
              </a:spcAft>
              <a:buClr>
                <a:srgbClr val="000000"/>
              </a:buClr>
            </a:pPr>
            <a:r>
              <a:rPr lang="en-US" altLang="en-US" sz="180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sym typeface="Helvetica Neue Light" panose="02000403000000020004" pitchFamily="2" charset="0"/>
              </a:rPr>
              <a:t>NOV 2025 </a:t>
            </a:r>
          </a:p>
        </p:txBody>
      </p:sp>
      <p:cxnSp>
        <p:nvCxnSpPr>
          <p:cNvPr id="8" name="Straight Connector 7">
            <a:extLst>
              <a:ext uri="{FF2B5EF4-FFF2-40B4-BE49-F238E27FC236}">
                <a16:creationId xmlns:a16="http://schemas.microsoft.com/office/drawing/2014/main" id="{49895A1C-5908-AABC-0C72-D59F0353E6F4}"/>
              </a:ext>
            </a:extLst>
          </p:cNvPr>
          <p:cNvCxnSpPr/>
          <p:nvPr/>
        </p:nvCxnSpPr>
        <p:spPr>
          <a:xfrm>
            <a:off x="471488" y="5043488"/>
            <a:ext cx="41862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0D06CCFD-1B5B-D232-8EA6-0D6323FE9DFF}"/>
              </a:ext>
            </a:extLst>
          </p:cNvPr>
          <p:cNvPicPr>
            <a:picLocks noChangeAspect="1"/>
          </p:cNvPicPr>
          <p:nvPr/>
        </p:nvPicPr>
        <p:blipFill>
          <a:blip r:embed="rId2"/>
          <a:stretch>
            <a:fillRect/>
          </a:stretch>
        </p:blipFill>
        <p:spPr>
          <a:xfrm>
            <a:off x="257731" y="2475232"/>
            <a:ext cx="1705683" cy="774380"/>
          </a:xfrm>
          <a:prstGeom prst="rect">
            <a:avLst/>
          </a:prstGeom>
        </p:spPr>
      </p:pic>
    </p:spTree>
    <p:extLst>
      <p:ext uri="{BB962C8B-B14F-4D97-AF65-F5344CB8AC3E}">
        <p14:creationId xmlns:p14="http://schemas.microsoft.com/office/powerpoint/2010/main" val="36652590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B0970744-D7CA-4218-B227-42D376D17C3D}"/>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1342A4BE-3D86-C8D1-D0FB-B3E7CE69942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34</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0BE1D50F-E745-56D9-E24B-1A8D54A92A54}"/>
              </a:ext>
            </a:extLst>
          </p:cNvPr>
          <p:cNvSpPr txBox="1">
            <a:spLocks noChangeArrowheads="1"/>
          </p:cNvSpPr>
          <p:nvPr/>
        </p:nvSpPr>
        <p:spPr bwMode="auto">
          <a:xfrm>
            <a:off x="550863" y="374650"/>
            <a:ext cx="75596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lvl="0">
              <a:lnSpc>
                <a:spcPct val="90000"/>
              </a:lnSpc>
              <a:buClr>
                <a:srgbClr val="000000"/>
              </a:buClr>
              <a:buSzPts val="2400"/>
              <a:defRPr/>
            </a:pPr>
            <a:r>
              <a:rPr lang="en-US" altLang="en-US" sz="2000">
                <a:solidFill>
                  <a:srgbClr val="002060"/>
                </a:solidFill>
                <a:latin typeface="Helvetica Neue" panose="02000503000000020004" pitchFamily="2" charset="0"/>
                <a:sym typeface="Helvetica Neue Light" panose="02000403000000020004" pitchFamily="2" charset="0"/>
              </a:rPr>
              <a:t>Jobs To Be Done | Head of Risk </a:t>
            </a: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 </a:t>
            </a:r>
            <a:r>
              <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LUDOVIC LOMBARD</a:t>
            </a:r>
          </a:p>
        </p:txBody>
      </p:sp>
      <p:sp>
        <p:nvSpPr>
          <p:cNvPr id="4" name="Google Shape;57;p3">
            <a:extLst>
              <a:ext uri="{FF2B5EF4-FFF2-40B4-BE49-F238E27FC236}">
                <a16:creationId xmlns:a16="http://schemas.microsoft.com/office/drawing/2014/main" id="{6487C571-3BC4-2FC2-990A-F65B88A27ECB}"/>
              </a:ext>
            </a:extLst>
          </p:cNvPr>
          <p:cNvSpPr/>
          <p:nvPr/>
        </p:nvSpPr>
        <p:spPr>
          <a:xfrm>
            <a:off x="3398274" y="1067112"/>
            <a:ext cx="5555948" cy="4923379"/>
          </a:xfrm>
          <a:prstGeom prst="roundRect">
            <a:avLst>
              <a:gd name="adj" fmla="val 3135"/>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p:txBody>
      </p:sp>
      <p:sp>
        <p:nvSpPr>
          <p:cNvPr id="6" name="Google Shape;61;p3">
            <a:extLst>
              <a:ext uri="{FF2B5EF4-FFF2-40B4-BE49-F238E27FC236}">
                <a16:creationId xmlns:a16="http://schemas.microsoft.com/office/drawing/2014/main" id="{7CFAA945-5F71-4DEA-3AB2-BC24634E0F13}"/>
              </a:ext>
            </a:extLst>
          </p:cNvPr>
          <p:cNvSpPr txBox="1"/>
          <p:nvPr/>
        </p:nvSpPr>
        <p:spPr>
          <a:xfrm>
            <a:off x="3689234" y="1179920"/>
            <a:ext cx="4229815" cy="230812"/>
          </a:xfrm>
          <a:prstGeom prst="rect">
            <a:avLst/>
          </a:prstGeom>
          <a:noFill/>
          <a:ln>
            <a:noFill/>
          </a:ln>
        </p:spPr>
        <p:txBody>
          <a:bodyPr spcFirstLastPara="1" wrap="square" lIns="22850" tIns="22850" rIns="22850" bIns="22850" anchor="t"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1" i="0" u="none" strike="noStrike" kern="0" cap="none" spc="0" normalizeH="0" baseline="0" noProof="0">
                <a:ln>
                  <a:noFill/>
                </a:ln>
                <a:solidFill>
                  <a:srgbClr val="BA0C2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Jobs To Be Done</a:t>
            </a:r>
            <a:endParaRPr kumimoji="0" sz="7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p:txBody>
      </p:sp>
      <p:graphicFrame>
        <p:nvGraphicFramePr>
          <p:cNvPr id="7" name="Table 6">
            <a:extLst>
              <a:ext uri="{FF2B5EF4-FFF2-40B4-BE49-F238E27FC236}">
                <a16:creationId xmlns:a16="http://schemas.microsoft.com/office/drawing/2014/main" id="{CA9F2369-9433-2E6E-7E95-9C964288B4CF}"/>
              </a:ext>
            </a:extLst>
          </p:cNvPr>
          <p:cNvGraphicFramePr>
            <a:graphicFrameLocks noGrp="1"/>
          </p:cNvGraphicFramePr>
          <p:nvPr>
            <p:extLst>
              <p:ext uri="{D42A27DB-BD31-4B8C-83A1-F6EECF244321}">
                <p14:modId xmlns:p14="http://schemas.microsoft.com/office/powerpoint/2010/main" val="1979931142"/>
              </p:ext>
            </p:extLst>
          </p:nvPr>
        </p:nvGraphicFramePr>
        <p:xfrm>
          <a:off x="3599904" y="1441510"/>
          <a:ext cx="5164649" cy="4282440"/>
        </p:xfrm>
        <a:graphic>
          <a:graphicData uri="http://schemas.openxmlformats.org/drawingml/2006/table">
            <a:tbl>
              <a:tblPr firstRow="1" bandRow="1">
                <a:tableStyleId>{5C22544A-7EE6-4342-B048-85BDC9FD1C3A}</a:tableStyleId>
              </a:tblPr>
              <a:tblGrid>
                <a:gridCol w="5164649">
                  <a:extLst>
                    <a:ext uri="{9D8B030D-6E8A-4147-A177-3AD203B41FA5}">
                      <a16:colId xmlns:a16="http://schemas.microsoft.com/office/drawing/2014/main" val="2300840210"/>
                    </a:ext>
                  </a:extLst>
                </a:gridCol>
              </a:tblGrid>
              <a:tr h="88511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10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Strengthen Enterprise Risk Framework and Governance</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Establish and continuously refine an integrated enterprise risk framework that ensures consistency, transparency, and alignment with regulatory standards and business priorities. Position Risk as a strategic enabler—balancing control with informed risk-taking.</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10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Enhance Risk Oversight</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Implement advanced monitoring, analytics, and limit-setting to manage exposures across trading and client portfolios. Build early-warning systems and escalation protocols to safeguard financial stability.</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10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Elevate Operational Risk Management and Resilience</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Identify and mitigate process, system, and human-factor risks through clear ownership, controls, and accountability. Ensure robust business continuity, crisis management, and incident-response capabilities across all functions.</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10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Integrate Risk with Commercial and Technology Functions</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Embed risk liaisons within business and tech teams to align oversight with commercial priorities and new product initiatives. Promote collaboration so risk management becomes a value-creation partner</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10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Build and Develop High-Performing Risk Talent</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Identify critical roles and upskill the team to combine technical expertise with commercial acumen. Foster a culture of curiosity, accountability, and proactive risk awareness across the organization.</a:t>
                      </a:r>
                    </a:p>
                  </a:txBody>
                  <a:tcPr>
                    <a:lnL w="12700" cap="flat" cmpd="sng" algn="ctr">
                      <a:solidFill>
                        <a:schemeClr val="bg1">
                          <a:lumMod val="95000"/>
                        </a:schemeClr>
                      </a:solidFill>
                      <a:prstDash val="solid"/>
                      <a:round/>
                      <a:headEnd type="none" w="med" len="med"/>
                      <a:tailEnd type="none" w="med" len="med"/>
                    </a:lnL>
                    <a:lnB w="12700" cap="flat" cmpd="sng" algn="ctr">
                      <a:solidFill>
                        <a:srgbClr val="BC8F00"/>
                      </a:solidFill>
                      <a:prstDash val="solid"/>
                      <a:round/>
                      <a:headEnd type="none" w="med" len="med"/>
                      <a:tailEnd type="none" w="med" len="med"/>
                    </a:lnB>
                    <a:noFill/>
                  </a:tcPr>
                </a:tc>
                <a:extLst>
                  <a:ext uri="{0D108BD9-81ED-4DB2-BD59-A6C34878D82A}">
                    <a16:rowId xmlns:a16="http://schemas.microsoft.com/office/drawing/2014/main" val="2440114098"/>
                  </a:ext>
                </a:extLst>
              </a:tr>
            </a:tbl>
          </a:graphicData>
        </a:graphic>
      </p:graphicFrame>
      <p:sp>
        <p:nvSpPr>
          <p:cNvPr id="15" name="Google Shape;57;p3">
            <a:extLst>
              <a:ext uri="{FF2B5EF4-FFF2-40B4-BE49-F238E27FC236}">
                <a16:creationId xmlns:a16="http://schemas.microsoft.com/office/drawing/2014/main" id="{B45BC076-FD62-6E6F-FC0F-8516BEEA703D}"/>
              </a:ext>
            </a:extLst>
          </p:cNvPr>
          <p:cNvSpPr/>
          <p:nvPr/>
        </p:nvSpPr>
        <p:spPr>
          <a:xfrm>
            <a:off x="511497" y="1067112"/>
            <a:ext cx="2783451" cy="4923379"/>
          </a:xfrm>
          <a:prstGeom prst="roundRect">
            <a:avLst>
              <a:gd name="adj" fmla="val 5837"/>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p:txBody>
      </p:sp>
      <p:sp>
        <p:nvSpPr>
          <p:cNvPr id="16" name="Google Shape;57;p3">
            <a:extLst>
              <a:ext uri="{FF2B5EF4-FFF2-40B4-BE49-F238E27FC236}">
                <a16:creationId xmlns:a16="http://schemas.microsoft.com/office/drawing/2014/main" id="{29558F54-A214-6D53-BEFD-51791D3ACCC8}"/>
              </a:ext>
            </a:extLst>
          </p:cNvPr>
          <p:cNvSpPr/>
          <p:nvPr/>
        </p:nvSpPr>
        <p:spPr>
          <a:xfrm>
            <a:off x="9057548" y="1067112"/>
            <a:ext cx="2783451" cy="4923379"/>
          </a:xfrm>
          <a:prstGeom prst="roundRect">
            <a:avLst>
              <a:gd name="adj" fmla="val 5837"/>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p:txBody>
      </p:sp>
      <p:sp>
        <p:nvSpPr>
          <p:cNvPr id="17" name="Google Shape;72;p3">
            <a:extLst>
              <a:ext uri="{FF2B5EF4-FFF2-40B4-BE49-F238E27FC236}">
                <a16:creationId xmlns:a16="http://schemas.microsoft.com/office/drawing/2014/main" id="{46B8F78E-1022-9E33-1E23-706BDBF1150B}"/>
              </a:ext>
            </a:extLst>
          </p:cNvPr>
          <p:cNvSpPr txBox="1"/>
          <p:nvPr/>
        </p:nvSpPr>
        <p:spPr>
          <a:xfrm>
            <a:off x="9230003" y="1257590"/>
            <a:ext cx="2438539"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1" i="0" u="none" strike="noStrike" kern="0" cap="none" spc="0" normalizeH="0" baseline="0" noProof="0">
                <a:ln>
                  <a:noFill/>
                </a:ln>
                <a:solidFill>
                  <a:srgbClr val="BA0C2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Superpowers</a:t>
            </a:r>
            <a:endParaRPr kumimoji="0" lang="en-US" sz="12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p:txBody>
      </p:sp>
      <p:sp>
        <p:nvSpPr>
          <p:cNvPr id="18" name="TextBox 17">
            <a:extLst>
              <a:ext uri="{FF2B5EF4-FFF2-40B4-BE49-F238E27FC236}">
                <a16:creationId xmlns:a16="http://schemas.microsoft.com/office/drawing/2014/main" id="{9220D36A-F519-A9E6-6EA5-0B433FFA303C}"/>
              </a:ext>
            </a:extLst>
          </p:cNvPr>
          <p:cNvSpPr txBox="1"/>
          <p:nvPr/>
        </p:nvSpPr>
        <p:spPr>
          <a:xfrm>
            <a:off x="9193050" y="1756857"/>
            <a:ext cx="2512443" cy="276998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IN"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1. </a:t>
            </a:r>
            <a:r>
              <a:rPr kumimoji="0" lang="en-IN"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Expert at building and embedding robust risk policies and controls, turning informal practices into structured, business-enabling systems.</a:t>
            </a:r>
          </a:p>
          <a:p>
            <a:pPr marL="0" marR="0" lvl="0" indent="0" algn="l" defTabSz="914400" rtl="0" eaLnBrk="1" fontAlgn="auto" latinLnBrk="0" hangingPunct="1">
              <a:lnSpc>
                <a:spcPct val="100000"/>
              </a:lnSpc>
              <a:spcBef>
                <a:spcPts val="0"/>
              </a:spcBef>
              <a:spcAft>
                <a:spcPts val="1200"/>
              </a:spcAft>
              <a:buClrTx/>
              <a:buSzTx/>
              <a:buFontTx/>
              <a:buNone/>
              <a:tabLst/>
              <a:defRPr/>
            </a:pPr>
            <a:endParaRPr kumimoji="0" lang="en-IN"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IN"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2. </a:t>
            </a:r>
            <a:r>
              <a:rPr kumimoji="0" lang="en-IN"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Skilled at shifting mindsets—making risk everyone’s business and driving excitement for risk as a value creator, not just a safeguard.</a:t>
            </a:r>
          </a:p>
          <a:p>
            <a:pPr marL="0" marR="0" lvl="0" indent="0" algn="l" defTabSz="914400" rtl="0" eaLnBrk="1" fontAlgn="auto" latinLnBrk="0" hangingPunct="1">
              <a:lnSpc>
                <a:spcPct val="100000"/>
              </a:lnSpc>
              <a:spcBef>
                <a:spcPts val="0"/>
              </a:spcBef>
              <a:spcAft>
                <a:spcPts val="1200"/>
              </a:spcAft>
              <a:buClrTx/>
              <a:buSzTx/>
              <a:buFontTx/>
              <a:buNone/>
              <a:tabLst/>
              <a:defRPr/>
            </a:pPr>
            <a:endParaRPr kumimoji="0" lang="en-IN"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22" name="Google Shape;72;p3">
            <a:extLst>
              <a:ext uri="{FF2B5EF4-FFF2-40B4-BE49-F238E27FC236}">
                <a16:creationId xmlns:a16="http://schemas.microsoft.com/office/drawing/2014/main" id="{30A9BEAE-3054-A79E-8A45-E5E19769EF77}"/>
              </a:ext>
            </a:extLst>
          </p:cNvPr>
          <p:cNvSpPr txBox="1"/>
          <p:nvPr/>
        </p:nvSpPr>
        <p:spPr>
          <a:xfrm>
            <a:off x="988909" y="1257434"/>
            <a:ext cx="2438539" cy="243636"/>
          </a:xfrm>
          <a:prstGeom prst="rect">
            <a:avLst/>
          </a:prstGeom>
          <a:noFill/>
          <a:ln>
            <a:noFill/>
          </a:ln>
        </p:spPr>
        <p:txBody>
          <a:bodyPr spcFirstLastPara="1" wrap="square" lIns="22850" tIns="22850" rIns="22850" bIns="22850" anchor="b" anchorCtr="0">
            <a:spAutoFit/>
          </a:bodyPr>
          <a:lstStyle/>
          <a:p>
            <a:pPr marL="12700" marR="0" lvl="0" indent="0" algn="l" defTabSz="914400" rtl="0" eaLnBrk="0" fontAlgn="base" latinLnBrk="0" hangingPunct="0">
              <a:lnSpc>
                <a:spcPct val="100000"/>
              </a:lnSpc>
              <a:spcBef>
                <a:spcPts val="100"/>
              </a:spcBef>
              <a:spcAft>
                <a:spcPct val="0"/>
              </a:spcAft>
              <a:buClrTx/>
              <a:buSzTx/>
              <a:buFontTx/>
              <a:buNone/>
              <a:tabLst/>
              <a:defRPr/>
            </a:pPr>
            <a:r>
              <a:rPr kumimoji="0" lang="en-US" sz="1200" b="0" i="0" u="none" strike="noStrike" kern="1200" cap="none" spc="-35"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Jobs To Be Done </a:t>
            </a:r>
            <a:r>
              <a:rPr kumimoji="0" lang="en-US" sz="1200" b="0" i="0" u="none" strike="noStrike" kern="1200" cap="none" spc="-35"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Pivot</a:t>
            </a:r>
          </a:p>
        </p:txBody>
      </p:sp>
      <p:sp>
        <p:nvSpPr>
          <p:cNvPr id="23" name="TextBox 22">
            <a:extLst>
              <a:ext uri="{FF2B5EF4-FFF2-40B4-BE49-F238E27FC236}">
                <a16:creationId xmlns:a16="http://schemas.microsoft.com/office/drawing/2014/main" id="{9231C29B-45C8-E57F-D87F-157914BF32E9}"/>
              </a:ext>
            </a:extLst>
          </p:cNvPr>
          <p:cNvSpPr txBox="1"/>
          <p:nvPr/>
        </p:nvSpPr>
        <p:spPr>
          <a:xfrm>
            <a:off x="702812" y="1809051"/>
            <a:ext cx="2438539" cy="2410916"/>
          </a:xfrm>
          <a:prstGeom prst="rect">
            <a:avLst/>
          </a:prstGeom>
          <a:noFill/>
        </p:spPr>
        <p:txBody>
          <a:bodyPr wrap="square">
            <a:spAutoFit/>
          </a:bodyPr>
          <a:lstStyle/>
          <a:p>
            <a:pPr marL="171450" marR="0" lvl="0" indent="-171450" algn="l" defTabSz="914400" rtl="0" eaLnBrk="0" fontAlgn="base" latinLnBrk="0" hangingPunct="0">
              <a:lnSpc>
                <a:spcPct val="100000"/>
              </a:lnSpc>
              <a:spcBef>
                <a:spcPct val="0"/>
              </a:spcBef>
              <a:spcAft>
                <a:spcPts val="36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From</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fragmented, informal, and underdeveloped practices in operational risk, cybersecurity</a:t>
            </a:r>
            <a:r>
              <a:rPr lang="en-US" sz="1200">
                <a:latin typeface="Helvetica Neue" panose="02000503000000020004" pitchFamily="2" charset="0"/>
                <a:ea typeface="Helvetica Neue" panose="02000503000000020004" pitchFamily="2" charset="0"/>
                <a:cs typeface="Helvetica Neue" panose="02000503000000020004" pitchFamily="2" charset="0"/>
              </a:rPr>
              <a:t> </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and business continuity.</a:t>
            </a:r>
          </a:p>
          <a:p>
            <a:pPr marL="171450" marR="0" lvl="0" indent="-171450" algn="l" defTabSz="914400" rtl="0" eaLnBrk="0" fontAlgn="base" latinLnBrk="0" hangingPunct="0">
              <a:lnSpc>
                <a:spcPct val="100000"/>
              </a:lnSpc>
              <a:spcBef>
                <a:spcPct val="0"/>
              </a:spcBef>
              <a:spcAft>
                <a:spcPts val="360"/>
              </a:spcAft>
              <a:buClrTx/>
              <a:buSzTx/>
              <a:buFont typeface="Arial" panose="020B0604020202020204" pitchFamily="34" charset="0"/>
              <a:buChar char="•"/>
              <a:tabLst/>
              <a:defRPr/>
            </a:pPr>
            <a:endParaRPr lang="en-US" sz="1200">
              <a:latin typeface="Helvetica Neue" panose="02000503000000020004" pitchFamily="2" charset="0"/>
              <a:ea typeface="Helvetica Neue" panose="02000503000000020004" pitchFamily="2" charset="0"/>
              <a:cs typeface="Helvetica Neue" panose="02000503000000020004" pitchFamily="2" charset="0"/>
            </a:endParaRPr>
          </a:p>
          <a:p>
            <a:pPr marL="171450" marR="0" lvl="0" indent="-171450" algn="l" defTabSz="914400" rtl="0" eaLnBrk="0" fontAlgn="base" latinLnBrk="0" hangingPunct="0">
              <a:lnSpc>
                <a:spcPct val="100000"/>
              </a:lnSpc>
              <a:spcBef>
                <a:spcPct val="0"/>
              </a:spcBef>
              <a:spcAft>
                <a:spcPts val="360"/>
              </a:spcAft>
              <a:buClrTx/>
              <a:buSzTx/>
              <a:buFont typeface="Arial" panose="020B0604020202020204" pitchFamily="34" charset="0"/>
              <a:buChar char="•"/>
              <a:tabLst/>
              <a:defRPr/>
            </a:pPr>
            <a:r>
              <a:rPr lang="en-US" sz="1200" b="1">
                <a:latin typeface="Helvetica Neue" panose="02000503000000020004" pitchFamily="2" charset="0"/>
                <a:ea typeface="Helvetica Neue" panose="02000503000000020004" pitchFamily="2" charset="0"/>
                <a:cs typeface="Helvetica Neue" panose="02000503000000020004" pitchFamily="2" charset="0"/>
              </a:rPr>
              <a:t>To </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an integrated, structured, and business-enabling risk organization built on robust frameworks, proactive culture, and high-performing specialist teams.</a:t>
            </a:r>
          </a:p>
        </p:txBody>
      </p:sp>
      <p:sp>
        <p:nvSpPr>
          <p:cNvPr id="5" name="TextBox 4">
            <a:extLst>
              <a:ext uri="{FF2B5EF4-FFF2-40B4-BE49-F238E27FC236}">
                <a16:creationId xmlns:a16="http://schemas.microsoft.com/office/drawing/2014/main" id="{1DF7EA6B-B93E-4F39-C667-C6F26FFAEBEA}"/>
              </a:ext>
            </a:extLst>
          </p:cNvPr>
          <p:cNvSpPr txBox="1"/>
          <p:nvPr/>
        </p:nvSpPr>
        <p:spPr>
          <a:xfrm rot="19103358">
            <a:off x="3879785" y="3136612"/>
            <a:ext cx="4592924" cy="584775"/>
          </a:xfrm>
          <a:prstGeom prst="rect">
            <a:avLst/>
          </a:prstGeom>
          <a:noFill/>
        </p:spPr>
        <p:txBody>
          <a:bodyPr wrap="none" rtlCol="0">
            <a:spAutoFit/>
          </a:bodyPr>
          <a:lstStyle/>
          <a:p>
            <a:r>
              <a:rPr lang="en-US" sz="3200">
                <a:solidFill>
                  <a:srgbClr val="000000">
                    <a:alpha val="30000"/>
                  </a:srgbClr>
                </a:solidFill>
                <a:latin typeface="Helvetica Neue" panose="02000503000000020004" pitchFamily="2" charset="0"/>
                <a:ea typeface="Helvetica Neue" panose="02000503000000020004" pitchFamily="2" charset="0"/>
                <a:cs typeface="Helvetica Neue" panose="02000503000000020004" pitchFamily="2" charset="0"/>
              </a:rPr>
              <a:t>WORKING DOCUMENT</a:t>
            </a:r>
          </a:p>
        </p:txBody>
      </p:sp>
    </p:spTree>
    <p:extLst>
      <p:ext uri="{BB962C8B-B14F-4D97-AF65-F5344CB8AC3E}">
        <p14:creationId xmlns:p14="http://schemas.microsoft.com/office/powerpoint/2010/main" val="623123183"/>
      </p:ext>
    </p:extLst>
  </p:cSld>
  <p:clrMapOvr>
    <a:masterClrMapping/>
  </p:clrMapOvr>
  <p:extLst>
    <p:ext uri="{6950BFC3-D8DA-4A85-94F7-54DA5524770B}">
      <p188:commentRel xmlns:p188="http://schemas.microsoft.com/office/powerpoint/2018/8/main" r:id="rId3"/>
    </p:ext>
  </p:extLs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DDDFCC3D-2D49-C34A-6005-E0082EFE1212}"/>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ABBEB1DB-AA79-E547-C850-BCAB0E1D312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35</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6939B3EC-4EE5-9A2D-9A31-5A24133F2027}"/>
              </a:ext>
            </a:extLst>
          </p:cNvPr>
          <p:cNvSpPr txBox="1">
            <a:spLocks noChangeArrowheads="1"/>
          </p:cNvSpPr>
          <p:nvPr/>
        </p:nvSpPr>
        <p:spPr bwMode="auto">
          <a:xfrm>
            <a:off x="550863" y="374650"/>
            <a:ext cx="9618373"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Jobs To Be Done Match | Head of Risk | LUDOVIC LOMBARD</a:t>
            </a: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p:txBody>
      </p:sp>
      <p:sp>
        <p:nvSpPr>
          <p:cNvPr id="4" name="Google Shape;57;p3">
            <a:extLst>
              <a:ext uri="{FF2B5EF4-FFF2-40B4-BE49-F238E27FC236}">
                <a16:creationId xmlns:a16="http://schemas.microsoft.com/office/drawing/2014/main" id="{4B5EE84D-725C-DBDC-9382-37924F92DB19}"/>
              </a:ext>
            </a:extLst>
          </p:cNvPr>
          <p:cNvSpPr/>
          <p:nvPr/>
        </p:nvSpPr>
        <p:spPr>
          <a:xfrm>
            <a:off x="669672" y="831850"/>
            <a:ext cx="11005534" cy="5262979"/>
          </a:xfrm>
          <a:prstGeom prst="roundRect">
            <a:avLst>
              <a:gd name="adj" fmla="val 225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Tx/>
              <a:buNone/>
              <a:tabLst/>
              <a:defRPr/>
            </a:pPr>
            <a:r>
              <a:rPr kumimoji="0" lang="en-US" sz="1200" b="1" i="0" u="none" strike="noStrike" kern="0" cap="none" spc="0" normalizeH="0" baseline="0" noProof="0">
                <a:ln>
                  <a:noFill/>
                </a:ln>
                <a:solidFill>
                  <a:srgbClr val="000000"/>
                </a:solidFill>
                <a:effectLst/>
                <a:uLnTx/>
                <a:uFillTx/>
                <a:latin typeface="Lato"/>
                <a:ea typeface="Lato"/>
                <a:cs typeface="Lato"/>
                <a:sym typeface="Lato"/>
              </a:rPr>
              <a:t> </a:t>
            </a:r>
          </a:p>
        </p:txBody>
      </p:sp>
      <p:sp>
        <p:nvSpPr>
          <p:cNvPr id="2" name="TextBox 1">
            <a:extLst>
              <a:ext uri="{FF2B5EF4-FFF2-40B4-BE49-F238E27FC236}">
                <a16:creationId xmlns:a16="http://schemas.microsoft.com/office/drawing/2014/main" id="{83752BA4-CCD4-3970-2FC3-6CAF86132E8B}"/>
              </a:ext>
            </a:extLst>
          </p:cNvPr>
          <p:cNvSpPr txBox="1"/>
          <p:nvPr/>
        </p:nvSpPr>
        <p:spPr>
          <a:xfrm>
            <a:off x="817914" y="924182"/>
            <a:ext cx="10857292" cy="5262979"/>
          </a:xfrm>
          <a:prstGeom prst="rect">
            <a:avLst/>
          </a:prstGeom>
          <a:noFill/>
        </p:spPr>
        <p:txBody>
          <a:bodyPr wrap="square" lIns="91440" tIns="45720" rIns="91440" bIns="45720" rtlCol="0" anchor="t">
            <a:spAutoFit/>
          </a:bodyPr>
          <a:lstStyle/>
          <a:p>
            <a:r>
              <a:rPr lang="en-US" sz="1200" b="1">
                <a:latin typeface="Helvetica Neue"/>
                <a:ea typeface="Helvetica Neue" panose="02000503000000020004" pitchFamily="2" charset="0"/>
                <a:cs typeface="Helvetica Neue" panose="02000503000000020004" pitchFamily="2" charset="0"/>
              </a:rPr>
              <a:t>Role Pivots &amp; Risks</a:t>
            </a:r>
          </a:p>
          <a:p>
            <a:endParaRPr lang="en-US" sz="1200" b="1">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200">
                <a:latin typeface="Helvetica Neue"/>
                <a:ea typeface="Helvetica Neue" panose="02000503000000020004" pitchFamily="2" charset="0"/>
                <a:cs typeface="Helvetica Neue" panose="02000503000000020004" pitchFamily="2" charset="0"/>
              </a:rPr>
              <a:t>The role must evolve to becoming a commercial partner that enables better, safer business decisions. This requires building a technically strong, commercially aware team that can both challenge and support business leaders. </a:t>
            </a:r>
          </a:p>
          <a:p>
            <a:pPr marL="171450" indent="-171450">
              <a:buFont typeface="Arial" panose="020B0604020202020204" pitchFamily="34" charset="0"/>
              <a:buChar char="•"/>
            </a:pPr>
            <a:endParaRPr lang="en-US" sz="120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200">
                <a:latin typeface="Helvetica Neue"/>
                <a:ea typeface="Helvetica Neue" panose="02000503000000020004" pitchFamily="2" charset="0"/>
                <a:cs typeface="Helvetica Neue" panose="02000503000000020004" pitchFamily="2" charset="0"/>
              </a:rPr>
              <a:t>Many processes still depend on informal practices rather than structured, documented frameworks. While formalization efforts have begun, consistent communication and disciplined follow-through are essential to strengthen governance and reliability.</a:t>
            </a:r>
          </a:p>
          <a:p>
            <a:endParaRPr lang="en-US" sz="120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200">
                <a:latin typeface="Helvetica Neue"/>
                <a:ea typeface="Helvetica Neue" panose="02000503000000020004" pitchFamily="2" charset="0"/>
                <a:cs typeface="Helvetica Neue" panose="02000503000000020004" pitchFamily="2" charset="0"/>
              </a:rPr>
              <a:t>Cross-functional silos continue to limit Risk’s visibility and impact. The role must actively foster collaboration and ensure risk insights are fully integrated into enterprise decision-making and strategic growth initiatives.</a:t>
            </a:r>
          </a:p>
          <a:p>
            <a:pPr marL="171450" indent="-171450">
              <a:buFont typeface="Arial" panose="020B0604020202020204" pitchFamily="34" charset="0"/>
              <a:buChar char="•"/>
            </a:pPr>
            <a:endParaRPr lang="en-US" sz="1200" b="1">
              <a:latin typeface="Helvetica Neue" panose="02000503000000020004" pitchFamily="2" charset="0"/>
              <a:ea typeface="Helvetica Neue" panose="02000503000000020004" pitchFamily="2" charset="0"/>
              <a:cs typeface="Helvetica Neue" panose="02000503000000020004" pitchFamily="2" charset="0"/>
            </a:endParaRPr>
          </a:p>
          <a:p>
            <a:r>
              <a:rPr lang="en-US" sz="1200" b="1">
                <a:latin typeface="Helvetica Neue"/>
                <a:ea typeface="Helvetica Neue" panose="02000503000000020004" pitchFamily="2" charset="0"/>
                <a:cs typeface="Helvetica Neue" panose="02000503000000020004" pitchFamily="2" charset="0"/>
              </a:rPr>
              <a:t>Is the Talent Equipped for Success?</a:t>
            </a:r>
          </a:p>
          <a:p>
            <a:endParaRPr lang="en-US" sz="1200" b="1">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200">
                <a:latin typeface="Helvetica Neue"/>
                <a:ea typeface="Helvetica Neue" panose="02000503000000020004" pitchFamily="2" charset="0"/>
                <a:cs typeface="Helvetica Neue" panose="02000503000000020004" pitchFamily="2" charset="0"/>
              </a:rPr>
              <a:t>Ludovic’s technical expertise and disciplined approach are clear strengths—raising the standard for risk management at ADSS and providing a strong foundation for future impact.</a:t>
            </a:r>
          </a:p>
          <a:p>
            <a:pPr marL="171450" indent="-171450">
              <a:buFont typeface="Arial" panose="020B0604020202020204" pitchFamily="34" charset="0"/>
              <a:buChar char="•"/>
            </a:pPr>
            <a:endParaRPr lang="en-US" sz="1200">
              <a:latin typeface="Helvetica Neue"/>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200">
                <a:latin typeface="Helvetica Neue"/>
                <a:ea typeface="Helvetica Neue" panose="02000503000000020004" pitchFamily="2" charset="0"/>
                <a:cs typeface="Helvetica Neue" panose="02000503000000020004" pitchFamily="2" charset="0"/>
              </a:rPr>
              <a:t>To maximize his influence, he should continue to focus on positioning risk as a strategic business partner—not merely a compliance checkpoint—by proactively engaging commercial, technology, and support teams in meaningful dialogue about risk and value creation.</a:t>
            </a:r>
          </a:p>
          <a:p>
            <a:pPr marL="171450" indent="-171450">
              <a:buFont typeface="Arial" panose="020B0604020202020204" pitchFamily="34" charset="0"/>
              <a:buChar char="•"/>
            </a:pPr>
            <a:endParaRPr lang="en-US" sz="1200">
              <a:latin typeface="Helvetica Neue"/>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200">
                <a:latin typeface="Helvetica Neue"/>
                <a:ea typeface="Helvetica Neue" panose="02000503000000020004" pitchFamily="2" charset="0"/>
                <a:cs typeface="Helvetica Neue" panose="02000503000000020004" pitchFamily="2" charset="0"/>
              </a:rPr>
              <a:t>He continues to make progress by formalizing and documenting risk policies and procedures. Sustaining this work, and moving further away from informal or unwritten rules, will help establish greater transparency, consistency, and credibility across all risk domains.</a:t>
            </a:r>
          </a:p>
          <a:p>
            <a:pPr marL="171450" indent="-171450">
              <a:buFont typeface="Arial" panose="020B0604020202020204" pitchFamily="34" charset="0"/>
              <a:buChar char="•"/>
            </a:pPr>
            <a:endParaRPr lang="en-US" sz="1200">
              <a:latin typeface="Helvetica Neue"/>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200">
                <a:latin typeface="Helvetica Neue"/>
                <a:ea typeface="Helvetica Neue" panose="02000503000000020004" pitchFamily="2" charset="0"/>
                <a:cs typeface="Helvetica Neue" panose="02000503000000020004" pitchFamily="2" charset="0"/>
              </a:rPr>
              <a:t>Actively seeking opportunities to build trust and cross-functional collaboration will enhance his authority in risk management; his impact grows when he bridges silos with peers and stakeholders.</a:t>
            </a:r>
          </a:p>
          <a:p>
            <a:pPr marL="171450" indent="-171450">
              <a:buFont typeface="Arial" panose="020B0604020202020204" pitchFamily="34" charset="0"/>
              <a:buChar char="•"/>
            </a:pPr>
            <a:endParaRPr lang="en-US" sz="1200">
              <a:latin typeface="Helvetica Neue"/>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200">
                <a:latin typeface="Helvetica Neue"/>
                <a:ea typeface="Helvetica Neue" panose="02000503000000020004" pitchFamily="2" charset="0"/>
                <a:cs typeface="Helvetica Neue" panose="02000503000000020004" pitchFamily="2" charset="0"/>
              </a:rPr>
              <a:t>By dedicating time to understanding ADSS’s unique culture and organizational norms—observing team dynamics, local decision-making styles, and building personal relationships—he will increase his effectiveness, strengthen buy-in for risk initiatives, and accelerate cultural integration.</a:t>
            </a:r>
          </a:p>
          <a:p>
            <a:pPr marL="171450" indent="-171450">
              <a:buFont typeface="Arial" panose="020B0604020202020204" pitchFamily="34" charset="0"/>
              <a:buChar char="•"/>
            </a:pPr>
            <a:endParaRPr lang="en-US" sz="1200">
              <a:latin typeface="Helvetica Neue"/>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920747467"/>
      </p:ext>
    </p:extLst>
  </p:cSld>
  <p:clrMapOvr>
    <a:masterClrMapping/>
  </p:clrMapOvr>
  <p:extLst>
    <p:ext uri="{6950BFC3-D8DA-4A85-94F7-54DA5524770B}">
      <p188:commentRel xmlns:p188="http://schemas.microsoft.com/office/powerpoint/2018/8/main" r:id="rId3"/>
    </p:ext>
  </p:extLs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9E95DF95-12A5-9593-36A7-5014C3B32634}"/>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C2982F0B-1B06-7CBB-9FCB-F073B80DDCCE}"/>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36</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780EB78D-1214-9D21-ED70-BD3AA99F45B7}"/>
              </a:ext>
            </a:extLst>
          </p:cNvPr>
          <p:cNvSpPr txBox="1">
            <a:spLocks noChangeArrowheads="1"/>
          </p:cNvSpPr>
          <p:nvPr/>
        </p:nvSpPr>
        <p:spPr bwMode="auto">
          <a:xfrm>
            <a:off x="550863" y="374650"/>
            <a:ext cx="9022628"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lvl="0">
              <a:lnSpc>
                <a:spcPct val="90000"/>
              </a:lnSpc>
              <a:buClr>
                <a:srgbClr val="000000"/>
              </a:buClr>
              <a:buSzPts val="2400"/>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HOGAN | </a:t>
            </a:r>
            <a:r>
              <a:rPr lang="en-US" altLang="en-US" sz="2000">
                <a:solidFill>
                  <a:srgbClr val="002060"/>
                </a:solidFill>
                <a:latin typeface="Helvetica Neue" panose="02000503000000020004" pitchFamily="2" charset="0"/>
                <a:sym typeface="Helvetica Neue Light" panose="02000403000000020004" pitchFamily="2" charset="0"/>
              </a:rPr>
              <a:t>Head of Risk | </a:t>
            </a: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LUDOVIC LOMBARD</a:t>
            </a: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p:txBody>
      </p:sp>
      <p:grpSp>
        <p:nvGrpSpPr>
          <p:cNvPr id="4" name="Group 3">
            <a:extLst>
              <a:ext uri="{FF2B5EF4-FFF2-40B4-BE49-F238E27FC236}">
                <a16:creationId xmlns:a16="http://schemas.microsoft.com/office/drawing/2014/main" id="{B1B82335-846B-3D41-B09F-5C6A5AC211AC}"/>
              </a:ext>
            </a:extLst>
          </p:cNvPr>
          <p:cNvGrpSpPr/>
          <p:nvPr/>
        </p:nvGrpSpPr>
        <p:grpSpPr>
          <a:xfrm>
            <a:off x="758455" y="814678"/>
            <a:ext cx="6226053" cy="655403"/>
            <a:chOff x="529855" y="131505"/>
            <a:chExt cx="6226053" cy="655403"/>
          </a:xfrm>
        </p:grpSpPr>
        <p:sp>
          <p:nvSpPr>
            <p:cNvPr id="6" name="TextBox 5">
              <a:extLst>
                <a:ext uri="{FF2B5EF4-FFF2-40B4-BE49-F238E27FC236}">
                  <a16:creationId xmlns:a16="http://schemas.microsoft.com/office/drawing/2014/main" id="{B577F009-AF67-C045-11B1-F7EF8CA4A3D4}"/>
                </a:ext>
              </a:extLst>
            </p:cNvPr>
            <p:cNvSpPr txBox="1"/>
            <p:nvPr/>
          </p:nvSpPr>
          <p:spPr>
            <a:xfrm>
              <a:off x="529855" y="131505"/>
              <a:ext cx="680414" cy="253916"/>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lumMod val="50000"/>
                      <a:lumOff val="50000"/>
                    </a:srgbClr>
                  </a:solidFill>
                  <a:effectLst/>
                  <a:uLnTx/>
                  <a:uFillTx/>
                  <a:latin typeface="Lato Light" panose="020F0502020204030203" pitchFamily="34" charset="0"/>
                  <a:ea typeface="Lato Light" panose="020F0502020204030203" pitchFamily="34" charset="0"/>
                  <a:cs typeface="Lato Light" panose="020F0502020204030203" pitchFamily="34" charset="0"/>
                  <a:sym typeface="Arial" panose="020B0604020202020204" pitchFamily="34" charset="0"/>
                </a:rPr>
                <a:t>ROLE</a:t>
              </a:r>
            </a:p>
          </p:txBody>
        </p:sp>
        <p:sp>
          <p:nvSpPr>
            <p:cNvPr id="7" name="TextBox 6">
              <a:extLst>
                <a:ext uri="{FF2B5EF4-FFF2-40B4-BE49-F238E27FC236}">
                  <a16:creationId xmlns:a16="http://schemas.microsoft.com/office/drawing/2014/main" id="{06090E12-0858-32EE-8CCD-62D7A9FE3013}"/>
                </a:ext>
              </a:extLst>
            </p:cNvPr>
            <p:cNvSpPr txBox="1"/>
            <p:nvPr/>
          </p:nvSpPr>
          <p:spPr>
            <a:xfrm>
              <a:off x="529855" y="356566"/>
              <a:ext cx="3201164" cy="430342"/>
            </a:xfrm>
            <a:prstGeom prst="rect">
              <a:avLst/>
            </a:prstGeom>
            <a:noFill/>
          </p:spPr>
          <p:txBody>
            <a:bodyPr wrap="square" lIns="91440" tIns="45720" rIns="9144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rial" panose="020B0604020202020204" pitchFamily="34" charset="0"/>
                  <a:ea typeface="Lato Light" panose="020F0502020204030203" pitchFamily="34" charset="0"/>
                  <a:cs typeface="Arial" panose="020B0604020202020204" pitchFamily="34" charset="0"/>
                  <a:sym typeface="Arial" panose="020B0604020202020204" pitchFamily="34" charset="0"/>
                </a:rPr>
                <a:t>Head of Risk</a:t>
              </a:r>
            </a:p>
          </p:txBody>
        </p:sp>
        <p:sp>
          <p:nvSpPr>
            <p:cNvPr id="12" name="TextBox 11">
              <a:extLst>
                <a:ext uri="{FF2B5EF4-FFF2-40B4-BE49-F238E27FC236}">
                  <a16:creationId xmlns:a16="http://schemas.microsoft.com/office/drawing/2014/main" id="{B9F42375-D515-26DD-B282-06F0DBA944C8}"/>
                </a:ext>
              </a:extLst>
            </p:cNvPr>
            <p:cNvSpPr txBox="1"/>
            <p:nvPr/>
          </p:nvSpPr>
          <p:spPr>
            <a:xfrm>
              <a:off x="5962084" y="131505"/>
              <a:ext cx="748798" cy="253916"/>
            </a:xfrm>
            <a:prstGeom prst="rect">
              <a:avLst/>
            </a:prstGeom>
            <a:noFill/>
          </p:spPr>
          <p:txBody>
            <a:bodyPr wrap="square"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lumMod val="50000"/>
                      <a:lumOff val="50000"/>
                    </a:srgbClr>
                  </a:solidFill>
                  <a:effectLst/>
                  <a:uLnTx/>
                  <a:uFillTx/>
                  <a:latin typeface="Lato Light" panose="020F0502020204030203" pitchFamily="34" charset="0"/>
                  <a:ea typeface="Lato Light" panose="020F0502020204030203" pitchFamily="34" charset="0"/>
                  <a:cs typeface="Lato Light" panose="020F0502020204030203" pitchFamily="34" charset="0"/>
                  <a:sym typeface="Arial" panose="020B0604020202020204" pitchFamily="34" charset="0"/>
                </a:rPr>
                <a:t>TALENT</a:t>
              </a:r>
            </a:p>
          </p:txBody>
        </p:sp>
        <p:sp>
          <p:nvSpPr>
            <p:cNvPr id="13" name="TextBox 12">
              <a:extLst>
                <a:ext uri="{FF2B5EF4-FFF2-40B4-BE49-F238E27FC236}">
                  <a16:creationId xmlns:a16="http://schemas.microsoft.com/office/drawing/2014/main" id="{C4B3E8AE-43F1-5997-C60A-77B2B5F0B10E}"/>
                </a:ext>
              </a:extLst>
            </p:cNvPr>
            <p:cNvSpPr txBox="1"/>
            <p:nvPr/>
          </p:nvSpPr>
          <p:spPr>
            <a:xfrm>
              <a:off x="3665327" y="296859"/>
              <a:ext cx="3090581" cy="490041"/>
            </a:xfrm>
            <a:prstGeom prst="rect">
              <a:avLst/>
            </a:prstGeom>
            <a:noFill/>
          </p:spPr>
          <p:txBody>
            <a:bodyPr wrap="square" lIns="91440" tIns="45720" rIns="91440" bIns="4572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rial" panose="020B0604020202020204" pitchFamily="34" charset="0"/>
                  <a:ea typeface="Lato Light" panose="020F0502020204030203" pitchFamily="34" charset="0"/>
                  <a:cs typeface="Arial" panose="020B0604020202020204" pitchFamily="34" charset="0"/>
                  <a:sym typeface="Arial" panose="020B0604020202020204" pitchFamily="34" charset="0"/>
                </a:rPr>
                <a:t>LUDOVIC LOMBARD</a:t>
              </a:r>
            </a:p>
          </p:txBody>
        </p:sp>
      </p:grpSp>
      <p:pic>
        <p:nvPicPr>
          <p:cNvPr id="3" name="Picture 2" descr="A screenshot of a graph&#10;&#10;AI-generated content may be incorrect.">
            <a:extLst>
              <a:ext uri="{FF2B5EF4-FFF2-40B4-BE49-F238E27FC236}">
                <a16:creationId xmlns:a16="http://schemas.microsoft.com/office/drawing/2014/main" id="{5DB6BA99-A4FA-C950-B0A8-6AA5109FAE9C}"/>
              </a:ext>
            </a:extLst>
          </p:cNvPr>
          <p:cNvPicPr>
            <a:picLocks noChangeAspect="1"/>
          </p:cNvPicPr>
          <p:nvPr/>
        </p:nvPicPr>
        <p:blipFill>
          <a:blip r:embed="rId3"/>
          <a:stretch>
            <a:fillRect/>
          </a:stretch>
        </p:blipFill>
        <p:spPr>
          <a:xfrm>
            <a:off x="7721600" y="826221"/>
            <a:ext cx="4470400" cy="5312846"/>
          </a:xfrm>
          <a:prstGeom prst="rect">
            <a:avLst/>
          </a:prstGeom>
        </p:spPr>
      </p:pic>
      <p:sp>
        <p:nvSpPr>
          <p:cNvPr id="5" name="TextBox 4">
            <a:extLst>
              <a:ext uri="{FF2B5EF4-FFF2-40B4-BE49-F238E27FC236}">
                <a16:creationId xmlns:a16="http://schemas.microsoft.com/office/drawing/2014/main" id="{EA617D77-F263-4B80-BAD3-7F0925788A12}"/>
              </a:ext>
            </a:extLst>
          </p:cNvPr>
          <p:cNvSpPr txBox="1"/>
          <p:nvPr/>
        </p:nvSpPr>
        <p:spPr>
          <a:xfrm>
            <a:off x="580059" y="1540568"/>
            <a:ext cx="6388103" cy="4531841"/>
          </a:xfrm>
          <a:prstGeom prst="rect">
            <a:avLst/>
          </a:prstGeom>
          <a:noFill/>
        </p:spPr>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0000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Role · Talent Match</a:t>
            </a:r>
            <a:br>
              <a:rPr kumimoji="0" lang="en-US" sz="1100" b="1" i="0" u="none" strike="noStrike" kern="1200" cap="none" spc="0" normalizeH="0" baseline="0" noProof="0">
                <a:ln>
                  <a:noFill/>
                </a:ln>
                <a:solidFill>
                  <a:prstClr val="black"/>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br>
            <a:endParaRPr kumimoji="0" lang="en-US" sz="1100" b="1"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Ludovic clearly has some pronounced natural talents with regards to excellence and operational risk (Diligent) and with his sharp, probing mind (Skeptical) he likely knows where the threats are and what defenses are needed to create a robust and resilient risk-management culture.</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Moreover, he is strongly oriented towards building structures and processes (Prudence) which augurs well for him establishing a secure and enduring risk management framework. </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Not just a behind-the-scenes risk manager, Ludovic should be a visible and influential figure across the entire business as he confidently shifts mindsets around risk (Bold, Affiliation). </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0000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Potential Derailers </a:t>
            </a:r>
            <a:br>
              <a:rPr kumimoji="0" lang="en-US" sz="1100" b="1" i="0" u="none" strike="noStrike" kern="1200" cap="none" spc="0" normalizeH="0" baseline="0" noProof="0">
                <a:ln>
                  <a:noFill/>
                </a:ln>
                <a:solidFill>
                  <a:prstClr val="black"/>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br>
            <a:endParaRPr kumimoji="0" lang="en-US" sz="1100" b="1" i="0" u="none" strike="noStrike" kern="1200" cap="none" spc="0" normalizeH="0" baseline="0" noProof="0">
              <a:ln>
                <a:noFill/>
              </a:ln>
              <a:solidFill>
                <a:srgbClr val="C0000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Ludovic may not be investing as much as he could in coaching and developing the next generation of leaders in his team. He might not yet be known as a natural delegator (Skeptical) or someone who prioritises the career progress of people in his team (low Altruism).</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Additionally, his pronounced confidence might make it hard to challenge him or for other experts to advise him (Adjustment, Bold)</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p:txBody>
      </p:sp>
    </p:spTree>
    <p:extLst>
      <p:ext uri="{BB962C8B-B14F-4D97-AF65-F5344CB8AC3E}">
        <p14:creationId xmlns:p14="http://schemas.microsoft.com/office/powerpoint/2010/main" val="14060981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B4044C8C-5EC8-9A71-201F-2D4E08DF4774}"/>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68B6AFAF-C687-4FC9-5995-E5C56D6E5B59}"/>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37</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4F8CA0FD-B871-59FB-22EF-268918075570}"/>
              </a:ext>
            </a:extLst>
          </p:cNvPr>
          <p:cNvSpPr txBox="1">
            <a:spLocks noChangeArrowheads="1"/>
          </p:cNvSpPr>
          <p:nvPr/>
        </p:nvSpPr>
        <p:spPr bwMode="auto">
          <a:xfrm>
            <a:off x="550862" y="498764"/>
            <a:ext cx="9659937" cy="21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lvl="0">
              <a:lnSpc>
                <a:spcPct val="90000"/>
              </a:lnSpc>
              <a:buClr>
                <a:srgbClr val="000000"/>
              </a:buClr>
              <a:buSzPts val="2400"/>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Enabling Success Plan | </a:t>
            </a:r>
            <a:r>
              <a:rPr lang="en-US" altLang="en-US" sz="2000">
                <a:solidFill>
                  <a:srgbClr val="002060"/>
                </a:solidFill>
                <a:latin typeface="Helvetica Neue" panose="02000503000000020004" pitchFamily="2" charset="0"/>
                <a:sym typeface="Helvetica Neue Light" panose="02000403000000020004" pitchFamily="2" charset="0"/>
              </a:rPr>
              <a:t>Head of Risk | </a:t>
            </a: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LUDOVIC LOMBARD</a:t>
            </a: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p:txBody>
      </p:sp>
      <p:sp>
        <p:nvSpPr>
          <p:cNvPr id="4" name="Google Shape;57;p3">
            <a:extLst>
              <a:ext uri="{FF2B5EF4-FFF2-40B4-BE49-F238E27FC236}">
                <a16:creationId xmlns:a16="http://schemas.microsoft.com/office/drawing/2014/main" id="{466449D5-E6CA-14E9-3877-228E0E8941EC}"/>
              </a:ext>
            </a:extLst>
          </p:cNvPr>
          <p:cNvSpPr/>
          <p:nvPr/>
        </p:nvSpPr>
        <p:spPr>
          <a:xfrm>
            <a:off x="462166" y="1097720"/>
            <a:ext cx="3418461" cy="5076554"/>
          </a:xfrm>
          <a:prstGeom prst="roundRect">
            <a:avLst>
              <a:gd name="adj" fmla="val 3135"/>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Lato" panose="020F0502020204030203" pitchFamily="34" charset="77"/>
              <a:ea typeface="Lato"/>
              <a:cs typeface="Lato"/>
              <a:sym typeface="Lato"/>
            </a:endParaRPr>
          </a:p>
        </p:txBody>
      </p:sp>
      <p:sp>
        <p:nvSpPr>
          <p:cNvPr id="6" name="Google Shape;57;p3">
            <a:extLst>
              <a:ext uri="{FF2B5EF4-FFF2-40B4-BE49-F238E27FC236}">
                <a16:creationId xmlns:a16="http://schemas.microsoft.com/office/drawing/2014/main" id="{2B7BF920-725B-C72B-8929-41E7BB4A442A}"/>
              </a:ext>
            </a:extLst>
          </p:cNvPr>
          <p:cNvSpPr/>
          <p:nvPr/>
        </p:nvSpPr>
        <p:spPr>
          <a:xfrm>
            <a:off x="4055946" y="1097720"/>
            <a:ext cx="7811186" cy="5076554"/>
          </a:xfrm>
          <a:prstGeom prst="roundRect">
            <a:avLst>
              <a:gd name="adj" fmla="val 225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Lato" panose="020F0502020204030203" pitchFamily="34" charset="77"/>
              <a:ea typeface="Lato"/>
              <a:cs typeface="Lato"/>
              <a:sym typeface="Lato"/>
            </a:endParaRPr>
          </a:p>
        </p:txBody>
      </p:sp>
      <p:sp>
        <p:nvSpPr>
          <p:cNvPr id="7" name="Google Shape;61;p3">
            <a:extLst>
              <a:ext uri="{FF2B5EF4-FFF2-40B4-BE49-F238E27FC236}">
                <a16:creationId xmlns:a16="http://schemas.microsoft.com/office/drawing/2014/main" id="{70AFE3CC-6862-3DDF-7146-0A979E134B57}"/>
              </a:ext>
            </a:extLst>
          </p:cNvPr>
          <p:cNvSpPr txBox="1"/>
          <p:nvPr/>
        </p:nvSpPr>
        <p:spPr>
          <a:xfrm>
            <a:off x="637485" y="1257419"/>
            <a:ext cx="2877611" cy="3093134"/>
          </a:xfrm>
          <a:prstGeom prst="rect">
            <a:avLst/>
          </a:prstGeom>
          <a:noFill/>
          <a:ln>
            <a:noFill/>
          </a:ln>
        </p:spPr>
        <p:txBody>
          <a:bodyPr spcFirstLastPara="1" wrap="square" lIns="22850" tIns="22850" rIns="22850" bIns="22850" anchor="t"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400" b="1"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What are We </a:t>
            </a:r>
            <a:r>
              <a:rPr kumimoji="0" lang="en-US" sz="1400" b="1" i="0" u="none" strike="noStrike" kern="0" cap="none" spc="0"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Solving For?</a:t>
            </a: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kumimoji="0" lang="en-US" sz="1400" b="1" i="0" u="none" strike="noStrike" kern="0" cap="none" spc="0" normalizeH="0" baseline="0" noProof="0">
              <a:ln>
                <a:noFill/>
              </a:ln>
              <a:solidFill>
                <a:srgbClr val="C00000"/>
              </a:solidFill>
              <a:effectLst/>
              <a:uLnTx/>
              <a:uFillTx/>
              <a:latin typeface="Lato"/>
              <a:ea typeface="Lato"/>
              <a:cs typeface="Lato"/>
              <a:sym typeface="Lato"/>
            </a:endParaRP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kumimoji="0" lang="en-US" sz="1400" b="1" i="0" u="none" strike="noStrike" kern="0" cap="none" spc="0" normalizeH="0" baseline="0" noProof="0">
              <a:ln>
                <a:noFill/>
              </a:ln>
              <a:solidFill>
                <a:srgbClr val="C00000"/>
              </a:solidFill>
              <a:effectLst/>
              <a:uLnTx/>
              <a:uFillTx/>
              <a:latin typeface="Lato"/>
              <a:ea typeface="Lato"/>
              <a:cs typeface="Lato"/>
              <a:sym typeface="Lato"/>
            </a:endParaRPr>
          </a:p>
          <a:p>
            <a:pPr marR="0" lvl="0" algn="l" defTabSz="457200" rtl="0" eaLnBrk="1" fontAlgn="auto" latinLnBrk="0" hangingPunct="1">
              <a:lnSpc>
                <a:spcPct val="100000"/>
              </a:lnSpc>
              <a:spcBef>
                <a:spcPts val="0"/>
              </a:spcBef>
              <a:spcAft>
                <a:spcPts val="0"/>
              </a:spcAft>
              <a:buClr>
                <a:srgbClr val="BA0C2F"/>
              </a:buClr>
              <a:buSzPts val="2400"/>
              <a:tabLst/>
              <a:defRPr/>
            </a:pPr>
            <a:r>
              <a:rPr kumimoji="0" lang="en-US" sz="1200"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1. Strengthen Ludovic’s ability to lead and influence across cultural and functional boundaries.</a:t>
            </a:r>
          </a:p>
          <a:p>
            <a:pPr marR="0" lvl="0" algn="l" defTabSz="457200" rtl="0" eaLnBrk="1" fontAlgn="auto" latinLnBrk="0" hangingPunct="1">
              <a:lnSpc>
                <a:spcPct val="100000"/>
              </a:lnSpc>
              <a:spcBef>
                <a:spcPts val="0"/>
              </a:spcBef>
              <a:spcAft>
                <a:spcPts val="0"/>
              </a:spcAft>
              <a:buClr>
                <a:srgbClr val="BA0C2F"/>
              </a:buClr>
              <a:buSzPts val="2400"/>
              <a:tabLst/>
              <a:defRPr/>
            </a:pPr>
            <a:endParaRPr kumimoji="0" lang="en-US" sz="1200"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a:p>
            <a:pPr marR="0" lvl="0" algn="l" defTabSz="457200" rtl="0" eaLnBrk="1" fontAlgn="auto" latinLnBrk="0" hangingPunct="1">
              <a:lnSpc>
                <a:spcPct val="100000"/>
              </a:lnSpc>
              <a:spcBef>
                <a:spcPts val="0"/>
              </a:spcBef>
              <a:spcAft>
                <a:spcPts val="0"/>
              </a:spcAft>
              <a:buClr>
                <a:srgbClr val="BA0C2F"/>
              </a:buClr>
              <a:buSzPts val="2400"/>
              <a:tabLst/>
              <a:defRPr/>
            </a:pPr>
            <a:r>
              <a:rPr kumimoji="0" lang="en-US" sz="1200"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2. Rebuild credibility of the Risk function as a trusted enabler</a:t>
            </a:r>
          </a:p>
          <a:p>
            <a:pPr marR="0" lvl="0" algn="l" defTabSz="457200" rtl="0" eaLnBrk="1" fontAlgn="auto" latinLnBrk="0" hangingPunct="1">
              <a:lnSpc>
                <a:spcPct val="100000"/>
              </a:lnSpc>
              <a:spcBef>
                <a:spcPts val="0"/>
              </a:spcBef>
              <a:spcAft>
                <a:spcPts val="0"/>
              </a:spcAft>
              <a:buClr>
                <a:srgbClr val="BA0C2F"/>
              </a:buClr>
              <a:buSzPts val="2400"/>
              <a:tabLst/>
              <a:defRPr/>
            </a:pPr>
            <a:endParaRPr kumimoji="0" lang="en-US" sz="1200"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a:p>
            <a:pPr marR="0" lvl="0" algn="l" defTabSz="457200" rtl="0" eaLnBrk="1" fontAlgn="auto" latinLnBrk="0" hangingPunct="1">
              <a:lnSpc>
                <a:spcPct val="100000"/>
              </a:lnSpc>
              <a:spcBef>
                <a:spcPts val="0"/>
              </a:spcBef>
              <a:spcAft>
                <a:spcPts val="0"/>
              </a:spcAft>
              <a:buClr>
                <a:srgbClr val="BA0C2F"/>
              </a:buClr>
              <a:buSzPts val="2400"/>
              <a:tabLst/>
              <a:defRPr/>
            </a:pPr>
            <a:r>
              <a:rPr kumimoji="0" lang="en-US" sz="1200"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3. Upgrade team quality, capacity, and engagement to meet the company’s next-phase requirements.</a:t>
            </a:r>
          </a:p>
          <a:p>
            <a:pPr marR="0" lvl="0" algn="l" defTabSz="457200" rtl="0" eaLnBrk="1" fontAlgn="auto" latinLnBrk="0" hangingPunct="1">
              <a:lnSpc>
                <a:spcPct val="100000"/>
              </a:lnSpc>
              <a:spcBef>
                <a:spcPts val="0"/>
              </a:spcBef>
              <a:spcAft>
                <a:spcPts val="0"/>
              </a:spcAft>
              <a:buClr>
                <a:srgbClr val="BA0C2F"/>
              </a:buClr>
              <a:buSzPts val="2400"/>
              <a:tabLst/>
              <a:defRPr/>
            </a:pPr>
            <a:endParaRPr lang="en-US" sz="1200" kern="0">
              <a:solidFill>
                <a:prstClr val="black"/>
              </a:solidFill>
              <a:latin typeface="Helvetica Neue" panose="02000503000000020004" pitchFamily="2" charset="0"/>
              <a:ea typeface="Helvetica Neue" panose="02000503000000020004" pitchFamily="2" charset="0"/>
              <a:cs typeface="Helvetica Neue" panose="02000503000000020004" pitchFamily="2" charset="0"/>
              <a:sym typeface="Lato"/>
            </a:endParaRPr>
          </a:p>
          <a:p>
            <a:pPr marR="0" lvl="0" algn="l" defTabSz="457200" rtl="0" eaLnBrk="1" fontAlgn="auto" latinLnBrk="0" hangingPunct="1">
              <a:lnSpc>
                <a:spcPct val="100000"/>
              </a:lnSpc>
              <a:spcBef>
                <a:spcPts val="0"/>
              </a:spcBef>
              <a:spcAft>
                <a:spcPts val="0"/>
              </a:spcAft>
              <a:buClr>
                <a:srgbClr val="BA0C2F"/>
              </a:buClr>
              <a:buSzPts val="2400"/>
              <a:tabLst/>
              <a:defRPr/>
            </a:pPr>
            <a:r>
              <a:rPr kumimoji="0" lang="en-US" sz="1200"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4. Strengthening Peer and Executive Relationships</a:t>
            </a:r>
            <a:endParaRPr kumimoji="0" sz="1200"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p:txBody>
      </p:sp>
      <p:sp>
        <p:nvSpPr>
          <p:cNvPr id="8" name="TextBox 7">
            <a:extLst>
              <a:ext uri="{FF2B5EF4-FFF2-40B4-BE49-F238E27FC236}">
                <a16:creationId xmlns:a16="http://schemas.microsoft.com/office/drawing/2014/main" id="{F7BA4CBB-A15D-EFA6-7B5A-D0548E94E9C0}"/>
              </a:ext>
            </a:extLst>
          </p:cNvPr>
          <p:cNvSpPr txBox="1"/>
          <p:nvPr/>
        </p:nvSpPr>
        <p:spPr>
          <a:xfrm>
            <a:off x="6438405" y="1097720"/>
            <a:ext cx="2834640"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
                <a:srgbClr val="BA0C2F"/>
              </a:buClr>
              <a:buSzPts val="3600"/>
              <a:buFontTx/>
              <a:buNone/>
              <a:tabLst/>
              <a:defRPr/>
            </a:pPr>
            <a:r>
              <a:rPr kumimoji="0" lang="en-US" sz="1800" b="1" i="0" u="none" strike="noStrike" kern="0" cap="none" spc="0" normalizeH="0" baseline="0" noProof="0">
                <a:ln>
                  <a:noFill/>
                </a:ln>
                <a:solidFill>
                  <a:srgbClr val="000000"/>
                </a:solidFill>
                <a:effectLst/>
                <a:uLnTx/>
                <a:uFillTx/>
                <a:latin typeface="Arial" panose="020B0604020202020204" pitchFamily="34" charset="0"/>
                <a:ea typeface="Lato"/>
                <a:cs typeface="Arial" panose="020B0604020202020204" pitchFamily="34" charset="0"/>
                <a:sym typeface="Lato"/>
              </a:rPr>
              <a:t>Success Enabling </a:t>
            </a:r>
            <a:r>
              <a:rPr kumimoji="0" lang="en-US" sz="1800" b="1" i="0" u="none" strike="noStrike" kern="0" cap="none" spc="0" normalizeH="0" baseline="0" noProof="0">
                <a:ln>
                  <a:noFill/>
                </a:ln>
                <a:solidFill>
                  <a:srgbClr val="BA0C2F"/>
                </a:solidFill>
                <a:effectLst/>
                <a:uLnTx/>
                <a:uFillTx/>
                <a:latin typeface="Arial" panose="020B0604020202020204" pitchFamily="34" charset="0"/>
                <a:ea typeface="Lato"/>
                <a:cs typeface="Arial" panose="020B0604020202020204" pitchFamily="34" charset="0"/>
                <a:sym typeface="Lato"/>
              </a:rPr>
              <a:t>Plan</a:t>
            </a:r>
            <a:endParaRPr kumimoji="0" lang="en-US" sz="1800" b="1" i="0" u="none" strike="noStrike" kern="0" cap="none" spc="0" normalizeH="0" baseline="0" noProof="0">
              <a:ln>
                <a:noFill/>
              </a:ln>
              <a:solidFill>
                <a:prstClr val="black"/>
              </a:solidFill>
              <a:effectLst/>
              <a:uLnTx/>
              <a:uFillTx/>
              <a:latin typeface="Arial" panose="020B0604020202020204" pitchFamily="34" charset="0"/>
              <a:ea typeface="Lato"/>
              <a:cs typeface="Arial" panose="020B0604020202020204" pitchFamily="34" charset="0"/>
              <a:sym typeface="Lato"/>
            </a:endParaRPr>
          </a:p>
        </p:txBody>
      </p:sp>
      <p:sp>
        <p:nvSpPr>
          <p:cNvPr id="2" name="TextBox 1">
            <a:extLst>
              <a:ext uri="{FF2B5EF4-FFF2-40B4-BE49-F238E27FC236}">
                <a16:creationId xmlns:a16="http://schemas.microsoft.com/office/drawing/2014/main" id="{3BAAFE4B-B94E-DE0C-ACD6-12124BC10767}"/>
              </a:ext>
            </a:extLst>
          </p:cNvPr>
          <p:cNvSpPr txBox="1"/>
          <p:nvPr/>
        </p:nvSpPr>
        <p:spPr>
          <a:xfrm>
            <a:off x="4183161" y="1467052"/>
            <a:ext cx="7683971" cy="4524315"/>
          </a:xfrm>
          <a:prstGeom prst="rect">
            <a:avLst/>
          </a:prstGeom>
          <a:noFill/>
        </p:spPr>
        <p:txBody>
          <a:bodyPr wrap="square">
            <a:spAutoFit/>
          </a:bodyPr>
          <a:lstStyle/>
          <a:p>
            <a:r>
              <a:rPr lang="en-US" sz="1200" b="1" kern="0">
                <a:solidFill>
                  <a:prstClr val="black"/>
                </a:solidFill>
                <a:latin typeface="Helvetica Neue" panose="02000503000000020004" pitchFamily="2" charset="0"/>
                <a:ea typeface="Helvetica Neue" panose="02000503000000020004" pitchFamily="2" charset="0"/>
                <a:cs typeface="Helvetica Neue" panose="02000503000000020004" pitchFamily="2" charset="0"/>
                <a:sym typeface="Lato"/>
              </a:rPr>
              <a:t>1. Influence across Cultural and functional boundaries. </a:t>
            </a:r>
          </a:p>
          <a:p>
            <a:endParaRPr lang="en-US" sz="1200" b="1" kern="0">
              <a:solidFill>
                <a:prstClr val="black"/>
              </a:solidFill>
              <a:latin typeface="Helvetica Neue" panose="02000503000000020004" pitchFamily="2" charset="0"/>
              <a:ea typeface="Helvetica Neue" panose="02000503000000020004" pitchFamily="2" charset="0"/>
              <a:cs typeface="Helvetica Neue" panose="02000503000000020004" pitchFamily="2" charset="0"/>
              <a:sym typeface="Lato"/>
            </a:endParaRPr>
          </a:p>
          <a:p>
            <a:pPr marL="285750" indent="-285750">
              <a:buFont typeface="Arial" panose="020B0604020202020204" pitchFamily="34" charset="0"/>
              <a:buChar char="•"/>
            </a:pPr>
            <a:r>
              <a:rPr lang="en-US" sz="1200"/>
              <a:t>Establish a cultural bridge: pair Ludovic with a senior local sponsor or a coach to act as contextual sounding board and relationship anchor.</a:t>
            </a:r>
          </a:p>
          <a:p>
            <a:pPr marL="285750" indent="-285750">
              <a:buFont typeface="Arial" panose="020B0604020202020204" pitchFamily="34" charset="0"/>
              <a:buChar char="•"/>
            </a:pPr>
            <a:r>
              <a:rPr lang="en-US" sz="1200"/>
              <a:t>Sponsor Ludovic’s participation in executive program (focus: authority, trust-building in the UAE culture)</a:t>
            </a:r>
          </a:p>
          <a:p>
            <a:pPr marL="285750" indent="-285750">
              <a:buFont typeface="Arial" panose="020B0604020202020204" pitchFamily="34" charset="0"/>
              <a:buChar char="•"/>
            </a:pPr>
            <a:endParaRPr lang="en-US" sz="1200"/>
          </a:p>
          <a:p>
            <a:r>
              <a:rPr lang="en-US" sz="1200" b="1"/>
              <a:t>2. Repositioning Risk as a Business Partner</a:t>
            </a:r>
          </a:p>
          <a:p>
            <a:endParaRPr lang="en-US" sz="1200" b="1"/>
          </a:p>
          <a:p>
            <a:pPr marL="285750" indent="-285750">
              <a:buFont typeface="Arial" panose="020B0604020202020204" pitchFamily="34" charset="0"/>
              <a:buChar char="•"/>
            </a:pPr>
            <a:r>
              <a:rPr lang="en-US" sz="1200"/>
              <a:t>Redefine Risk’s operating charter jointly with CEO</a:t>
            </a:r>
          </a:p>
          <a:p>
            <a:pPr marL="285750" indent="-285750">
              <a:buFont typeface="Arial" panose="020B0604020202020204" pitchFamily="34" charset="0"/>
              <a:buChar char="•"/>
            </a:pPr>
            <a:r>
              <a:rPr lang="en-US" sz="1200"/>
              <a:t>Create risk liaisons embedded in major business units (commercial, operations, tech) to bridge silos.</a:t>
            </a:r>
          </a:p>
          <a:p>
            <a:pPr marL="285750" indent="-285750">
              <a:buFont typeface="Arial" panose="020B0604020202020204" pitchFamily="34" charset="0"/>
              <a:buChar char="•"/>
            </a:pPr>
            <a:r>
              <a:rPr lang="en-US" sz="1200"/>
              <a:t>Introduce a Risk Forum every quarter where business leaders present their own top risks and align on mitigation actions.</a:t>
            </a:r>
          </a:p>
          <a:p>
            <a:pPr marL="285750" indent="-285750">
              <a:buFont typeface="Arial" panose="020B0604020202020204" pitchFamily="34" charset="0"/>
              <a:buChar char="•"/>
            </a:pPr>
            <a:r>
              <a:rPr lang="en-US" sz="1200"/>
              <a:t>Simplify policies: move from audit-heavy manuals to visual “risk playbooks” that teams can understand and apply.</a:t>
            </a:r>
          </a:p>
          <a:p>
            <a:pPr marL="285750" indent="-285750">
              <a:buFont typeface="Arial" panose="020B0604020202020204" pitchFamily="34" charset="0"/>
              <a:buChar char="•"/>
            </a:pPr>
            <a:endParaRPr lang="en-US" sz="1200"/>
          </a:p>
          <a:p>
            <a:r>
              <a:rPr lang="en-US" sz="1200" b="1"/>
              <a:t>3. Team Capability and Performance Upgrade</a:t>
            </a:r>
          </a:p>
          <a:p>
            <a:pPr marL="285750" indent="-285750">
              <a:buFont typeface="Arial" panose="020B0604020202020204" pitchFamily="34" charset="0"/>
              <a:buChar char="•"/>
            </a:pPr>
            <a:r>
              <a:rPr lang="en-US" sz="1200"/>
              <a:t>Identify 3-5 critical roles and high-potential individuals to retain and develop, and plan exits the chronic underperformers.</a:t>
            </a:r>
          </a:p>
          <a:p>
            <a:pPr marL="285750" indent="-285750">
              <a:buFont typeface="Arial" panose="020B0604020202020204" pitchFamily="34" charset="0"/>
              <a:buChar char="•"/>
            </a:pPr>
            <a:r>
              <a:rPr lang="en-US" sz="1200"/>
              <a:t>Make accountability visible: quarterly scorecards combining technical metrics and “partnership behavior” indicators.</a:t>
            </a:r>
          </a:p>
          <a:p>
            <a:pPr marL="285750" indent="-285750">
              <a:buFont typeface="Arial" panose="020B0604020202020204" pitchFamily="34" charset="0"/>
              <a:buChar char="•"/>
            </a:pPr>
            <a:endParaRPr lang="en-US" sz="1200"/>
          </a:p>
          <a:p>
            <a:r>
              <a:rPr lang="en-US" sz="1200" b="1"/>
              <a:t>4. Strengthening Peer and Executive Relationships</a:t>
            </a:r>
          </a:p>
          <a:p>
            <a:pPr marL="171450" indent="-171450">
              <a:buFont typeface="Arial" panose="020B0604020202020204" pitchFamily="34" charset="0"/>
              <a:buChar char="•"/>
            </a:pPr>
            <a:r>
              <a:rPr lang="en-US" sz="1200"/>
              <a:t>Encourage short “pre-meet” dialogues before </a:t>
            </a:r>
            <a:r>
              <a:rPr lang="en-US" sz="1200" err="1"/>
              <a:t>ExCo</a:t>
            </a:r>
            <a:r>
              <a:rPr lang="en-US" sz="1200"/>
              <a:t> meetings to align on issues and avoid public tension.</a:t>
            </a:r>
          </a:p>
          <a:p>
            <a:pPr marL="171450" indent="-171450">
              <a:buFont typeface="Arial" panose="020B0604020202020204" pitchFamily="34" charset="0"/>
              <a:buChar char="•"/>
            </a:pPr>
            <a:r>
              <a:rPr lang="en-US" sz="1200"/>
              <a:t>Track qualitative feedback from peers on collaboration and responsiveness.</a:t>
            </a:r>
          </a:p>
        </p:txBody>
      </p:sp>
    </p:spTree>
    <p:extLst>
      <p:ext uri="{BB962C8B-B14F-4D97-AF65-F5344CB8AC3E}">
        <p14:creationId xmlns:p14="http://schemas.microsoft.com/office/powerpoint/2010/main" val="16967804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61157-898D-C6FA-1CA8-AF72C2F9CCF7}"/>
            </a:ext>
          </a:extLst>
        </p:cNvPr>
        <p:cNvGrpSpPr/>
        <p:nvPr/>
      </p:nvGrpSpPr>
      <p:grpSpPr>
        <a:xfrm>
          <a:off x="0" y="0"/>
          <a:ext cx="0" cy="0"/>
          <a:chOff x="0" y="0"/>
          <a:chExt cx="0" cy="0"/>
        </a:xfrm>
      </p:grpSpPr>
      <p:sp>
        <p:nvSpPr>
          <p:cNvPr id="19457" name="Text Placeholder 1">
            <a:extLst>
              <a:ext uri="{FF2B5EF4-FFF2-40B4-BE49-F238E27FC236}">
                <a16:creationId xmlns:a16="http://schemas.microsoft.com/office/drawing/2014/main" id="{E0DD310D-9C6A-175C-9A88-B1C9A47EC260}"/>
              </a:ext>
            </a:extLst>
          </p:cNvPr>
          <p:cNvSpPr>
            <a:spLocks noGrp="1" noChangeArrowheads="1"/>
          </p:cNvSpPr>
          <p:nvPr>
            <p:ph type="body" idx="1"/>
          </p:nvPr>
        </p:nvSpPr>
        <p:spPr bwMode="auto">
          <a:xfrm>
            <a:off x="143668" y="3298103"/>
            <a:ext cx="4841875" cy="1966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a:spcBef>
                <a:spcPct val="0"/>
              </a:spcBef>
              <a:spcAft>
                <a:spcPct val="0"/>
              </a:spcAft>
              <a:buClr>
                <a:srgbClr val="000000"/>
              </a:buClr>
              <a:buFont typeface="Arial" panose="020B0604020202020204" pitchFamily="34" charset="0"/>
              <a:buNone/>
            </a:pPr>
            <a:r>
              <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rPr>
              <a:t>Head of Front </a:t>
            </a:r>
          </a:p>
          <a:p>
            <a:pPr>
              <a:spcBef>
                <a:spcPct val="0"/>
              </a:spcBef>
              <a:spcAft>
                <a:spcPct val="0"/>
              </a:spcAft>
              <a:buClr>
                <a:srgbClr val="000000"/>
              </a:buClr>
              <a:buFont typeface="Arial" panose="020B0604020202020204" pitchFamily="34" charset="0"/>
              <a:buNone/>
            </a:pPr>
            <a:r>
              <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rPr>
              <a:t>Office </a:t>
            </a:r>
            <a:r>
              <a:rPr lang="en-US" altLang="en-US" sz="4000" b="1">
                <a:solidFill>
                  <a:srgbClr val="001E5A"/>
                </a:solidFill>
                <a:latin typeface="Helvetica Neue" panose="02000503000000020004" pitchFamily="2" charset="0"/>
                <a:cs typeface="Arial" panose="020B0604020202020204" pitchFamily="34" charset="0"/>
                <a:sym typeface="Helvetica Neue" panose="02000503000000020004" pitchFamily="2" charset="0"/>
              </a:rPr>
              <a:t>| </a:t>
            </a:r>
          </a:p>
          <a:p>
            <a:pPr>
              <a:spcBef>
                <a:spcPct val="0"/>
              </a:spcBef>
              <a:spcAft>
                <a:spcPct val="0"/>
              </a:spcAft>
              <a:buClr>
                <a:srgbClr val="000000"/>
              </a:buClr>
              <a:buFont typeface="Arial" panose="020B0604020202020204" pitchFamily="34" charset="0"/>
              <a:buNone/>
            </a:pPr>
            <a:r>
              <a:rPr lang="en-US" altLang="en-US" sz="4000" b="1">
                <a:solidFill>
                  <a:srgbClr val="001E5A"/>
                </a:solidFill>
                <a:latin typeface="Helvetica Neue" panose="02000503000000020004" pitchFamily="2" charset="0"/>
                <a:cs typeface="Arial" panose="020B0604020202020204" pitchFamily="34" charset="0"/>
                <a:sym typeface="Helvetica Neue" panose="02000503000000020004" pitchFamily="2" charset="0"/>
              </a:rPr>
              <a:t>ADEEL GHIAS</a:t>
            </a:r>
          </a:p>
          <a:p>
            <a:pPr>
              <a:spcBef>
                <a:spcPct val="0"/>
              </a:spcBef>
              <a:spcAft>
                <a:spcPct val="0"/>
              </a:spcAft>
              <a:buClr>
                <a:srgbClr val="000000"/>
              </a:buClr>
              <a:buFont typeface="Arial" panose="020B0604020202020204" pitchFamily="34" charset="0"/>
              <a:buNone/>
            </a:pPr>
            <a:endPar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endParaRPr>
          </a:p>
          <a:p>
            <a:pPr>
              <a:spcBef>
                <a:spcPct val="0"/>
              </a:spcBef>
              <a:spcAft>
                <a:spcPct val="0"/>
              </a:spcAft>
              <a:buClr>
                <a:srgbClr val="000000"/>
              </a:buClr>
              <a:buFont typeface="Arial" panose="020B0604020202020204" pitchFamily="34" charset="0"/>
              <a:buNone/>
            </a:pPr>
            <a:endPar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endParaRPr>
          </a:p>
          <a:p>
            <a:pPr>
              <a:spcBef>
                <a:spcPct val="0"/>
              </a:spcBef>
              <a:spcAft>
                <a:spcPct val="0"/>
              </a:spcAft>
              <a:buClr>
                <a:srgbClr val="000000"/>
              </a:buClr>
              <a:buFont typeface="Arial" panose="020B0604020202020204" pitchFamily="34" charset="0"/>
              <a:buNone/>
            </a:pPr>
            <a:endPar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endParaRPr>
          </a:p>
          <a:p>
            <a:pPr>
              <a:spcBef>
                <a:spcPct val="0"/>
              </a:spcBef>
              <a:spcAft>
                <a:spcPct val="0"/>
              </a:spcAft>
              <a:buClr>
                <a:srgbClr val="000000"/>
              </a:buClr>
              <a:buFont typeface="Arial" panose="020B0604020202020204" pitchFamily="34" charset="0"/>
              <a:buNone/>
            </a:pPr>
            <a:endPar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endParaRPr>
          </a:p>
          <a:p>
            <a:pPr>
              <a:spcBef>
                <a:spcPct val="0"/>
              </a:spcBef>
              <a:spcAft>
                <a:spcPct val="0"/>
              </a:spcAft>
              <a:buClr>
                <a:srgbClr val="000000"/>
              </a:buClr>
              <a:buFont typeface="Arial" panose="020B0604020202020204" pitchFamily="34" charset="0"/>
              <a:buNone/>
            </a:pPr>
            <a:endPar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endParaRPr>
          </a:p>
          <a:p>
            <a:pPr>
              <a:spcBef>
                <a:spcPct val="0"/>
              </a:spcBef>
              <a:spcAft>
                <a:spcPct val="0"/>
              </a:spcAft>
              <a:buClr>
                <a:srgbClr val="000000"/>
              </a:buClr>
              <a:buFont typeface="Arial" panose="020B0604020202020204" pitchFamily="34" charset="0"/>
              <a:buNone/>
            </a:pPr>
            <a:endParaRPr lang="en-US" altLang="en-US" sz="4000" b="1">
              <a:solidFill>
                <a:srgbClr val="112D59"/>
              </a:solidFill>
              <a:latin typeface="Helvetica Neue" panose="02000503000000020004" pitchFamily="2" charset="0"/>
              <a:cs typeface="Arial" panose="020B0604020202020204" pitchFamily="34" charset="0"/>
              <a:sym typeface="Helvetica Neue" panose="02000503000000020004" pitchFamily="2" charset="0"/>
            </a:endParaRPr>
          </a:p>
        </p:txBody>
      </p:sp>
      <p:sp>
        <p:nvSpPr>
          <p:cNvPr id="19458" name="Text Placeholder 2">
            <a:extLst>
              <a:ext uri="{FF2B5EF4-FFF2-40B4-BE49-F238E27FC236}">
                <a16:creationId xmlns:a16="http://schemas.microsoft.com/office/drawing/2014/main" id="{DE4FF4DA-3CDE-3E53-4268-41933801BDE1}"/>
              </a:ext>
            </a:extLst>
          </p:cNvPr>
          <p:cNvSpPr>
            <a:spLocks noGrp="1" noChangeArrowheads="1"/>
          </p:cNvSpPr>
          <p:nvPr>
            <p:ph type="body" idx="2"/>
          </p:nvPr>
        </p:nvSpPr>
        <p:spPr bwMode="auto">
          <a:xfrm>
            <a:off x="158750" y="5043488"/>
            <a:ext cx="4703763" cy="736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a:spcAft>
                <a:spcPct val="0"/>
              </a:spcAft>
              <a:buClr>
                <a:srgbClr val="000000"/>
              </a:buClr>
            </a:pPr>
            <a:r>
              <a:rPr lang="en-US" altLang="en-US" sz="180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sym typeface="Helvetica Neue Light" panose="02000403000000020004" pitchFamily="2" charset="0"/>
              </a:rPr>
              <a:t>NOV 2025 </a:t>
            </a:r>
          </a:p>
        </p:txBody>
      </p:sp>
      <p:cxnSp>
        <p:nvCxnSpPr>
          <p:cNvPr id="8" name="Straight Connector 7">
            <a:extLst>
              <a:ext uri="{FF2B5EF4-FFF2-40B4-BE49-F238E27FC236}">
                <a16:creationId xmlns:a16="http://schemas.microsoft.com/office/drawing/2014/main" id="{EE820C07-37D0-9F51-8E81-676C92FF7948}"/>
              </a:ext>
            </a:extLst>
          </p:cNvPr>
          <p:cNvCxnSpPr/>
          <p:nvPr/>
        </p:nvCxnSpPr>
        <p:spPr>
          <a:xfrm>
            <a:off x="471488" y="5043488"/>
            <a:ext cx="41862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D5A69AB6-ED09-8375-BF44-00BCDED3C5A2}"/>
              </a:ext>
            </a:extLst>
          </p:cNvPr>
          <p:cNvPicPr>
            <a:picLocks noChangeAspect="1"/>
          </p:cNvPicPr>
          <p:nvPr/>
        </p:nvPicPr>
        <p:blipFill>
          <a:blip r:embed="rId2"/>
          <a:stretch>
            <a:fillRect/>
          </a:stretch>
        </p:blipFill>
        <p:spPr>
          <a:xfrm>
            <a:off x="257731" y="2475232"/>
            <a:ext cx="1705683" cy="774380"/>
          </a:xfrm>
          <a:prstGeom prst="rect">
            <a:avLst/>
          </a:prstGeom>
        </p:spPr>
      </p:pic>
    </p:spTree>
    <p:extLst>
      <p:ext uri="{BB962C8B-B14F-4D97-AF65-F5344CB8AC3E}">
        <p14:creationId xmlns:p14="http://schemas.microsoft.com/office/powerpoint/2010/main" val="21145003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FC7A2891-5ABB-5745-B906-71A66CE5EEDE}"/>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8392F4F1-CEAC-92CF-F6A6-7C3B7FDF3E9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39</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27C4B40C-DE28-45A2-AE44-487ABF190EF2}"/>
              </a:ext>
            </a:extLst>
          </p:cNvPr>
          <p:cNvSpPr txBox="1">
            <a:spLocks noChangeArrowheads="1"/>
          </p:cNvSpPr>
          <p:nvPr/>
        </p:nvSpPr>
        <p:spPr bwMode="auto">
          <a:xfrm>
            <a:off x="550863" y="374650"/>
            <a:ext cx="75596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Jobs To Be Done | Head of Front Office | </a:t>
            </a:r>
            <a:r>
              <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ADEEL GHIAS</a:t>
            </a:r>
          </a:p>
        </p:txBody>
      </p:sp>
      <p:sp>
        <p:nvSpPr>
          <p:cNvPr id="4" name="Google Shape;57;p3">
            <a:extLst>
              <a:ext uri="{FF2B5EF4-FFF2-40B4-BE49-F238E27FC236}">
                <a16:creationId xmlns:a16="http://schemas.microsoft.com/office/drawing/2014/main" id="{E9365340-FDA4-E3FB-049B-38413F5BA2CA}"/>
              </a:ext>
            </a:extLst>
          </p:cNvPr>
          <p:cNvSpPr/>
          <p:nvPr/>
        </p:nvSpPr>
        <p:spPr>
          <a:xfrm>
            <a:off x="3398274" y="1067113"/>
            <a:ext cx="5555948" cy="4950915"/>
          </a:xfrm>
          <a:prstGeom prst="roundRect">
            <a:avLst>
              <a:gd name="adj" fmla="val 3135"/>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p:txBody>
      </p:sp>
      <p:sp>
        <p:nvSpPr>
          <p:cNvPr id="6" name="Google Shape;61;p3">
            <a:extLst>
              <a:ext uri="{FF2B5EF4-FFF2-40B4-BE49-F238E27FC236}">
                <a16:creationId xmlns:a16="http://schemas.microsoft.com/office/drawing/2014/main" id="{6EEA5F8C-62C9-0B4C-2F17-ED798DADAD97}"/>
              </a:ext>
            </a:extLst>
          </p:cNvPr>
          <p:cNvSpPr txBox="1"/>
          <p:nvPr/>
        </p:nvSpPr>
        <p:spPr>
          <a:xfrm>
            <a:off x="3689234" y="1133028"/>
            <a:ext cx="4229815" cy="230812"/>
          </a:xfrm>
          <a:prstGeom prst="rect">
            <a:avLst/>
          </a:prstGeom>
          <a:noFill/>
          <a:ln>
            <a:noFill/>
          </a:ln>
        </p:spPr>
        <p:txBody>
          <a:bodyPr spcFirstLastPara="1" wrap="square" lIns="22850" tIns="22850" rIns="22850" bIns="22850" anchor="t"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1" i="0" u="none" strike="noStrike" kern="0" cap="none" spc="0" normalizeH="0" baseline="0" noProof="0">
                <a:ln>
                  <a:noFill/>
                </a:ln>
                <a:solidFill>
                  <a:srgbClr val="BA0C2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Jobs To Be Done</a:t>
            </a:r>
            <a:endParaRPr kumimoji="0" sz="7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p:txBody>
      </p:sp>
      <p:graphicFrame>
        <p:nvGraphicFramePr>
          <p:cNvPr id="7" name="Table 6">
            <a:extLst>
              <a:ext uri="{FF2B5EF4-FFF2-40B4-BE49-F238E27FC236}">
                <a16:creationId xmlns:a16="http://schemas.microsoft.com/office/drawing/2014/main" id="{E7198521-4BFA-5BF6-A508-FADC5745F0DD}"/>
              </a:ext>
            </a:extLst>
          </p:cNvPr>
          <p:cNvGraphicFramePr>
            <a:graphicFrameLocks noGrp="1"/>
          </p:cNvGraphicFramePr>
          <p:nvPr/>
        </p:nvGraphicFramePr>
        <p:xfrm>
          <a:off x="3492090" y="1549714"/>
          <a:ext cx="5207820" cy="4282440"/>
        </p:xfrm>
        <a:graphic>
          <a:graphicData uri="http://schemas.openxmlformats.org/drawingml/2006/table">
            <a:tbl>
              <a:tblPr firstRow="1" bandRow="1">
                <a:tableStyleId>{5C22544A-7EE6-4342-B048-85BDC9FD1C3A}</a:tableStyleId>
              </a:tblPr>
              <a:tblGrid>
                <a:gridCol w="5207820">
                  <a:extLst>
                    <a:ext uri="{9D8B030D-6E8A-4147-A177-3AD203B41FA5}">
                      <a16:colId xmlns:a16="http://schemas.microsoft.com/office/drawing/2014/main" val="2300840210"/>
                    </a:ext>
                  </a:extLst>
                </a:gridCol>
              </a:tblGrid>
              <a:tr h="715402">
                <a:tc>
                  <a:txBody>
                    <a:bodyPr/>
                    <a:lstStyle/>
                    <a:p>
                      <a:r>
                        <a:rPr lang="en-US" sz="110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1. Drive Revenue Growth through Disciplined Trading and Market Making</a:t>
                      </a:r>
                    </a:p>
                    <a:p>
                      <a:pPr marL="171450" indent="-171450">
                        <a:buFont typeface="Arial" panose="020B0604020202020204" pitchFamily="34" charset="0"/>
                        <a:buChar char="•"/>
                      </a:pPr>
                      <a:r>
                        <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Maximize revenue generation across asset classes through efficient, risk-controlled trading and proactive market-making. Ensure consistent profitability by combining speed, precision, and discipline in execution.</a:t>
                      </a:r>
                    </a:p>
                    <a:p>
                      <a:endParaRPr lang="en-US" sz="11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p>
                      <a:r>
                        <a:rPr lang="en-US" sz="110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2. Optimize Liquidity and Client Execution</a:t>
                      </a:r>
                    </a:p>
                    <a:p>
                      <a:pPr marL="171450" indent="-171450">
                        <a:buFont typeface="Arial" panose="020B0604020202020204" pitchFamily="34" charset="0"/>
                        <a:buChar char="•"/>
                      </a:pPr>
                      <a:r>
                        <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Strengthen relationships with liquidity providers to secure depth and quality of pricing. Optimize liquidity routing and execution strategies to deliver best-in-class outcomes for clients.</a:t>
                      </a:r>
                    </a:p>
                    <a:p>
                      <a:endParaRPr lang="en-US" sz="11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p>
                      <a:r>
                        <a:rPr lang="en-US" sz="110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3. Strengthen Trading Risk Management and Control Frameworks</a:t>
                      </a:r>
                    </a:p>
                    <a:p>
                      <a:pPr marL="171450" indent="-171450">
                        <a:buFont typeface="Arial" panose="020B0604020202020204" pitchFamily="34" charset="0"/>
                        <a:buChar char="•"/>
                      </a:pPr>
                      <a:r>
                        <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Maintain robust risk oversight across all trading desks to ensure adherence to limits and governance standards. Proactively monitor exposures and enhance early-warning mechanisms to prevent operational or reputational risk.</a:t>
                      </a:r>
                    </a:p>
                    <a:p>
                      <a:endParaRPr lang="en-US" sz="11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p>
                      <a:r>
                        <a:rPr lang="en-US" sz="110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4. Build a Data-Driven Pricing and Commercial Strategy</a:t>
                      </a:r>
                    </a:p>
                    <a:p>
                      <a:pPr marL="171450" indent="-171450">
                        <a:buFont typeface="Arial" panose="020B0604020202020204" pitchFamily="34" charset="0"/>
                        <a:buChar char="•"/>
                      </a:pPr>
                      <a:r>
                        <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Develop and implement pricing models tailored to client segments and market conditions. Leverage analytics to refine spreads, improve margins, and enhance competitiveness.</a:t>
                      </a:r>
                    </a:p>
                    <a:p>
                      <a:pPr marL="171450" indent="-171450">
                        <a:buFont typeface="Arial" panose="020B0604020202020204" pitchFamily="34" charset="0"/>
                        <a:buChar char="•"/>
                      </a:pPr>
                      <a:endParaRPr lang="en-US" sz="110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p>
                      <a:r>
                        <a:rPr lang="en-US" sz="110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5. Build, Retain and Empower a High-Performing Front-Office Team</a:t>
                      </a:r>
                    </a:p>
                    <a:p>
                      <a:pPr marL="171450" indent="-171450">
                        <a:buFont typeface="Arial" panose="020B0604020202020204" pitchFamily="34" charset="0"/>
                        <a:buChar char="•"/>
                      </a:pPr>
                      <a:r>
                        <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Identify, develop and retain critical trading and leadership roles that drive commercial performance. Foster a culture of accountability, collaboration, and continuous learning to sustain long-term excellence.</a:t>
                      </a:r>
                    </a:p>
                    <a:p>
                      <a:pPr marL="171450" indent="-171450">
                        <a:buFont typeface="Arial" panose="020B0604020202020204" pitchFamily="34" charset="0"/>
                        <a:buChar char="•"/>
                      </a:pPr>
                      <a:endParaRPr lang="en-US" sz="110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txBody>
                  <a:tcPr>
                    <a:lnL w="12700" cap="flat" cmpd="sng" algn="ctr">
                      <a:solidFill>
                        <a:schemeClr val="bg1">
                          <a:lumMod val="95000"/>
                        </a:schemeClr>
                      </a:solidFill>
                      <a:prstDash val="solid"/>
                      <a:round/>
                      <a:headEnd type="none" w="med" len="med"/>
                      <a:tailEnd type="none" w="med" len="med"/>
                    </a:lnL>
                    <a:lnB w="12700" cap="flat" cmpd="sng" algn="ctr">
                      <a:solidFill>
                        <a:srgbClr val="BC8F00"/>
                      </a:solidFill>
                      <a:prstDash val="solid"/>
                      <a:round/>
                      <a:headEnd type="none" w="med" len="med"/>
                      <a:tailEnd type="none" w="med" len="med"/>
                    </a:lnB>
                    <a:noFill/>
                  </a:tcPr>
                </a:tc>
                <a:extLst>
                  <a:ext uri="{0D108BD9-81ED-4DB2-BD59-A6C34878D82A}">
                    <a16:rowId xmlns:a16="http://schemas.microsoft.com/office/drawing/2014/main" val="2440114098"/>
                  </a:ext>
                </a:extLst>
              </a:tr>
            </a:tbl>
          </a:graphicData>
        </a:graphic>
      </p:graphicFrame>
      <p:sp>
        <p:nvSpPr>
          <p:cNvPr id="15" name="Google Shape;57;p3">
            <a:extLst>
              <a:ext uri="{FF2B5EF4-FFF2-40B4-BE49-F238E27FC236}">
                <a16:creationId xmlns:a16="http://schemas.microsoft.com/office/drawing/2014/main" id="{632E3B03-E42D-B53F-284F-E73E8143E895}"/>
              </a:ext>
            </a:extLst>
          </p:cNvPr>
          <p:cNvSpPr/>
          <p:nvPr/>
        </p:nvSpPr>
        <p:spPr>
          <a:xfrm>
            <a:off x="511497" y="1067113"/>
            <a:ext cx="2783451" cy="4950915"/>
          </a:xfrm>
          <a:prstGeom prst="roundRect">
            <a:avLst>
              <a:gd name="adj" fmla="val 5837"/>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p:txBody>
      </p:sp>
      <p:sp>
        <p:nvSpPr>
          <p:cNvPr id="16" name="Google Shape;57;p3">
            <a:extLst>
              <a:ext uri="{FF2B5EF4-FFF2-40B4-BE49-F238E27FC236}">
                <a16:creationId xmlns:a16="http://schemas.microsoft.com/office/drawing/2014/main" id="{67D76EFF-070A-3ED7-24F5-07FBCF2ACD70}"/>
              </a:ext>
            </a:extLst>
          </p:cNvPr>
          <p:cNvSpPr/>
          <p:nvPr/>
        </p:nvSpPr>
        <p:spPr>
          <a:xfrm>
            <a:off x="9057548" y="1067113"/>
            <a:ext cx="2783451" cy="4950915"/>
          </a:xfrm>
          <a:prstGeom prst="roundRect">
            <a:avLst>
              <a:gd name="adj" fmla="val 5837"/>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p:txBody>
      </p:sp>
      <p:sp>
        <p:nvSpPr>
          <p:cNvPr id="17" name="Google Shape;72;p3">
            <a:extLst>
              <a:ext uri="{FF2B5EF4-FFF2-40B4-BE49-F238E27FC236}">
                <a16:creationId xmlns:a16="http://schemas.microsoft.com/office/drawing/2014/main" id="{16EB4D01-D8DF-F19D-D509-BB5C0A982A69}"/>
              </a:ext>
            </a:extLst>
          </p:cNvPr>
          <p:cNvSpPr txBox="1"/>
          <p:nvPr/>
        </p:nvSpPr>
        <p:spPr>
          <a:xfrm>
            <a:off x="9230003" y="1257590"/>
            <a:ext cx="2438539"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1" i="0" u="none" strike="noStrike" kern="0" cap="none" spc="0" normalizeH="0" baseline="0" noProof="0">
                <a:ln>
                  <a:noFill/>
                </a:ln>
                <a:solidFill>
                  <a:srgbClr val="BA0C2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Superpowers</a:t>
            </a:r>
            <a:endParaRPr kumimoji="0" lang="en-US" sz="12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p:txBody>
      </p:sp>
      <p:sp>
        <p:nvSpPr>
          <p:cNvPr id="18" name="TextBox 17">
            <a:extLst>
              <a:ext uri="{FF2B5EF4-FFF2-40B4-BE49-F238E27FC236}">
                <a16:creationId xmlns:a16="http://schemas.microsoft.com/office/drawing/2014/main" id="{1C0FEA1A-B40E-03AB-E55D-5CF42289114F}"/>
              </a:ext>
            </a:extLst>
          </p:cNvPr>
          <p:cNvSpPr txBox="1"/>
          <p:nvPr/>
        </p:nvSpPr>
        <p:spPr>
          <a:xfrm>
            <a:off x="9193050" y="1756857"/>
            <a:ext cx="2512443" cy="3754874"/>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IN"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Analytical Commercial Leadership: </a:t>
            </a:r>
            <a:r>
              <a:rPr kumimoji="0" lang="en-IN"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The ability to blend sharp data analysis and market insight with commercial acumen, enabling decisions and strategies that directly drive measurable business growth in a regulated, tech-driven environment.</a:t>
            </a:r>
          </a:p>
          <a:p>
            <a:pPr marL="228600" marR="0" lvl="0" indent="-2286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IN"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Cross-Functional Influence and Integration</a:t>
            </a:r>
            <a:r>
              <a:rPr kumimoji="0" lang="en-IN"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The skill to foster trust and orchestrate collaboration across sales, technology, compliance, and support teams—turning disparate functions into a unified, high-performing revenue engine.</a:t>
            </a:r>
            <a:endParaRPr kumimoji="0" lang="en-US" sz="1200" b="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22" name="Google Shape;72;p3">
            <a:extLst>
              <a:ext uri="{FF2B5EF4-FFF2-40B4-BE49-F238E27FC236}">
                <a16:creationId xmlns:a16="http://schemas.microsoft.com/office/drawing/2014/main" id="{90D295E2-8556-4BAE-F983-34A3519F52ED}"/>
              </a:ext>
            </a:extLst>
          </p:cNvPr>
          <p:cNvSpPr txBox="1"/>
          <p:nvPr/>
        </p:nvSpPr>
        <p:spPr>
          <a:xfrm>
            <a:off x="988909" y="1257434"/>
            <a:ext cx="2438539" cy="243636"/>
          </a:xfrm>
          <a:prstGeom prst="rect">
            <a:avLst/>
          </a:prstGeom>
          <a:noFill/>
          <a:ln>
            <a:noFill/>
          </a:ln>
        </p:spPr>
        <p:txBody>
          <a:bodyPr spcFirstLastPara="1" wrap="square" lIns="22850" tIns="22850" rIns="22850" bIns="22850" anchor="b" anchorCtr="0">
            <a:spAutoFit/>
          </a:bodyPr>
          <a:lstStyle/>
          <a:p>
            <a:pPr marL="12700" marR="0" lvl="0" indent="0" algn="l" defTabSz="914400" rtl="0" eaLnBrk="0" fontAlgn="base" latinLnBrk="0" hangingPunct="0">
              <a:lnSpc>
                <a:spcPct val="100000"/>
              </a:lnSpc>
              <a:spcBef>
                <a:spcPts val="100"/>
              </a:spcBef>
              <a:spcAft>
                <a:spcPct val="0"/>
              </a:spcAft>
              <a:buClrTx/>
              <a:buSzTx/>
              <a:buFontTx/>
              <a:buNone/>
              <a:tabLst/>
              <a:defRPr/>
            </a:pPr>
            <a:r>
              <a:rPr kumimoji="0" lang="en-US" sz="1200" b="0" i="0" u="none" strike="noStrike" kern="1200" cap="none" spc="-35"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Jobs To Be Done </a:t>
            </a:r>
            <a:r>
              <a:rPr kumimoji="0" lang="en-US" sz="1200" b="0" i="0" u="none" strike="noStrike" kern="1200" cap="none" spc="-35"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Pivot</a:t>
            </a:r>
          </a:p>
        </p:txBody>
      </p:sp>
      <p:sp>
        <p:nvSpPr>
          <p:cNvPr id="23" name="TextBox 22">
            <a:extLst>
              <a:ext uri="{FF2B5EF4-FFF2-40B4-BE49-F238E27FC236}">
                <a16:creationId xmlns:a16="http://schemas.microsoft.com/office/drawing/2014/main" id="{F726C93F-1FC4-75E5-345C-5EA0A6FCA8B9}"/>
              </a:ext>
            </a:extLst>
          </p:cNvPr>
          <p:cNvSpPr txBox="1"/>
          <p:nvPr/>
        </p:nvSpPr>
        <p:spPr>
          <a:xfrm>
            <a:off x="683952" y="1604333"/>
            <a:ext cx="2438539" cy="204158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ts val="360"/>
              </a:spcAft>
              <a:buClrTx/>
              <a:buSzTx/>
              <a:buFontTx/>
              <a:buNone/>
              <a:tabLst/>
              <a:defRPr/>
            </a:pPr>
            <a:endPar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228600" marR="0" lvl="0" indent="-228600" algn="l" defTabSz="914400" rtl="0" eaLnBrk="0" fontAlgn="base" latinLnBrk="0" hangingPunct="0">
              <a:lnSpc>
                <a:spcPct val="100000"/>
              </a:lnSpc>
              <a:spcBef>
                <a:spcPct val="0"/>
              </a:spcBef>
              <a:spcAft>
                <a:spcPts val="360"/>
              </a:spcAft>
              <a:buClrTx/>
              <a:buSzTx/>
              <a:buFont typeface="+mj-lt"/>
              <a:buAutoNum type="arabicPeriod"/>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From </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product and sales teams operating in silos with minimal cross-function support…</a:t>
            </a:r>
          </a:p>
          <a:p>
            <a:pPr marL="228600" marR="0" lvl="0" indent="-228600" algn="l" defTabSz="914400" rtl="0" eaLnBrk="0" fontAlgn="base" latinLnBrk="0" hangingPunct="0">
              <a:lnSpc>
                <a:spcPct val="100000"/>
              </a:lnSpc>
              <a:spcBef>
                <a:spcPct val="0"/>
              </a:spcBef>
              <a:spcAft>
                <a:spcPts val="360"/>
              </a:spcAft>
              <a:buClrTx/>
              <a:buSzTx/>
              <a:buFont typeface="+mj-lt"/>
              <a:buAutoNum type="arabicPeriod"/>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To</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fully integrated, collaborative teams where tech, legal, compliance, and sales collectively enable revenue growth</a:t>
            </a:r>
          </a:p>
        </p:txBody>
      </p:sp>
      <p:sp>
        <p:nvSpPr>
          <p:cNvPr id="5" name="TextBox 4">
            <a:extLst>
              <a:ext uri="{FF2B5EF4-FFF2-40B4-BE49-F238E27FC236}">
                <a16:creationId xmlns:a16="http://schemas.microsoft.com/office/drawing/2014/main" id="{B5347769-1ED9-1880-49C7-86ED2B01C1F0}"/>
              </a:ext>
            </a:extLst>
          </p:cNvPr>
          <p:cNvSpPr txBox="1"/>
          <p:nvPr/>
        </p:nvSpPr>
        <p:spPr>
          <a:xfrm rot="19103358">
            <a:off x="3879785" y="3136612"/>
            <a:ext cx="4592924" cy="584775"/>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200" b="0" i="0" u="none" strike="noStrike" kern="1200" cap="none" spc="0" normalizeH="0" baseline="0" noProof="0">
                <a:ln>
                  <a:noFill/>
                </a:ln>
                <a:solidFill>
                  <a:srgbClr val="000000">
                    <a:alpha val="30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WORKING DOCUMENT</a:t>
            </a:r>
          </a:p>
        </p:txBody>
      </p:sp>
    </p:spTree>
    <p:extLst>
      <p:ext uri="{BB962C8B-B14F-4D97-AF65-F5344CB8AC3E}">
        <p14:creationId xmlns:p14="http://schemas.microsoft.com/office/powerpoint/2010/main" val="1503192824"/>
      </p:ext>
    </p:extLst>
  </p:cSld>
  <p:clrMapOvr>
    <a:masterClrMapping/>
  </p:clrMapOvr>
  <p:extLst>
    <p:ext uri="{6950BFC3-D8DA-4A85-94F7-54DA5524770B}">
      <p188:commentRel xmlns:p188="http://schemas.microsoft.com/office/powerpoint/2018/8/main" r:id="rId3"/>
    </p:ext>
  </p:extLst>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3354AB68-7DA3-DB44-01BC-2615401E2738}"/>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EA74BB2F-6B8C-C0D7-681E-734138BF652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40</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3F21FA13-893B-ED94-FF44-A74BFDE441C4}"/>
              </a:ext>
            </a:extLst>
          </p:cNvPr>
          <p:cNvSpPr txBox="1">
            <a:spLocks noChangeArrowheads="1"/>
          </p:cNvSpPr>
          <p:nvPr/>
        </p:nvSpPr>
        <p:spPr bwMode="auto">
          <a:xfrm>
            <a:off x="550863" y="374650"/>
            <a:ext cx="9618373"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Jobs To Be Done Match | Head of Front Office | ADEEL GHIAS</a:t>
            </a: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p:txBody>
      </p:sp>
      <p:sp>
        <p:nvSpPr>
          <p:cNvPr id="4" name="Google Shape;57;p3">
            <a:extLst>
              <a:ext uri="{FF2B5EF4-FFF2-40B4-BE49-F238E27FC236}">
                <a16:creationId xmlns:a16="http://schemas.microsoft.com/office/drawing/2014/main" id="{CCBD63FF-644E-0BFB-8897-DCF15AC0D197}"/>
              </a:ext>
            </a:extLst>
          </p:cNvPr>
          <p:cNvSpPr/>
          <p:nvPr/>
        </p:nvSpPr>
        <p:spPr>
          <a:xfrm>
            <a:off x="669672" y="831850"/>
            <a:ext cx="11290680" cy="5783532"/>
          </a:xfrm>
          <a:prstGeom prst="roundRect">
            <a:avLst>
              <a:gd name="adj" fmla="val 225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Tx/>
              <a:buNone/>
              <a:tabLst/>
              <a:defRPr/>
            </a:pPr>
            <a:r>
              <a:rPr kumimoji="0" lang="en-US" sz="1200" b="1" i="0" u="none" strike="noStrike" kern="0" cap="none" spc="0" normalizeH="0" baseline="0" noProof="0">
                <a:ln>
                  <a:noFill/>
                </a:ln>
                <a:solidFill>
                  <a:srgbClr val="000000"/>
                </a:solidFill>
                <a:effectLst/>
                <a:uLnTx/>
                <a:uFillTx/>
                <a:latin typeface="Lato"/>
                <a:ea typeface="Lato"/>
                <a:cs typeface="Lato"/>
                <a:sym typeface="Lato"/>
              </a:rPr>
              <a:t> </a:t>
            </a:r>
          </a:p>
        </p:txBody>
      </p:sp>
      <p:sp>
        <p:nvSpPr>
          <p:cNvPr id="12" name="TextBox 11">
            <a:extLst>
              <a:ext uri="{FF2B5EF4-FFF2-40B4-BE49-F238E27FC236}">
                <a16:creationId xmlns:a16="http://schemas.microsoft.com/office/drawing/2014/main" id="{433E8659-744B-6CBB-B7D5-B3841EB03581}"/>
              </a:ext>
            </a:extLst>
          </p:cNvPr>
          <p:cNvSpPr txBox="1"/>
          <p:nvPr/>
        </p:nvSpPr>
        <p:spPr>
          <a:xfrm>
            <a:off x="795612" y="969016"/>
            <a:ext cx="10857292" cy="5170646"/>
          </a:xfrm>
          <a:prstGeom prst="rect">
            <a:avLst/>
          </a:prstGeom>
          <a:noFill/>
        </p:spPr>
        <p:txBody>
          <a:bodyPr wrap="square" lIns="91440" tIns="45720" rIns="91440" bIns="45720" rtlCol="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Role Pivots &amp; Risks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The role is pivotal in leading the transformation from a single-product CFD broker into a diversified, tech-enabled regional brokerage and wealth platform. This evolution requires significant cultural, operational, and compliance adaptation, with the risk that legacy ways of working could slow progress and integration.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The front office must now evolve from a stable, execution-focused function into a proactive commercial engine that links today’s performance with tomorrow’s growth priorities. Its success depends on translating strategic ambition into coordinated delivery — working closely with Product, Marketing, Digital, and Compliance to create integrated client solutions rather than parallel initiatives.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As the business expands in complexity, the role must ensure disciplined adaptability — moving from managing established routines to shaping how the front office adopts new products, technologies, and client engagement models.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Finally, sustaining motivation and capability within the team will require structured communication, clear ownership, and well-defined development pathways that foster accountability, ambition, and continuous learning.</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1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Is the Talent Equipped for Success?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Adeel’s leadership style is grounded in analytical rigor, commercial acumen, and resilience under pressure. He is known for his candid, straightforward approach and his ability to translate complexity into practical business action.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Adeel’s strengths lie in operational management. He is pragmatic, reliable, and able to create a clear and stable environment for his department, especially the front office. Staff value the consistency he provides during periods of major organizational change, and his leadership is credited with retaining experienced team members over many years.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He is encouraged to communicate more about long-term strategy (“Day 2” vision) and future investment priorities to create engagement and direction for the broader team. His strong operational focus could lead to siloed functioning and limited adaptability as ADSS evolves. Fostering cross-functional collaboration and preparing for future challenges are important steps for his continued effectiveness.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Under stress, Adeel can become skeptical, guarded, and rigid—behaviors that can limit collaboration and trust within newly formed teams. </a:t>
            </a:r>
          </a:p>
        </p:txBody>
      </p:sp>
    </p:spTree>
    <p:extLst>
      <p:ext uri="{BB962C8B-B14F-4D97-AF65-F5344CB8AC3E}">
        <p14:creationId xmlns:p14="http://schemas.microsoft.com/office/powerpoint/2010/main" val="18491179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833D546D-EA14-0147-7253-2DF1FBD4622A}"/>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D67D437A-CE88-8410-6B7F-E6679D350BDE}"/>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41</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7B1AA0A3-38C3-96D1-F1F5-6E11956F8771}"/>
              </a:ext>
            </a:extLst>
          </p:cNvPr>
          <p:cNvSpPr txBox="1">
            <a:spLocks noChangeArrowheads="1"/>
          </p:cNvSpPr>
          <p:nvPr/>
        </p:nvSpPr>
        <p:spPr bwMode="auto">
          <a:xfrm>
            <a:off x="550863" y="374650"/>
            <a:ext cx="9022628"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HOGAN | Head of Front Office | ADEEL GHIAS</a:t>
            </a: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p:txBody>
      </p:sp>
      <p:grpSp>
        <p:nvGrpSpPr>
          <p:cNvPr id="4" name="Group 3">
            <a:extLst>
              <a:ext uri="{FF2B5EF4-FFF2-40B4-BE49-F238E27FC236}">
                <a16:creationId xmlns:a16="http://schemas.microsoft.com/office/drawing/2014/main" id="{33725104-37EE-7AE1-B044-A7888757CA64}"/>
              </a:ext>
            </a:extLst>
          </p:cNvPr>
          <p:cNvGrpSpPr/>
          <p:nvPr/>
        </p:nvGrpSpPr>
        <p:grpSpPr>
          <a:xfrm>
            <a:off x="758455" y="681289"/>
            <a:ext cx="6226053" cy="655403"/>
            <a:chOff x="529855" y="131505"/>
            <a:chExt cx="6226053" cy="655403"/>
          </a:xfrm>
        </p:grpSpPr>
        <p:sp>
          <p:nvSpPr>
            <p:cNvPr id="6" name="TextBox 5">
              <a:extLst>
                <a:ext uri="{FF2B5EF4-FFF2-40B4-BE49-F238E27FC236}">
                  <a16:creationId xmlns:a16="http://schemas.microsoft.com/office/drawing/2014/main" id="{94F3E61D-0B63-067E-8034-F653858800BE}"/>
                </a:ext>
              </a:extLst>
            </p:cNvPr>
            <p:cNvSpPr txBox="1"/>
            <p:nvPr/>
          </p:nvSpPr>
          <p:spPr>
            <a:xfrm>
              <a:off x="529855" y="131505"/>
              <a:ext cx="680414" cy="253916"/>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lumMod val="50000"/>
                      <a:lumOff val="50000"/>
                    </a:srgbClr>
                  </a:solidFill>
                  <a:effectLst/>
                  <a:uLnTx/>
                  <a:uFillTx/>
                  <a:latin typeface="Lato Light" panose="020F0502020204030203" pitchFamily="34" charset="0"/>
                  <a:ea typeface="Lato Light" panose="020F0502020204030203" pitchFamily="34" charset="0"/>
                  <a:cs typeface="Lato Light" panose="020F0502020204030203" pitchFamily="34" charset="0"/>
                  <a:sym typeface="Arial" panose="020B0604020202020204" pitchFamily="34" charset="0"/>
                </a:rPr>
                <a:t>ROLE</a:t>
              </a:r>
            </a:p>
          </p:txBody>
        </p:sp>
        <p:sp>
          <p:nvSpPr>
            <p:cNvPr id="7" name="TextBox 6">
              <a:extLst>
                <a:ext uri="{FF2B5EF4-FFF2-40B4-BE49-F238E27FC236}">
                  <a16:creationId xmlns:a16="http://schemas.microsoft.com/office/drawing/2014/main" id="{1CC9FC4E-89C3-8C45-DBB2-AD54241C1C7C}"/>
                </a:ext>
              </a:extLst>
            </p:cNvPr>
            <p:cNvSpPr txBox="1"/>
            <p:nvPr/>
          </p:nvSpPr>
          <p:spPr>
            <a:xfrm>
              <a:off x="529855" y="356566"/>
              <a:ext cx="3201164" cy="430342"/>
            </a:xfrm>
            <a:prstGeom prst="rect">
              <a:avLst/>
            </a:prstGeom>
            <a:noFill/>
          </p:spPr>
          <p:txBody>
            <a:bodyPr wrap="square" lIns="91440" tIns="45720" rIns="9144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rial" panose="020B0604020202020204" pitchFamily="34" charset="0"/>
                  <a:ea typeface="Lato Light" panose="020F0502020204030203" pitchFamily="34" charset="0"/>
                  <a:cs typeface="Arial" panose="020B0604020202020204" pitchFamily="34" charset="0"/>
                  <a:sym typeface="Arial" panose="020B0604020202020204" pitchFamily="34" charset="0"/>
                </a:rPr>
                <a:t>Head of Front Office </a:t>
              </a:r>
            </a:p>
          </p:txBody>
        </p:sp>
        <p:sp>
          <p:nvSpPr>
            <p:cNvPr id="12" name="TextBox 11">
              <a:extLst>
                <a:ext uri="{FF2B5EF4-FFF2-40B4-BE49-F238E27FC236}">
                  <a16:creationId xmlns:a16="http://schemas.microsoft.com/office/drawing/2014/main" id="{C895B4C8-6AF7-77B6-FD38-BC2CC41A9CDC}"/>
                </a:ext>
              </a:extLst>
            </p:cNvPr>
            <p:cNvSpPr txBox="1"/>
            <p:nvPr/>
          </p:nvSpPr>
          <p:spPr>
            <a:xfrm>
              <a:off x="5962084" y="131505"/>
              <a:ext cx="748798" cy="253916"/>
            </a:xfrm>
            <a:prstGeom prst="rect">
              <a:avLst/>
            </a:prstGeom>
            <a:noFill/>
          </p:spPr>
          <p:txBody>
            <a:bodyPr wrap="square"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lumMod val="50000"/>
                      <a:lumOff val="50000"/>
                    </a:srgbClr>
                  </a:solidFill>
                  <a:effectLst/>
                  <a:uLnTx/>
                  <a:uFillTx/>
                  <a:latin typeface="Lato Light" panose="020F0502020204030203" pitchFamily="34" charset="0"/>
                  <a:ea typeface="Lato Light" panose="020F0502020204030203" pitchFamily="34" charset="0"/>
                  <a:cs typeface="Lato Light" panose="020F0502020204030203" pitchFamily="34" charset="0"/>
                  <a:sym typeface="Arial" panose="020B0604020202020204" pitchFamily="34" charset="0"/>
                </a:rPr>
                <a:t>TALENT</a:t>
              </a:r>
            </a:p>
          </p:txBody>
        </p:sp>
        <p:sp>
          <p:nvSpPr>
            <p:cNvPr id="13" name="TextBox 12">
              <a:extLst>
                <a:ext uri="{FF2B5EF4-FFF2-40B4-BE49-F238E27FC236}">
                  <a16:creationId xmlns:a16="http://schemas.microsoft.com/office/drawing/2014/main" id="{BC1CE069-3A13-A938-233C-05D0F6F39B8D}"/>
                </a:ext>
              </a:extLst>
            </p:cNvPr>
            <p:cNvSpPr txBox="1"/>
            <p:nvPr/>
          </p:nvSpPr>
          <p:spPr>
            <a:xfrm>
              <a:off x="3665327" y="296859"/>
              <a:ext cx="3090581" cy="490041"/>
            </a:xfrm>
            <a:prstGeom prst="rect">
              <a:avLst/>
            </a:prstGeom>
            <a:noFill/>
          </p:spPr>
          <p:txBody>
            <a:bodyPr wrap="square" lIns="91440" tIns="45720" rIns="91440" bIns="4572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rial" panose="020B0604020202020204" pitchFamily="34" charset="0"/>
                  <a:ea typeface="Lato Light" panose="020F0502020204030203" pitchFamily="34" charset="0"/>
                  <a:cs typeface="Arial" panose="020B0604020202020204" pitchFamily="34" charset="0"/>
                  <a:sym typeface="Arial" panose="020B0604020202020204" pitchFamily="34" charset="0"/>
                </a:rPr>
                <a:t>ADEEL GHIAS</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Arial" panose="020B0604020202020204" pitchFamily="34" charset="0"/>
                <a:ea typeface="Lato Light" panose="020F0502020204030203" pitchFamily="34" charset="0"/>
                <a:cs typeface="Arial" panose="020B0604020202020204" pitchFamily="34" charset="0"/>
                <a:sym typeface="Arial" panose="020B0604020202020204" pitchFamily="34" charset="0"/>
              </a:endParaRPr>
            </a:p>
          </p:txBody>
        </p:sp>
      </p:grpSp>
      <p:pic>
        <p:nvPicPr>
          <p:cNvPr id="24" name="Picture 23" descr="A screenshot of a graph&#10;&#10;AI-generated content may be incorrect.">
            <a:extLst>
              <a:ext uri="{FF2B5EF4-FFF2-40B4-BE49-F238E27FC236}">
                <a16:creationId xmlns:a16="http://schemas.microsoft.com/office/drawing/2014/main" id="{DAD1692A-20E7-39DC-67B3-0E1815232486}"/>
              </a:ext>
            </a:extLst>
          </p:cNvPr>
          <p:cNvPicPr>
            <a:picLocks noChangeAspect="1"/>
          </p:cNvPicPr>
          <p:nvPr/>
        </p:nvPicPr>
        <p:blipFill>
          <a:blip r:embed="rId4"/>
          <a:stretch>
            <a:fillRect/>
          </a:stretch>
        </p:blipFill>
        <p:spPr>
          <a:xfrm>
            <a:off x="7549397" y="975047"/>
            <a:ext cx="4642603" cy="5508303"/>
          </a:xfrm>
          <a:prstGeom prst="rect">
            <a:avLst/>
          </a:prstGeom>
        </p:spPr>
      </p:pic>
      <p:sp>
        <p:nvSpPr>
          <p:cNvPr id="2" name="TextBox 1">
            <a:extLst>
              <a:ext uri="{FF2B5EF4-FFF2-40B4-BE49-F238E27FC236}">
                <a16:creationId xmlns:a16="http://schemas.microsoft.com/office/drawing/2014/main" id="{B7990435-3098-9912-8CEF-620B04B2346A}"/>
              </a:ext>
            </a:extLst>
          </p:cNvPr>
          <p:cNvSpPr txBox="1"/>
          <p:nvPr/>
        </p:nvSpPr>
        <p:spPr>
          <a:xfrm>
            <a:off x="580059" y="1540568"/>
            <a:ext cx="6388103" cy="4531841"/>
          </a:xfrm>
          <a:prstGeom prst="rect">
            <a:avLst/>
          </a:prstGeom>
          <a:noFill/>
        </p:spPr>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0000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Role · Talent Match</a:t>
            </a:r>
            <a:br>
              <a:rPr kumimoji="0" lang="en-US" sz="1100" b="1" i="0" u="none" strike="noStrike" kern="1200" cap="none" spc="0" normalizeH="0" baseline="0" noProof="0">
                <a:ln>
                  <a:noFill/>
                </a:ln>
                <a:solidFill>
                  <a:prstClr val="black"/>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br>
            <a:endParaRPr kumimoji="0" lang="en-US" sz="1100" b="1"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Given his pace and a sharp focus on achieving superior financial returns (low Prudence, Excitable, Commerce) Adeel will likely be highly motivated to drive exceptional commercial momentum and revenue growth for ADQ.</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He has natural talents in analysis and operational intelligence (Science) which combined with the above should make him a committed data-driven commercial leader.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0000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Potential Derailers </a:t>
            </a:r>
            <a:br>
              <a:rPr kumimoji="0" lang="en-US" sz="1100" b="1" i="0" u="none" strike="noStrike" kern="1200" cap="none" spc="0" normalizeH="0" baseline="0" noProof="0">
                <a:ln>
                  <a:noFill/>
                </a:ln>
                <a:solidFill>
                  <a:prstClr val="black"/>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br>
            <a:endParaRPr kumimoji="0" lang="en-US" sz="1100" b="1" i="0" u="none" strike="noStrike" kern="1200" cap="none" spc="0" normalizeH="0" baseline="0" noProof="0">
              <a:ln>
                <a:noFill/>
              </a:ln>
              <a:solidFill>
                <a:srgbClr val="C0000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Adeel might not be known as the most visible or collaborative of leaders (Reserved, low Affiliation) and may be rather single-minded in outlook (Leisurely). This could inhibit him from enhancing cross-functional collaboration and integration. He may struggle therefore with the breaking down of silos between sales, product, marketing, compliance and technology.</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He might also be instinctively minded to do things himself (Power) and may struggle with delegation and the distribution of decision making (Skeptical). This could have consequences for the building and empowering of a high-performing team.</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He scores high on Skeptical and Tradition, so he’s naturally cautious and prefers structure and predictability. This actually suits a highly regulated, risk-sensitive environment like trading. It’s probably not his natural instinct to push change quickly, but having spent years in this industry, he’s learned to be thoughtful and to balance his style by working with people who bring flexibility and new ideas.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p:txBody>
      </p:sp>
    </p:spTree>
    <p:extLst>
      <p:ext uri="{BB962C8B-B14F-4D97-AF65-F5344CB8AC3E}">
        <p14:creationId xmlns:p14="http://schemas.microsoft.com/office/powerpoint/2010/main" val="95559153"/>
      </p:ext>
    </p:extLst>
  </p:cSld>
  <p:clrMapOvr>
    <a:masterClrMapping/>
  </p:clrMapOvr>
  <p:extLst>
    <p:ext uri="{6950BFC3-D8DA-4A85-94F7-54DA5524770B}">
      <p188:commentRel xmlns:p188="http://schemas.microsoft.com/office/powerpoint/2018/8/main" r:id="rId3"/>
    </p:ext>
  </p:extLst>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874B7C1A-1522-E6EB-9BB3-0E51E34CD726}"/>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FC4FA40B-D998-8567-BA44-6A063FD13C8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42</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9EBC7AC2-161E-38B0-A98A-EB169F7C4C03}"/>
              </a:ext>
            </a:extLst>
          </p:cNvPr>
          <p:cNvSpPr txBox="1">
            <a:spLocks noChangeArrowheads="1"/>
          </p:cNvSpPr>
          <p:nvPr/>
        </p:nvSpPr>
        <p:spPr bwMode="auto">
          <a:xfrm>
            <a:off x="550862" y="498764"/>
            <a:ext cx="9659937" cy="21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Enabling Success Plan | Head of Front Office | ADEEL GHIAS</a:t>
            </a: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p:txBody>
      </p:sp>
      <p:sp>
        <p:nvSpPr>
          <p:cNvPr id="4" name="Google Shape;57;p3">
            <a:extLst>
              <a:ext uri="{FF2B5EF4-FFF2-40B4-BE49-F238E27FC236}">
                <a16:creationId xmlns:a16="http://schemas.microsoft.com/office/drawing/2014/main" id="{4F0D4E5A-92BE-7C60-F129-C3FBD8A8BFDE}"/>
              </a:ext>
            </a:extLst>
          </p:cNvPr>
          <p:cNvSpPr/>
          <p:nvPr/>
        </p:nvSpPr>
        <p:spPr>
          <a:xfrm>
            <a:off x="462166" y="1097720"/>
            <a:ext cx="3418461" cy="4412431"/>
          </a:xfrm>
          <a:prstGeom prst="roundRect">
            <a:avLst>
              <a:gd name="adj" fmla="val 3135"/>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Lato" panose="020F0502020204030203" pitchFamily="34" charset="77"/>
              <a:ea typeface="Lato"/>
              <a:cs typeface="Lato"/>
              <a:sym typeface="Lato"/>
            </a:endParaRPr>
          </a:p>
        </p:txBody>
      </p:sp>
      <p:sp>
        <p:nvSpPr>
          <p:cNvPr id="6" name="Google Shape;57;p3">
            <a:extLst>
              <a:ext uri="{FF2B5EF4-FFF2-40B4-BE49-F238E27FC236}">
                <a16:creationId xmlns:a16="http://schemas.microsoft.com/office/drawing/2014/main" id="{16283399-A09C-1BAB-3A04-5A7AB3133801}"/>
              </a:ext>
            </a:extLst>
          </p:cNvPr>
          <p:cNvSpPr/>
          <p:nvPr/>
        </p:nvSpPr>
        <p:spPr>
          <a:xfrm>
            <a:off x="4055946" y="1097720"/>
            <a:ext cx="7811186" cy="4412431"/>
          </a:xfrm>
          <a:prstGeom prst="roundRect">
            <a:avLst>
              <a:gd name="adj" fmla="val 225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t" anchorCtr="0">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228600" marR="0" lvl="0" indent="-228600" algn="l" defTabSz="914400" rtl="0" eaLnBrk="0" fontAlgn="base" latinLnBrk="0" hangingPunct="0">
              <a:lnSpc>
                <a:spcPct val="100000"/>
              </a:lnSpc>
              <a:spcBef>
                <a:spcPct val="0"/>
              </a:spcBef>
              <a:spcAft>
                <a:spcPct val="0"/>
              </a:spcAft>
              <a:buClrTx/>
              <a:buSzTx/>
              <a:buFontTx/>
              <a:buAutoNum type="arabicPeriod"/>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Define and Communicate a Forward Agenda</a:t>
            </a:r>
          </a:p>
          <a:p>
            <a:pPr marL="228600" marR="0" lvl="0" indent="-228600" algn="l" defTabSz="914400" rtl="0" eaLnBrk="0" fontAlgn="base" latinLnBrk="0" hangingPunct="0">
              <a:lnSpc>
                <a:spcPct val="100000"/>
              </a:lnSpc>
              <a:spcBef>
                <a:spcPct val="0"/>
              </a:spcBef>
              <a:spcAft>
                <a:spcPct val="0"/>
              </a:spcAft>
              <a:buClrTx/>
              <a:buSzTx/>
              <a:buFontTx/>
              <a:buAutoNum type="arabicPeriod"/>
              <a:tabLst/>
              <a:defRPr/>
            </a:pPr>
            <a:endPar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Clarify the future vision of the front office — linking today’s operational strength with tomorrow’s growth priorities.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Translate this vision into </a:t>
            </a:r>
            <a:r>
              <a:rPr lang="en-US" sz="1200">
                <a:latin typeface="Helvetica Neue" panose="02000503000000020004" pitchFamily="2" charset="0"/>
                <a:ea typeface="Helvetica Neue" panose="02000503000000020004" pitchFamily="2" charset="0"/>
                <a:cs typeface="Helvetica Neue" panose="02000503000000020004" pitchFamily="2" charset="0"/>
              </a:rPr>
              <a:t>2-3</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focus themes (e.g., client growth, digital) and embed them in team and peer discussions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2. Strengthen Cross-Functional Collaboration</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Establish a quarterly forum to align priorities, address bottlenecks early, and ensure new initiatives progress with both commercial speed and regulatory discipline.</a:t>
            </a:r>
          </a:p>
          <a:p>
            <a:pPr marL="171450" lvl="0" indent="-171450">
              <a:buFont typeface="Arial" panose="020B0604020202020204" pitchFamily="34" charset="0"/>
              <a:buChar char="•"/>
              <a:defRPr/>
            </a:pPr>
            <a:r>
              <a:rPr lang="en-US" sz="1200">
                <a:latin typeface="Helvetica Neue" panose="02000503000000020004" pitchFamily="2" charset="0"/>
                <a:ea typeface="Helvetica Neue" panose="02000503000000020004" pitchFamily="2" charset="0"/>
                <a:cs typeface="Helvetica Neue" panose="02000503000000020004" pitchFamily="2" charset="0"/>
              </a:rPr>
              <a:t>Adopt a more visible, structured communication rhythm — short weekly team huddles, monthly peer syncs, and quarterly updates with broader staff.</a:t>
            </a:r>
            <a:endPar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3. Develop and Retain the Team</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Identify critical roles and future successors within the team.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Build development and career paths for the Front Office Team</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1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7" name="Google Shape;61;p3">
            <a:extLst>
              <a:ext uri="{FF2B5EF4-FFF2-40B4-BE49-F238E27FC236}">
                <a16:creationId xmlns:a16="http://schemas.microsoft.com/office/drawing/2014/main" id="{71173250-6BB4-C0B3-9A32-1E2DB6F022F2}"/>
              </a:ext>
            </a:extLst>
          </p:cNvPr>
          <p:cNvSpPr txBox="1"/>
          <p:nvPr/>
        </p:nvSpPr>
        <p:spPr>
          <a:xfrm>
            <a:off x="637485" y="1257419"/>
            <a:ext cx="2877611" cy="3801020"/>
          </a:xfrm>
          <a:prstGeom prst="rect">
            <a:avLst/>
          </a:prstGeom>
          <a:noFill/>
          <a:ln>
            <a:noFill/>
          </a:ln>
        </p:spPr>
        <p:txBody>
          <a:bodyPr spcFirstLastPara="1" wrap="square" lIns="22850" tIns="22850" rIns="22850" bIns="22850" anchor="t"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400" b="1" i="0" u="none" strike="noStrike" kern="0" cap="none" spc="0" normalizeH="0" baseline="0" noProof="0">
                <a:ln>
                  <a:noFill/>
                </a:ln>
                <a:solidFill>
                  <a:prstClr val="black"/>
                </a:solidFill>
                <a:effectLst/>
                <a:uLnTx/>
                <a:uFillTx/>
                <a:latin typeface="Lato"/>
                <a:ea typeface="Lato"/>
                <a:cs typeface="Lato"/>
                <a:sym typeface="Lato"/>
              </a:rPr>
              <a:t>What are We </a:t>
            </a:r>
            <a:r>
              <a:rPr kumimoji="0" lang="en-US" sz="1400" b="1" i="0" u="none" strike="noStrike" kern="0" cap="none" spc="0" normalizeH="0" baseline="0" noProof="0">
                <a:ln>
                  <a:noFill/>
                </a:ln>
                <a:solidFill>
                  <a:srgbClr val="C00000"/>
                </a:solidFill>
                <a:effectLst/>
                <a:uLnTx/>
                <a:uFillTx/>
                <a:latin typeface="Lato"/>
                <a:ea typeface="Lato"/>
                <a:cs typeface="Lato"/>
                <a:sym typeface="Lato"/>
              </a:rPr>
              <a:t>Solving For?</a:t>
            </a: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kumimoji="0" lang="en-US" sz="1400" b="1" i="0" u="none" strike="noStrike" kern="0" cap="none" spc="0" normalizeH="0" baseline="0" noProof="0">
              <a:ln>
                <a:noFill/>
              </a:ln>
              <a:solidFill>
                <a:srgbClr val="C00000"/>
              </a:solidFill>
              <a:effectLst/>
              <a:uLnTx/>
              <a:uFillTx/>
              <a:latin typeface="Lato"/>
              <a:ea typeface="Lato"/>
              <a:cs typeface="Lato"/>
              <a:sym typeface="Lato"/>
            </a:endParaRP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kumimoji="0" lang="en-US" sz="1400" b="1" i="0" u="none" strike="noStrike" kern="0" cap="none" spc="0" normalizeH="0" baseline="0" noProof="0">
              <a:ln>
                <a:noFill/>
              </a:ln>
              <a:solidFill>
                <a:srgbClr val="C00000"/>
              </a:solidFill>
              <a:effectLst/>
              <a:uLnTx/>
              <a:uFillTx/>
              <a:latin typeface="Lato"/>
              <a:ea typeface="Lato"/>
              <a:cs typeface="Lato"/>
              <a:sym typeface="Lato"/>
            </a:endParaRPr>
          </a:p>
          <a:p>
            <a:pPr marL="228600" marR="0" lvl="0" indent="-228600" algn="l" defTabSz="914400" rtl="0" eaLnBrk="0" fontAlgn="base" latinLnBrk="0" hangingPunct="0">
              <a:lnSpc>
                <a:spcPct val="100000"/>
              </a:lnSpc>
              <a:spcBef>
                <a:spcPct val="0"/>
              </a:spcBef>
              <a:spcAft>
                <a:spcPct val="0"/>
              </a:spcAft>
              <a:buClrTx/>
              <a:buSzTx/>
              <a:buFontTx/>
              <a:buAutoNum type="arabicPeriod"/>
              <a:tabLst/>
              <a:defRPr/>
            </a:pPr>
            <a:r>
              <a:rPr kumimoji="0" lang="en-US" sz="14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Define and Communicate a Forward Agenda</a:t>
            </a:r>
          </a:p>
          <a:p>
            <a:pPr marL="228600" marR="0" lvl="0" indent="-228600" algn="l" defTabSz="914400" rtl="0" eaLnBrk="0" fontAlgn="base" latinLnBrk="0" hangingPunct="0">
              <a:lnSpc>
                <a:spcPct val="100000"/>
              </a:lnSpc>
              <a:spcBef>
                <a:spcPct val="0"/>
              </a:spcBef>
              <a:spcAft>
                <a:spcPct val="0"/>
              </a:spcAft>
              <a:buClrTx/>
              <a:buSzTx/>
              <a:buFontTx/>
              <a:buAutoNum type="arabicPeriod"/>
              <a:tabLst/>
              <a:defRPr/>
            </a:pPr>
            <a:endParaRPr kumimoji="0" lang="en-US" sz="14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228600" marR="0" lvl="0" indent="-228600" algn="l" defTabSz="914400" rtl="0" eaLnBrk="0" fontAlgn="base" latinLnBrk="0" hangingPunct="0">
              <a:lnSpc>
                <a:spcPct val="100000"/>
              </a:lnSpc>
              <a:spcBef>
                <a:spcPct val="0"/>
              </a:spcBef>
              <a:spcAft>
                <a:spcPct val="0"/>
              </a:spcAft>
              <a:buClrTx/>
              <a:buSzTx/>
              <a:buFontTx/>
              <a:buAutoNum type="arabicPeriod"/>
              <a:tabLst/>
              <a:defRPr/>
            </a:pPr>
            <a:endParaRPr kumimoji="0" lang="en-US" sz="14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228600" marR="0" lvl="0" indent="-228600" algn="l" defTabSz="914400" rtl="0" eaLnBrk="0" fontAlgn="base" latinLnBrk="0" hangingPunct="0">
              <a:lnSpc>
                <a:spcPct val="100000"/>
              </a:lnSpc>
              <a:spcBef>
                <a:spcPct val="0"/>
              </a:spcBef>
              <a:spcAft>
                <a:spcPct val="0"/>
              </a:spcAft>
              <a:buClrTx/>
              <a:buSzTx/>
              <a:buFontTx/>
              <a:buAutoNum type="arabicPeriod"/>
              <a:tabLst/>
              <a:defRPr/>
            </a:pPr>
            <a:r>
              <a:rPr kumimoji="0" lang="en-US" sz="14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Strengthen Cross-Functional Collaboration</a:t>
            </a:r>
          </a:p>
          <a:p>
            <a:pPr marL="228600" marR="0" lvl="0" indent="-228600" algn="l" defTabSz="914400" rtl="0" eaLnBrk="0" fontAlgn="base" latinLnBrk="0" hangingPunct="0">
              <a:lnSpc>
                <a:spcPct val="100000"/>
              </a:lnSpc>
              <a:spcBef>
                <a:spcPct val="0"/>
              </a:spcBef>
              <a:spcAft>
                <a:spcPct val="0"/>
              </a:spcAft>
              <a:buClrTx/>
              <a:buSzTx/>
              <a:buFontTx/>
              <a:buAutoNum type="arabicPeriod"/>
              <a:tabLst/>
              <a:defRPr/>
            </a:pPr>
            <a:endParaRPr kumimoji="0" lang="en-US" sz="14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228600" marR="0" lvl="0" indent="-228600" algn="l" defTabSz="914400" rtl="0" eaLnBrk="0" fontAlgn="base" latinLnBrk="0" hangingPunct="0">
              <a:lnSpc>
                <a:spcPct val="100000"/>
              </a:lnSpc>
              <a:spcBef>
                <a:spcPct val="0"/>
              </a:spcBef>
              <a:spcAft>
                <a:spcPct val="0"/>
              </a:spcAft>
              <a:buClrTx/>
              <a:buSzTx/>
              <a:buFontTx/>
              <a:buAutoNum type="arabicPeriod"/>
              <a:tabLst/>
              <a:defRPr/>
            </a:pPr>
            <a:endParaRPr kumimoji="0" lang="en-US" sz="14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228600" marR="0" lvl="0" indent="-228600" algn="l" defTabSz="914400" rtl="0" eaLnBrk="0" fontAlgn="base" latinLnBrk="0" hangingPunct="0">
              <a:lnSpc>
                <a:spcPct val="100000"/>
              </a:lnSpc>
              <a:spcBef>
                <a:spcPct val="0"/>
              </a:spcBef>
              <a:spcAft>
                <a:spcPct val="0"/>
              </a:spcAft>
              <a:buClrTx/>
              <a:buSzTx/>
              <a:buFontTx/>
              <a:buAutoNum type="arabicPeriod"/>
              <a:tabLst/>
              <a:defRPr/>
            </a:pPr>
            <a:r>
              <a:rPr kumimoji="0" lang="en-US" sz="14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Elevate Team Capability and Ownership</a:t>
            </a:r>
          </a:p>
          <a:p>
            <a:pPr marL="228600" marR="0" lvl="0" indent="-228600" algn="l" defTabSz="914400" rtl="0" eaLnBrk="0" fontAlgn="base" latinLnBrk="0" hangingPunct="0">
              <a:lnSpc>
                <a:spcPct val="100000"/>
              </a:lnSpc>
              <a:spcBef>
                <a:spcPct val="0"/>
              </a:spcBef>
              <a:spcAft>
                <a:spcPct val="0"/>
              </a:spcAft>
              <a:buClrTx/>
              <a:buSzTx/>
              <a:buFontTx/>
              <a:buAutoNum type="arabicPeriod"/>
              <a:tabLst/>
              <a:defRPr/>
            </a:pPr>
            <a:endParaRPr kumimoji="0" lang="en-US" sz="14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defRPr/>
            </a:pPr>
            <a:endPar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228600" marR="0" lvl="0" indent="-228600" algn="l" defTabSz="914400" rtl="0" eaLnBrk="0" fontAlgn="base" latinLnBrk="0" hangingPunct="0">
              <a:lnSpc>
                <a:spcPct val="100000"/>
              </a:lnSpc>
              <a:spcBef>
                <a:spcPct val="0"/>
              </a:spcBef>
              <a:spcAft>
                <a:spcPct val="0"/>
              </a:spcAft>
              <a:buClrTx/>
              <a:buSzTx/>
              <a:buFontTx/>
              <a:buAutoNum type="arabicPeriod"/>
              <a:tabLst/>
              <a:defRPr/>
            </a:pPr>
            <a:endPar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228600" marR="0" lvl="0" indent="-228600" algn="l" defTabSz="914400" rtl="0" eaLnBrk="0" fontAlgn="base" latinLnBrk="0" hangingPunct="0">
              <a:lnSpc>
                <a:spcPct val="100000"/>
              </a:lnSpc>
              <a:spcBef>
                <a:spcPct val="0"/>
              </a:spcBef>
              <a:spcAft>
                <a:spcPct val="0"/>
              </a:spcAft>
              <a:buClrTx/>
              <a:buSzTx/>
              <a:buFontTx/>
              <a:buAutoNum type="arabicPeriod"/>
              <a:tabLst/>
              <a:defRPr/>
            </a:pPr>
            <a:endPar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228600" marR="0" lvl="0" indent="-228600" algn="l" defTabSz="914400" rtl="0" eaLnBrk="0" fontAlgn="base" latinLnBrk="0" hangingPunct="0">
              <a:lnSpc>
                <a:spcPct val="100000"/>
              </a:lnSpc>
              <a:spcBef>
                <a:spcPct val="0"/>
              </a:spcBef>
              <a:spcAft>
                <a:spcPct val="0"/>
              </a:spcAft>
              <a:buClrTx/>
              <a:buSzTx/>
              <a:buFontTx/>
              <a:buAutoNum type="arabicPeriod"/>
              <a:tabLst/>
              <a:defRPr/>
            </a:pPr>
            <a:endPar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8" name="TextBox 7">
            <a:extLst>
              <a:ext uri="{FF2B5EF4-FFF2-40B4-BE49-F238E27FC236}">
                <a16:creationId xmlns:a16="http://schemas.microsoft.com/office/drawing/2014/main" id="{7A4AD203-120B-A4A8-CC2F-B60C55DB44F5}"/>
              </a:ext>
            </a:extLst>
          </p:cNvPr>
          <p:cNvSpPr txBox="1"/>
          <p:nvPr/>
        </p:nvSpPr>
        <p:spPr>
          <a:xfrm>
            <a:off x="6438405" y="1097720"/>
            <a:ext cx="2834640"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
                <a:srgbClr val="BA0C2F"/>
              </a:buClr>
              <a:buSzPts val="3600"/>
              <a:buFontTx/>
              <a:buNone/>
              <a:tabLst/>
              <a:defRPr/>
            </a:pPr>
            <a:r>
              <a:rPr kumimoji="0" lang="en-US" sz="1800" b="1" i="0" u="none" strike="noStrike" kern="0" cap="none" spc="0" normalizeH="0" baseline="0" noProof="0">
                <a:ln>
                  <a:noFill/>
                </a:ln>
                <a:solidFill>
                  <a:srgbClr val="000000"/>
                </a:solidFill>
                <a:effectLst/>
                <a:uLnTx/>
                <a:uFillTx/>
                <a:latin typeface="Arial" panose="020B0604020202020204" pitchFamily="34" charset="0"/>
                <a:ea typeface="Lato"/>
                <a:cs typeface="Arial" panose="020B0604020202020204" pitchFamily="34" charset="0"/>
                <a:sym typeface="Lato"/>
              </a:rPr>
              <a:t>Success Enabling </a:t>
            </a:r>
            <a:r>
              <a:rPr kumimoji="0" lang="en-US" sz="1800" b="1" i="0" u="none" strike="noStrike" kern="0" cap="none" spc="0" normalizeH="0" baseline="0" noProof="0">
                <a:ln>
                  <a:noFill/>
                </a:ln>
                <a:solidFill>
                  <a:srgbClr val="BA0C2F"/>
                </a:solidFill>
                <a:effectLst/>
                <a:uLnTx/>
                <a:uFillTx/>
                <a:latin typeface="Arial" panose="020B0604020202020204" pitchFamily="34" charset="0"/>
                <a:ea typeface="Lato"/>
                <a:cs typeface="Arial" panose="020B0604020202020204" pitchFamily="34" charset="0"/>
                <a:sym typeface="Lato"/>
              </a:rPr>
              <a:t>Plan</a:t>
            </a:r>
            <a:endParaRPr kumimoji="0" lang="en-US" sz="1800" b="1" i="0" u="none" strike="noStrike" kern="0" cap="none" spc="0" normalizeH="0" baseline="0" noProof="0">
              <a:ln>
                <a:noFill/>
              </a:ln>
              <a:solidFill>
                <a:prstClr val="black"/>
              </a:solidFill>
              <a:effectLst/>
              <a:uLnTx/>
              <a:uFillTx/>
              <a:latin typeface="Arial" panose="020B0604020202020204" pitchFamily="34" charset="0"/>
              <a:ea typeface="Lato"/>
              <a:cs typeface="Arial" panose="020B0604020202020204" pitchFamily="34" charset="0"/>
              <a:sym typeface="Lato"/>
            </a:endParaRPr>
          </a:p>
        </p:txBody>
      </p:sp>
    </p:spTree>
    <p:extLst>
      <p:ext uri="{BB962C8B-B14F-4D97-AF65-F5344CB8AC3E}">
        <p14:creationId xmlns:p14="http://schemas.microsoft.com/office/powerpoint/2010/main" val="1957092941"/>
      </p:ext>
    </p:extLst>
  </p:cSld>
  <p:clrMapOvr>
    <a:masterClrMapping/>
  </p:clrMapOvr>
  <p:extLst>
    <p:ext uri="{6950BFC3-D8DA-4A85-94F7-54DA5524770B}">
      <p188:commentRel xmlns:p188="http://schemas.microsoft.com/office/powerpoint/2018/8/main" r:id="rId3"/>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BDE92-2DB2-5D4F-5D5C-F79B77FE849B}"/>
            </a:ext>
          </a:extLst>
        </p:cNvPr>
        <p:cNvGrpSpPr/>
        <p:nvPr/>
      </p:nvGrpSpPr>
      <p:grpSpPr>
        <a:xfrm>
          <a:off x="0" y="0"/>
          <a:ext cx="0" cy="0"/>
          <a:chOff x="0" y="0"/>
          <a:chExt cx="0" cy="0"/>
        </a:xfrm>
      </p:grpSpPr>
      <p:sp>
        <p:nvSpPr>
          <p:cNvPr id="19457" name="Text Placeholder 1">
            <a:extLst>
              <a:ext uri="{FF2B5EF4-FFF2-40B4-BE49-F238E27FC236}">
                <a16:creationId xmlns:a16="http://schemas.microsoft.com/office/drawing/2014/main" id="{0A49BEA7-BBA6-3424-6136-34742967211B}"/>
              </a:ext>
            </a:extLst>
          </p:cNvPr>
          <p:cNvSpPr>
            <a:spLocks noGrp="1" noChangeArrowheads="1"/>
          </p:cNvSpPr>
          <p:nvPr>
            <p:ph type="body" idx="1"/>
          </p:nvPr>
        </p:nvSpPr>
        <p:spPr bwMode="auto">
          <a:xfrm>
            <a:off x="143668" y="3298103"/>
            <a:ext cx="4841875" cy="1966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a:spcBef>
                <a:spcPct val="0"/>
              </a:spcBef>
              <a:spcAft>
                <a:spcPct val="0"/>
              </a:spcAft>
              <a:buClr>
                <a:srgbClr val="000000"/>
              </a:buClr>
              <a:buFont typeface="Arial" panose="020B0604020202020204" pitchFamily="34" charset="0"/>
              <a:buNone/>
            </a:pPr>
            <a:r>
              <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rPr>
              <a:t>Acting Chief </a:t>
            </a:r>
          </a:p>
          <a:p>
            <a:pPr>
              <a:spcBef>
                <a:spcPct val="0"/>
              </a:spcBef>
              <a:spcAft>
                <a:spcPct val="0"/>
              </a:spcAft>
              <a:buClr>
                <a:srgbClr val="000000"/>
              </a:buClr>
              <a:buFont typeface="Arial" panose="020B0604020202020204" pitchFamily="34" charset="0"/>
              <a:buNone/>
            </a:pPr>
            <a:r>
              <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rPr>
              <a:t>Operation Officer </a:t>
            </a:r>
          </a:p>
          <a:p>
            <a:pPr>
              <a:spcBef>
                <a:spcPct val="0"/>
              </a:spcBef>
              <a:spcAft>
                <a:spcPct val="0"/>
              </a:spcAft>
              <a:buClr>
                <a:srgbClr val="000000"/>
              </a:buClr>
              <a:buFont typeface="Arial" panose="020B0604020202020204" pitchFamily="34" charset="0"/>
              <a:buNone/>
            </a:pPr>
            <a:r>
              <a:rPr lang="en-US" altLang="en-US" sz="4000" b="1">
                <a:solidFill>
                  <a:srgbClr val="001E5A"/>
                </a:solidFill>
                <a:latin typeface="Helvetica Neue" panose="02000503000000020004" pitchFamily="2" charset="0"/>
                <a:cs typeface="Arial" panose="020B0604020202020204" pitchFamily="34" charset="0"/>
                <a:sym typeface="Helvetica Neue" panose="02000503000000020004" pitchFamily="2" charset="0"/>
              </a:rPr>
              <a:t>| VIMAL KUMAR</a:t>
            </a:r>
          </a:p>
          <a:p>
            <a:pPr>
              <a:spcBef>
                <a:spcPct val="0"/>
              </a:spcBef>
              <a:spcAft>
                <a:spcPct val="0"/>
              </a:spcAft>
              <a:buClr>
                <a:srgbClr val="000000"/>
              </a:buClr>
              <a:buFont typeface="Arial" panose="020B0604020202020204" pitchFamily="34" charset="0"/>
              <a:buNone/>
            </a:pPr>
            <a:endPar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endParaRPr>
          </a:p>
          <a:p>
            <a:pPr>
              <a:spcBef>
                <a:spcPct val="0"/>
              </a:spcBef>
              <a:spcAft>
                <a:spcPct val="0"/>
              </a:spcAft>
              <a:buClr>
                <a:srgbClr val="000000"/>
              </a:buClr>
              <a:buFont typeface="Arial" panose="020B0604020202020204" pitchFamily="34" charset="0"/>
              <a:buNone/>
            </a:pPr>
            <a:endPar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endParaRPr>
          </a:p>
          <a:p>
            <a:pPr>
              <a:spcBef>
                <a:spcPct val="0"/>
              </a:spcBef>
              <a:spcAft>
                <a:spcPct val="0"/>
              </a:spcAft>
              <a:buClr>
                <a:srgbClr val="000000"/>
              </a:buClr>
              <a:buFont typeface="Arial" panose="020B0604020202020204" pitchFamily="34" charset="0"/>
              <a:buNone/>
            </a:pPr>
            <a:endPar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endParaRPr>
          </a:p>
          <a:p>
            <a:pPr>
              <a:spcBef>
                <a:spcPct val="0"/>
              </a:spcBef>
              <a:spcAft>
                <a:spcPct val="0"/>
              </a:spcAft>
              <a:buClr>
                <a:srgbClr val="000000"/>
              </a:buClr>
              <a:buFont typeface="Arial" panose="020B0604020202020204" pitchFamily="34" charset="0"/>
              <a:buNone/>
            </a:pPr>
            <a:endParaRPr lang="en-US" altLang="en-US" sz="4000" b="1">
              <a:solidFill>
                <a:srgbClr val="112D59"/>
              </a:solidFill>
              <a:latin typeface="Helvetica Neue" panose="02000503000000020004" pitchFamily="2" charset="0"/>
              <a:cs typeface="Arial" panose="020B0604020202020204" pitchFamily="34" charset="0"/>
              <a:sym typeface="Helvetica Neue" panose="02000503000000020004" pitchFamily="2" charset="0"/>
            </a:endParaRPr>
          </a:p>
        </p:txBody>
      </p:sp>
      <p:sp>
        <p:nvSpPr>
          <p:cNvPr id="19458" name="Text Placeholder 2">
            <a:extLst>
              <a:ext uri="{FF2B5EF4-FFF2-40B4-BE49-F238E27FC236}">
                <a16:creationId xmlns:a16="http://schemas.microsoft.com/office/drawing/2014/main" id="{026FE880-8E8F-B091-6107-561E5F35B758}"/>
              </a:ext>
            </a:extLst>
          </p:cNvPr>
          <p:cNvSpPr>
            <a:spLocks noGrp="1" noChangeArrowheads="1"/>
          </p:cNvSpPr>
          <p:nvPr>
            <p:ph type="body" idx="2"/>
          </p:nvPr>
        </p:nvSpPr>
        <p:spPr bwMode="auto">
          <a:xfrm>
            <a:off x="158750" y="5043488"/>
            <a:ext cx="4703763" cy="736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a:spcAft>
                <a:spcPct val="0"/>
              </a:spcAft>
              <a:buClr>
                <a:srgbClr val="000000"/>
              </a:buClr>
            </a:pPr>
            <a:r>
              <a:rPr lang="en-US" altLang="en-US" sz="180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sym typeface="Helvetica Neue Light" panose="02000403000000020004" pitchFamily="2" charset="0"/>
              </a:rPr>
              <a:t>NOV 2025 </a:t>
            </a:r>
          </a:p>
        </p:txBody>
      </p:sp>
      <p:cxnSp>
        <p:nvCxnSpPr>
          <p:cNvPr id="8" name="Straight Connector 7">
            <a:extLst>
              <a:ext uri="{FF2B5EF4-FFF2-40B4-BE49-F238E27FC236}">
                <a16:creationId xmlns:a16="http://schemas.microsoft.com/office/drawing/2014/main" id="{FFC56585-3E76-04B5-3BDB-1A95F1D2A184}"/>
              </a:ext>
            </a:extLst>
          </p:cNvPr>
          <p:cNvCxnSpPr/>
          <p:nvPr/>
        </p:nvCxnSpPr>
        <p:spPr>
          <a:xfrm>
            <a:off x="471488" y="5043488"/>
            <a:ext cx="41862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758D9EC0-836F-CE15-A51A-EF6B169F72A2}"/>
              </a:ext>
            </a:extLst>
          </p:cNvPr>
          <p:cNvPicPr>
            <a:picLocks noChangeAspect="1"/>
          </p:cNvPicPr>
          <p:nvPr/>
        </p:nvPicPr>
        <p:blipFill>
          <a:blip r:embed="rId2"/>
          <a:stretch>
            <a:fillRect/>
          </a:stretch>
        </p:blipFill>
        <p:spPr>
          <a:xfrm>
            <a:off x="257731" y="2475232"/>
            <a:ext cx="1705683" cy="774380"/>
          </a:xfrm>
          <a:prstGeom prst="rect">
            <a:avLst/>
          </a:prstGeom>
        </p:spPr>
      </p:pic>
    </p:spTree>
    <p:extLst>
      <p:ext uri="{BB962C8B-B14F-4D97-AF65-F5344CB8AC3E}">
        <p14:creationId xmlns:p14="http://schemas.microsoft.com/office/powerpoint/2010/main" val="39599936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8AFD3F7E-B00A-DD8A-2219-4A172606797F}"/>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48203F14-1774-909F-8523-46EE719A7CBF}"/>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44</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4" name="Google Shape;57;p3">
            <a:extLst>
              <a:ext uri="{FF2B5EF4-FFF2-40B4-BE49-F238E27FC236}">
                <a16:creationId xmlns:a16="http://schemas.microsoft.com/office/drawing/2014/main" id="{5CFC5DE4-D2D0-2B23-9AF2-6CC75B480582}"/>
              </a:ext>
            </a:extLst>
          </p:cNvPr>
          <p:cNvSpPr/>
          <p:nvPr/>
        </p:nvSpPr>
        <p:spPr>
          <a:xfrm>
            <a:off x="3398274" y="1067113"/>
            <a:ext cx="5555948" cy="4940148"/>
          </a:xfrm>
          <a:prstGeom prst="roundRect">
            <a:avLst>
              <a:gd name="adj" fmla="val 3135"/>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p:txBody>
      </p:sp>
      <p:sp>
        <p:nvSpPr>
          <p:cNvPr id="6" name="Google Shape;61;p3">
            <a:extLst>
              <a:ext uri="{FF2B5EF4-FFF2-40B4-BE49-F238E27FC236}">
                <a16:creationId xmlns:a16="http://schemas.microsoft.com/office/drawing/2014/main" id="{FCAF8696-A3DE-CB2D-4FF4-720F819D3A1A}"/>
              </a:ext>
            </a:extLst>
          </p:cNvPr>
          <p:cNvSpPr txBox="1"/>
          <p:nvPr/>
        </p:nvSpPr>
        <p:spPr>
          <a:xfrm>
            <a:off x="3689234" y="1168197"/>
            <a:ext cx="4229815" cy="230812"/>
          </a:xfrm>
          <a:prstGeom prst="rect">
            <a:avLst/>
          </a:prstGeom>
          <a:noFill/>
          <a:ln>
            <a:noFill/>
          </a:ln>
        </p:spPr>
        <p:txBody>
          <a:bodyPr spcFirstLastPara="1" wrap="square" lIns="22850" tIns="22850" rIns="22850" bIns="22850" anchor="t"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1" i="0" u="none" strike="noStrike" kern="0" cap="none" spc="0" normalizeH="0" baseline="0" noProof="0">
                <a:ln>
                  <a:noFill/>
                </a:ln>
                <a:solidFill>
                  <a:srgbClr val="BA0C2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Jobs To Be Done</a:t>
            </a:r>
            <a:endParaRPr kumimoji="0" sz="7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p:txBody>
      </p:sp>
      <p:graphicFrame>
        <p:nvGraphicFramePr>
          <p:cNvPr id="7" name="Table 6">
            <a:extLst>
              <a:ext uri="{FF2B5EF4-FFF2-40B4-BE49-F238E27FC236}">
                <a16:creationId xmlns:a16="http://schemas.microsoft.com/office/drawing/2014/main" id="{99DE2CE5-CF99-FF0D-15BF-D7F4CB95474E}"/>
              </a:ext>
            </a:extLst>
          </p:cNvPr>
          <p:cNvGraphicFramePr>
            <a:graphicFrameLocks noGrp="1"/>
          </p:cNvGraphicFramePr>
          <p:nvPr/>
        </p:nvGraphicFramePr>
        <p:xfrm>
          <a:off x="3599905" y="1429787"/>
          <a:ext cx="5285186" cy="4091940"/>
        </p:xfrm>
        <a:graphic>
          <a:graphicData uri="http://schemas.openxmlformats.org/drawingml/2006/table">
            <a:tbl>
              <a:tblPr firstRow="1" bandRow="1">
                <a:tableStyleId>{5C22544A-7EE6-4342-B048-85BDC9FD1C3A}</a:tableStyleId>
              </a:tblPr>
              <a:tblGrid>
                <a:gridCol w="5285186">
                  <a:extLst>
                    <a:ext uri="{9D8B030D-6E8A-4147-A177-3AD203B41FA5}">
                      <a16:colId xmlns:a16="http://schemas.microsoft.com/office/drawing/2014/main" val="2300840210"/>
                    </a:ext>
                  </a:extLst>
                </a:gridCol>
              </a:tblGrid>
              <a:tr h="885112">
                <a:tc>
                  <a:txBody>
                    <a:bodyPr/>
                    <a:lstStyle/>
                    <a:p>
                      <a:pPr marL="0" indent="0">
                        <a:buFont typeface="Arial" panose="020B0604020202020204" pitchFamily="34" charset="0"/>
                        <a:buNone/>
                      </a:pPr>
                      <a:r>
                        <a:rPr lang="en-US" sz="105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Strengthen the Operational Backbone for Scale</a:t>
                      </a:r>
                    </a:p>
                    <a:p>
                      <a:pPr marL="171450" indent="-171450">
                        <a:buFont typeface="Arial" panose="020B0604020202020204" pitchFamily="34" charset="0"/>
                        <a:buChar char="•"/>
                      </a:pPr>
                      <a:r>
                        <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Ensure efficient, compliant, and scalable operations across back office, middle office, and client onboarding.</a:t>
                      </a:r>
                    </a:p>
                    <a:p>
                      <a:pPr marL="171450" indent="-171450">
                        <a:buFont typeface="Arial" panose="020B0604020202020204" pitchFamily="34" charset="0"/>
                        <a:buChar char="•"/>
                      </a:pPr>
                      <a:r>
                        <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Embed process discipline, automation, and controls to support growth and operational reliability.</a:t>
                      </a:r>
                    </a:p>
                    <a:p>
                      <a:pPr marL="171450" indent="-171450">
                        <a:buFont typeface="Arial" panose="020B0604020202020204" pitchFamily="34" charset="0"/>
                        <a:buChar char="•"/>
                      </a:pPr>
                      <a:endPar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indent="0">
                        <a:buFont typeface="Arial" panose="020B0604020202020204" pitchFamily="34" charset="0"/>
                        <a:buNone/>
                      </a:pPr>
                      <a:r>
                        <a:rPr lang="en-US" sz="105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Drive Cross-Functional Alignment and Execution Discipline</a:t>
                      </a:r>
                    </a:p>
                    <a:p>
                      <a:pPr marL="171450" indent="-171450">
                        <a:buFont typeface="Arial" panose="020B0604020202020204" pitchFamily="34" charset="0"/>
                        <a:buChar char="•"/>
                      </a:pPr>
                      <a:r>
                        <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Establish structured routines, KPIs, and information flow across Operations, Finance, and Commercial to ensure coordination and timely delivery.</a:t>
                      </a:r>
                    </a:p>
                    <a:p>
                      <a:pPr marL="0" indent="0">
                        <a:buFont typeface="Arial" panose="020B0604020202020204" pitchFamily="34" charset="0"/>
                        <a:buNone/>
                      </a:pPr>
                      <a:endParaRPr lang="en-US" sz="105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indent="0">
                        <a:buFont typeface="Arial" panose="020B0604020202020204" pitchFamily="34" charset="0"/>
                        <a:buNone/>
                      </a:pPr>
                      <a:r>
                        <a:rPr lang="en-US" sz="105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Enhance Client Experience through Seamless Service Delivery</a:t>
                      </a:r>
                    </a:p>
                    <a:p>
                      <a:pPr marL="171450" indent="-171450">
                        <a:buFont typeface="Arial" panose="020B0604020202020204" pitchFamily="34" charset="0"/>
                        <a:buChar char="•"/>
                      </a:pPr>
                      <a:r>
                        <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Streamline onboarding, documentation, and reconciliation processes to deliver a frictionless client experience.</a:t>
                      </a:r>
                    </a:p>
                    <a:p>
                      <a:pPr marL="171450" indent="-171450">
                        <a:buFont typeface="Arial" panose="020B0604020202020204" pitchFamily="34" charset="0"/>
                        <a:buChar char="•"/>
                      </a:pPr>
                      <a:r>
                        <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Reduce errors and response time by connecting front - middle- and back-office workflows.</a:t>
                      </a:r>
                    </a:p>
                    <a:p>
                      <a:pPr marL="171450" indent="-171450">
                        <a:buFont typeface="Arial" panose="020B0604020202020204" pitchFamily="34" charset="0"/>
                        <a:buChar char="•"/>
                      </a:pPr>
                      <a:endPar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indent="0">
                        <a:buFont typeface="Arial" panose="020B0604020202020204" pitchFamily="34" charset="0"/>
                        <a:buNone/>
                      </a:pPr>
                      <a:r>
                        <a:rPr lang="en-US" sz="105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Optimize Procurement and Vendor Partnerships</a:t>
                      </a:r>
                    </a:p>
                    <a:p>
                      <a:pPr marL="171450" indent="-171450">
                        <a:buFont typeface="Arial" panose="020B0604020202020204" pitchFamily="34" charset="0"/>
                        <a:buChar char="•"/>
                      </a:pPr>
                      <a:r>
                        <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Implement strategic sourcing and vendor management frameworks to improve cost efficiency, transparency, and value creation.</a:t>
                      </a:r>
                    </a:p>
                    <a:p>
                      <a:pPr marL="171450" indent="-171450">
                        <a:buFont typeface="Arial" panose="020B0604020202020204" pitchFamily="34" charset="0"/>
                        <a:buChar char="•"/>
                      </a:pPr>
                      <a:r>
                        <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Ensure procurement supports business continuity and operational agility</a:t>
                      </a:r>
                    </a:p>
                    <a:p>
                      <a:pPr marL="171450" indent="-171450">
                        <a:buFont typeface="Arial" panose="020B0604020202020204" pitchFamily="34" charset="0"/>
                        <a:buChar char="•"/>
                      </a:pPr>
                      <a:endPar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indent="0">
                        <a:buFont typeface="Arial" panose="020B0604020202020204" pitchFamily="34" charset="0"/>
                        <a:buNone/>
                      </a:pPr>
                      <a:r>
                        <a:rPr lang="en-US" sz="105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Build and Elevate Operations Capability</a:t>
                      </a:r>
                    </a:p>
                    <a:p>
                      <a:pPr marL="171450" indent="-171450">
                        <a:buFont typeface="Arial" panose="020B0604020202020204" pitchFamily="34" charset="0"/>
                        <a:buChar char="•"/>
                      </a:pPr>
                      <a:r>
                        <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Identify and develop the 3–5 most critical roles that sustain operational excellence.</a:t>
                      </a:r>
                    </a:p>
                    <a:p>
                      <a:pPr marL="171450" indent="-171450">
                        <a:buFont typeface="Arial" panose="020B0604020202020204" pitchFamily="34" charset="0"/>
                        <a:buChar char="•"/>
                      </a:pPr>
                      <a:r>
                        <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Strengthen accountability, upskill teams, and build successors capable of maintaining performance at scale.</a:t>
                      </a:r>
                    </a:p>
                  </a:txBody>
                  <a:tcPr>
                    <a:lnL w="12700" cap="flat" cmpd="sng" algn="ctr">
                      <a:solidFill>
                        <a:schemeClr val="bg1">
                          <a:lumMod val="95000"/>
                        </a:schemeClr>
                      </a:solidFill>
                      <a:prstDash val="solid"/>
                      <a:round/>
                      <a:headEnd type="none" w="med" len="med"/>
                      <a:tailEnd type="none" w="med" len="med"/>
                    </a:lnL>
                    <a:lnB w="12700" cap="flat" cmpd="sng" algn="ctr">
                      <a:solidFill>
                        <a:srgbClr val="BC8F00"/>
                      </a:solidFill>
                      <a:prstDash val="solid"/>
                      <a:round/>
                      <a:headEnd type="none" w="med" len="med"/>
                      <a:tailEnd type="none" w="med" len="med"/>
                    </a:lnB>
                    <a:noFill/>
                  </a:tcPr>
                </a:tc>
                <a:extLst>
                  <a:ext uri="{0D108BD9-81ED-4DB2-BD59-A6C34878D82A}">
                    <a16:rowId xmlns:a16="http://schemas.microsoft.com/office/drawing/2014/main" val="2440114098"/>
                  </a:ext>
                </a:extLst>
              </a:tr>
            </a:tbl>
          </a:graphicData>
        </a:graphic>
      </p:graphicFrame>
      <p:sp>
        <p:nvSpPr>
          <p:cNvPr id="15" name="Google Shape;57;p3">
            <a:extLst>
              <a:ext uri="{FF2B5EF4-FFF2-40B4-BE49-F238E27FC236}">
                <a16:creationId xmlns:a16="http://schemas.microsoft.com/office/drawing/2014/main" id="{7023D2BC-DEE3-D56E-FCA6-A6AA553ACA2F}"/>
              </a:ext>
            </a:extLst>
          </p:cNvPr>
          <p:cNvSpPr/>
          <p:nvPr/>
        </p:nvSpPr>
        <p:spPr>
          <a:xfrm>
            <a:off x="511497" y="1067113"/>
            <a:ext cx="2783451" cy="4940148"/>
          </a:xfrm>
          <a:prstGeom prst="roundRect">
            <a:avLst>
              <a:gd name="adj" fmla="val 5837"/>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p:txBody>
      </p:sp>
      <p:sp>
        <p:nvSpPr>
          <p:cNvPr id="16" name="Google Shape;57;p3">
            <a:extLst>
              <a:ext uri="{FF2B5EF4-FFF2-40B4-BE49-F238E27FC236}">
                <a16:creationId xmlns:a16="http://schemas.microsoft.com/office/drawing/2014/main" id="{B288BE61-9322-76DC-2219-F6E4651B9285}"/>
              </a:ext>
            </a:extLst>
          </p:cNvPr>
          <p:cNvSpPr/>
          <p:nvPr/>
        </p:nvSpPr>
        <p:spPr>
          <a:xfrm>
            <a:off x="9057548" y="1067113"/>
            <a:ext cx="2783451" cy="4940148"/>
          </a:xfrm>
          <a:prstGeom prst="roundRect">
            <a:avLst>
              <a:gd name="adj" fmla="val 5837"/>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p:txBody>
      </p:sp>
      <p:sp>
        <p:nvSpPr>
          <p:cNvPr id="17" name="Google Shape;72;p3">
            <a:extLst>
              <a:ext uri="{FF2B5EF4-FFF2-40B4-BE49-F238E27FC236}">
                <a16:creationId xmlns:a16="http://schemas.microsoft.com/office/drawing/2014/main" id="{3C9C7573-0189-33D6-1F62-0CDC882770BC}"/>
              </a:ext>
            </a:extLst>
          </p:cNvPr>
          <p:cNvSpPr txBox="1"/>
          <p:nvPr/>
        </p:nvSpPr>
        <p:spPr>
          <a:xfrm>
            <a:off x="9230003" y="1257590"/>
            <a:ext cx="2438539"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1" i="0" u="none" strike="noStrike" kern="0" cap="none" spc="0" normalizeH="0" baseline="0" noProof="0">
                <a:ln>
                  <a:noFill/>
                </a:ln>
                <a:solidFill>
                  <a:srgbClr val="BA0C2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Superpowers</a:t>
            </a:r>
            <a:endParaRPr kumimoji="0" lang="en-US" sz="12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p:txBody>
      </p:sp>
      <p:sp>
        <p:nvSpPr>
          <p:cNvPr id="18" name="TextBox 17">
            <a:extLst>
              <a:ext uri="{FF2B5EF4-FFF2-40B4-BE49-F238E27FC236}">
                <a16:creationId xmlns:a16="http://schemas.microsoft.com/office/drawing/2014/main" id="{8CF8A026-0F9E-96D9-B7D4-E1A90B0EF536}"/>
              </a:ext>
            </a:extLst>
          </p:cNvPr>
          <p:cNvSpPr txBox="1"/>
          <p:nvPr/>
        </p:nvSpPr>
        <p:spPr>
          <a:xfrm>
            <a:off x="9193050" y="1756857"/>
            <a:ext cx="2512443" cy="2646878"/>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IN"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Process Discipline &amp; Operational Reliability</a:t>
            </a:r>
            <a:r>
              <a:rPr kumimoji="0" lang="en-IN"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The capacity to bring clear structure, rigor, and dependable delivery to all operational functions, enabling stability during rapid transformation.</a:t>
            </a:r>
          </a:p>
          <a:p>
            <a:pPr marL="228600" marR="0" lvl="0" indent="-2286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IN"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Change Agility</a:t>
            </a:r>
            <a:r>
              <a:rPr kumimoji="0" lang="en-IN"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The ability to improve processes and to learn and adapt rapidly when confronted with new challenges.</a:t>
            </a:r>
            <a:endParaRPr kumimoji="0" lang="en-US" sz="1200" b="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22" name="Google Shape;72;p3">
            <a:extLst>
              <a:ext uri="{FF2B5EF4-FFF2-40B4-BE49-F238E27FC236}">
                <a16:creationId xmlns:a16="http://schemas.microsoft.com/office/drawing/2014/main" id="{CA92C907-6FB0-CCBC-D1F1-AECA634743C6}"/>
              </a:ext>
            </a:extLst>
          </p:cNvPr>
          <p:cNvSpPr txBox="1"/>
          <p:nvPr/>
        </p:nvSpPr>
        <p:spPr>
          <a:xfrm>
            <a:off x="988909" y="1257434"/>
            <a:ext cx="2438539" cy="243636"/>
          </a:xfrm>
          <a:prstGeom prst="rect">
            <a:avLst/>
          </a:prstGeom>
          <a:noFill/>
          <a:ln>
            <a:noFill/>
          </a:ln>
        </p:spPr>
        <p:txBody>
          <a:bodyPr spcFirstLastPara="1" wrap="square" lIns="22850" tIns="22850" rIns="22850" bIns="22850" anchor="b" anchorCtr="0">
            <a:spAutoFit/>
          </a:bodyPr>
          <a:lstStyle/>
          <a:p>
            <a:pPr marL="12700" marR="0" lvl="0" indent="0" algn="l" defTabSz="914400" rtl="0" eaLnBrk="0" fontAlgn="base" latinLnBrk="0" hangingPunct="0">
              <a:lnSpc>
                <a:spcPct val="100000"/>
              </a:lnSpc>
              <a:spcBef>
                <a:spcPts val="100"/>
              </a:spcBef>
              <a:spcAft>
                <a:spcPct val="0"/>
              </a:spcAft>
              <a:buClrTx/>
              <a:buSzTx/>
              <a:buFontTx/>
              <a:buNone/>
              <a:tabLst/>
              <a:defRPr/>
            </a:pPr>
            <a:r>
              <a:rPr kumimoji="0" lang="en-US" sz="1200" b="0" i="0" u="none" strike="noStrike" kern="1200" cap="none" spc="-35"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Jobs To Be Done </a:t>
            </a:r>
            <a:r>
              <a:rPr kumimoji="0" lang="en-US" sz="1200" b="0" i="0" u="none" strike="noStrike" kern="1200" cap="none" spc="-35"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Pivot</a:t>
            </a:r>
          </a:p>
        </p:txBody>
      </p:sp>
      <p:sp>
        <p:nvSpPr>
          <p:cNvPr id="23" name="TextBox 22">
            <a:extLst>
              <a:ext uri="{FF2B5EF4-FFF2-40B4-BE49-F238E27FC236}">
                <a16:creationId xmlns:a16="http://schemas.microsoft.com/office/drawing/2014/main" id="{6BCB5471-B532-B9E2-CC05-F3D7EF04F3F2}"/>
              </a:ext>
            </a:extLst>
          </p:cNvPr>
          <p:cNvSpPr txBox="1"/>
          <p:nvPr/>
        </p:nvSpPr>
        <p:spPr>
          <a:xfrm>
            <a:off x="702812" y="1809051"/>
            <a:ext cx="2438539" cy="2174954"/>
          </a:xfrm>
          <a:prstGeom prst="rect">
            <a:avLst/>
          </a:prstGeom>
          <a:noFill/>
        </p:spPr>
        <p:txBody>
          <a:bodyPr wrap="square">
            <a:spAutoFit/>
          </a:bodyPr>
          <a:lstStyle/>
          <a:p>
            <a:pPr marL="171450" marR="0" lvl="0" indent="-171450" algn="l" defTabSz="914400" rtl="0" eaLnBrk="0" fontAlgn="base" latinLnBrk="0" hangingPunct="0">
              <a:lnSpc>
                <a:spcPct val="100000"/>
              </a:lnSpc>
              <a:spcBef>
                <a:spcPct val="0"/>
              </a:spcBef>
              <a:spcAft>
                <a:spcPts val="36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From </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reactive, legacy-oriented back-office management and siloed operations</a:t>
            </a:r>
          </a:p>
          <a:p>
            <a:pPr marL="171450" marR="0" lvl="0" indent="-171450" algn="l" defTabSz="914400" rtl="0" eaLnBrk="0" fontAlgn="base" latinLnBrk="0" hangingPunct="0">
              <a:lnSpc>
                <a:spcPct val="100000"/>
              </a:lnSpc>
              <a:spcBef>
                <a:spcPct val="0"/>
              </a:spcBef>
              <a:spcAft>
                <a:spcPts val="36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To</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proactive, process-driven, accountable operational leadership that enables growth ambitions, cross-functional execution, and readiness for future transformation.</a:t>
            </a:r>
          </a:p>
        </p:txBody>
      </p:sp>
      <p:sp>
        <p:nvSpPr>
          <p:cNvPr id="2" name="Text Placeholder 1">
            <a:extLst>
              <a:ext uri="{FF2B5EF4-FFF2-40B4-BE49-F238E27FC236}">
                <a16:creationId xmlns:a16="http://schemas.microsoft.com/office/drawing/2014/main" id="{3C990F5D-2AA1-4EA2-DBEA-EB0C832AA046}"/>
              </a:ext>
            </a:extLst>
          </p:cNvPr>
          <p:cNvSpPr txBox="1">
            <a:spLocks noChangeArrowheads="1"/>
          </p:cNvSpPr>
          <p:nvPr/>
        </p:nvSpPr>
        <p:spPr bwMode="auto">
          <a:xfrm>
            <a:off x="550863" y="374650"/>
            <a:ext cx="880095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Jobs To Be Done | Acting Chief Operation Officer | </a:t>
            </a:r>
            <a:r>
              <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VIMAL KUMAR</a:t>
            </a:r>
          </a:p>
        </p:txBody>
      </p:sp>
      <p:sp>
        <p:nvSpPr>
          <p:cNvPr id="8" name="TextBox 7">
            <a:extLst>
              <a:ext uri="{FF2B5EF4-FFF2-40B4-BE49-F238E27FC236}">
                <a16:creationId xmlns:a16="http://schemas.microsoft.com/office/drawing/2014/main" id="{282F906B-E0F7-5959-907E-84B9503149BB}"/>
              </a:ext>
            </a:extLst>
          </p:cNvPr>
          <p:cNvSpPr txBox="1"/>
          <p:nvPr/>
        </p:nvSpPr>
        <p:spPr>
          <a:xfrm rot="19103358">
            <a:off x="3879785" y="3136612"/>
            <a:ext cx="4592924" cy="584775"/>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200" b="0" i="0" u="none" strike="noStrike" kern="1200" cap="none" spc="0" normalizeH="0" baseline="0" noProof="0">
                <a:ln>
                  <a:noFill/>
                </a:ln>
                <a:solidFill>
                  <a:srgbClr val="000000">
                    <a:alpha val="30000"/>
                  </a:srgbClr>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WORKING DOCUMENT</a:t>
            </a:r>
          </a:p>
        </p:txBody>
      </p:sp>
    </p:spTree>
    <p:extLst>
      <p:ext uri="{BB962C8B-B14F-4D97-AF65-F5344CB8AC3E}">
        <p14:creationId xmlns:p14="http://schemas.microsoft.com/office/powerpoint/2010/main" val="10554936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A8454E7F-E71E-6691-3405-624847CD8C0D}"/>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C5AD38A7-8DF0-7EFA-ACF8-B86187FC72A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45</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28DA31ED-E6D3-2F86-8DFF-CC2B5646F22E}"/>
              </a:ext>
            </a:extLst>
          </p:cNvPr>
          <p:cNvSpPr txBox="1">
            <a:spLocks noChangeArrowheads="1"/>
          </p:cNvSpPr>
          <p:nvPr/>
        </p:nvSpPr>
        <p:spPr bwMode="auto">
          <a:xfrm>
            <a:off x="550863" y="374650"/>
            <a:ext cx="8787101"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Jobs To Be Done Match | Acting Chief Operation Officer | VIMAL KUMAR</a:t>
            </a: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p:txBody>
      </p:sp>
      <p:sp>
        <p:nvSpPr>
          <p:cNvPr id="4" name="Google Shape;57;p3">
            <a:extLst>
              <a:ext uri="{FF2B5EF4-FFF2-40B4-BE49-F238E27FC236}">
                <a16:creationId xmlns:a16="http://schemas.microsoft.com/office/drawing/2014/main" id="{E9CADA6C-F1B9-482B-6A1A-04E0E809A6F9}"/>
              </a:ext>
            </a:extLst>
          </p:cNvPr>
          <p:cNvSpPr/>
          <p:nvPr/>
        </p:nvSpPr>
        <p:spPr>
          <a:xfrm>
            <a:off x="669672" y="831850"/>
            <a:ext cx="11180952" cy="5783532"/>
          </a:xfrm>
          <a:prstGeom prst="roundRect">
            <a:avLst>
              <a:gd name="adj" fmla="val 225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Tx/>
              <a:buNone/>
              <a:tabLst/>
              <a:defRPr/>
            </a:pPr>
            <a:r>
              <a:rPr kumimoji="0" lang="en-US" sz="1200" b="1" i="0" u="none" strike="noStrike" kern="0" cap="none" spc="0" normalizeH="0" baseline="0" noProof="0">
                <a:ln>
                  <a:noFill/>
                </a:ln>
                <a:solidFill>
                  <a:srgbClr val="000000"/>
                </a:solidFill>
                <a:effectLst/>
                <a:uLnTx/>
                <a:uFillTx/>
                <a:latin typeface="Lato"/>
                <a:ea typeface="Lato"/>
                <a:cs typeface="Lato"/>
                <a:sym typeface="Lato"/>
              </a:rPr>
              <a:t> </a:t>
            </a:r>
          </a:p>
        </p:txBody>
      </p:sp>
      <p:sp>
        <p:nvSpPr>
          <p:cNvPr id="2" name="TextBox 1">
            <a:extLst>
              <a:ext uri="{FF2B5EF4-FFF2-40B4-BE49-F238E27FC236}">
                <a16:creationId xmlns:a16="http://schemas.microsoft.com/office/drawing/2014/main" id="{949A0B98-7D42-D6D6-AAF6-D6118358F083}"/>
              </a:ext>
            </a:extLst>
          </p:cNvPr>
          <p:cNvSpPr txBox="1"/>
          <p:nvPr/>
        </p:nvSpPr>
        <p:spPr>
          <a:xfrm>
            <a:off x="769709" y="936904"/>
            <a:ext cx="10752619" cy="5447645"/>
          </a:xfrm>
          <a:prstGeom prst="rect">
            <a:avLst/>
          </a:prstGeom>
          <a:noFill/>
        </p:spPr>
        <p:txBody>
          <a:bodyPr wrap="square" lIns="91440" tIns="45720" rIns="91440" bIns="45720" rtlCol="0" anchor="t">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Role Pivots &amp; Risks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The role requires balancing the need for operational reliability with the pressure to innovate and streamline, particularly as new digital systems and cross-functional workflows are introduced. </a:t>
            </a:r>
            <a:endParaRPr lang="en-US" sz="1200">
              <a:latin typeface="Helvetica Neue" panose="02000503000000020004" pitchFamily="2" charset="0"/>
              <a:ea typeface="Helvetica Neue" panose="02000503000000020004" pitchFamily="2" charset="0"/>
              <a:cs typeface="Helvetica Neue" panose="02000503000000020004"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Resistance is likely to arise where long-standing team habits or comfort with the status quo make it hard to adopt new approaches or question legacy practices. Successfully shifting mindsets—encouraging openness to change, continuous improvement, and constructive challenge—will be critical for delivering sustainable operational value and supporting ADSS’s wider transformation goals.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Is the Talent Equipped for Success?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Vimal is widely acknowledged for his dedication and reliability—regarded as a true “workhorse” who reliably delivers under pressure, enforces process discipline, and brings essential structure to operational and transformation priorities at ADSS. His readiness to tackle difficult assignments have proven invaluable in navigating complex transitions.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200">
                <a:latin typeface="Helvetica Neue" panose="02000503000000020004" pitchFamily="2" charset="0"/>
                <a:ea typeface="Helvetica Neue" panose="02000503000000020004" pitchFamily="2" charset="0"/>
                <a:cs typeface="Helvetica Neue" panose="02000503000000020004" pitchFamily="2" charset="0"/>
              </a:rPr>
              <a:t>S</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eeks recognition, influence, and meaningful impact; he is energized by delivering measurable results in an environment that values autonomy</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indent="-171450">
              <a:buFont typeface="Arial" panose="020B0604020202020204" pitchFamily="34" charset="0"/>
              <a:buChar char="•"/>
              <a:defRPr/>
            </a:pPr>
            <a:r>
              <a:rPr lang="en-US" sz="1200">
                <a:latin typeface="Helvetica Neue" panose="02000503000000020004" pitchFamily="2" charset="0"/>
                <a:ea typeface="Helvetica Neue" panose="02000503000000020004" pitchFamily="2" charset="0"/>
                <a:cs typeface="Helvetica Neue" panose="02000503000000020004" pitchFamily="2" charset="0"/>
              </a:rPr>
              <a:t>His drive for meaningful results and high standards serves ADSS well; applying the same commitment to leading process updates, supporting team learning, and recognizing the broader impact of operations will amplify both his legacy and the value delivered across the business.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lvl="0" indent="-171450">
              <a:buFont typeface="Arial" panose="020B0604020202020204" pitchFamily="34" charset="0"/>
              <a:buChar char="•"/>
              <a:defRPr/>
            </a:pPr>
            <a:r>
              <a:rPr lang="en-US" sz="1200">
                <a:latin typeface="Helvetica Neue" panose="02000503000000020004" pitchFamily="2" charset="0"/>
                <a:ea typeface="Helvetica Neue" panose="02000503000000020004" pitchFamily="2" charset="0"/>
                <a:cs typeface="Helvetica Neue" panose="02000503000000020004" pitchFamily="2" charset="0"/>
              </a:rPr>
              <a:t>As our environment becomes more digital and dynamic, the greatest impact will come from not only maintaining this stability but also being willing to set the tone for questioning what no longer works and supporting the shift toward new, streamlined ways of doing things.</a:t>
            </a:r>
          </a:p>
          <a:p>
            <a:pPr marL="171450" lvl="0" indent="-171450">
              <a:buFont typeface="Arial" panose="020B0604020202020204" pitchFamily="34" charset="0"/>
              <a:buChar char="•"/>
              <a:defRPr/>
            </a:pPr>
            <a:endParaRPr lang="en-US" sz="1200">
              <a:latin typeface="Helvetica Neue" panose="02000503000000020004" pitchFamily="2" charset="0"/>
              <a:ea typeface="Helvetica Neue" panose="02000503000000020004" pitchFamily="2" charset="0"/>
              <a:cs typeface="Helvetica Neue" panose="02000503000000020004" pitchFamily="2" charset="0"/>
            </a:endParaRPr>
          </a:p>
          <a:p>
            <a:pPr marL="171450" lvl="0" indent="-171450">
              <a:buFont typeface="Arial" panose="020B0604020202020204" pitchFamily="34" charset="0"/>
              <a:buChar char="•"/>
              <a:defRPr/>
            </a:pPr>
            <a:r>
              <a:rPr lang="en-US" sz="1200">
                <a:latin typeface="Helvetica Neue" panose="02000503000000020004" pitchFamily="2" charset="0"/>
                <a:ea typeface="Helvetica Neue" panose="02000503000000020004" pitchFamily="2" charset="0"/>
                <a:cs typeface="Helvetica Neue" panose="02000503000000020004" pitchFamily="2" charset="0"/>
              </a:rPr>
              <a:t>Sometimes, when things get busy or frustrating, your preference for independence and quick action might be read as distance by others—staying visible and approachable, especially during tough transitions, will keep the team motivated and connected.</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There is a perception that in an effort to strengthen his influence, he has sometimes over-used his network power - this reduces the trust.</a:t>
            </a:r>
            <a:endParaRPr lang="en-US" sz="120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4070329315"/>
      </p:ext>
    </p:extLst>
  </p:cSld>
  <p:clrMapOvr>
    <a:masterClrMapping/>
  </p:clrMapOvr>
  <p:extLst>
    <p:ext uri="{6950BFC3-D8DA-4A85-94F7-54DA5524770B}">
      <p188:commentRel xmlns:p188="http://schemas.microsoft.com/office/powerpoint/2018/8/main" r:id="rId3"/>
    </p:ext>
  </p:extLst>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337FDBB0-B6CA-18F3-6778-CAE53EDCA66E}"/>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8F274CC2-DA7B-9D6E-C8C5-BE3C2FB6B03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46</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BAB916C0-C0AE-A76C-FAD5-6E079C083860}"/>
              </a:ext>
            </a:extLst>
          </p:cNvPr>
          <p:cNvSpPr txBox="1">
            <a:spLocks noChangeArrowheads="1"/>
          </p:cNvSpPr>
          <p:nvPr/>
        </p:nvSpPr>
        <p:spPr bwMode="auto">
          <a:xfrm>
            <a:off x="550863" y="374650"/>
            <a:ext cx="75596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HOGAN | Acting Chief Operation Officer | VIMAL KUMAR</a:t>
            </a: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p:txBody>
      </p:sp>
      <p:grpSp>
        <p:nvGrpSpPr>
          <p:cNvPr id="4" name="Group 3">
            <a:extLst>
              <a:ext uri="{FF2B5EF4-FFF2-40B4-BE49-F238E27FC236}">
                <a16:creationId xmlns:a16="http://schemas.microsoft.com/office/drawing/2014/main" id="{556F02A0-9EA9-5061-D1D0-8AD0E6D150FB}"/>
              </a:ext>
            </a:extLst>
          </p:cNvPr>
          <p:cNvGrpSpPr/>
          <p:nvPr/>
        </p:nvGrpSpPr>
        <p:grpSpPr>
          <a:xfrm>
            <a:off x="758455" y="791527"/>
            <a:ext cx="6226053" cy="655403"/>
            <a:chOff x="529855" y="131505"/>
            <a:chExt cx="6226053" cy="655403"/>
          </a:xfrm>
        </p:grpSpPr>
        <p:sp>
          <p:nvSpPr>
            <p:cNvPr id="6" name="TextBox 5">
              <a:extLst>
                <a:ext uri="{FF2B5EF4-FFF2-40B4-BE49-F238E27FC236}">
                  <a16:creationId xmlns:a16="http://schemas.microsoft.com/office/drawing/2014/main" id="{ACC396D8-72AA-D502-01C2-306AFABF717B}"/>
                </a:ext>
              </a:extLst>
            </p:cNvPr>
            <p:cNvSpPr txBox="1"/>
            <p:nvPr/>
          </p:nvSpPr>
          <p:spPr>
            <a:xfrm>
              <a:off x="529855" y="131505"/>
              <a:ext cx="680414" cy="253916"/>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lumMod val="50000"/>
                      <a:lumOff val="50000"/>
                    </a:srgbClr>
                  </a:solidFill>
                  <a:effectLst/>
                  <a:uLnTx/>
                  <a:uFillTx/>
                  <a:latin typeface="Lato Light" panose="020F0502020204030203" pitchFamily="34" charset="0"/>
                  <a:ea typeface="Lato Light" panose="020F0502020204030203" pitchFamily="34" charset="0"/>
                  <a:cs typeface="Lato Light" panose="020F0502020204030203" pitchFamily="34" charset="0"/>
                  <a:sym typeface="Arial" panose="020B0604020202020204" pitchFamily="34" charset="0"/>
                </a:rPr>
                <a:t>ROLE</a:t>
              </a:r>
            </a:p>
          </p:txBody>
        </p:sp>
        <p:sp>
          <p:nvSpPr>
            <p:cNvPr id="7" name="TextBox 6">
              <a:extLst>
                <a:ext uri="{FF2B5EF4-FFF2-40B4-BE49-F238E27FC236}">
                  <a16:creationId xmlns:a16="http://schemas.microsoft.com/office/drawing/2014/main" id="{CCDD0BB7-B03E-9A16-E798-A69D60DD1736}"/>
                </a:ext>
              </a:extLst>
            </p:cNvPr>
            <p:cNvSpPr txBox="1"/>
            <p:nvPr/>
          </p:nvSpPr>
          <p:spPr>
            <a:xfrm>
              <a:off x="529855" y="356566"/>
              <a:ext cx="3201164" cy="430342"/>
            </a:xfrm>
            <a:prstGeom prst="rect">
              <a:avLst/>
            </a:prstGeom>
            <a:noFill/>
          </p:spPr>
          <p:txBody>
            <a:bodyPr wrap="square" lIns="91440" tIns="45720" rIns="9144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rial" panose="020B0604020202020204" pitchFamily="34" charset="0"/>
                  <a:ea typeface="Lato Light" panose="020F0502020204030203" pitchFamily="34" charset="0"/>
                  <a:cs typeface="Arial" panose="020B0604020202020204" pitchFamily="34" charset="0"/>
                  <a:sym typeface="Arial" panose="020B0604020202020204" pitchFamily="34" charset="0"/>
                </a:rPr>
                <a:t>Acting Chief Operation Officer </a:t>
              </a:r>
            </a:p>
          </p:txBody>
        </p:sp>
        <p:sp>
          <p:nvSpPr>
            <p:cNvPr id="12" name="TextBox 11">
              <a:extLst>
                <a:ext uri="{FF2B5EF4-FFF2-40B4-BE49-F238E27FC236}">
                  <a16:creationId xmlns:a16="http://schemas.microsoft.com/office/drawing/2014/main" id="{6BA30E6E-BA52-E655-B6C0-159E62CE7B6D}"/>
                </a:ext>
              </a:extLst>
            </p:cNvPr>
            <p:cNvSpPr txBox="1"/>
            <p:nvPr/>
          </p:nvSpPr>
          <p:spPr>
            <a:xfrm>
              <a:off x="5962084" y="131505"/>
              <a:ext cx="748798" cy="253916"/>
            </a:xfrm>
            <a:prstGeom prst="rect">
              <a:avLst/>
            </a:prstGeom>
            <a:noFill/>
          </p:spPr>
          <p:txBody>
            <a:bodyPr wrap="square"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lumMod val="50000"/>
                      <a:lumOff val="50000"/>
                    </a:srgbClr>
                  </a:solidFill>
                  <a:effectLst/>
                  <a:uLnTx/>
                  <a:uFillTx/>
                  <a:latin typeface="Lato Light" panose="020F0502020204030203" pitchFamily="34" charset="0"/>
                  <a:ea typeface="Lato Light" panose="020F0502020204030203" pitchFamily="34" charset="0"/>
                  <a:cs typeface="Lato Light" panose="020F0502020204030203" pitchFamily="34" charset="0"/>
                  <a:sym typeface="Arial" panose="020B0604020202020204" pitchFamily="34" charset="0"/>
                </a:rPr>
                <a:t>TALENT</a:t>
              </a:r>
            </a:p>
          </p:txBody>
        </p:sp>
        <p:sp>
          <p:nvSpPr>
            <p:cNvPr id="13" name="TextBox 12">
              <a:extLst>
                <a:ext uri="{FF2B5EF4-FFF2-40B4-BE49-F238E27FC236}">
                  <a16:creationId xmlns:a16="http://schemas.microsoft.com/office/drawing/2014/main" id="{2D9E3A67-9A76-6E6E-9DF2-B7059F26CCF7}"/>
                </a:ext>
              </a:extLst>
            </p:cNvPr>
            <p:cNvSpPr txBox="1"/>
            <p:nvPr/>
          </p:nvSpPr>
          <p:spPr>
            <a:xfrm>
              <a:off x="3665327" y="296859"/>
              <a:ext cx="3090581" cy="490041"/>
            </a:xfrm>
            <a:prstGeom prst="rect">
              <a:avLst/>
            </a:prstGeom>
            <a:noFill/>
          </p:spPr>
          <p:txBody>
            <a:bodyPr wrap="square" lIns="91440" tIns="45720" rIns="91440" bIns="4572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rial" panose="020B0604020202020204" pitchFamily="34" charset="0"/>
                  <a:ea typeface="Lato Light" panose="020F0502020204030203" pitchFamily="34" charset="0"/>
                  <a:cs typeface="Arial" panose="020B0604020202020204" pitchFamily="34" charset="0"/>
                  <a:sym typeface="Arial" panose="020B0604020202020204" pitchFamily="34" charset="0"/>
                </a:rPr>
                <a:t>VIMAL KUMAR</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Arial" panose="020B0604020202020204" pitchFamily="34" charset="0"/>
                <a:ea typeface="Lato Light" panose="020F0502020204030203" pitchFamily="34" charset="0"/>
                <a:cs typeface="Arial" panose="020B0604020202020204" pitchFamily="34" charset="0"/>
                <a:sym typeface="Arial" panose="020B0604020202020204" pitchFamily="34" charset="0"/>
              </a:endParaRPr>
            </a:p>
          </p:txBody>
        </p:sp>
      </p:grpSp>
      <p:pic>
        <p:nvPicPr>
          <p:cNvPr id="2" name="Picture 1">
            <a:extLst>
              <a:ext uri="{FF2B5EF4-FFF2-40B4-BE49-F238E27FC236}">
                <a16:creationId xmlns:a16="http://schemas.microsoft.com/office/drawing/2014/main" id="{C4C23A36-0B6C-9E15-F8D7-B20E06993477}"/>
              </a:ext>
            </a:extLst>
          </p:cNvPr>
          <p:cNvPicPr>
            <a:picLocks noChangeAspect="1"/>
          </p:cNvPicPr>
          <p:nvPr/>
        </p:nvPicPr>
        <p:blipFill>
          <a:blip r:embed="rId4"/>
          <a:stretch>
            <a:fillRect/>
          </a:stretch>
        </p:blipFill>
        <p:spPr>
          <a:xfrm>
            <a:off x="7407983" y="831850"/>
            <a:ext cx="4784017" cy="5762219"/>
          </a:xfrm>
          <a:prstGeom prst="rect">
            <a:avLst/>
          </a:prstGeom>
        </p:spPr>
      </p:pic>
      <p:sp>
        <p:nvSpPr>
          <p:cNvPr id="3" name="TextBox 2">
            <a:extLst>
              <a:ext uri="{FF2B5EF4-FFF2-40B4-BE49-F238E27FC236}">
                <a16:creationId xmlns:a16="http://schemas.microsoft.com/office/drawing/2014/main" id="{AA87CF58-B135-5C0B-70DD-DDEC601044F9}"/>
              </a:ext>
            </a:extLst>
          </p:cNvPr>
          <p:cNvSpPr txBox="1"/>
          <p:nvPr/>
        </p:nvSpPr>
        <p:spPr>
          <a:xfrm>
            <a:off x="580059" y="1540568"/>
            <a:ext cx="6388103" cy="4531841"/>
          </a:xfrm>
          <a:prstGeom prst="rect">
            <a:avLst/>
          </a:prstGeom>
          <a:noFill/>
        </p:spPr>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0000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Role · Talent Match</a:t>
            </a:r>
            <a:br>
              <a:rPr kumimoji="0" lang="en-US" sz="1100" b="1" i="0" u="none" strike="noStrike" kern="1200" cap="none" spc="0" normalizeH="0" baseline="0" noProof="0">
                <a:ln>
                  <a:noFill/>
                </a:ln>
                <a:solidFill>
                  <a:prstClr val="black"/>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br>
            <a:endParaRPr kumimoji="0" lang="en-US" sz="1100" b="1"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Profiling as a talented operator for whom rigour and structure are key features of his thinking (Prudence, Security) Vimal will likely naturally pivot towards proactive, process-driven operational leadership. </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Empirical and insight-driven (Science, Learning Approach) Vimal should excel at closing operational gaps by utilizing data, analytics and continuous improvement mindsets.</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He has some useful leadership qualities, which should help in the upskilling of his team (Altruistic) and the fostering of a culture of accountability (Power).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0000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Potential Derailers </a:t>
            </a:r>
            <a:br>
              <a:rPr kumimoji="0" lang="en-US" sz="1100" b="1" i="0" u="none" strike="noStrike" kern="1200" cap="none" spc="0" normalizeH="0" baseline="0" noProof="0">
                <a:ln>
                  <a:noFill/>
                </a:ln>
                <a:solidFill>
                  <a:prstClr val="black"/>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br>
            <a:endParaRPr kumimoji="0" lang="en-US" sz="1100" b="1" i="0" u="none" strike="noStrike" kern="1200" cap="none" spc="0" normalizeH="0" baseline="0" noProof="0">
              <a:ln>
                <a:noFill/>
              </a:ln>
              <a:solidFill>
                <a:srgbClr val="C0000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The key challenges for Vimal seem to be around visibility (Reserved, low Affiliation) and transparency (Leisurely). Together this could have consequences for how he supports cross-functional collaboration with commercial, technology and risk partners.</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Despite some potentially valuable leadership qualities, Vimal may still view success primarily through the lens of </a:t>
            </a:r>
            <a:r>
              <a:rPr kumimoji="0" lang="en-US" sz="1100" b="0" i="1"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personal</a:t>
            </a: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 achievement (Recognition, Bold). To truly excel, he could benefit from recognising that lasting success is built on </a:t>
            </a:r>
            <a:r>
              <a:rPr kumimoji="0" lang="en-US" sz="1100" b="0" i="1"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shared</a:t>
            </a: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 accomplishments and the collective strengths of the team. </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p:txBody>
      </p:sp>
    </p:spTree>
    <p:extLst>
      <p:ext uri="{BB962C8B-B14F-4D97-AF65-F5344CB8AC3E}">
        <p14:creationId xmlns:p14="http://schemas.microsoft.com/office/powerpoint/2010/main" val="898723778"/>
      </p:ext>
    </p:extLst>
  </p:cSld>
  <p:clrMapOvr>
    <a:masterClrMapping/>
  </p:clrMapOvr>
  <p:extLst>
    <p:ext uri="{6950BFC3-D8DA-4A85-94F7-54DA5524770B}">
      <p188:commentRel xmlns:p188="http://schemas.microsoft.com/office/powerpoint/2018/8/main" r:id="rId3"/>
    </p:ext>
  </p:extLst>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E3C3BCAC-0E19-65AC-820E-818717DCF37C}"/>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68C20714-BFD9-833A-C0D7-221A75509EB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47</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2D7D0F4C-6E5B-6F33-EE8B-3710EFB8BE83}"/>
              </a:ext>
            </a:extLst>
          </p:cNvPr>
          <p:cNvSpPr txBox="1">
            <a:spLocks noChangeArrowheads="1"/>
          </p:cNvSpPr>
          <p:nvPr/>
        </p:nvSpPr>
        <p:spPr bwMode="auto">
          <a:xfrm>
            <a:off x="550863" y="374650"/>
            <a:ext cx="8722182"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Enabling Success Plan | Acting Chief Operation Officer | VIMAL KUMAR</a:t>
            </a: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p:txBody>
      </p:sp>
      <p:sp>
        <p:nvSpPr>
          <p:cNvPr id="4" name="Google Shape;57;p3">
            <a:extLst>
              <a:ext uri="{FF2B5EF4-FFF2-40B4-BE49-F238E27FC236}">
                <a16:creationId xmlns:a16="http://schemas.microsoft.com/office/drawing/2014/main" id="{1266CCA4-839F-DF68-03F6-883348BC5A4D}"/>
              </a:ext>
            </a:extLst>
          </p:cNvPr>
          <p:cNvSpPr/>
          <p:nvPr/>
        </p:nvSpPr>
        <p:spPr>
          <a:xfrm>
            <a:off x="462166" y="1097720"/>
            <a:ext cx="3418461" cy="4662560"/>
          </a:xfrm>
          <a:prstGeom prst="roundRect">
            <a:avLst>
              <a:gd name="adj" fmla="val 3135"/>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Lato" panose="020F0502020204030203" pitchFamily="34" charset="77"/>
              <a:ea typeface="Lato"/>
              <a:cs typeface="Lato"/>
              <a:sym typeface="Lato"/>
            </a:endParaRPr>
          </a:p>
        </p:txBody>
      </p:sp>
      <p:sp>
        <p:nvSpPr>
          <p:cNvPr id="6" name="Google Shape;57;p3">
            <a:extLst>
              <a:ext uri="{FF2B5EF4-FFF2-40B4-BE49-F238E27FC236}">
                <a16:creationId xmlns:a16="http://schemas.microsoft.com/office/drawing/2014/main" id="{B7CDD389-AEB1-848D-7C7D-45306C22800D}"/>
              </a:ext>
            </a:extLst>
          </p:cNvPr>
          <p:cNvSpPr/>
          <p:nvPr/>
        </p:nvSpPr>
        <p:spPr>
          <a:xfrm>
            <a:off x="4055946" y="1097720"/>
            <a:ext cx="7811186" cy="4662560"/>
          </a:xfrm>
          <a:prstGeom prst="roundRect">
            <a:avLst>
              <a:gd name="adj" fmla="val 225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228600" marR="0" lvl="0" indent="-228600" algn="l" defTabSz="914400" rtl="0" eaLnBrk="0" fontAlgn="base" latinLnBrk="0" hangingPunct="0">
              <a:lnSpc>
                <a:spcPct val="100000"/>
              </a:lnSpc>
              <a:spcBef>
                <a:spcPct val="0"/>
              </a:spcBef>
              <a:spcAft>
                <a:spcPct val="0"/>
              </a:spcAft>
              <a:buClrTx/>
              <a:buSzTx/>
              <a:buFontTx/>
              <a:buAutoNum type="arabicPeriod"/>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Position Operations as a Growth Enabler</a:t>
            </a:r>
          </a:p>
          <a:p>
            <a:pPr marL="228600" marR="0" lvl="0" indent="-228600" algn="l" defTabSz="914400" rtl="0" eaLnBrk="0" fontAlgn="base" latinLnBrk="0" hangingPunct="0">
              <a:lnSpc>
                <a:spcPct val="100000"/>
              </a:lnSpc>
              <a:spcBef>
                <a:spcPct val="0"/>
              </a:spcBef>
              <a:spcAft>
                <a:spcPct val="0"/>
              </a:spcAft>
              <a:buClrTx/>
              <a:buSzTx/>
              <a:buFontTx/>
              <a:buAutoNum type="arabicPeriod"/>
              <a:tabLst/>
              <a:defRPr/>
            </a:pPr>
            <a:endPar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Simplify and modernize core processes to drive both efficiency and agility.</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Position Operations as a strategic enabler of growth by embedding digital tools, data visibility</a:t>
            </a:r>
            <a:r>
              <a:rPr lang="en-US" sz="1200">
                <a:latin typeface="Helvetica Neue" panose="02000503000000020004" pitchFamily="2" charset="0"/>
                <a:ea typeface="Helvetica Neue" panose="02000503000000020004" pitchFamily="2" charset="0"/>
                <a:cs typeface="Helvetica Neue" panose="02000503000000020004" pitchFamily="2" charset="0"/>
              </a:rPr>
              <a:t> </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across workflows.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Champion a culture of continuous improvement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2. Upgrade Team Capability and Focus on Critical Roles</a:t>
            </a:r>
          </a:p>
          <a:p>
            <a:pPr marL="228600" marR="0" lvl="0" indent="-228600" algn="l" defTabSz="914400" rtl="0" eaLnBrk="0" fontAlgn="base" latinLnBrk="0" hangingPunct="0">
              <a:lnSpc>
                <a:spcPct val="100000"/>
              </a:lnSpc>
              <a:spcBef>
                <a:spcPct val="0"/>
              </a:spcBef>
              <a:spcAft>
                <a:spcPct val="0"/>
              </a:spcAft>
              <a:buClrTx/>
              <a:buSzTx/>
              <a:buFontTx/>
              <a:buAutoNum type="arabicPeriod"/>
              <a:tabLst/>
              <a:defRPr/>
            </a:pPr>
            <a:endPar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Identify and elevate the 3–5 roles most essential to transformation success, ensuring they are led by capable, high-impact performers.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Address underperformance with clarity and fairness, while actively developing next-generation leaders through mentoring, targeted upskilling, and clear career paths.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Build development and career paths for the Operations team</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3. Elevate Leadership Presence with Peers and Team</a:t>
            </a:r>
          </a:p>
          <a:p>
            <a:pPr marL="228600" marR="0" lvl="0" indent="-228600" algn="l" defTabSz="914400" rtl="0" eaLnBrk="0" fontAlgn="base" latinLnBrk="0" hangingPunct="0">
              <a:lnSpc>
                <a:spcPct val="100000"/>
              </a:lnSpc>
              <a:spcBef>
                <a:spcPct val="0"/>
              </a:spcBef>
              <a:spcAft>
                <a:spcPct val="0"/>
              </a:spcAft>
              <a:buClrTx/>
              <a:buSzTx/>
              <a:buFontTx/>
              <a:buAutoNum type="arabicPeriod"/>
              <a:tabLst/>
              <a:defRPr/>
            </a:pPr>
            <a:endPar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228600" marR="0" lvl="0" indent="-2286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Externally and with your peers, act as a connector across the leadership table — bringing stability, clarity, and forward momentum to cross-functional priorities.</a:t>
            </a:r>
          </a:p>
          <a:p>
            <a:pPr marL="228600" marR="0" lvl="0" indent="-2286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Continue to delegate effectively to your team, while directing and challenging them when needed. Given the transformation underway keep pushing the team for higher standards will be essential</a:t>
            </a:r>
          </a:p>
        </p:txBody>
      </p:sp>
      <p:sp>
        <p:nvSpPr>
          <p:cNvPr id="7" name="Google Shape;61;p3">
            <a:extLst>
              <a:ext uri="{FF2B5EF4-FFF2-40B4-BE49-F238E27FC236}">
                <a16:creationId xmlns:a16="http://schemas.microsoft.com/office/drawing/2014/main" id="{A7E59F62-3313-6E8E-BB76-EE03961E345E}"/>
              </a:ext>
            </a:extLst>
          </p:cNvPr>
          <p:cNvSpPr txBox="1"/>
          <p:nvPr/>
        </p:nvSpPr>
        <p:spPr>
          <a:xfrm>
            <a:off x="637485" y="1257419"/>
            <a:ext cx="2877611" cy="2816135"/>
          </a:xfrm>
          <a:prstGeom prst="rect">
            <a:avLst/>
          </a:prstGeom>
          <a:noFill/>
          <a:ln>
            <a:noFill/>
          </a:ln>
        </p:spPr>
        <p:txBody>
          <a:bodyPr spcFirstLastPara="1" wrap="square" lIns="22850" tIns="22850" rIns="22850" bIns="22850" anchor="t"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600" b="1"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What are We </a:t>
            </a:r>
            <a:r>
              <a:rPr kumimoji="0" lang="en-US" sz="1600" b="1" i="0" u="none" strike="noStrike" kern="0" cap="none" spc="0"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Solving For?</a:t>
            </a: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kumimoji="0" lang="en-US" sz="1600" b="1" i="0" u="none" strike="noStrike" kern="0" cap="none" spc="0"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kumimoji="0" lang="en-US" sz="1600" b="1" i="0" u="none" strike="noStrike" kern="0" cap="none" spc="0"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0"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1. Position Operations as a Growth Enabler</a:t>
            </a: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kumimoji="0" lang="en-US" sz="1200" b="0"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2. Upgrade Team Capability and Focus on Critical Roles</a:t>
            </a:r>
            <a:endParaRPr kumimoji="0" lang="en-US" sz="1200" b="0"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kumimoji="0" lang="en-US" sz="1200" b="0"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3. Elevate Leadership Presence with Peers and Team</a:t>
            </a: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kumimoji="0" lang="en-US" sz="1200" b="1" i="0" u="none" strike="noStrike" kern="0" cap="none" spc="0" normalizeH="0" baseline="0" noProof="0">
              <a:ln>
                <a:noFill/>
              </a:ln>
              <a:solidFill>
                <a:prstClr val="black"/>
              </a:solidFill>
              <a:effectLst/>
              <a:uLnTx/>
              <a:uFillTx/>
              <a:latin typeface="Arial" panose="020B0604020202020204" pitchFamily="34" charset="0"/>
              <a:ea typeface="Lato"/>
              <a:cs typeface="Arial" panose="020B0604020202020204" pitchFamily="34" charset="0"/>
              <a:sym typeface="Lato"/>
            </a:endParaRP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kumimoji="0" lang="en-US" sz="1200" b="1" i="0" u="none" strike="noStrike" kern="0" cap="none" spc="0" normalizeH="0" baseline="0" noProof="0">
              <a:ln>
                <a:noFill/>
              </a:ln>
              <a:solidFill>
                <a:prstClr val="black"/>
              </a:solidFill>
              <a:effectLst/>
              <a:uLnTx/>
              <a:uFillTx/>
              <a:latin typeface="Arial" panose="020B0604020202020204" pitchFamily="34" charset="0"/>
              <a:ea typeface="Lato"/>
              <a:cs typeface="Arial" panose="020B0604020202020204" pitchFamily="34" charset="0"/>
              <a:sym typeface="Lato"/>
            </a:endParaRP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kumimoji="0" lang="en-US" sz="1200" b="1" i="0" u="none" strike="noStrike" kern="0" cap="none" spc="0" normalizeH="0" baseline="0" noProof="0">
              <a:ln>
                <a:noFill/>
              </a:ln>
              <a:solidFill>
                <a:prstClr val="black"/>
              </a:solidFill>
              <a:effectLst/>
              <a:uLnTx/>
              <a:uFillTx/>
              <a:latin typeface="Arial" panose="020B0604020202020204" pitchFamily="34" charset="0"/>
              <a:ea typeface="Lato"/>
              <a:cs typeface="Arial" panose="020B0604020202020204" pitchFamily="34" charset="0"/>
              <a:sym typeface="Lato"/>
            </a:endParaRPr>
          </a:p>
        </p:txBody>
      </p:sp>
      <p:sp>
        <p:nvSpPr>
          <p:cNvPr id="8" name="TextBox 7">
            <a:extLst>
              <a:ext uri="{FF2B5EF4-FFF2-40B4-BE49-F238E27FC236}">
                <a16:creationId xmlns:a16="http://schemas.microsoft.com/office/drawing/2014/main" id="{D1139BEC-BB1A-B156-BDAD-421E5D2F5EEA}"/>
              </a:ext>
            </a:extLst>
          </p:cNvPr>
          <p:cNvSpPr txBox="1"/>
          <p:nvPr/>
        </p:nvSpPr>
        <p:spPr>
          <a:xfrm>
            <a:off x="6438405" y="1097720"/>
            <a:ext cx="2834640"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
                <a:srgbClr val="BA0C2F"/>
              </a:buClr>
              <a:buSzPts val="3600"/>
              <a:buFontTx/>
              <a:buNone/>
              <a:tabLst/>
              <a:defRPr/>
            </a:pPr>
            <a:r>
              <a:rPr kumimoji="0" lang="en-US" sz="1800" b="1" i="0" u="none" strike="noStrike" kern="0" cap="none" spc="0" normalizeH="0" baseline="0" noProof="0">
                <a:ln>
                  <a:noFill/>
                </a:ln>
                <a:solidFill>
                  <a:srgbClr val="000000"/>
                </a:solidFill>
                <a:effectLst/>
                <a:uLnTx/>
                <a:uFillTx/>
                <a:latin typeface="Arial" panose="020B0604020202020204" pitchFamily="34" charset="0"/>
                <a:ea typeface="Lato"/>
                <a:cs typeface="Arial" panose="020B0604020202020204" pitchFamily="34" charset="0"/>
                <a:sym typeface="Lato"/>
              </a:rPr>
              <a:t>Success Enabling </a:t>
            </a:r>
            <a:r>
              <a:rPr kumimoji="0" lang="en-US" sz="1800" b="1" i="0" u="none" strike="noStrike" kern="0" cap="none" spc="0" normalizeH="0" baseline="0" noProof="0">
                <a:ln>
                  <a:noFill/>
                </a:ln>
                <a:solidFill>
                  <a:srgbClr val="BA0C2F"/>
                </a:solidFill>
                <a:effectLst/>
                <a:uLnTx/>
                <a:uFillTx/>
                <a:latin typeface="Arial" panose="020B0604020202020204" pitchFamily="34" charset="0"/>
                <a:ea typeface="Lato"/>
                <a:cs typeface="Arial" panose="020B0604020202020204" pitchFamily="34" charset="0"/>
                <a:sym typeface="Lato"/>
              </a:rPr>
              <a:t>Plan</a:t>
            </a:r>
            <a:endParaRPr kumimoji="0" lang="en-US" sz="1800" b="1" i="0" u="none" strike="noStrike" kern="0" cap="none" spc="0" normalizeH="0" baseline="0" noProof="0">
              <a:ln>
                <a:noFill/>
              </a:ln>
              <a:solidFill>
                <a:prstClr val="black"/>
              </a:solidFill>
              <a:effectLst/>
              <a:uLnTx/>
              <a:uFillTx/>
              <a:latin typeface="Arial" panose="020B0604020202020204" pitchFamily="34" charset="0"/>
              <a:ea typeface="Lato"/>
              <a:cs typeface="Arial" panose="020B0604020202020204" pitchFamily="34" charset="0"/>
              <a:sym typeface="Lato"/>
            </a:endParaRPr>
          </a:p>
        </p:txBody>
      </p:sp>
    </p:spTree>
    <p:extLst>
      <p:ext uri="{BB962C8B-B14F-4D97-AF65-F5344CB8AC3E}">
        <p14:creationId xmlns:p14="http://schemas.microsoft.com/office/powerpoint/2010/main" val="22544477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9C680-F725-C884-A279-7F9EC172EFAF}"/>
            </a:ext>
          </a:extLst>
        </p:cNvPr>
        <p:cNvGrpSpPr/>
        <p:nvPr/>
      </p:nvGrpSpPr>
      <p:grpSpPr>
        <a:xfrm>
          <a:off x="0" y="0"/>
          <a:ext cx="0" cy="0"/>
          <a:chOff x="0" y="0"/>
          <a:chExt cx="0" cy="0"/>
        </a:xfrm>
      </p:grpSpPr>
      <p:sp>
        <p:nvSpPr>
          <p:cNvPr id="19457" name="Text Placeholder 1">
            <a:extLst>
              <a:ext uri="{FF2B5EF4-FFF2-40B4-BE49-F238E27FC236}">
                <a16:creationId xmlns:a16="http://schemas.microsoft.com/office/drawing/2014/main" id="{DE1DD21A-61CB-C4D6-2658-6AE38536BEEE}"/>
              </a:ext>
            </a:extLst>
          </p:cNvPr>
          <p:cNvSpPr>
            <a:spLocks noGrp="1" noChangeArrowheads="1"/>
          </p:cNvSpPr>
          <p:nvPr>
            <p:ph type="body" idx="1"/>
          </p:nvPr>
        </p:nvSpPr>
        <p:spPr bwMode="auto">
          <a:xfrm>
            <a:off x="143668" y="3298103"/>
            <a:ext cx="4841875" cy="1966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a:spcBef>
                <a:spcPct val="0"/>
              </a:spcBef>
              <a:spcAft>
                <a:spcPct val="0"/>
              </a:spcAft>
              <a:buClr>
                <a:srgbClr val="000000"/>
              </a:buClr>
              <a:buFont typeface="Arial" panose="020B0604020202020204" pitchFamily="34" charset="0"/>
              <a:buNone/>
            </a:pPr>
            <a:r>
              <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rPr>
              <a:t>Acting CFO | </a:t>
            </a:r>
          </a:p>
          <a:p>
            <a:pPr>
              <a:spcBef>
                <a:spcPct val="0"/>
              </a:spcBef>
              <a:spcAft>
                <a:spcPct val="0"/>
              </a:spcAft>
              <a:buClr>
                <a:srgbClr val="000000"/>
              </a:buClr>
              <a:buFont typeface="Arial" panose="020B0604020202020204" pitchFamily="34" charset="0"/>
              <a:buNone/>
            </a:pPr>
            <a:r>
              <a:rPr lang="en-US" altLang="en-US" sz="4000" b="1">
                <a:solidFill>
                  <a:srgbClr val="001E5A"/>
                </a:solidFill>
                <a:latin typeface="Helvetica Neue" panose="02000503000000020004" pitchFamily="2" charset="0"/>
                <a:cs typeface="Arial" panose="020B0604020202020204" pitchFamily="34" charset="0"/>
                <a:sym typeface="Helvetica Neue" panose="02000503000000020004" pitchFamily="2" charset="0"/>
              </a:rPr>
              <a:t>AMMAR AZHAR</a:t>
            </a:r>
          </a:p>
          <a:p>
            <a:pPr>
              <a:spcBef>
                <a:spcPct val="0"/>
              </a:spcBef>
              <a:spcAft>
                <a:spcPct val="0"/>
              </a:spcAft>
              <a:buClr>
                <a:srgbClr val="000000"/>
              </a:buClr>
              <a:buFont typeface="Arial" panose="020B0604020202020204" pitchFamily="34" charset="0"/>
              <a:buNone/>
            </a:pPr>
            <a:endParaRPr lang="en-US" altLang="en-US" sz="40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endParaRPr>
          </a:p>
          <a:p>
            <a:pPr>
              <a:spcBef>
                <a:spcPct val="0"/>
              </a:spcBef>
              <a:spcAft>
                <a:spcPct val="0"/>
              </a:spcAft>
              <a:buClr>
                <a:srgbClr val="000000"/>
              </a:buClr>
              <a:buFont typeface="Arial" panose="020B0604020202020204" pitchFamily="34" charset="0"/>
              <a:buNone/>
            </a:pPr>
            <a:endParaRPr lang="en-US" altLang="en-US" sz="4000" b="1">
              <a:solidFill>
                <a:srgbClr val="112D59"/>
              </a:solidFill>
              <a:latin typeface="Helvetica Neue" panose="02000503000000020004" pitchFamily="2" charset="0"/>
              <a:cs typeface="Arial" panose="020B0604020202020204" pitchFamily="34" charset="0"/>
              <a:sym typeface="Helvetica Neue" panose="02000503000000020004" pitchFamily="2" charset="0"/>
            </a:endParaRPr>
          </a:p>
        </p:txBody>
      </p:sp>
      <p:sp>
        <p:nvSpPr>
          <p:cNvPr id="19458" name="Text Placeholder 2">
            <a:extLst>
              <a:ext uri="{FF2B5EF4-FFF2-40B4-BE49-F238E27FC236}">
                <a16:creationId xmlns:a16="http://schemas.microsoft.com/office/drawing/2014/main" id="{5D81CB87-2E0F-FA47-3093-85AE45C962EA}"/>
              </a:ext>
            </a:extLst>
          </p:cNvPr>
          <p:cNvSpPr>
            <a:spLocks noGrp="1" noChangeArrowheads="1"/>
          </p:cNvSpPr>
          <p:nvPr>
            <p:ph type="body" idx="2"/>
          </p:nvPr>
        </p:nvSpPr>
        <p:spPr bwMode="auto">
          <a:xfrm>
            <a:off x="158750" y="5043488"/>
            <a:ext cx="4703763" cy="736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a:spcAft>
                <a:spcPct val="0"/>
              </a:spcAft>
              <a:buClr>
                <a:srgbClr val="000000"/>
              </a:buClr>
            </a:pPr>
            <a:r>
              <a:rPr lang="en-US" altLang="en-US" sz="180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sym typeface="Helvetica Neue Light" panose="02000403000000020004" pitchFamily="2" charset="0"/>
              </a:rPr>
              <a:t>NOV 2025 </a:t>
            </a:r>
          </a:p>
        </p:txBody>
      </p:sp>
      <p:cxnSp>
        <p:nvCxnSpPr>
          <p:cNvPr id="8" name="Straight Connector 7">
            <a:extLst>
              <a:ext uri="{FF2B5EF4-FFF2-40B4-BE49-F238E27FC236}">
                <a16:creationId xmlns:a16="http://schemas.microsoft.com/office/drawing/2014/main" id="{1783B05E-ACBC-8F7B-2921-DB16429BC12D}"/>
              </a:ext>
            </a:extLst>
          </p:cNvPr>
          <p:cNvCxnSpPr/>
          <p:nvPr/>
        </p:nvCxnSpPr>
        <p:spPr>
          <a:xfrm>
            <a:off x="471488" y="5043488"/>
            <a:ext cx="41862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D5334BF2-E6B2-75D5-B102-265CA5B563E0}"/>
              </a:ext>
            </a:extLst>
          </p:cNvPr>
          <p:cNvPicPr>
            <a:picLocks noChangeAspect="1"/>
          </p:cNvPicPr>
          <p:nvPr/>
        </p:nvPicPr>
        <p:blipFill>
          <a:blip r:embed="rId2"/>
          <a:stretch>
            <a:fillRect/>
          </a:stretch>
        </p:blipFill>
        <p:spPr>
          <a:xfrm>
            <a:off x="257731" y="2475232"/>
            <a:ext cx="1705683" cy="774380"/>
          </a:xfrm>
          <a:prstGeom prst="rect">
            <a:avLst/>
          </a:prstGeom>
        </p:spPr>
      </p:pic>
    </p:spTree>
    <p:extLst>
      <p:ext uri="{BB962C8B-B14F-4D97-AF65-F5344CB8AC3E}">
        <p14:creationId xmlns:p14="http://schemas.microsoft.com/office/powerpoint/2010/main" val="39369138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87828B88-7AEA-4D36-FB75-93A34EC03C31}"/>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F8811D1A-CB31-1C64-5045-383EE68CB35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49</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047A0FA5-33A8-B296-9BA3-CDCC09EF05D7}"/>
              </a:ext>
            </a:extLst>
          </p:cNvPr>
          <p:cNvSpPr txBox="1">
            <a:spLocks noChangeArrowheads="1"/>
          </p:cNvSpPr>
          <p:nvPr/>
        </p:nvSpPr>
        <p:spPr bwMode="auto">
          <a:xfrm>
            <a:off x="550863" y="374650"/>
            <a:ext cx="75596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lvl="0">
              <a:lnSpc>
                <a:spcPct val="90000"/>
              </a:lnSpc>
              <a:buClr>
                <a:srgbClr val="000000"/>
              </a:buClr>
              <a:buSzPts val="2400"/>
              <a:defRPr/>
            </a:pPr>
            <a:r>
              <a:rPr lang="en-US" altLang="en-US" sz="2000">
                <a:solidFill>
                  <a:srgbClr val="002060"/>
                </a:solidFill>
                <a:latin typeface="Helvetica Neue" panose="02000503000000020004" pitchFamily="2" charset="0"/>
                <a:sym typeface="Helvetica Neue Light" panose="02000403000000020004" pitchFamily="2" charset="0"/>
              </a:rPr>
              <a:t>Jobs To Be Done | </a:t>
            </a: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Acting CFO | </a:t>
            </a:r>
            <a:r>
              <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AMMAR AZHAR</a:t>
            </a:r>
          </a:p>
        </p:txBody>
      </p:sp>
      <p:sp>
        <p:nvSpPr>
          <p:cNvPr id="4" name="Google Shape;57;p3">
            <a:extLst>
              <a:ext uri="{FF2B5EF4-FFF2-40B4-BE49-F238E27FC236}">
                <a16:creationId xmlns:a16="http://schemas.microsoft.com/office/drawing/2014/main" id="{6191A1DA-A2AD-7C29-F150-81D5645E22C1}"/>
              </a:ext>
            </a:extLst>
          </p:cNvPr>
          <p:cNvSpPr/>
          <p:nvPr/>
        </p:nvSpPr>
        <p:spPr>
          <a:xfrm>
            <a:off x="3398274" y="1067112"/>
            <a:ext cx="5555948" cy="4888211"/>
          </a:xfrm>
          <a:prstGeom prst="roundRect">
            <a:avLst>
              <a:gd name="adj" fmla="val 3135"/>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p:txBody>
      </p:sp>
      <p:sp>
        <p:nvSpPr>
          <p:cNvPr id="6" name="Google Shape;61;p3">
            <a:extLst>
              <a:ext uri="{FF2B5EF4-FFF2-40B4-BE49-F238E27FC236}">
                <a16:creationId xmlns:a16="http://schemas.microsoft.com/office/drawing/2014/main" id="{4240C7E6-F0AF-159C-E6D3-AB840FCDBFAD}"/>
              </a:ext>
            </a:extLst>
          </p:cNvPr>
          <p:cNvSpPr txBox="1"/>
          <p:nvPr/>
        </p:nvSpPr>
        <p:spPr>
          <a:xfrm>
            <a:off x="3689234" y="1156474"/>
            <a:ext cx="4229815" cy="230812"/>
          </a:xfrm>
          <a:prstGeom prst="rect">
            <a:avLst/>
          </a:prstGeom>
          <a:noFill/>
          <a:ln>
            <a:noFill/>
          </a:ln>
        </p:spPr>
        <p:txBody>
          <a:bodyPr spcFirstLastPara="1" wrap="square" lIns="22850" tIns="22850" rIns="22850" bIns="22850" anchor="t"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1" i="0" u="none" strike="noStrike" kern="0" cap="none" spc="0" normalizeH="0" baseline="0" noProof="0">
                <a:ln>
                  <a:noFill/>
                </a:ln>
                <a:solidFill>
                  <a:srgbClr val="BA0C2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Jobs To Be Done</a:t>
            </a:r>
            <a:endParaRPr kumimoji="0" sz="7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p:txBody>
      </p:sp>
      <p:graphicFrame>
        <p:nvGraphicFramePr>
          <p:cNvPr id="7" name="Table 6">
            <a:extLst>
              <a:ext uri="{FF2B5EF4-FFF2-40B4-BE49-F238E27FC236}">
                <a16:creationId xmlns:a16="http://schemas.microsoft.com/office/drawing/2014/main" id="{FD0BECB1-4C1B-2B35-5A9C-731D815864C8}"/>
              </a:ext>
            </a:extLst>
          </p:cNvPr>
          <p:cNvGraphicFramePr>
            <a:graphicFrameLocks noGrp="1"/>
          </p:cNvGraphicFramePr>
          <p:nvPr>
            <p:extLst>
              <p:ext uri="{D42A27DB-BD31-4B8C-83A1-F6EECF244321}">
                <p14:modId xmlns:p14="http://schemas.microsoft.com/office/powerpoint/2010/main" val="3526195535"/>
              </p:ext>
            </p:extLst>
          </p:nvPr>
        </p:nvGraphicFramePr>
        <p:xfrm>
          <a:off x="3599905" y="1418064"/>
          <a:ext cx="5285186" cy="4411980"/>
        </p:xfrm>
        <a:graphic>
          <a:graphicData uri="http://schemas.openxmlformats.org/drawingml/2006/table">
            <a:tbl>
              <a:tblPr firstRow="1" bandRow="1">
                <a:tableStyleId>{5C22544A-7EE6-4342-B048-85BDC9FD1C3A}</a:tableStyleId>
              </a:tblPr>
              <a:tblGrid>
                <a:gridCol w="5285186">
                  <a:extLst>
                    <a:ext uri="{9D8B030D-6E8A-4147-A177-3AD203B41FA5}">
                      <a16:colId xmlns:a16="http://schemas.microsoft.com/office/drawing/2014/main" val="2300840210"/>
                    </a:ext>
                  </a:extLst>
                </a:gridCol>
              </a:tblGrid>
              <a:tr h="88511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05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Strengthen Financial Discipline and Strategic Resource Allocation</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Drive greater discipline in cost management without stifling innovation — balancing efficiency with investment in growth.</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Ensure resources are deployed strategically to maximize returns and enable sustainable value creation.</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05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Enhance Financial Planning, Forecasting, and Decision Support</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Develop robust forecasting, budgeting, and performance management processes to improve business predictability and accountability.</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Translate financial insights into actionable strategies that drive cross-functional alignment and informed decision-making.</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05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Ensure Robust Controls, Compliance, and Transparency</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Maintain strong financial governance, accounting accuracy, and regulatory compliance across all jurisdictions.</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Enhance financial reporting and audit readiness to strengthen stakeholder trust and integrity.</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05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Optimize Cash and Capital Management</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Safeguard liquidity and balance sheet strength through proactive cash, funding, and risk management.</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Develop capital allocation strategies that support both operational resilience and long-term growth ambitions.</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05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Build and Elevate Finance Capability</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5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Identify and develop critical roles within Finance to close capability gaps and strengthen collaboration with other functions.</a:t>
                      </a:r>
                    </a:p>
                  </a:txBody>
                  <a:tcPr>
                    <a:lnL w="12700" cap="flat" cmpd="sng" algn="ctr">
                      <a:solidFill>
                        <a:schemeClr val="bg1">
                          <a:lumMod val="95000"/>
                        </a:schemeClr>
                      </a:solidFill>
                      <a:prstDash val="solid"/>
                      <a:round/>
                      <a:headEnd type="none" w="med" len="med"/>
                      <a:tailEnd type="none" w="med" len="med"/>
                    </a:lnL>
                    <a:lnB w="12700" cap="flat" cmpd="sng" algn="ctr">
                      <a:solidFill>
                        <a:srgbClr val="BC8F00"/>
                      </a:solidFill>
                      <a:prstDash val="solid"/>
                      <a:round/>
                      <a:headEnd type="none" w="med" len="med"/>
                      <a:tailEnd type="none" w="med" len="med"/>
                    </a:lnB>
                    <a:noFill/>
                  </a:tcPr>
                </a:tc>
                <a:extLst>
                  <a:ext uri="{0D108BD9-81ED-4DB2-BD59-A6C34878D82A}">
                    <a16:rowId xmlns:a16="http://schemas.microsoft.com/office/drawing/2014/main" val="2440114098"/>
                  </a:ext>
                </a:extLst>
              </a:tr>
            </a:tbl>
          </a:graphicData>
        </a:graphic>
      </p:graphicFrame>
      <p:sp>
        <p:nvSpPr>
          <p:cNvPr id="15" name="Google Shape;57;p3">
            <a:extLst>
              <a:ext uri="{FF2B5EF4-FFF2-40B4-BE49-F238E27FC236}">
                <a16:creationId xmlns:a16="http://schemas.microsoft.com/office/drawing/2014/main" id="{25990E33-28E4-0642-B4B0-0FAF26AA294D}"/>
              </a:ext>
            </a:extLst>
          </p:cNvPr>
          <p:cNvSpPr/>
          <p:nvPr/>
        </p:nvSpPr>
        <p:spPr>
          <a:xfrm>
            <a:off x="511497" y="1067112"/>
            <a:ext cx="2783451" cy="4888211"/>
          </a:xfrm>
          <a:prstGeom prst="roundRect">
            <a:avLst>
              <a:gd name="adj" fmla="val 5837"/>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p:txBody>
      </p:sp>
      <p:sp>
        <p:nvSpPr>
          <p:cNvPr id="16" name="Google Shape;57;p3">
            <a:extLst>
              <a:ext uri="{FF2B5EF4-FFF2-40B4-BE49-F238E27FC236}">
                <a16:creationId xmlns:a16="http://schemas.microsoft.com/office/drawing/2014/main" id="{85F8677A-6F6D-FF41-D496-4484402E3A40}"/>
              </a:ext>
            </a:extLst>
          </p:cNvPr>
          <p:cNvSpPr/>
          <p:nvPr/>
        </p:nvSpPr>
        <p:spPr>
          <a:xfrm>
            <a:off x="9057548" y="1067112"/>
            <a:ext cx="2783451" cy="4888211"/>
          </a:xfrm>
          <a:prstGeom prst="roundRect">
            <a:avLst>
              <a:gd name="adj" fmla="val 5837"/>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p:txBody>
      </p:sp>
      <p:sp>
        <p:nvSpPr>
          <p:cNvPr id="17" name="Google Shape;72;p3">
            <a:extLst>
              <a:ext uri="{FF2B5EF4-FFF2-40B4-BE49-F238E27FC236}">
                <a16:creationId xmlns:a16="http://schemas.microsoft.com/office/drawing/2014/main" id="{86DF7576-DF8A-38C7-4CB2-08E351EC51DD}"/>
              </a:ext>
            </a:extLst>
          </p:cNvPr>
          <p:cNvSpPr txBox="1"/>
          <p:nvPr/>
        </p:nvSpPr>
        <p:spPr>
          <a:xfrm>
            <a:off x="9230003" y="1257590"/>
            <a:ext cx="2438539"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1" i="0" u="none" strike="noStrike" kern="0" cap="none" spc="0" normalizeH="0" baseline="0" noProof="0">
                <a:ln>
                  <a:noFill/>
                </a:ln>
                <a:solidFill>
                  <a:srgbClr val="BA0C2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Superpowers</a:t>
            </a:r>
            <a:endParaRPr kumimoji="0" lang="en-US" sz="12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p:txBody>
      </p:sp>
      <p:sp>
        <p:nvSpPr>
          <p:cNvPr id="18" name="TextBox 17">
            <a:extLst>
              <a:ext uri="{FF2B5EF4-FFF2-40B4-BE49-F238E27FC236}">
                <a16:creationId xmlns:a16="http://schemas.microsoft.com/office/drawing/2014/main" id="{4D91D4D0-90DA-CB1A-B4A4-24B47BB555E6}"/>
              </a:ext>
            </a:extLst>
          </p:cNvPr>
          <p:cNvSpPr txBox="1"/>
          <p:nvPr/>
        </p:nvSpPr>
        <p:spPr>
          <a:xfrm>
            <a:off x="9193050" y="1551563"/>
            <a:ext cx="2512443" cy="2954655"/>
          </a:xfrm>
          <a:prstGeom prst="rect">
            <a:avLst/>
          </a:prstGeom>
          <a:noFill/>
        </p:spPr>
        <p:txBody>
          <a:bodyPr wrap="square">
            <a:spAutoFit/>
          </a:bodyPr>
          <a:lstStyle/>
          <a:p>
            <a:pPr marL="228600" indent="-228600" eaLnBrk="1" fontAlgn="auto" hangingPunct="1">
              <a:spcBef>
                <a:spcPts val="0"/>
              </a:spcBef>
              <a:spcAft>
                <a:spcPts val="1200"/>
              </a:spcAft>
              <a:buFont typeface="+mj-lt"/>
              <a:buAutoNum type="arabicPeriod"/>
              <a:defRPr/>
            </a:pPr>
            <a:r>
              <a:rPr lang="en-IN" sz="1100" b="1">
                <a:latin typeface="Helvetica Neue" panose="02000503000000020004" pitchFamily="2" charset="0"/>
                <a:ea typeface="Helvetica Neue" panose="02000503000000020004" pitchFamily="2" charset="0"/>
                <a:cs typeface="Helvetica Neue" panose="02000503000000020004" pitchFamily="2" charset="0"/>
              </a:rPr>
              <a:t>Decisive, Commercial Influence: </a:t>
            </a:r>
            <a:r>
              <a:rPr lang="en-IN" sz="1100">
                <a:latin typeface="Helvetica Neue" panose="02000503000000020004" pitchFamily="2" charset="0"/>
                <a:ea typeface="Helvetica Neue" panose="02000503000000020004" pitchFamily="2" charset="0"/>
                <a:cs typeface="Helvetica Neue" panose="02000503000000020004" pitchFamily="2" charset="0"/>
              </a:rPr>
              <a:t>The capacity to assertively align stakeholders, cut through ambiguity, and drive consistent, actionable communication—ensuring decisions are translated into clear direction, unified priorities, and measurable business impact.</a:t>
            </a:r>
            <a:endParaRPr lang="en-US" sz="1100">
              <a:solidFill>
                <a:prstClr val="black"/>
              </a:solidFill>
              <a:latin typeface="Helvetica Neue" panose="02000503000000020004" pitchFamily="2" charset="0"/>
              <a:ea typeface="Helvetica Neue" panose="02000503000000020004" pitchFamily="2" charset="0"/>
              <a:cs typeface="Helvetica Neue" panose="02000503000000020004" pitchFamily="2" charset="0"/>
            </a:endParaRPr>
          </a:p>
          <a:p>
            <a:pPr marL="228600" marR="0" lvl="0" indent="-22860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IN" sz="11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Technical and Institutional Mastery: </a:t>
            </a:r>
            <a:r>
              <a:rPr kumimoji="0" lang="en-IN" sz="11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The ability to leverage deep financial expertise and anticipate challenges, drive sound decision-making, and stabilize the organization through complex transitions.</a:t>
            </a:r>
          </a:p>
        </p:txBody>
      </p:sp>
      <p:sp>
        <p:nvSpPr>
          <p:cNvPr id="22" name="Google Shape;72;p3">
            <a:extLst>
              <a:ext uri="{FF2B5EF4-FFF2-40B4-BE49-F238E27FC236}">
                <a16:creationId xmlns:a16="http://schemas.microsoft.com/office/drawing/2014/main" id="{DA5ECF76-38E2-DE26-DF3C-29BF13665C29}"/>
              </a:ext>
            </a:extLst>
          </p:cNvPr>
          <p:cNvSpPr txBox="1"/>
          <p:nvPr/>
        </p:nvSpPr>
        <p:spPr>
          <a:xfrm>
            <a:off x="988909" y="1257434"/>
            <a:ext cx="2438539" cy="243636"/>
          </a:xfrm>
          <a:prstGeom prst="rect">
            <a:avLst/>
          </a:prstGeom>
          <a:noFill/>
          <a:ln>
            <a:noFill/>
          </a:ln>
        </p:spPr>
        <p:txBody>
          <a:bodyPr spcFirstLastPara="1" wrap="square" lIns="22850" tIns="22850" rIns="22850" bIns="22850" anchor="b" anchorCtr="0">
            <a:spAutoFit/>
          </a:bodyPr>
          <a:lstStyle/>
          <a:p>
            <a:pPr marL="12700" marR="0" lvl="0" indent="0" algn="l" defTabSz="914400" rtl="0" eaLnBrk="0" fontAlgn="base" latinLnBrk="0" hangingPunct="0">
              <a:lnSpc>
                <a:spcPct val="100000"/>
              </a:lnSpc>
              <a:spcBef>
                <a:spcPts val="100"/>
              </a:spcBef>
              <a:spcAft>
                <a:spcPct val="0"/>
              </a:spcAft>
              <a:buClrTx/>
              <a:buSzTx/>
              <a:buFontTx/>
              <a:buNone/>
              <a:tabLst/>
              <a:defRPr/>
            </a:pPr>
            <a:r>
              <a:rPr kumimoji="0" lang="en-US" sz="1200" b="0" i="0" u="none" strike="noStrike" kern="1200" cap="none" spc="-35"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Jobs To Be Done </a:t>
            </a:r>
            <a:r>
              <a:rPr kumimoji="0" lang="en-US" sz="1200" b="0" i="0" u="none" strike="noStrike" kern="1200" cap="none" spc="-35"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Pivot</a:t>
            </a:r>
          </a:p>
        </p:txBody>
      </p:sp>
      <p:sp>
        <p:nvSpPr>
          <p:cNvPr id="23" name="TextBox 22">
            <a:extLst>
              <a:ext uri="{FF2B5EF4-FFF2-40B4-BE49-F238E27FC236}">
                <a16:creationId xmlns:a16="http://schemas.microsoft.com/office/drawing/2014/main" id="{F53AC62A-4E41-AC82-90E5-2B819810A538}"/>
              </a:ext>
            </a:extLst>
          </p:cNvPr>
          <p:cNvSpPr txBox="1"/>
          <p:nvPr/>
        </p:nvSpPr>
        <p:spPr>
          <a:xfrm>
            <a:off x="702812" y="1809051"/>
            <a:ext cx="2438539" cy="2410916"/>
          </a:xfrm>
          <a:prstGeom prst="rect">
            <a:avLst/>
          </a:prstGeom>
          <a:noFill/>
        </p:spPr>
        <p:txBody>
          <a:bodyPr wrap="square">
            <a:spAutoFit/>
          </a:bodyPr>
          <a:lstStyle/>
          <a:p>
            <a:pPr marL="171450" marR="0" lvl="0" indent="-171450" algn="l" defTabSz="914400" rtl="0" eaLnBrk="0" fontAlgn="base" latinLnBrk="0" hangingPunct="0">
              <a:lnSpc>
                <a:spcPct val="100000"/>
              </a:lnSpc>
              <a:spcBef>
                <a:spcPct val="0"/>
              </a:spcBef>
              <a:spcAft>
                <a:spcPts val="36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From</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managing legacy issues, dependencies, and transactional reporting</a:t>
            </a:r>
          </a:p>
          <a:p>
            <a:pPr marL="171450" marR="0" lvl="0" indent="-171450" algn="l" defTabSz="914400" rtl="0" eaLnBrk="0" fontAlgn="base" latinLnBrk="0" hangingPunct="0">
              <a:lnSpc>
                <a:spcPct val="100000"/>
              </a:lnSpc>
              <a:spcBef>
                <a:spcPct val="0"/>
              </a:spcBef>
              <a:spcAft>
                <a:spcPts val="36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ts val="36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To</a:t>
            </a: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a commercially assertive, institutionally influential leader who proactively drives cross-functional alignment, clear communication, and decisive execution that balances cost discipline with growth ambitions</a:t>
            </a:r>
          </a:p>
        </p:txBody>
      </p:sp>
      <p:sp>
        <p:nvSpPr>
          <p:cNvPr id="5" name="TextBox 4">
            <a:extLst>
              <a:ext uri="{FF2B5EF4-FFF2-40B4-BE49-F238E27FC236}">
                <a16:creationId xmlns:a16="http://schemas.microsoft.com/office/drawing/2014/main" id="{61439098-53E2-7F98-10C6-A9E630B1F9D1}"/>
              </a:ext>
            </a:extLst>
          </p:cNvPr>
          <p:cNvSpPr txBox="1"/>
          <p:nvPr/>
        </p:nvSpPr>
        <p:spPr>
          <a:xfrm rot="19103358">
            <a:off x="3879785" y="3136612"/>
            <a:ext cx="4592924" cy="584775"/>
          </a:xfrm>
          <a:prstGeom prst="rect">
            <a:avLst/>
          </a:prstGeom>
          <a:noFill/>
        </p:spPr>
        <p:txBody>
          <a:bodyPr wrap="none" rtlCol="0">
            <a:spAutoFit/>
          </a:bodyPr>
          <a:lstStyle/>
          <a:p>
            <a:r>
              <a:rPr lang="en-US" sz="3200">
                <a:solidFill>
                  <a:srgbClr val="000000">
                    <a:alpha val="30000"/>
                  </a:srgbClr>
                </a:solidFill>
                <a:latin typeface="Helvetica Neue" panose="02000503000000020004" pitchFamily="2" charset="0"/>
                <a:ea typeface="Helvetica Neue" panose="02000503000000020004" pitchFamily="2" charset="0"/>
                <a:cs typeface="Helvetica Neue" panose="02000503000000020004" pitchFamily="2" charset="0"/>
              </a:rPr>
              <a:t>WORKING DOCUMENT</a:t>
            </a:r>
          </a:p>
        </p:txBody>
      </p:sp>
    </p:spTree>
    <p:extLst>
      <p:ext uri="{BB962C8B-B14F-4D97-AF65-F5344CB8AC3E}">
        <p14:creationId xmlns:p14="http://schemas.microsoft.com/office/powerpoint/2010/main" val="38746062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8F8F4273-5AEC-7CD1-4FE9-115176CE5498}"/>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6D506F6D-AF51-67B5-14DA-A56BF087979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50</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D4CF1BA4-1169-50EF-1788-1F7B8A7E63A9}"/>
              </a:ext>
            </a:extLst>
          </p:cNvPr>
          <p:cNvSpPr txBox="1">
            <a:spLocks noChangeArrowheads="1"/>
          </p:cNvSpPr>
          <p:nvPr/>
        </p:nvSpPr>
        <p:spPr bwMode="auto">
          <a:xfrm>
            <a:off x="550863" y="374650"/>
            <a:ext cx="75596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nSpc>
                <a:spcPct val="90000"/>
              </a:lnSpc>
              <a:buClr>
                <a:srgbClr val="000000"/>
              </a:buClr>
              <a:buSzPts val="2400"/>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Jobs To Be Done Match </a:t>
            </a:r>
            <a:r>
              <a:rPr lang="en-US" altLang="en-US" sz="2000">
                <a:solidFill>
                  <a:srgbClr val="002060"/>
                </a:solidFill>
                <a:latin typeface="Helvetica Neue" panose="02000503000000020004" pitchFamily="2" charset="0"/>
                <a:sym typeface="Helvetica Neue Light" panose="02000403000000020004" pitchFamily="2" charset="0"/>
              </a:rPr>
              <a:t>| Acting CFO | </a:t>
            </a:r>
            <a:r>
              <a:rPr lang="en-US" altLang="en-US" sz="2000">
                <a:latin typeface="Helvetica Neue" panose="02000503000000020004" pitchFamily="2" charset="0"/>
                <a:sym typeface="Helvetica Neue Light" panose="02000403000000020004" pitchFamily="2" charset="0"/>
              </a:rPr>
              <a:t>AMMAR AZHAR</a:t>
            </a:r>
          </a:p>
        </p:txBody>
      </p:sp>
      <p:sp>
        <p:nvSpPr>
          <p:cNvPr id="4" name="Google Shape;57;p3">
            <a:extLst>
              <a:ext uri="{FF2B5EF4-FFF2-40B4-BE49-F238E27FC236}">
                <a16:creationId xmlns:a16="http://schemas.microsoft.com/office/drawing/2014/main" id="{DC6B03F2-6EE4-8485-6A4D-8C79A6E475C1}"/>
              </a:ext>
            </a:extLst>
          </p:cNvPr>
          <p:cNvSpPr/>
          <p:nvPr/>
        </p:nvSpPr>
        <p:spPr>
          <a:xfrm>
            <a:off x="669672" y="831850"/>
            <a:ext cx="9887492" cy="5236441"/>
          </a:xfrm>
          <a:prstGeom prst="roundRect">
            <a:avLst>
              <a:gd name="adj" fmla="val 225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Tx/>
              <a:buNone/>
              <a:tabLst/>
              <a:defRPr/>
            </a:pPr>
            <a:r>
              <a:rPr kumimoji="0" lang="en-US" sz="1200" b="1" i="0" u="none" strike="noStrike" kern="0" cap="none" spc="0" normalizeH="0" baseline="0" noProof="0">
                <a:ln>
                  <a:noFill/>
                </a:ln>
                <a:solidFill>
                  <a:srgbClr val="000000"/>
                </a:solidFill>
                <a:effectLst/>
                <a:uLnTx/>
                <a:uFillTx/>
                <a:latin typeface="Lato"/>
                <a:ea typeface="Lato"/>
                <a:cs typeface="Lato"/>
                <a:sym typeface="Lato"/>
              </a:rPr>
              <a:t> </a:t>
            </a:r>
          </a:p>
        </p:txBody>
      </p:sp>
      <p:sp>
        <p:nvSpPr>
          <p:cNvPr id="2" name="TextBox 1">
            <a:extLst>
              <a:ext uri="{FF2B5EF4-FFF2-40B4-BE49-F238E27FC236}">
                <a16:creationId xmlns:a16="http://schemas.microsoft.com/office/drawing/2014/main" id="{AFE4E4A3-F8D2-55E7-87EE-BD27649C77FD}"/>
              </a:ext>
            </a:extLst>
          </p:cNvPr>
          <p:cNvSpPr txBox="1"/>
          <p:nvPr/>
        </p:nvSpPr>
        <p:spPr>
          <a:xfrm>
            <a:off x="871255" y="1092126"/>
            <a:ext cx="9484326" cy="5078313"/>
          </a:xfrm>
          <a:prstGeom prst="rect">
            <a:avLst/>
          </a:prstGeom>
          <a:noFill/>
        </p:spPr>
        <p:txBody>
          <a:bodyPr wrap="square" lIns="91440" tIns="45720" rIns="91440" bIns="45720" rtlCol="0" anchor="t">
            <a:spAutoFit/>
          </a:bodyPr>
          <a:lstStyle/>
          <a:p>
            <a:r>
              <a:rPr lang="en-US" sz="1200" b="1">
                <a:latin typeface="Helvetica Neue"/>
                <a:ea typeface="Helvetica Neue" panose="02000503000000020004" pitchFamily="2" charset="0"/>
                <a:cs typeface="Helvetica Neue" panose="02000503000000020004" pitchFamily="2" charset="0"/>
              </a:rPr>
              <a:t>Role Pivots &amp; Risks</a:t>
            </a:r>
          </a:p>
          <a:p>
            <a:endParaRPr lang="en-US" sz="120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200">
                <a:latin typeface="Helvetica Neue"/>
                <a:ea typeface="Helvetica Neue" panose="02000503000000020004" pitchFamily="2" charset="0"/>
                <a:cs typeface="Helvetica Neue" panose="02000503000000020004" pitchFamily="2" charset="0"/>
              </a:rPr>
              <a:t>There is currently misalignment between cost control and growth priorities. The role is central to aligning leadership around one financial narrative — clarifying trade-offs, building consensus, and ensuring resources are deployed where they create the most value.</a:t>
            </a:r>
          </a:p>
          <a:p>
            <a:endParaRPr lang="en-US" sz="120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200">
                <a:latin typeface="Helvetica Neue"/>
                <a:ea typeface="Helvetica Neue" panose="02000503000000020004" pitchFamily="2" charset="0"/>
                <a:cs typeface="Helvetica Neue" panose="02000503000000020004" pitchFamily="2" charset="0"/>
              </a:rPr>
              <a:t>Finance must also evolve from a control-oriented function to a driver of cross-functional effectiveness. The role should work closely with peers in Commercial, Operations, and Digital to align plans, strengthen execution, and ensure financial priorities are understood, owned, and acted upon across the enterprise.</a:t>
            </a:r>
          </a:p>
          <a:p>
            <a:endParaRPr lang="en-US" sz="1200" b="1">
              <a:latin typeface="Helvetica Neue" panose="02000503000000020004" pitchFamily="2" charset="0"/>
              <a:ea typeface="Helvetica Neue" panose="02000503000000020004" pitchFamily="2" charset="0"/>
              <a:cs typeface="Helvetica Neue" panose="02000503000000020004" pitchFamily="2" charset="0"/>
            </a:endParaRPr>
          </a:p>
          <a:p>
            <a:r>
              <a:rPr lang="en-US" sz="1200" b="1">
                <a:latin typeface="Helvetica Neue"/>
                <a:ea typeface="Helvetica Neue" panose="02000503000000020004" pitchFamily="2" charset="0"/>
                <a:cs typeface="Helvetica Neue" panose="02000503000000020004" pitchFamily="2" charset="0"/>
              </a:rPr>
              <a:t>Is the Talent Equipped for Success?</a:t>
            </a:r>
          </a:p>
          <a:p>
            <a:endParaRPr lang="en-US" sz="120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200">
                <a:latin typeface="Helvetica Neue"/>
                <a:ea typeface="Helvetica Neue" panose="02000503000000020004" pitchFamily="2" charset="0"/>
                <a:cs typeface="Helvetica Neue" panose="02000503000000020004" pitchFamily="2" charset="0"/>
              </a:rPr>
              <a:t>Ammar is a technically strong and commercially astute leader and a steady hand through multiple transformation phases. His calm presence, accessibility, and practical mindset have built trust and stability—qualities the organization values during change.</a:t>
            </a:r>
          </a:p>
          <a:p>
            <a:pPr marL="171450" indent="-171450">
              <a:buFont typeface="Arial" panose="020B0604020202020204" pitchFamily="34" charset="0"/>
              <a:buChar char="•"/>
            </a:pPr>
            <a:endParaRPr lang="en-US" sz="120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200">
                <a:latin typeface="Helvetica Neue"/>
                <a:ea typeface="Helvetica Neue" panose="02000503000000020004" pitchFamily="2" charset="0"/>
                <a:cs typeface="Helvetica Neue" panose="02000503000000020004" pitchFamily="2" charset="0"/>
              </a:rPr>
              <a:t>His greatest opportunity lies in extending that credibility beyond Finance—building a stronger bridge with his peers, his team and the organization. </a:t>
            </a:r>
          </a:p>
          <a:p>
            <a:pPr marL="171450" indent="-171450">
              <a:buFont typeface="Arial" panose="020B0604020202020204" pitchFamily="34" charset="0"/>
              <a:buChar char="•"/>
            </a:pPr>
            <a:endParaRPr lang="en-US" sz="120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200">
                <a:latin typeface="Helvetica Neue"/>
                <a:ea typeface="Helvetica Neue" panose="02000503000000020004" pitchFamily="2" charset="0"/>
                <a:cs typeface="Helvetica Neue" panose="02000503000000020004" pitchFamily="2" charset="0"/>
              </a:rPr>
              <a:t>His strong personal drive and high standards sometimes lead him to take on too much himself, so expanding his comfort with delegation and relational leadership would help him leverage his team more fully. Strengthening these capabilities will enable him to build an even more empowered, connected team and deepen collaboration across functions.</a:t>
            </a:r>
          </a:p>
          <a:p>
            <a:endParaRPr lang="en-US" sz="1200">
              <a:latin typeface="Helvetica Neue"/>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200">
                <a:latin typeface="Helvetica Neue"/>
                <a:ea typeface="Helvetica Neue" panose="02000503000000020004" pitchFamily="2" charset="0"/>
                <a:cs typeface="Helvetica Neue" panose="02000503000000020004" pitchFamily="2" charset="0"/>
              </a:rPr>
              <a:t>His Hogan profile reflects strong confidence, commercial drive, and clear leadership ambition.</a:t>
            </a:r>
            <a:r>
              <a:rPr lang="en-US" sz="1200">
                <a:latin typeface="Helvetica Neue" panose="02000503000000020004" pitchFamily="2" charset="0"/>
                <a:ea typeface="Helvetica Neue" panose="02000503000000020004" pitchFamily="2" charset="0"/>
                <a:cs typeface="Helvetica Neue" panose="02000503000000020004" pitchFamily="2" charset="0"/>
              </a:rPr>
              <a:t> Recognize that, under pressure</a:t>
            </a:r>
            <a:r>
              <a:rPr lang="en-US" sz="1200">
                <a:latin typeface="Helvetica Neue"/>
                <a:ea typeface="Helvetica Neue" panose="02000503000000020004" pitchFamily="2" charset="0"/>
                <a:cs typeface="Helvetica Neue" panose="02000503000000020004" pitchFamily="2" charset="0"/>
              </a:rPr>
              <a:t>, he may lean toward skepticism or impatience, which can reduce attention to interpersonal dynamics. He will be most effective when he channels his assertiveness into constructive influence and positions himself as a steady, stabilizing leader among his peers. Becoming a stronger thinking partner to the CEO and increasing his voice and presence within the leadership team will further enhance his impact.</a:t>
            </a:r>
          </a:p>
        </p:txBody>
      </p:sp>
    </p:spTree>
    <p:extLst>
      <p:ext uri="{BB962C8B-B14F-4D97-AF65-F5344CB8AC3E}">
        <p14:creationId xmlns:p14="http://schemas.microsoft.com/office/powerpoint/2010/main" val="4101820656"/>
      </p:ext>
    </p:extLst>
  </p:cSld>
  <p:clrMapOvr>
    <a:masterClrMapping/>
  </p:clrMapOvr>
  <p:extLst>
    <p:ext uri="{6950BFC3-D8DA-4A85-94F7-54DA5524770B}">
      <p188:commentRel xmlns:p188="http://schemas.microsoft.com/office/powerpoint/2018/8/main" r:id="rId3"/>
    </p:ext>
  </p:extLst>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FF08BD65-C119-544A-B089-F21DFFFC8EFC}"/>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A5E0113D-519A-A394-3A0E-7681025B735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51</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E3088EA5-01F5-F5F8-2B88-DCCF0280298A}"/>
              </a:ext>
            </a:extLst>
          </p:cNvPr>
          <p:cNvSpPr txBox="1">
            <a:spLocks noChangeArrowheads="1"/>
          </p:cNvSpPr>
          <p:nvPr/>
        </p:nvSpPr>
        <p:spPr bwMode="auto">
          <a:xfrm>
            <a:off x="550863" y="374650"/>
            <a:ext cx="75596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HOGAN | Acting CFO | </a:t>
            </a:r>
            <a:r>
              <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AMMAR AZHAR</a:t>
            </a:r>
          </a:p>
        </p:txBody>
      </p:sp>
      <p:grpSp>
        <p:nvGrpSpPr>
          <p:cNvPr id="4" name="Group 3">
            <a:extLst>
              <a:ext uri="{FF2B5EF4-FFF2-40B4-BE49-F238E27FC236}">
                <a16:creationId xmlns:a16="http://schemas.microsoft.com/office/drawing/2014/main" id="{1AA6764D-E5E3-FF9E-A953-8940D8535128}"/>
              </a:ext>
            </a:extLst>
          </p:cNvPr>
          <p:cNvGrpSpPr/>
          <p:nvPr/>
        </p:nvGrpSpPr>
        <p:grpSpPr>
          <a:xfrm>
            <a:off x="758455" y="803102"/>
            <a:ext cx="6226053" cy="655403"/>
            <a:chOff x="529855" y="131505"/>
            <a:chExt cx="6226053" cy="655403"/>
          </a:xfrm>
        </p:grpSpPr>
        <p:sp>
          <p:nvSpPr>
            <p:cNvPr id="6" name="TextBox 5">
              <a:extLst>
                <a:ext uri="{FF2B5EF4-FFF2-40B4-BE49-F238E27FC236}">
                  <a16:creationId xmlns:a16="http://schemas.microsoft.com/office/drawing/2014/main" id="{0FC67CD6-C0AC-6620-D9DF-2AD8A16F2148}"/>
                </a:ext>
              </a:extLst>
            </p:cNvPr>
            <p:cNvSpPr txBox="1"/>
            <p:nvPr/>
          </p:nvSpPr>
          <p:spPr>
            <a:xfrm>
              <a:off x="529855" y="131505"/>
              <a:ext cx="680414" cy="253916"/>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lumMod val="50000"/>
                      <a:lumOff val="50000"/>
                    </a:srgbClr>
                  </a:solidFill>
                  <a:effectLst/>
                  <a:uLnTx/>
                  <a:uFillTx/>
                  <a:latin typeface="Lato Light" panose="020F0502020204030203" pitchFamily="34" charset="0"/>
                  <a:ea typeface="Lato Light" panose="020F0502020204030203" pitchFamily="34" charset="0"/>
                  <a:cs typeface="Lato Light" panose="020F0502020204030203" pitchFamily="34" charset="0"/>
                  <a:sym typeface="Arial" panose="020B0604020202020204" pitchFamily="34" charset="0"/>
                </a:rPr>
                <a:t>ROLE</a:t>
              </a:r>
            </a:p>
          </p:txBody>
        </p:sp>
        <p:sp>
          <p:nvSpPr>
            <p:cNvPr id="7" name="TextBox 6">
              <a:extLst>
                <a:ext uri="{FF2B5EF4-FFF2-40B4-BE49-F238E27FC236}">
                  <a16:creationId xmlns:a16="http://schemas.microsoft.com/office/drawing/2014/main" id="{45DAEC8D-22FF-18E8-06D7-19F544458EAE}"/>
                </a:ext>
              </a:extLst>
            </p:cNvPr>
            <p:cNvSpPr txBox="1"/>
            <p:nvPr/>
          </p:nvSpPr>
          <p:spPr>
            <a:xfrm>
              <a:off x="529855" y="356566"/>
              <a:ext cx="3201164" cy="430342"/>
            </a:xfrm>
            <a:prstGeom prst="rect">
              <a:avLst/>
            </a:prstGeom>
            <a:noFill/>
          </p:spPr>
          <p:txBody>
            <a:bodyPr wrap="square" lIns="91440" tIns="45720" rIns="9144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rial" panose="020B0604020202020204" pitchFamily="34" charset="0"/>
                  <a:ea typeface="Lato Light" panose="020F0502020204030203" pitchFamily="34" charset="0"/>
                  <a:cs typeface="Arial" panose="020B0604020202020204" pitchFamily="34" charset="0"/>
                  <a:sym typeface="Arial" panose="020B0604020202020204" pitchFamily="34" charset="0"/>
                </a:rPr>
                <a:t>Acting CFO</a:t>
              </a:r>
            </a:p>
          </p:txBody>
        </p:sp>
        <p:sp>
          <p:nvSpPr>
            <p:cNvPr id="12" name="TextBox 11">
              <a:extLst>
                <a:ext uri="{FF2B5EF4-FFF2-40B4-BE49-F238E27FC236}">
                  <a16:creationId xmlns:a16="http://schemas.microsoft.com/office/drawing/2014/main" id="{195D24D7-9C5C-6600-DDC1-038AFC8C0323}"/>
                </a:ext>
              </a:extLst>
            </p:cNvPr>
            <p:cNvSpPr txBox="1"/>
            <p:nvPr/>
          </p:nvSpPr>
          <p:spPr>
            <a:xfrm>
              <a:off x="5962084" y="131505"/>
              <a:ext cx="748798" cy="253916"/>
            </a:xfrm>
            <a:prstGeom prst="rect">
              <a:avLst/>
            </a:prstGeom>
            <a:noFill/>
          </p:spPr>
          <p:txBody>
            <a:bodyPr wrap="square"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lumMod val="50000"/>
                      <a:lumOff val="50000"/>
                    </a:srgbClr>
                  </a:solidFill>
                  <a:effectLst/>
                  <a:uLnTx/>
                  <a:uFillTx/>
                  <a:latin typeface="Lato Light" panose="020F0502020204030203" pitchFamily="34" charset="0"/>
                  <a:ea typeface="Lato Light" panose="020F0502020204030203" pitchFamily="34" charset="0"/>
                  <a:cs typeface="Lato Light" panose="020F0502020204030203" pitchFamily="34" charset="0"/>
                  <a:sym typeface="Arial" panose="020B0604020202020204" pitchFamily="34" charset="0"/>
                </a:rPr>
                <a:t>TALENT</a:t>
              </a:r>
            </a:p>
          </p:txBody>
        </p:sp>
        <p:sp>
          <p:nvSpPr>
            <p:cNvPr id="13" name="TextBox 12">
              <a:extLst>
                <a:ext uri="{FF2B5EF4-FFF2-40B4-BE49-F238E27FC236}">
                  <a16:creationId xmlns:a16="http://schemas.microsoft.com/office/drawing/2014/main" id="{1BC2B204-E0E3-D145-72A4-27F6FB7D0261}"/>
                </a:ext>
              </a:extLst>
            </p:cNvPr>
            <p:cNvSpPr txBox="1"/>
            <p:nvPr/>
          </p:nvSpPr>
          <p:spPr>
            <a:xfrm>
              <a:off x="3665327" y="296859"/>
              <a:ext cx="3090581" cy="490041"/>
            </a:xfrm>
            <a:prstGeom prst="rect">
              <a:avLst/>
            </a:prstGeom>
            <a:noFill/>
          </p:spPr>
          <p:txBody>
            <a:bodyPr wrap="square" lIns="91440" tIns="45720" rIns="91440" bIns="4572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rial" panose="020B0604020202020204" pitchFamily="34" charset="0"/>
                  <a:ea typeface="Lato Light" panose="020F0502020204030203" pitchFamily="34" charset="0"/>
                  <a:cs typeface="Arial" panose="020B0604020202020204" pitchFamily="34" charset="0"/>
                  <a:sym typeface="Arial" panose="020B0604020202020204" pitchFamily="34" charset="0"/>
                </a:rPr>
                <a:t>AMMAR AZHAR</a:t>
              </a:r>
            </a:p>
          </p:txBody>
        </p:sp>
      </p:grpSp>
      <p:pic>
        <p:nvPicPr>
          <p:cNvPr id="2" name="Picture 1">
            <a:extLst>
              <a:ext uri="{FF2B5EF4-FFF2-40B4-BE49-F238E27FC236}">
                <a16:creationId xmlns:a16="http://schemas.microsoft.com/office/drawing/2014/main" id="{66E189D5-CEB6-C47D-D7E9-FFE476511F85}"/>
              </a:ext>
            </a:extLst>
          </p:cNvPr>
          <p:cNvPicPr>
            <a:picLocks noChangeAspect="1"/>
          </p:cNvPicPr>
          <p:nvPr/>
        </p:nvPicPr>
        <p:blipFill>
          <a:blip r:embed="rId4"/>
          <a:stretch>
            <a:fillRect/>
          </a:stretch>
        </p:blipFill>
        <p:spPr>
          <a:xfrm>
            <a:off x="7315200" y="930427"/>
            <a:ext cx="4876800" cy="5793192"/>
          </a:xfrm>
          <a:prstGeom prst="rect">
            <a:avLst/>
          </a:prstGeom>
        </p:spPr>
      </p:pic>
      <p:sp>
        <p:nvSpPr>
          <p:cNvPr id="3" name="TextBox 2">
            <a:extLst>
              <a:ext uri="{FF2B5EF4-FFF2-40B4-BE49-F238E27FC236}">
                <a16:creationId xmlns:a16="http://schemas.microsoft.com/office/drawing/2014/main" id="{381852C6-F5B4-8AF3-DFE8-9DB1E5CC1A68}"/>
              </a:ext>
            </a:extLst>
          </p:cNvPr>
          <p:cNvSpPr txBox="1"/>
          <p:nvPr/>
        </p:nvSpPr>
        <p:spPr>
          <a:xfrm>
            <a:off x="580059" y="1540568"/>
            <a:ext cx="6388103" cy="4531841"/>
          </a:xfrm>
          <a:prstGeom prst="rect">
            <a:avLst/>
          </a:prstGeom>
          <a:noFill/>
        </p:spPr>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00000"/>
                </a:solidFill>
                <a:effectLst/>
                <a:uLnTx/>
                <a:uFillTx/>
                <a:latin typeface="Arial"/>
                <a:ea typeface="Lato Light"/>
                <a:cs typeface="Lato Light"/>
                <a:sym typeface="Arial" panose="020B0604020202020204" pitchFamily="34" charset="0"/>
              </a:rPr>
              <a:t>Role · Talent Match</a:t>
            </a:r>
            <a:br>
              <a:rPr lang="en-US" sz="1100" b="1" i="0" u="none" strike="noStrike" kern="1200" cap="none" spc="0" normalizeH="0" baseline="0" noProof="0">
                <a:ln>
                  <a:noFill/>
                </a:ln>
                <a:effectLst/>
                <a:uLnTx/>
                <a:uFillTx/>
                <a:latin typeface="Arial"/>
                <a:ea typeface="Lato Light" panose="020F0502020204030203" pitchFamily="34" charset="0"/>
                <a:cs typeface="Lato Light" panose="020F0502020204030203" pitchFamily="34" charset="0"/>
              </a:rPr>
            </a:br>
            <a:endParaRPr kumimoji="0" lang="en-US" sz="1100" b="1"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a:cs typeface="Lato Light"/>
                <a:sym typeface="Arial" panose="020B0604020202020204" pitchFamily="34" charset="0"/>
              </a:rPr>
              <a:t>Likely to be financially astute and technically accomplished Ammar is probably particularly adept at the governance, stewardship and controls elements of the CFO role (Commerce, Cautious).</a:t>
            </a:r>
            <a:endParaRPr lang="en-US" sz="1100" b="0" i="0" u="none" strike="noStrike" kern="1200" cap="none" spc="0" normalizeH="0" baseline="0" noProof="0">
              <a:ln>
                <a:noFill/>
              </a:ln>
              <a:solidFill>
                <a:srgbClr val="404040"/>
              </a:solidFill>
              <a:effectLst/>
              <a:uLnTx/>
              <a:uFillTx/>
              <a:latin typeface="Arial"/>
              <a:ea typeface="Lato Light"/>
              <a:cs typeface="Lato Light"/>
            </a:endParaRP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a:cs typeface="Lato Light"/>
                <a:sym typeface="Arial" panose="020B0604020202020204" pitchFamily="34" charset="0"/>
              </a:rPr>
              <a:t>His skills in this respect should also help him with investment evaluation (Skeptical) and ethical and fiduciary responsibility (Altruistic).</a:t>
            </a:r>
            <a:endParaRPr lang="en-US" sz="1100" b="0" i="0" u="none" strike="noStrike" kern="1200" cap="none" spc="0" normalizeH="0" baseline="0" noProof="0">
              <a:ln>
                <a:noFill/>
              </a:ln>
              <a:solidFill>
                <a:srgbClr val="404040"/>
              </a:solidFill>
              <a:effectLst/>
              <a:uLnTx/>
              <a:uFillTx/>
              <a:latin typeface="Arial"/>
              <a:ea typeface="Lato Light"/>
              <a:cs typeface="Lato Ligh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00000"/>
                </a:solidFill>
                <a:effectLst/>
                <a:uLnTx/>
                <a:uFillTx/>
                <a:latin typeface="Arial"/>
                <a:ea typeface="Lato Light"/>
                <a:cs typeface="Lato Light"/>
                <a:sym typeface="Arial" panose="020B0604020202020204" pitchFamily="34" charset="0"/>
              </a:rPr>
              <a:t>Potential Derailers </a:t>
            </a:r>
            <a:br>
              <a:rPr lang="en-US" sz="1100" b="1" i="0" u="none" strike="noStrike" kern="1200" cap="none" spc="0" normalizeH="0" baseline="0" noProof="0">
                <a:ln>
                  <a:noFill/>
                </a:ln>
                <a:effectLst/>
                <a:uLnTx/>
                <a:uFillTx/>
                <a:latin typeface="Arial"/>
                <a:ea typeface="Lato Light" panose="020F0502020204030203" pitchFamily="34" charset="0"/>
                <a:cs typeface="Lato Light" panose="020F0502020204030203" pitchFamily="34" charset="0"/>
              </a:rPr>
            </a:br>
            <a:endParaRPr kumimoji="0" lang="en-US" sz="1100" b="1" i="0" u="none" strike="noStrike" kern="1200" cap="none" spc="0" normalizeH="0" baseline="0" noProof="0">
              <a:ln>
                <a:noFill/>
              </a:ln>
              <a:solidFill>
                <a:srgbClr val="C0000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a:cs typeface="Lato Light"/>
                <a:sym typeface="Arial" panose="020B0604020202020204" pitchFamily="34" charset="0"/>
              </a:rPr>
              <a:t>Ammar might not be naturally given to assertively driving cross-functional alignment (low Sociability, low Ambition) and is probably less visible and connected than he could be (low Affiliation)</a:t>
            </a:r>
            <a:endParaRPr lang="en-US" sz="1100" b="0" i="0" u="none" strike="noStrike" kern="1200" cap="none" spc="0" normalizeH="0" baseline="0" noProof="0">
              <a:ln>
                <a:noFill/>
              </a:ln>
              <a:solidFill>
                <a:srgbClr val="404040"/>
              </a:solidFill>
              <a:effectLst/>
              <a:uLnTx/>
              <a:uFillTx/>
              <a:latin typeface="Arial"/>
              <a:ea typeface="Lato Light"/>
              <a:cs typeface="Lato Light"/>
            </a:endParaRP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a:cs typeface="Lato Light"/>
                <a:sym typeface="Arial" panose="020B0604020202020204" pitchFamily="34" charset="0"/>
              </a:rPr>
              <a:t>Leadership might be an under-developed area for Ammar. He may struggle with delegation (Skeptical) and empathy (low Interpersonal Sensitivity). Combined this could inhibit him building and developing a talented team who need to collaborate effectively with other functions.</a:t>
            </a:r>
            <a:endParaRPr lang="en-US" sz="1100" b="0" i="0" u="none" strike="noStrike" kern="1200" cap="none" spc="0" normalizeH="0" baseline="0" noProof="0">
              <a:ln>
                <a:noFill/>
              </a:ln>
              <a:solidFill>
                <a:srgbClr val="404040"/>
              </a:solidFill>
              <a:effectLst/>
              <a:uLnTx/>
              <a:uFillTx/>
              <a:latin typeface="Arial"/>
              <a:ea typeface="Lato Light"/>
              <a:cs typeface="Lato Light"/>
            </a:endParaRP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a:cs typeface="Lato Light"/>
                <a:sym typeface="Arial" panose="020B0604020202020204" pitchFamily="34" charset="0"/>
              </a:rPr>
              <a:t>There are some questions about how measured Ammar is under pressure (low Adjustment, elevated across HDS, especially Excitable) which could have bearings how sound his decision-making is and how he helps stabilize the organization through complex transitions.</a:t>
            </a:r>
            <a:endParaRPr lang="en-US" sz="1100" b="0" i="0" u="none" strike="noStrike" kern="1200" cap="none" spc="0" normalizeH="0" baseline="0" noProof="0">
              <a:ln>
                <a:noFill/>
              </a:ln>
              <a:solidFill>
                <a:srgbClr val="404040"/>
              </a:solidFill>
              <a:effectLst/>
              <a:uLnTx/>
              <a:uFillTx/>
              <a:latin typeface="Arial"/>
              <a:ea typeface="Lato Light"/>
              <a:cs typeface="Lato Light"/>
            </a:endParaRP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p:txBody>
      </p:sp>
    </p:spTree>
    <p:extLst>
      <p:ext uri="{BB962C8B-B14F-4D97-AF65-F5344CB8AC3E}">
        <p14:creationId xmlns:p14="http://schemas.microsoft.com/office/powerpoint/2010/main" val="874472299"/>
      </p:ext>
    </p:extLst>
  </p:cSld>
  <p:clrMapOvr>
    <a:masterClrMapping/>
  </p:clrMapOvr>
  <p:extLst>
    <p:ext uri="{6950BFC3-D8DA-4A85-94F7-54DA5524770B}">
      <p188:commentRel xmlns:p188="http://schemas.microsoft.com/office/powerpoint/2018/8/main" r:id="rId3"/>
    </p:ext>
  </p:extLst>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8B7771D2-5C21-703A-74DD-EF8B6FD536FB}"/>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F8766E17-741C-FFE9-0040-B2CCA02EE24E}"/>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52</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12AB0F61-2D14-CDF3-01A5-D167C9D8215D}"/>
              </a:ext>
            </a:extLst>
          </p:cNvPr>
          <p:cNvSpPr txBox="1">
            <a:spLocks noChangeArrowheads="1"/>
          </p:cNvSpPr>
          <p:nvPr/>
        </p:nvSpPr>
        <p:spPr bwMode="auto">
          <a:xfrm>
            <a:off x="550863" y="374650"/>
            <a:ext cx="75596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Enabling Success Plan | Acting CFO | AMMAR AZHAR</a:t>
            </a:r>
            <a:endPar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p:txBody>
      </p:sp>
      <p:sp>
        <p:nvSpPr>
          <p:cNvPr id="4" name="Google Shape;57;p3">
            <a:extLst>
              <a:ext uri="{FF2B5EF4-FFF2-40B4-BE49-F238E27FC236}">
                <a16:creationId xmlns:a16="http://schemas.microsoft.com/office/drawing/2014/main" id="{377C4BEB-82EB-AC71-87ED-3C3DE210F48C}"/>
              </a:ext>
            </a:extLst>
          </p:cNvPr>
          <p:cNvSpPr/>
          <p:nvPr/>
        </p:nvSpPr>
        <p:spPr>
          <a:xfrm>
            <a:off x="462166" y="1097720"/>
            <a:ext cx="3418461" cy="4756815"/>
          </a:xfrm>
          <a:prstGeom prst="roundRect">
            <a:avLst>
              <a:gd name="adj" fmla="val 3135"/>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Lato" panose="020F0502020204030203" pitchFamily="34" charset="77"/>
              <a:ea typeface="Lato"/>
              <a:cs typeface="Lato"/>
              <a:sym typeface="Lato"/>
            </a:endParaRPr>
          </a:p>
        </p:txBody>
      </p:sp>
      <p:sp>
        <p:nvSpPr>
          <p:cNvPr id="6" name="Google Shape;57;p3">
            <a:extLst>
              <a:ext uri="{FF2B5EF4-FFF2-40B4-BE49-F238E27FC236}">
                <a16:creationId xmlns:a16="http://schemas.microsoft.com/office/drawing/2014/main" id="{C661D40F-F7F2-6B6F-7C46-9290D569DA71}"/>
              </a:ext>
            </a:extLst>
          </p:cNvPr>
          <p:cNvSpPr/>
          <p:nvPr/>
        </p:nvSpPr>
        <p:spPr>
          <a:xfrm>
            <a:off x="4055946" y="1097720"/>
            <a:ext cx="7811186" cy="4756815"/>
          </a:xfrm>
          <a:prstGeom prst="roundRect">
            <a:avLst>
              <a:gd name="adj" fmla="val 225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t" anchorCtr="0">
            <a:noAutofit/>
          </a:bodyPr>
          <a:lstStyle/>
          <a:p>
            <a:pPr marL="171450" indent="-171450">
              <a:buFont typeface="Arial" panose="020B0604020202020204" pitchFamily="34" charset="0"/>
              <a:buChar char="•"/>
            </a:pPr>
            <a:endParaRPr lang="en-US" sz="1200" b="1">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endParaRPr lang="en-US" sz="1200" b="1">
              <a:latin typeface="Helvetica Neue" panose="02000503000000020004" pitchFamily="2" charset="0"/>
              <a:ea typeface="Helvetica Neue" panose="02000503000000020004" pitchFamily="2" charset="0"/>
              <a:cs typeface="Helvetica Neue" panose="02000503000000020004" pitchFamily="2" charset="0"/>
            </a:endParaRPr>
          </a:p>
          <a:p>
            <a:pPr lvl="0" defTabSz="457200" eaLnBrk="1" fontAlgn="auto" hangingPunct="1">
              <a:spcBef>
                <a:spcPts val="0"/>
              </a:spcBef>
              <a:spcAft>
                <a:spcPts val="0"/>
              </a:spcAft>
              <a:buClr>
                <a:srgbClr val="BA0C2F"/>
              </a:buClr>
              <a:buSzPts val="2400"/>
              <a:defRPr/>
            </a:pPr>
            <a:endParaRPr lang="en-US" sz="1200" b="1"/>
          </a:p>
          <a:p>
            <a:pPr lvl="0" defTabSz="457200" eaLnBrk="1" fontAlgn="auto" hangingPunct="1">
              <a:spcBef>
                <a:spcPts val="0"/>
              </a:spcBef>
              <a:spcAft>
                <a:spcPts val="0"/>
              </a:spcAft>
              <a:buClr>
                <a:srgbClr val="BA0C2F"/>
              </a:buClr>
              <a:buSzPts val="2400"/>
              <a:defRPr/>
            </a:pPr>
            <a:r>
              <a:rPr lang="en-US" sz="1200" b="1">
                <a:latin typeface="Arial"/>
                <a:cs typeface="Arial"/>
              </a:rPr>
              <a:t>1. Drive Both Cost and Growth</a:t>
            </a:r>
            <a:endParaRPr lang="en-US" sz="1200" b="1">
              <a:latin typeface="Arial"/>
              <a:ea typeface="Helvetica Neue" panose="02000503000000020004" pitchFamily="2" charset="0"/>
              <a:cs typeface="Arial"/>
            </a:endParaRPr>
          </a:p>
          <a:p>
            <a:pPr marL="285750" indent="-285750">
              <a:buFont typeface="Arial" panose="020B0604020202020204" pitchFamily="34" charset="0"/>
              <a:buChar char="•"/>
            </a:pPr>
            <a:r>
              <a:rPr lang="en-US" sz="1200">
                <a:latin typeface="Helvetica Neue"/>
                <a:ea typeface="Helvetica Neue" panose="02000503000000020004" pitchFamily="2" charset="0"/>
                <a:cs typeface="Helvetica Neue" panose="02000503000000020004" pitchFamily="2" charset="0"/>
              </a:rPr>
              <a:t>Facilitate structured discussions with the CEO and CCO to define a unified financial philosophy — balancing cost discipline with growth investment.</a:t>
            </a:r>
          </a:p>
          <a:p>
            <a:pPr marL="285750" indent="-285750">
              <a:buFont typeface="Arial" panose="020B0604020202020204" pitchFamily="34" charset="0"/>
              <a:buChar char="•"/>
            </a:pPr>
            <a:r>
              <a:rPr lang="en-US" sz="1200">
                <a:latin typeface="Helvetica Neue"/>
                <a:ea typeface="Helvetica Neue" panose="02000503000000020004" pitchFamily="2" charset="0"/>
                <a:cs typeface="Helvetica Neue" panose="02000503000000020004" pitchFamily="2" charset="0"/>
              </a:rPr>
              <a:t>Champion a “1 dirham, 1.01 decision” mindset — ensuring spending is directly tied to measurable business outcomes.</a:t>
            </a:r>
          </a:p>
          <a:p>
            <a:endParaRPr lang="en-US" sz="1200" b="1">
              <a:latin typeface="Helvetica Neue" panose="02000503000000020004" pitchFamily="2" charset="0"/>
              <a:ea typeface="Helvetica Neue" panose="02000503000000020004" pitchFamily="2" charset="0"/>
              <a:cs typeface="Helvetica Neue" panose="02000503000000020004" pitchFamily="2" charset="0"/>
            </a:endParaRPr>
          </a:p>
          <a:p>
            <a:r>
              <a:rPr lang="en-US" sz="1200" b="1">
                <a:latin typeface="Helvetica Neue"/>
                <a:ea typeface="Helvetica Neue" panose="02000503000000020004" pitchFamily="2" charset="0"/>
                <a:cs typeface="Helvetica Neue" panose="02000503000000020004" pitchFamily="2" charset="0"/>
              </a:rPr>
              <a:t>2. Upgrade Team Capability and Performance</a:t>
            </a:r>
          </a:p>
          <a:p>
            <a:pPr marL="285750" indent="-285750">
              <a:buFont typeface="Arial" panose="020B0604020202020204" pitchFamily="34" charset="0"/>
              <a:buChar char="•"/>
            </a:pPr>
            <a:r>
              <a:rPr lang="en-US" sz="1200">
                <a:latin typeface="Helvetica Neue"/>
                <a:ea typeface="Helvetica Neue" panose="02000503000000020004" pitchFamily="2" charset="0"/>
                <a:cs typeface="Helvetica Neue" panose="02000503000000020004" pitchFamily="2" charset="0"/>
              </a:rPr>
              <a:t>Conduct a targeted talent and structure review to identify 3–5 pivotal roles critical to future value delivery.</a:t>
            </a:r>
          </a:p>
          <a:p>
            <a:pPr marL="285750" indent="-285750">
              <a:buFont typeface="Arial" panose="020B0604020202020204" pitchFamily="34" charset="0"/>
              <a:buChar char="•"/>
            </a:pPr>
            <a:r>
              <a:rPr lang="en-US" sz="1200">
                <a:latin typeface="Helvetica Neue"/>
                <a:ea typeface="Helvetica Neue" panose="02000503000000020004" pitchFamily="2" charset="0"/>
                <a:cs typeface="Helvetica Neue" panose="02000503000000020004" pitchFamily="2" charset="0"/>
              </a:rPr>
              <a:t>Upskill the team in business partnering and provide the Finance team with clear development plans</a:t>
            </a:r>
          </a:p>
          <a:p>
            <a:endParaRPr lang="en-US" sz="1200" b="1">
              <a:latin typeface="Helvetica Neue" panose="02000503000000020004" pitchFamily="2" charset="0"/>
              <a:ea typeface="Helvetica Neue" panose="02000503000000020004" pitchFamily="2" charset="0"/>
              <a:cs typeface="Helvetica Neue" panose="02000503000000020004" pitchFamily="2" charset="0"/>
            </a:endParaRPr>
          </a:p>
          <a:p>
            <a:r>
              <a:rPr lang="en-US" sz="1200" b="1">
                <a:latin typeface="Helvetica Neue"/>
                <a:ea typeface="Helvetica Neue" panose="02000503000000020004" pitchFamily="2" charset="0"/>
                <a:cs typeface="Helvetica Neue" panose="02000503000000020004" pitchFamily="2" charset="0"/>
              </a:rPr>
              <a:t>3. Increase Communication To and From the Business</a:t>
            </a:r>
          </a:p>
          <a:p>
            <a:pPr marL="285750" indent="-285750">
              <a:buFont typeface="Arial" panose="020B0604020202020204" pitchFamily="34" charset="0"/>
              <a:buChar char="•"/>
            </a:pPr>
            <a:r>
              <a:rPr lang="en-US" sz="1200">
                <a:latin typeface="Helvetica Neue"/>
                <a:ea typeface="Helvetica Neue" panose="02000503000000020004" pitchFamily="2" charset="0"/>
                <a:cs typeface="Helvetica Neue" panose="02000503000000020004" pitchFamily="2" charset="0"/>
              </a:rPr>
              <a:t>Ensure two-way flow: set up feedback channels where business units can raise issues and request finance support early.</a:t>
            </a:r>
          </a:p>
          <a:p>
            <a:pPr marL="285750" indent="-285750">
              <a:buFont typeface="Arial" panose="020B0604020202020204" pitchFamily="34" charset="0"/>
              <a:buChar char="•"/>
            </a:pPr>
            <a:r>
              <a:rPr lang="en-US" sz="1200">
                <a:latin typeface="Helvetica Neue"/>
                <a:ea typeface="Helvetica Neue" panose="02000503000000020004" pitchFamily="2" charset="0"/>
                <a:cs typeface="Helvetica Neue" panose="02000503000000020004" pitchFamily="2" charset="0"/>
              </a:rPr>
              <a:t>Build predictable communication rhythms — weekly team check-ins, monthly updates, and quarterly town halls to sustain clarity through change.</a:t>
            </a:r>
          </a:p>
          <a:p>
            <a:pPr marL="285750" indent="-285750">
              <a:buFont typeface="Arial" panose="020B0604020202020204" pitchFamily="34" charset="0"/>
              <a:buChar char="•"/>
            </a:pPr>
            <a:endParaRPr lang="en-US" sz="1200" b="1">
              <a:latin typeface="Helvetica Neue" panose="02000503000000020004" pitchFamily="2" charset="0"/>
              <a:ea typeface="Helvetica Neue" panose="02000503000000020004" pitchFamily="2" charset="0"/>
              <a:cs typeface="Helvetica Neue" panose="02000503000000020004" pitchFamily="2" charset="0"/>
            </a:endParaRPr>
          </a:p>
          <a:p>
            <a:r>
              <a:rPr lang="en-US" sz="1200" b="1">
                <a:latin typeface="Arial"/>
                <a:cs typeface="Arial"/>
              </a:rPr>
              <a:t>4. Be a thinking partner for the CEO -  </a:t>
            </a:r>
            <a:r>
              <a:rPr lang="en-US" sz="1200">
                <a:latin typeface="Arial"/>
                <a:cs typeface="Arial"/>
              </a:rPr>
              <a:t>Increase your voice and presence within the leadership team</a:t>
            </a:r>
          </a:p>
          <a:p>
            <a:endParaRPr lang="en-US" sz="1200" b="1"/>
          </a:p>
          <a:p>
            <a:r>
              <a:rPr lang="en-US" sz="1200" b="1">
                <a:latin typeface="Helvetica Neue"/>
                <a:ea typeface="Helvetica Neue" panose="02000503000000020004" pitchFamily="2" charset="0"/>
                <a:cs typeface="Helvetica Neue" panose="02000503000000020004" pitchFamily="2" charset="0"/>
              </a:rPr>
              <a:t>5. </a:t>
            </a:r>
            <a:r>
              <a:rPr lang="en-US" sz="1200" b="1">
                <a:latin typeface="Arial"/>
                <a:cs typeface="Arial"/>
              </a:rPr>
              <a:t>Strengthen Peer Relationships and Cross-Functional Alignment</a:t>
            </a:r>
          </a:p>
          <a:p>
            <a:pPr marL="285750" indent="-285750">
              <a:buFont typeface="Arial" panose="020B0604020202020204" pitchFamily="34" charset="0"/>
              <a:buChar char="•"/>
            </a:pPr>
            <a:r>
              <a:rPr lang="en-US" sz="1200">
                <a:latin typeface="Arial"/>
                <a:cs typeface="Arial"/>
              </a:rPr>
              <a:t>Build a relationship map to identify areas of tension or misalignment and proactively address them through joint workshops or 1:1 dialogue.</a:t>
            </a:r>
          </a:p>
          <a:p>
            <a:endParaRPr lang="en-US" sz="120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Google Shape;61;p3">
            <a:extLst>
              <a:ext uri="{FF2B5EF4-FFF2-40B4-BE49-F238E27FC236}">
                <a16:creationId xmlns:a16="http://schemas.microsoft.com/office/drawing/2014/main" id="{0A4C49B3-38CE-93DA-C22A-09680BCB4F87}"/>
              </a:ext>
            </a:extLst>
          </p:cNvPr>
          <p:cNvSpPr txBox="1"/>
          <p:nvPr/>
        </p:nvSpPr>
        <p:spPr>
          <a:xfrm>
            <a:off x="637485" y="1257419"/>
            <a:ext cx="2877611" cy="3985686"/>
          </a:xfrm>
          <a:prstGeom prst="rect">
            <a:avLst/>
          </a:prstGeom>
          <a:noFill/>
          <a:ln>
            <a:noFill/>
          </a:ln>
        </p:spPr>
        <p:txBody>
          <a:bodyPr spcFirstLastPara="1" wrap="square" lIns="22850" tIns="22850" rIns="22850" bIns="22850" anchor="t"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b="1"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What are We </a:t>
            </a:r>
            <a:r>
              <a:rPr kumimoji="0" lang="en-US" b="1" i="0" u="none" strike="noStrike" kern="0" cap="none" spc="0"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Solving For?</a:t>
            </a: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lang="en-US" b="1" kern="0">
              <a:solidFill>
                <a:srgbClr val="C00000"/>
              </a:solidFill>
              <a:latin typeface="Helvetica Neue" panose="02000503000000020004" pitchFamily="2" charset="0"/>
              <a:ea typeface="Helvetica Neue" panose="02000503000000020004" pitchFamily="2" charset="0"/>
              <a:cs typeface="Helvetica Neue" panose="02000503000000020004" pitchFamily="2" charset="0"/>
              <a:sym typeface="Lato"/>
            </a:endParaRPr>
          </a:p>
          <a:p>
            <a:pPr defTabSz="457200" eaLnBrk="1" fontAlgn="auto" hangingPunct="1">
              <a:spcBef>
                <a:spcPts val="0"/>
              </a:spcBef>
              <a:spcAft>
                <a:spcPts val="0"/>
              </a:spcAft>
              <a:buClr>
                <a:srgbClr val="BA0C2F"/>
              </a:buClr>
              <a:buSzPts val="2400"/>
              <a:defRPr/>
            </a:pPr>
            <a:r>
              <a:rPr lang="en-US" sz="1200" b="1">
                <a:latin typeface="Helvetica Neue" panose="02000503000000020004" pitchFamily="2" charset="0"/>
                <a:ea typeface="Helvetica Neue" panose="02000503000000020004" pitchFamily="2" charset="0"/>
                <a:cs typeface="Helvetica Neue" panose="02000503000000020004" pitchFamily="2" charset="0"/>
              </a:rPr>
              <a:t>1. Drive Both Cost and Growth: </a:t>
            </a:r>
            <a:r>
              <a:rPr lang="en-US" sz="1200">
                <a:latin typeface="Helvetica Neue" panose="02000503000000020004" pitchFamily="2" charset="0"/>
                <a:ea typeface="Helvetica Neue" panose="02000503000000020004" pitchFamily="2" charset="0"/>
                <a:cs typeface="Helvetica Neue" panose="02000503000000020004" pitchFamily="2" charset="0"/>
              </a:rPr>
              <a:t>Finance as the engine of disciplined cost control and growth </a:t>
            </a:r>
          </a:p>
          <a:p>
            <a:pPr defTabSz="457200" eaLnBrk="1" fontAlgn="auto" hangingPunct="1">
              <a:spcBef>
                <a:spcPts val="0"/>
              </a:spcBef>
              <a:spcAft>
                <a:spcPts val="0"/>
              </a:spcAft>
              <a:buClr>
                <a:srgbClr val="BA0C2F"/>
              </a:buClr>
              <a:buSzPts val="2400"/>
              <a:defRPr/>
            </a:pPr>
            <a:endParaRPr lang="en-US" sz="1200">
              <a:latin typeface="Helvetica Neue" panose="02000503000000020004" pitchFamily="2" charset="0"/>
              <a:ea typeface="Helvetica Neue" panose="02000503000000020004" pitchFamily="2" charset="0"/>
              <a:cs typeface="Helvetica Neue" panose="02000503000000020004" pitchFamily="2" charset="0"/>
            </a:endParaRPr>
          </a:p>
          <a:p>
            <a:pPr defTabSz="457200" eaLnBrk="1" fontAlgn="auto" hangingPunct="1">
              <a:spcBef>
                <a:spcPts val="0"/>
              </a:spcBef>
              <a:spcAft>
                <a:spcPts val="0"/>
              </a:spcAft>
              <a:buClr>
                <a:srgbClr val="BA0C2F"/>
              </a:buClr>
              <a:buSzPts val="2400"/>
              <a:defRPr/>
            </a:pPr>
            <a:r>
              <a:rPr lang="en-US" sz="1200" b="1">
                <a:latin typeface="Helvetica Neue" panose="02000503000000020004" pitchFamily="2" charset="0"/>
                <a:ea typeface="Helvetica Neue" panose="02000503000000020004" pitchFamily="2" charset="0"/>
                <a:cs typeface="Helvetica Neue" panose="02000503000000020004" pitchFamily="2" charset="0"/>
              </a:rPr>
              <a:t>2. Upgrade Team Capability and Performance: </a:t>
            </a:r>
            <a:r>
              <a:rPr lang="en-US" sz="1200">
                <a:latin typeface="Helvetica Neue" panose="02000503000000020004" pitchFamily="2" charset="0"/>
                <a:ea typeface="Helvetica Neue" panose="02000503000000020004" pitchFamily="2" charset="0"/>
                <a:cs typeface="Helvetica Neue" panose="02000503000000020004" pitchFamily="2" charset="0"/>
              </a:rPr>
              <a:t>Build a forward-looking, agile finance team capable of supporting both transformation and growth.</a:t>
            </a:r>
          </a:p>
          <a:p>
            <a:pPr defTabSz="457200" eaLnBrk="1" fontAlgn="auto" hangingPunct="1">
              <a:spcBef>
                <a:spcPts val="0"/>
              </a:spcBef>
              <a:spcAft>
                <a:spcPts val="0"/>
              </a:spcAft>
              <a:buClr>
                <a:srgbClr val="BA0C2F"/>
              </a:buClr>
              <a:buSzPts val="2400"/>
              <a:defRPr/>
            </a:pPr>
            <a:endParaRPr lang="en-US" sz="1200">
              <a:latin typeface="Helvetica Neue" panose="02000503000000020004" pitchFamily="2" charset="0"/>
              <a:ea typeface="Helvetica Neue" panose="02000503000000020004" pitchFamily="2" charset="0"/>
              <a:cs typeface="Helvetica Neue" panose="02000503000000020004" pitchFamily="2" charset="0"/>
            </a:endParaRPr>
          </a:p>
          <a:p>
            <a:pPr defTabSz="457200" eaLnBrk="1" fontAlgn="auto" hangingPunct="1">
              <a:spcBef>
                <a:spcPts val="0"/>
              </a:spcBef>
              <a:spcAft>
                <a:spcPts val="0"/>
              </a:spcAft>
              <a:buClr>
                <a:srgbClr val="BA0C2F"/>
              </a:buClr>
              <a:buSzPts val="2400"/>
              <a:defRPr/>
            </a:pPr>
            <a:r>
              <a:rPr lang="en-US" sz="1200" b="1">
                <a:latin typeface="Helvetica Neue" panose="02000503000000020004" pitchFamily="2" charset="0"/>
                <a:ea typeface="Helvetica Neue" panose="02000503000000020004" pitchFamily="2" charset="0"/>
                <a:cs typeface="Helvetica Neue" panose="02000503000000020004" pitchFamily="2" charset="0"/>
              </a:rPr>
              <a:t>3. Increase Communication To and From the Business: </a:t>
            </a:r>
            <a:r>
              <a:rPr lang="en-US" sz="1200">
                <a:latin typeface="Helvetica Neue" panose="02000503000000020004" pitchFamily="2" charset="0"/>
                <a:ea typeface="Helvetica Neue" panose="02000503000000020004" pitchFamily="2" charset="0"/>
                <a:cs typeface="Helvetica Neue" panose="02000503000000020004" pitchFamily="2" charset="0"/>
              </a:rPr>
              <a:t>Create transparency, confidence, and shared accountability through consistent, clear financial communication.</a:t>
            </a:r>
          </a:p>
          <a:p>
            <a:pPr defTabSz="457200" eaLnBrk="1" fontAlgn="auto" hangingPunct="1">
              <a:spcBef>
                <a:spcPts val="0"/>
              </a:spcBef>
              <a:spcAft>
                <a:spcPts val="0"/>
              </a:spcAft>
              <a:buClr>
                <a:srgbClr val="BA0C2F"/>
              </a:buClr>
              <a:buSzPts val="2400"/>
              <a:defRPr/>
            </a:pPr>
            <a:endParaRPr lang="en-US" sz="1200">
              <a:latin typeface="Helvetica Neue" panose="02000503000000020004" pitchFamily="2" charset="0"/>
              <a:ea typeface="Helvetica Neue" panose="02000503000000020004" pitchFamily="2" charset="0"/>
              <a:cs typeface="Helvetica Neue" panose="02000503000000020004" pitchFamily="2" charset="0"/>
            </a:endParaRPr>
          </a:p>
          <a:p>
            <a:pPr defTabSz="457200" eaLnBrk="1" fontAlgn="auto" hangingPunct="1">
              <a:spcBef>
                <a:spcPts val="0"/>
              </a:spcBef>
              <a:spcAft>
                <a:spcPts val="0"/>
              </a:spcAft>
              <a:buClr>
                <a:srgbClr val="BA0C2F"/>
              </a:buClr>
              <a:buSzPts val="2400"/>
              <a:defRPr/>
            </a:pPr>
            <a:r>
              <a:rPr lang="en-US" sz="1200" b="1">
                <a:latin typeface="Helvetica Neue" panose="02000503000000020004" pitchFamily="2" charset="0"/>
                <a:ea typeface="Helvetica Neue" panose="02000503000000020004" pitchFamily="2" charset="0"/>
                <a:cs typeface="Helvetica Neue" panose="02000503000000020004" pitchFamily="2" charset="0"/>
              </a:rPr>
              <a:t>4. Be a thinking partner for the CEO </a:t>
            </a:r>
          </a:p>
          <a:p>
            <a:pPr defTabSz="457200" eaLnBrk="1" fontAlgn="auto" hangingPunct="1">
              <a:spcBef>
                <a:spcPts val="0"/>
              </a:spcBef>
              <a:spcAft>
                <a:spcPts val="0"/>
              </a:spcAft>
              <a:buClr>
                <a:srgbClr val="BA0C2F"/>
              </a:buClr>
              <a:buSzPts val="2400"/>
              <a:defRPr/>
            </a:pPr>
            <a:endParaRPr lang="en-US" sz="1200" b="1">
              <a:latin typeface="Helvetica Neue" panose="02000503000000020004" pitchFamily="2" charset="0"/>
              <a:ea typeface="Helvetica Neue" panose="02000503000000020004" pitchFamily="2" charset="0"/>
              <a:cs typeface="Helvetica Neue" panose="02000503000000020004" pitchFamily="2" charset="0"/>
            </a:endParaRPr>
          </a:p>
          <a:p>
            <a:pPr defTabSz="457200" eaLnBrk="1" fontAlgn="auto" hangingPunct="1">
              <a:spcBef>
                <a:spcPts val="0"/>
              </a:spcBef>
              <a:spcAft>
                <a:spcPts val="0"/>
              </a:spcAft>
              <a:buClr>
                <a:srgbClr val="BA0C2F"/>
              </a:buClr>
              <a:buSzPts val="2400"/>
              <a:defRPr/>
            </a:pPr>
            <a:r>
              <a:rPr lang="en-US" sz="1200" b="1">
                <a:latin typeface="Helvetica Neue" panose="02000503000000020004" pitchFamily="2" charset="0"/>
                <a:ea typeface="Helvetica Neue" panose="02000503000000020004" pitchFamily="2" charset="0"/>
                <a:cs typeface="Helvetica Neue" panose="02000503000000020004" pitchFamily="2" charset="0"/>
              </a:rPr>
              <a:t>5. Strengthen Peer Relationships and Cross-Functional Alignment</a:t>
            </a:r>
          </a:p>
        </p:txBody>
      </p:sp>
      <p:sp>
        <p:nvSpPr>
          <p:cNvPr id="8" name="TextBox 7">
            <a:extLst>
              <a:ext uri="{FF2B5EF4-FFF2-40B4-BE49-F238E27FC236}">
                <a16:creationId xmlns:a16="http://schemas.microsoft.com/office/drawing/2014/main" id="{500EF316-5E00-FB24-09ED-C35D24A6145B}"/>
              </a:ext>
            </a:extLst>
          </p:cNvPr>
          <p:cNvSpPr txBox="1"/>
          <p:nvPr/>
        </p:nvSpPr>
        <p:spPr>
          <a:xfrm>
            <a:off x="6438405" y="1097720"/>
            <a:ext cx="2834640"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
                <a:srgbClr val="BA0C2F"/>
              </a:buClr>
              <a:buSzPts val="3600"/>
              <a:buFontTx/>
              <a:buNone/>
              <a:tabLst/>
              <a:defRPr/>
            </a:pPr>
            <a:r>
              <a:rPr kumimoji="0" lang="en-US" sz="1800" b="1" i="0" u="none" strike="noStrike" kern="0" cap="none" spc="0" normalizeH="0" baseline="0" noProof="0">
                <a:ln>
                  <a:noFill/>
                </a:ln>
                <a:solidFill>
                  <a:srgbClr val="000000"/>
                </a:solidFill>
                <a:effectLst/>
                <a:uLnTx/>
                <a:uFillTx/>
                <a:latin typeface="Arial" panose="020B0604020202020204" pitchFamily="34" charset="0"/>
                <a:ea typeface="Lato"/>
                <a:cs typeface="Arial" panose="020B0604020202020204" pitchFamily="34" charset="0"/>
                <a:sym typeface="Lato"/>
              </a:rPr>
              <a:t>Success Enabling </a:t>
            </a:r>
            <a:r>
              <a:rPr kumimoji="0" lang="en-US" sz="1800" b="1" i="0" u="none" strike="noStrike" kern="0" cap="none" spc="0" normalizeH="0" baseline="0" noProof="0">
                <a:ln>
                  <a:noFill/>
                </a:ln>
                <a:solidFill>
                  <a:srgbClr val="BA0C2F"/>
                </a:solidFill>
                <a:effectLst/>
                <a:uLnTx/>
                <a:uFillTx/>
                <a:latin typeface="Arial" panose="020B0604020202020204" pitchFamily="34" charset="0"/>
                <a:ea typeface="Lato"/>
                <a:cs typeface="Arial" panose="020B0604020202020204" pitchFamily="34" charset="0"/>
                <a:sym typeface="Lato"/>
              </a:rPr>
              <a:t>Plan</a:t>
            </a:r>
            <a:endParaRPr kumimoji="0" lang="en-US" sz="1800" b="1" i="0" u="none" strike="noStrike" kern="0" cap="none" spc="0" normalizeH="0" baseline="0" noProof="0">
              <a:ln>
                <a:noFill/>
              </a:ln>
              <a:solidFill>
                <a:prstClr val="black"/>
              </a:solidFill>
              <a:effectLst/>
              <a:uLnTx/>
              <a:uFillTx/>
              <a:latin typeface="Arial" panose="020B0604020202020204" pitchFamily="34" charset="0"/>
              <a:ea typeface="Lato"/>
              <a:cs typeface="Arial" panose="020B0604020202020204" pitchFamily="34" charset="0"/>
              <a:sym typeface="Lato"/>
            </a:endParaRPr>
          </a:p>
        </p:txBody>
      </p:sp>
    </p:spTree>
    <p:extLst>
      <p:ext uri="{BB962C8B-B14F-4D97-AF65-F5344CB8AC3E}">
        <p14:creationId xmlns:p14="http://schemas.microsoft.com/office/powerpoint/2010/main" val="9734295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81B55-1ABC-FD6C-BD74-1F6AF2F5A06E}"/>
            </a:ext>
          </a:extLst>
        </p:cNvPr>
        <p:cNvGrpSpPr/>
        <p:nvPr/>
      </p:nvGrpSpPr>
      <p:grpSpPr>
        <a:xfrm>
          <a:off x="0" y="0"/>
          <a:ext cx="0" cy="0"/>
          <a:chOff x="0" y="0"/>
          <a:chExt cx="0" cy="0"/>
        </a:xfrm>
      </p:grpSpPr>
      <p:sp>
        <p:nvSpPr>
          <p:cNvPr id="19457" name="Text Placeholder 1">
            <a:extLst>
              <a:ext uri="{FF2B5EF4-FFF2-40B4-BE49-F238E27FC236}">
                <a16:creationId xmlns:a16="http://schemas.microsoft.com/office/drawing/2014/main" id="{FE0C4D0B-F787-0F68-CA07-16982461DA50}"/>
              </a:ext>
            </a:extLst>
          </p:cNvPr>
          <p:cNvSpPr>
            <a:spLocks noGrp="1" noChangeArrowheads="1"/>
          </p:cNvSpPr>
          <p:nvPr>
            <p:ph type="body" idx="1"/>
          </p:nvPr>
        </p:nvSpPr>
        <p:spPr bwMode="auto">
          <a:xfrm>
            <a:off x="143668" y="3240931"/>
            <a:ext cx="4841875" cy="1966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a:spcBef>
                <a:spcPct val="0"/>
              </a:spcBef>
              <a:spcAft>
                <a:spcPct val="0"/>
              </a:spcAft>
              <a:buClr>
                <a:srgbClr val="000000"/>
              </a:buClr>
              <a:buFont typeface="Arial" panose="020B0604020202020204" pitchFamily="34" charset="0"/>
              <a:buNone/>
            </a:pPr>
            <a:r>
              <a:rPr lang="en-US" altLang="en-US" sz="32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rPr>
              <a:t>Chief Information </a:t>
            </a:r>
          </a:p>
          <a:p>
            <a:pPr>
              <a:spcBef>
                <a:spcPct val="0"/>
              </a:spcBef>
              <a:spcAft>
                <a:spcPct val="0"/>
              </a:spcAft>
              <a:buClr>
                <a:srgbClr val="000000"/>
              </a:buClr>
              <a:buFont typeface="Arial" panose="020B0604020202020204" pitchFamily="34" charset="0"/>
              <a:buNone/>
            </a:pPr>
            <a:r>
              <a:rPr lang="en-US" altLang="en-US" sz="32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rPr>
              <a:t>Officer </a:t>
            </a:r>
            <a:r>
              <a:rPr lang="en-US" altLang="en-US" sz="3200" b="1">
                <a:solidFill>
                  <a:srgbClr val="001E5A"/>
                </a:solidFill>
                <a:latin typeface="Helvetica Neue" panose="02000503000000020004" pitchFamily="2" charset="0"/>
                <a:cs typeface="Arial" panose="020B0604020202020204" pitchFamily="34" charset="0"/>
                <a:sym typeface="Helvetica Neue" panose="02000503000000020004" pitchFamily="2" charset="0"/>
              </a:rPr>
              <a:t>| </a:t>
            </a:r>
          </a:p>
          <a:p>
            <a:pPr>
              <a:spcBef>
                <a:spcPct val="0"/>
              </a:spcBef>
              <a:spcAft>
                <a:spcPct val="0"/>
              </a:spcAft>
              <a:buClr>
                <a:srgbClr val="000000"/>
              </a:buClr>
              <a:buFont typeface="Arial" panose="020B0604020202020204" pitchFamily="34" charset="0"/>
              <a:buNone/>
            </a:pPr>
            <a:r>
              <a:rPr lang="en-US" altLang="en-US" sz="3200" b="1">
                <a:solidFill>
                  <a:srgbClr val="001E5A"/>
                </a:solidFill>
                <a:latin typeface="Helvetica Neue" panose="02000503000000020004" pitchFamily="2" charset="0"/>
                <a:cs typeface="Arial" panose="020B0604020202020204" pitchFamily="34" charset="0"/>
                <a:sym typeface="Helvetica Neue" panose="02000503000000020004" pitchFamily="2" charset="0"/>
              </a:rPr>
              <a:t>CHRISTOFFER </a:t>
            </a:r>
          </a:p>
          <a:p>
            <a:pPr>
              <a:spcBef>
                <a:spcPct val="0"/>
              </a:spcBef>
              <a:spcAft>
                <a:spcPct val="0"/>
              </a:spcAft>
              <a:buClr>
                <a:srgbClr val="000000"/>
              </a:buClr>
              <a:buFont typeface="Arial" panose="020B0604020202020204" pitchFamily="34" charset="0"/>
              <a:buNone/>
            </a:pPr>
            <a:r>
              <a:rPr lang="en-US" altLang="en-US" sz="3200" b="1">
                <a:solidFill>
                  <a:srgbClr val="001E5A"/>
                </a:solidFill>
                <a:latin typeface="Helvetica Neue" panose="02000503000000020004" pitchFamily="2" charset="0"/>
                <a:cs typeface="Arial" panose="020B0604020202020204" pitchFamily="34" charset="0"/>
                <a:sym typeface="Helvetica Neue" panose="02000503000000020004" pitchFamily="2" charset="0"/>
              </a:rPr>
              <a:t>ROSENKILDE</a:t>
            </a:r>
          </a:p>
          <a:p>
            <a:pPr>
              <a:spcBef>
                <a:spcPct val="0"/>
              </a:spcBef>
              <a:spcAft>
                <a:spcPct val="0"/>
              </a:spcAft>
              <a:buClr>
                <a:srgbClr val="000000"/>
              </a:buClr>
              <a:buFont typeface="Arial" panose="020B0604020202020204" pitchFamily="34" charset="0"/>
              <a:buNone/>
            </a:pPr>
            <a:endParaRPr lang="en-US" altLang="en-US" sz="32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endParaRPr>
          </a:p>
          <a:p>
            <a:pPr>
              <a:spcBef>
                <a:spcPct val="0"/>
              </a:spcBef>
              <a:spcAft>
                <a:spcPct val="0"/>
              </a:spcAft>
              <a:buClr>
                <a:srgbClr val="000000"/>
              </a:buClr>
              <a:buFont typeface="Arial" panose="020B0604020202020204" pitchFamily="34" charset="0"/>
              <a:buNone/>
            </a:pPr>
            <a:endParaRPr lang="en-US" altLang="en-US" sz="32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endParaRPr>
          </a:p>
          <a:p>
            <a:pPr>
              <a:spcBef>
                <a:spcPct val="0"/>
              </a:spcBef>
              <a:spcAft>
                <a:spcPct val="0"/>
              </a:spcAft>
              <a:buClr>
                <a:srgbClr val="000000"/>
              </a:buClr>
              <a:buFont typeface="Arial" panose="020B0604020202020204" pitchFamily="34" charset="0"/>
              <a:buNone/>
            </a:pPr>
            <a:endParaRPr lang="en-US" altLang="en-US" sz="32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endParaRPr>
          </a:p>
          <a:p>
            <a:pPr>
              <a:spcBef>
                <a:spcPct val="0"/>
              </a:spcBef>
              <a:spcAft>
                <a:spcPct val="0"/>
              </a:spcAft>
              <a:buClr>
                <a:srgbClr val="000000"/>
              </a:buClr>
              <a:buFont typeface="Arial" panose="020B0604020202020204" pitchFamily="34" charset="0"/>
              <a:buNone/>
            </a:pPr>
            <a:endParaRPr lang="en-US" altLang="en-US" sz="3200" b="1">
              <a:solidFill>
                <a:schemeClr val="tx1">
                  <a:lumMod val="65000"/>
                  <a:lumOff val="35000"/>
                </a:schemeClr>
              </a:solidFill>
              <a:latin typeface="Helvetica Neue" panose="02000503000000020004" pitchFamily="2" charset="0"/>
              <a:cs typeface="Arial" panose="020B0604020202020204" pitchFamily="34" charset="0"/>
              <a:sym typeface="Helvetica Neue" panose="02000503000000020004" pitchFamily="2" charset="0"/>
            </a:endParaRPr>
          </a:p>
          <a:p>
            <a:pPr>
              <a:spcBef>
                <a:spcPct val="0"/>
              </a:spcBef>
              <a:spcAft>
                <a:spcPct val="0"/>
              </a:spcAft>
              <a:buClr>
                <a:srgbClr val="000000"/>
              </a:buClr>
              <a:buFont typeface="Arial" panose="020B0604020202020204" pitchFamily="34" charset="0"/>
              <a:buNone/>
            </a:pPr>
            <a:endParaRPr lang="en-US" altLang="en-US" sz="3200" b="1">
              <a:solidFill>
                <a:srgbClr val="112D59"/>
              </a:solidFill>
              <a:latin typeface="Helvetica Neue" panose="02000503000000020004" pitchFamily="2" charset="0"/>
              <a:cs typeface="Arial" panose="020B0604020202020204" pitchFamily="34" charset="0"/>
              <a:sym typeface="Helvetica Neue" panose="02000503000000020004" pitchFamily="2" charset="0"/>
            </a:endParaRPr>
          </a:p>
        </p:txBody>
      </p:sp>
      <p:sp>
        <p:nvSpPr>
          <p:cNvPr id="19458" name="Text Placeholder 2">
            <a:extLst>
              <a:ext uri="{FF2B5EF4-FFF2-40B4-BE49-F238E27FC236}">
                <a16:creationId xmlns:a16="http://schemas.microsoft.com/office/drawing/2014/main" id="{2E7A6F04-EC3C-FC55-8B44-9F1B3F832AD7}"/>
              </a:ext>
            </a:extLst>
          </p:cNvPr>
          <p:cNvSpPr>
            <a:spLocks noGrp="1" noChangeArrowheads="1"/>
          </p:cNvSpPr>
          <p:nvPr>
            <p:ph type="body" idx="2"/>
          </p:nvPr>
        </p:nvSpPr>
        <p:spPr bwMode="auto">
          <a:xfrm>
            <a:off x="158750" y="5043488"/>
            <a:ext cx="4703763" cy="736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a:spcAft>
                <a:spcPct val="0"/>
              </a:spcAft>
              <a:buClr>
                <a:srgbClr val="000000"/>
              </a:buClr>
            </a:pPr>
            <a:r>
              <a:rPr lang="en-US" altLang="en-US" sz="180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sym typeface="Helvetica Neue Light" panose="02000403000000020004" pitchFamily="2" charset="0"/>
              </a:rPr>
              <a:t>NOV 2025 </a:t>
            </a:r>
          </a:p>
        </p:txBody>
      </p:sp>
      <p:cxnSp>
        <p:nvCxnSpPr>
          <p:cNvPr id="8" name="Straight Connector 7">
            <a:extLst>
              <a:ext uri="{FF2B5EF4-FFF2-40B4-BE49-F238E27FC236}">
                <a16:creationId xmlns:a16="http://schemas.microsoft.com/office/drawing/2014/main" id="{B41594B7-2811-8D15-32F4-28A43E3D015F}"/>
              </a:ext>
            </a:extLst>
          </p:cNvPr>
          <p:cNvCxnSpPr/>
          <p:nvPr/>
        </p:nvCxnSpPr>
        <p:spPr>
          <a:xfrm>
            <a:off x="471488" y="5043488"/>
            <a:ext cx="41862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53E7453D-EA56-88A1-FDCA-37A266FD9553}"/>
              </a:ext>
            </a:extLst>
          </p:cNvPr>
          <p:cNvPicPr>
            <a:picLocks noChangeAspect="1"/>
          </p:cNvPicPr>
          <p:nvPr/>
        </p:nvPicPr>
        <p:blipFill>
          <a:blip r:embed="rId2"/>
          <a:stretch>
            <a:fillRect/>
          </a:stretch>
        </p:blipFill>
        <p:spPr>
          <a:xfrm>
            <a:off x="257731" y="2475232"/>
            <a:ext cx="1705683" cy="774380"/>
          </a:xfrm>
          <a:prstGeom prst="rect">
            <a:avLst/>
          </a:prstGeom>
        </p:spPr>
      </p:pic>
    </p:spTree>
    <p:extLst>
      <p:ext uri="{BB962C8B-B14F-4D97-AF65-F5344CB8AC3E}">
        <p14:creationId xmlns:p14="http://schemas.microsoft.com/office/powerpoint/2010/main" val="17455534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47446EAA-A385-5DF6-AE19-1A437D3CD0CC}"/>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74C2890A-D715-0C40-05B4-B2E4C145F34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54</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F3273881-3320-1BCB-B605-3E95AC861D38}"/>
              </a:ext>
            </a:extLst>
          </p:cNvPr>
          <p:cNvSpPr txBox="1">
            <a:spLocks noChangeArrowheads="1"/>
          </p:cNvSpPr>
          <p:nvPr/>
        </p:nvSpPr>
        <p:spPr bwMode="auto">
          <a:xfrm>
            <a:off x="550863" y="374650"/>
            <a:ext cx="8787101"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lvl="0">
              <a:lnSpc>
                <a:spcPct val="90000"/>
              </a:lnSpc>
              <a:buClr>
                <a:srgbClr val="000000"/>
              </a:buClr>
              <a:buSzPts val="2400"/>
              <a:defRPr/>
            </a:pPr>
            <a:r>
              <a:rPr lang="en-US" altLang="en-US" sz="2000">
                <a:solidFill>
                  <a:srgbClr val="002060"/>
                </a:solidFill>
                <a:latin typeface="Helvetica Neue" panose="02000503000000020004" pitchFamily="2" charset="0"/>
                <a:sym typeface="Helvetica Neue Light" panose="02000403000000020004" pitchFamily="2" charset="0"/>
              </a:rPr>
              <a:t>Jobs To Be Done | </a:t>
            </a: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Chief Information Officer | </a:t>
            </a:r>
            <a:r>
              <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CHRISTOFFER ROSENKILDE</a:t>
            </a:r>
          </a:p>
        </p:txBody>
      </p:sp>
      <p:sp>
        <p:nvSpPr>
          <p:cNvPr id="4" name="Google Shape;57;p3">
            <a:extLst>
              <a:ext uri="{FF2B5EF4-FFF2-40B4-BE49-F238E27FC236}">
                <a16:creationId xmlns:a16="http://schemas.microsoft.com/office/drawing/2014/main" id="{6FBFBE00-A3F5-6677-98A6-2157F42CEB2D}"/>
              </a:ext>
            </a:extLst>
          </p:cNvPr>
          <p:cNvSpPr/>
          <p:nvPr/>
        </p:nvSpPr>
        <p:spPr>
          <a:xfrm>
            <a:off x="3467402" y="1067112"/>
            <a:ext cx="5486819" cy="4958547"/>
          </a:xfrm>
          <a:prstGeom prst="roundRect">
            <a:avLst>
              <a:gd name="adj" fmla="val 3135"/>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p:txBody>
      </p:sp>
      <p:sp>
        <p:nvSpPr>
          <p:cNvPr id="6" name="Google Shape;61;p3">
            <a:extLst>
              <a:ext uri="{FF2B5EF4-FFF2-40B4-BE49-F238E27FC236}">
                <a16:creationId xmlns:a16="http://schemas.microsoft.com/office/drawing/2014/main" id="{EE627000-CF02-4756-3457-92938292C231}"/>
              </a:ext>
            </a:extLst>
          </p:cNvPr>
          <p:cNvSpPr txBox="1"/>
          <p:nvPr/>
        </p:nvSpPr>
        <p:spPr>
          <a:xfrm>
            <a:off x="3689234" y="1144751"/>
            <a:ext cx="4229815" cy="230812"/>
          </a:xfrm>
          <a:prstGeom prst="rect">
            <a:avLst/>
          </a:prstGeom>
          <a:noFill/>
          <a:ln>
            <a:noFill/>
          </a:ln>
        </p:spPr>
        <p:txBody>
          <a:bodyPr spcFirstLastPara="1" wrap="square" lIns="22850" tIns="22850" rIns="22850" bIns="22850" anchor="t"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1" i="0" u="none" strike="noStrike" kern="0" cap="none" spc="0" normalizeH="0" baseline="0" noProof="0">
                <a:ln>
                  <a:noFill/>
                </a:ln>
                <a:solidFill>
                  <a:srgbClr val="BA0C2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Jobs To Be Done</a:t>
            </a:r>
            <a:endParaRPr kumimoji="0" sz="7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p:txBody>
      </p:sp>
      <p:graphicFrame>
        <p:nvGraphicFramePr>
          <p:cNvPr id="7" name="Table 6">
            <a:extLst>
              <a:ext uri="{FF2B5EF4-FFF2-40B4-BE49-F238E27FC236}">
                <a16:creationId xmlns:a16="http://schemas.microsoft.com/office/drawing/2014/main" id="{1B6F74A2-8DC0-F34E-28EA-ECC8918653DD}"/>
              </a:ext>
            </a:extLst>
          </p:cNvPr>
          <p:cNvGraphicFramePr>
            <a:graphicFrameLocks noGrp="1"/>
          </p:cNvGraphicFramePr>
          <p:nvPr>
            <p:extLst>
              <p:ext uri="{D42A27DB-BD31-4B8C-83A1-F6EECF244321}">
                <p14:modId xmlns:p14="http://schemas.microsoft.com/office/powerpoint/2010/main" val="256871436"/>
              </p:ext>
            </p:extLst>
          </p:nvPr>
        </p:nvGraphicFramePr>
        <p:xfrm>
          <a:off x="3599905" y="1406341"/>
          <a:ext cx="5304046" cy="4450080"/>
        </p:xfrm>
        <a:graphic>
          <a:graphicData uri="http://schemas.openxmlformats.org/drawingml/2006/table">
            <a:tbl>
              <a:tblPr firstRow="1" bandRow="1">
                <a:tableStyleId>{5C22544A-7EE6-4342-B048-85BDC9FD1C3A}</a:tableStyleId>
              </a:tblPr>
              <a:tblGrid>
                <a:gridCol w="5304046">
                  <a:extLst>
                    <a:ext uri="{9D8B030D-6E8A-4147-A177-3AD203B41FA5}">
                      <a16:colId xmlns:a16="http://schemas.microsoft.com/office/drawing/2014/main" val="2300840210"/>
                    </a:ext>
                  </a:extLst>
                </a:gridCol>
              </a:tblGrid>
              <a:tr h="885112">
                <a:tc>
                  <a:txBody>
                    <a:bodyPr/>
                    <a:lstStyle/>
                    <a:p>
                      <a:pPr marL="0" indent="0">
                        <a:buFont typeface="Arial" panose="020B0604020202020204" pitchFamily="34" charset="0"/>
                        <a:buNone/>
                      </a:pPr>
                      <a:r>
                        <a:rPr lang="en-US" sz="110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Define and Execute the Digital Transformation Strategy</a:t>
                      </a:r>
                    </a:p>
                    <a:p>
                      <a:pPr marL="171450" indent="-171450">
                        <a:buFont typeface="Arial" panose="020B0604020202020204" pitchFamily="34" charset="0"/>
                        <a:buChar char="•"/>
                      </a:pPr>
                      <a:r>
                        <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Design and deliver a clear technology roadmap that aligns with business goals — balancing short-term delivery needs with long-term scalability and innovation. Ensure every digital initiative directly enhances client experience, speed, and operational resilience.</a:t>
                      </a:r>
                    </a:p>
                    <a:p>
                      <a:pPr marL="171450" indent="-171450">
                        <a:buFont typeface="Arial" panose="020B0604020202020204" pitchFamily="34" charset="0"/>
                        <a:buChar char="•"/>
                      </a:pPr>
                      <a:endPar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indent="0">
                        <a:buFont typeface="Arial" panose="020B0604020202020204" pitchFamily="34" charset="0"/>
                        <a:buNone/>
                      </a:pPr>
                      <a:r>
                        <a:rPr lang="en-US" sz="110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Modernize Technology Architecture and Infrastructure</a:t>
                      </a:r>
                    </a:p>
                    <a:p>
                      <a:pPr marL="171450" indent="-171450">
                        <a:buFont typeface="Arial" panose="020B0604020202020204" pitchFamily="34" charset="0"/>
                        <a:buChar char="•"/>
                      </a:pPr>
                      <a:r>
                        <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Transform legacy systems into a unified, agile, and secure technology backbone. Embed scalability, reliability, and performance across platforms to support multi-product growth and seamless execution.</a:t>
                      </a:r>
                    </a:p>
                    <a:p>
                      <a:pPr marL="171450" indent="-171450">
                        <a:buFont typeface="Arial" panose="020B0604020202020204" pitchFamily="34" charset="0"/>
                        <a:buChar char="•"/>
                      </a:pPr>
                      <a:endPar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indent="0">
                        <a:buFont typeface="Arial" panose="020B0604020202020204" pitchFamily="34" charset="0"/>
                        <a:buNone/>
                      </a:pPr>
                      <a:r>
                        <a:rPr lang="en-US" sz="110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Strengthen Cybersecurity and Risk Management</a:t>
                      </a:r>
                    </a:p>
                    <a:p>
                      <a:pPr marL="171450" indent="-171450">
                        <a:buFont typeface="Arial" panose="020B0604020202020204" pitchFamily="34" charset="0"/>
                        <a:buChar char="•"/>
                      </a:pPr>
                      <a:r>
                        <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Implement enterprise-wide security frameworks, continuous threat monitoring, and incident response readiness. Protect systems, data, and client assets while maintaining compliance and trust with regulators and partners.</a:t>
                      </a:r>
                    </a:p>
                    <a:p>
                      <a:pPr marL="171450" indent="-171450">
                        <a:buFont typeface="Arial" panose="020B0604020202020204" pitchFamily="34" charset="0"/>
                        <a:buChar char="•"/>
                      </a:pPr>
                      <a:endPar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indent="0">
                        <a:buFont typeface="Arial" panose="020B0604020202020204" pitchFamily="34" charset="0"/>
                        <a:buNone/>
                      </a:pPr>
                      <a:r>
                        <a:rPr lang="en-US" sz="110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Advance Data Management and Analytics Capabilities</a:t>
                      </a:r>
                    </a:p>
                    <a:p>
                      <a:pPr marL="171450" indent="-171450">
                        <a:buFont typeface="Arial" panose="020B0604020202020204" pitchFamily="34" charset="0"/>
                        <a:buChar char="•"/>
                      </a:pPr>
                      <a:r>
                        <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Build robust data governance and analytics platforms that turn information into actionable insights. Enable data-driven decision-making across commercial, operational, and client-facing teams.</a:t>
                      </a:r>
                    </a:p>
                    <a:p>
                      <a:pPr marL="171450" indent="-171450">
                        <a:buFont typeface="Arial" panose="020B0604020202020204" pitchFamily="34" charset="0"/>
                        <a:buChar char="•"/>
                      </a:pPr>
                      <a:endPar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endParaRPr>
                    </a:p>
                    <a:p>
                      <a:pPr marL="0" indent="0">
                        <a:buFont typeface="Arial" panose="020B0604020202020204" pitchFamily="34" charset="0"/>
                        <a:buNone/>
                      </a:pPr>
                      <a:r>
                        <a:rPr lang="en-US" sz="1100" b="1"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Build and Elevate Technology Talent and Influence</a:t>
                      </a:r>
                    </a:p>
                    <a:p>
                      <a:pPr marL="171450" indent="-171450">
                        <a:buFont typeface="Arial" panose="020B0604020202020204" pitchFamily="34" charset="0"/>
                        <a:buChar char="•"/>
                      </a:pPr>
                      <a:r>
                        <a:rPr lang="en-US" sz="1100" b="0" i="0" u="none" strike="noStrike" cap="none">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sym typeface="Arial"/>
                        </a:rPr>
                        <a:t>Identify and develop critical technology and data roles; close capability gaps through targeted hiring and upskilling. Foster a collaborative, high-performing culture — one that blends innovation, accountability, and strong cross-functional alignment with business leaders.</a:t>
                      </a:r>
                    </a:p>
                  </a:txBody>
                  <a:tcPr>
                    <a:lnL w="12700" cap="flat" cmpd="sng" algn="ctr">
                      <a:solidFill>
                        <a:schemeClr val="bg1">
                          <a:lumMod val="95000"/>
                        </a:schemeClr>
                      </a:solidFill>
                      <a:prstDash val="solid"/>
                      <a:round/>
                      <a:headEnd type="none" w="med" len="med"/>
                      <a:tailEnd type="none" w="med" len="med"/>
                    </a:lnL>
                    <a:lnB w="12700" cap="flat" cmpd="sng" algn="ctr">
                      <a:solidFill>
                        <a:srgbClr val="BC8F00"/>
                      </a:solidFill>
                      <a:prstDash val="solid"/>
                      <a:round/>
                      <a:headEnd type="none" w="med" len="med"/>
                      <a:tailEnd type="none" w="med" len="med"/>
                    </a:lnB>
                    <a:noFill/>
                  </a:tcPr>
                </a:tc>
                <a:extLst>
                  <a:ext uri="{0D108BD9-81ED-4DB2-BD59-A6C34878D82A}">
                    <a16:rowId xmlns:a16="http://schemas.microsoft.com/office/drawing/2014/main" val="2440114098"/>
                  </a:ext>
                </a:extLst>
              </a:tr>
            </a:tbl>
          </a:graphicData>
        </a:graphic>
      </p:graphicFrame>
      <p:sp>
        <p:nvSpPr>
          <p:cNvPr id="15" name="Google Shape;57;p3">
            <a:extLst>
              <a:ext uri="{FF2B5EF4-FFF2-40B4-BE49-F238E27FC236}">
                <a16:creationId xmlns:a16="http://schemas.microsoft.com/office/drawing/2014/main" id="{FE3CDEA1-5FBD-BD74-F81E-48E84339DDCF}"/>
              </a:ext>
            </a:extLst>
          </p:cNvPr>
          <p:cNvSpPr/>
          <p:nvPr/>
        </p:nvSpPr>
        <p:spPr>
          <a:xfrm>
            <a:off x="511497" y="1067112"/>
            <a:ext cx="2783451" cy="4958548"/>
          </a:xfrm>
          <a:prstGeom prst="roundRect">
            <a:avLst>
              <a:gd name="adj" fmla="val 5837"/>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p:txBody>
      </p:sp>
      <p:sp>
        <p:nvSpPr>
          <p:cNvPr id="16" name="Google Shape;57;p3">
            <a:extLst>
              <a:ext uri="{FF2B5EF4-FFF2-40B4-BE49-F238E27FC236}">
                <a16:creationId xmlns:a16="http://schemas.microsoft.com/office/drawing/2014/main" id="{AB678642-F09B-2AE9-D002-4907F4A01E3C}"/>
              </a:ext>
            </a:extLst>
          </p:cNvPr>
          <p:cNvSpPr/>
          <p:nvPr/>
        </p:nvSpPr>
        <p:spPr>
          <a:xfrm>
            <a:off x="9057548" y="1067112"/>
            <a:ext cx="2783451" cy="4958549"/>
          </a:xfrm>
          <a:prstGeom prst="roundRect">
            <a:avLst>
              <a:gd name="adj" fmla="val 5837"/>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p:txBody>
      </p:sp>
      <p:sp>
        <p:nvSpPr>
          <p:cNvPr id="17" name="Google Shape;72;p3">
            <a:extLst>
              <a:ext uri="{FF2B5EF4-FFF2-40B4-BE49-F238E27FC236}">
                <a16:creationId xmlns:a16="http://schemas.microsoft.com/office/drawing/2014/main" id="{2C73D31D-84D8-F369-4742-05F9DF7315C9}"/>
              </a:ext>
            </a:extLst>
          </p:cNvPr>
          <p:cNvSpPr txBox="1"/>
          <p:nvPr/>
        </p:nvSpPr>
        <p:spPr>
          <a:xfrm>
            <a:off x="9230003" y="1257590"/>
            <a:ext cx="2438539"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200" b="1" i="0" u="none" strike="noStrike" kern="0" cap="none" spc="0" normalizeH="0" baseline="0" noProof="0">
                <a:ln>
                  <a:noFill/>
                </a:ln>
                <a:solidFill>
                  <a:srgbClr val="BA0C2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rPr>
              <a:t>Superpowers</a:t>
            </a:r>
            <a:endParaRPr kumimoji="0" lang="en-US" sz="1200" b="0" i="0" u="none" strike="noStrike" kern="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a:endParaRPr>
          </a:p>
        </p:txBody>
      </p:sp>
      <p:sp>
        <p:nvSpPr>
          <p:cNvPr id="18" name="TextBox 17">
            <a:extLst>
              <a:ext uri="{FF2B5EF4-FFF2-40B4-BE49-F238E27FC236}">
                <a16:creationId xmlns:a16="http://schemas.microsoft.com/office/drawing/2014/main" id="{E9DB1EC9-DA19-FDC1-C86F-CB066BC0D0DA}"/>
              </a:ext>
            </a:extLst>
          </p:cNvPr>
          <p:cNvSpPr txBox="1"/>
          <p:nvPr/>
        </p:nvSpPr>
        <p:spPr>
          <a:xfrm>
            <a:off x="9193050" y="1756857"/>
            <a:ext cx="2512443" cy="3385542"/>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IN"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Strategic Digital Vision and Delivery: </a:t>
            </a:r>
            <a:r>
              <a:rPr kumimoji="0" lang="en-IN"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The capacity to translate forward-thinking digital objectives into tangible, business-enabling platforms, integrating data, automation, and technology with growth targets.</a:t>
            </a:r>
          </a:p>
          <a:p>
            <a:pPr marL="171450" marR="0" lvl="0"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IN" sz="1200" b="1"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Relational Influence and Cultural Adaptation</a:t>
            </a:r>
            <a:r>
              <a:rPr kumimoji="0" lang="en-IN"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 The ability to build trust, manage up, adapt communications, and navigate relationship-driven cultures, so technology becomes central to decision-making and business partnership.</a:t>
            </a:r>
            <a:endParaRPr kumimoji="0" lang="en-US" sz="1200" b="0" i="0" u="none" strike="noStrike" kern="120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p:txBody>
      </p:sp>
      <p:sp>
        <p:nvSpPr>
          <p:cNvPr id="22" name="Google Shape;72;p3">
            <a:extLst>
              <a:ext uri="{FF2B5EF4-FFF2-40B4-BE49-F238E27FC236}">
                <a16:creationId xmlns:a16="http://schemas.microsoft.com/office/drawing/2014/main" id="{26AE19EF-17EC-EE8D-8FB3-4DD815E4CD0C}"/>
              </a:ext>
            </a:extLst>
          </p:cNvPr>
          <p:cNvSpPr txBox="1"/>
          <p:nvPr/>
        </p:nvSpPr>
        <p:spPr>
          <a:xfrm>
            <a:off x="988909" y="1257434"/>
            <a:ext cx="2438539" cy="243636"/>
          </a:xfrm>
          <a:prstGeom prst="rect">
            <a:avLst/>
          </a:prstGeom>
          <a:noFill/>
          <a:ln>
            <a:noFill/>
          </a:ln>
        </p:spPr>
        <p:txBody>
          <a:bodyPr spcFirstLastPara="1" wrap="square" lIns="22850" tIns="22850" rIns="22850" bIns="22850" anchor="b" anchorCtr="0">
            <a:spAutoFit/>
          </a:bodyPr>
          <a:lstStyle/>
          <a:p>
            <a:pPr marL="12700" marR="0" lvl="0" indent="0" algn="l" defTabSz="914400" rtl="0" eaLnBrk="0" fontAlgn="base" latinLnBrk="0" hangingPunct="0">
              <a:lnSpc>
                <a:spcPct val="100000"/>
              </a:lnSpc>
              <a:spcBef>
                <a:spcPts val="100"/>
              </a:spcBef>
              <a:spcAft>
                <a:spcPct val="0"/>
              </a:spcAft>
              <a:buClrTx/>
              <a:buSzTx/>
              <a:buFontTx/>
              <a:buNone/>
              <a:tabLst/>
              <a:defRPr/>
            </a:pPr>
            <a:r>
              <a:rPr kumimoji="0" lang="en-US" sz="1200" b="0" i="0" u="none" strike="noStrike" kern="1200" cap="none" spc="-35"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Jobs To Be Done </a:t>
            </a:r>
            <a:r>
              <a:rPr kumimoji="0" lang="en-US" sz="1200" b="0" i="0" u="none" strike="noStrike" kern="1200" cap="none" spc="-35"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Pivot</a:t>
            </a:r>
          </a:p>
        </p:txBody>
      </p:sp>
      <p:sp>
        <p:nvSpPr>
          <p:cNvPr id="23" name="TextBox 22">
            <a:extLst>
              <a:ext uri="{FF2B5EF4-FFF2-40B4-BE49-F238E27FC236}">
                <a16:creationId xmlns:a16="http://schemas.microsoft.com/office/drawing/2014/main" id="{9B84E675-B543-900C-ED66-BEABB1477FD1}"/>
              </a:ext>
            </a:extLst>
          </p:cNvPr>
          <p:cNvSpPr txBox="1"/>
          <p:nvPr/>
        </p:nvSpPr>
        <p:spPr>
          <a:xfrm>
            <a:off x="702812" y="1809051"/>
            <a:ext cx="2438539" cy="2041585"/>
          </a:xfrm>
          <a:prstGeom prst="rect">
            <a:avLst/>
          </a:prstGeom>
          <a:noFill/>
        </p:spPr>
        <p:txBody>
          <a:bodyPr wrap="square">
            <a:spAutoFit/>
          </a:bodyPr>
          <a:lstStyle/>
          <a:p>
            <a:pPr marL="171450" marR="0" lvl="0" indent="-171450" algn="l" defTabSz="914400" rtl="0" eaLnBrk="0" fontAlgn="base" latinLnBrk="0" hangingPunct="0">
              <a:lnSpc>
                <a:spcPct val="100000"/>
              </a:lnSpc>
              <a:spcBef>
                <a:spcPct val="0"/>
              </a:spcBef>
              <a:spcAft>
                <a:spcPts val="36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From: Siloed, legacy technology support and reactive development.</a:t>
            </a:r>
          </a:p>
          <a:p>
            <a:pPr marL="171450" marR="0" lvl="0" indent="-171450" algn="l" defTabSz="914400" rtl="0" eaLnBrk="0" fontAlgn="base" latinLnBrk="0" hangingPunct="0">
              <a:lnSpc>
                <a:spcPct val="100000"/>
              </a:lnSpc>
              <a:spcBef>
                <a:spcPct val="0"/>
              </a:spcBef>
              <a:spcAft>
                <a:spcPts val="36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endParaRPr>
          </a:p>
          <a:p>
            <a:pPr marL="171450" marR="0" lvl="0" indent="-171450" algn="l" defTabSz="914400" rtl="0" eaLnBrk="0" fontAlgn="base" latinLnBrk="0" hangingPunct="0">
              <a:lnSpc>
                <a:spcPct val="100000"/>
              </a:lnSpc>
              <a:spcBef>
                <a:spcPct val="0"/>
              </a:spcBef>
              <a:spcAft>
                <a:spcPts val="36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Arial" panose="020B0604020202020204" pitchFamily="34" charset="0"/>
              </a:rPr>
              <a:t>To: Proactive, integrated digital leadership—embedding technology at the core of strategy, driving scalable innovation, and directly enabling business growth.</a:t>
            </a:r>
          </a:p>
        </p:txBody>
      </p:sp>
      <p:sp>
        <p:nvSpPr>
          <p:cNvPr id="5" name="TextBox 4">
            <a:extLst>
              <a:ext uri="{FF2B5EF4-FFF2-40B4-BE49-F238E27FC236}">
                <a16:creationId xmlns:a16="http://schemas.microsoft.com/office/drawing/2014/main" id="{0E276914-1212-AA88-3C8D-31CE6DA2522E}"/>
              </a:ext>
            </a:extLst>
          </p:cNvPr>
          <p:cNvSpPr txBox="1"/>
          <p:nvPr/>
        </p:nvSpPr>
        <p:spPr>
          <a:xfrm rot="19103358">
            <a:off x="3879785" y="3136612"/>
            <a:ext cx="4592924" cy="584775"/>
          </a:xfrm>
          <a:prstGeom prst="rect">
            <a:avLst/>
          </a:prstGeom>
          <a:noFill/>
        </p:spPr>
        <p:txBody>
          <a:bodyPr wrap="none" rtlCol="0">
            <a:spAutoFit/>
          </a:bodyPr>
          <a:lstStyle/>
          <a:p>
            <a:r>
              <a:rPr lang="en-US" sz="3200">
                <a:solidFill>
                  <a:srgbClr val="000000">
                    <a:alpha val="30000"/>
                  </a:srgbClr>
                </a:solidFill>
                <a:latin typeface="Helvetica Neue" panose="02000503000000020004" pitchFamily="2" charset="0"/>
                <a:ea typeface="Helvetica Neue" panose="02000503000000020004" pitchFamily="2" charset="0"/>
                <a:cs typeface="Helvetica Neue" panose="02000503000000020004" pitchFamily="2" charset="0"/>
              </a:rPr>
              <a:t>WORKING DOCUMENT</a:t>
            </a:r>
          </a:p>
        </p:txBody>
      </p:sp>
    </p:spTree>
    <p:extLst>
      <p:ext uri="{BB962C8B-B14F-4D97-AF65-F5344CB8AC3E}">
        <p14:creationId xmlns:p14="http://schemas.microsoft.com/office/powerpoint/2010/main" val="8096192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AB5D5C66-E125-123A-EF22-4A407B02C3DC}"/>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FA43A95E-90EB-1EE7-EC14-6B2034098E7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55</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FB3E0643-7A1C-5D9E-5C17-BF2955A7084D}"/>
              </a:ext>
            </a:extLst>
          </p:cNvPr>
          <p:cNvSpPr txBox="1">
            <a:spLocks noChangeArrowheads="1"/>
          </p:cNvSpPr>
          <p:nvPr/>
        </p:nvSpPr>
        <p:spPr bwMode="auto">
          <a:xfrm>
            <a:off x="550863" y="374650"/>
            <a:ext cx="9618373"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Jobs To Be Done Match | Chief Information Officer | CHRISTOFFER ROSENKILDE</a:t>
            </a: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p:txBody>
      </p:sp>
      <p:sp>
        <p:nvSpPr>
          <p:cNvPr id="4" name="Google Shape;57;p3">
            <a:extLst>
              <a:ext uri="{FF2B5EF4-FFF2-40B4-BE49-F238E27FC236}">
                <a16:creationId xmlns:a16="http://schemas.microsoft.com/office/drawing/2014/main" id="{7B1458BC-BC72-0ACD-F77B-15B35082DADF}"/>
              </a:ext>
            </a:extLst>
          </p:cNvPr>
          <p:cNvSpPr/>
          <p:nvPr/>
        </p:nvSpPr>
        <p:spPr>
          <a:xfrm>
            <a:off x="669671" y="831850"/>
            <a:ext cx="11067057" cy="5783532"/>
          </a:xfrm>
          <a:prstGeom prst="roundRect">
            <a:avLst>
              <a:gd name="adj" fmla="val 225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l" defTabSz="457200" rtl="0" eaLnBrk="1" fontAlgn="auto" latinLnBrk="0" hangingPunct="1">
              <a:lnSpc>
                <a:spcPct val="100000"/>
              </a:lnSpc>
              <a:spcBef>
                <a:spcPts val="0"/>
              </a:spcBef>
              <a:spcAft>
                <a:spcPts val="0"/>
              </a:spcAft>
              <a:buClr>
                <a:srgbClr val="BA0C2F"/>
              </a:buClr>
              <a:buSzPts val="3600"/>
              <a:buFontTx/>
              <a:buNone/>
              <a:tabLst/>
              <a:defRPr/>
            </a:pPr>
            <a:r>
              <a:rPr kumimoji="0" lang="en-US" sz="1200" b="1" i="0" u="none" strike="noStrike" kern="0" cap="none" spc="0" normalizeH="0" baseline="0" noProof="0">
                <a:ln>
                  <a:noFill/>
                </a:ln>
                <a:solidFill>
                  <a:srgbClr val="000000"/>
                </a:solidFill>
                <a:effectLst/>
                <a:uLnTx/>
                <a:uFillTx/>
                <a:latin typeface="Lato"/>
                <a:ea typeface="Lato"/>
                <a:cs typeface="Lato"/>
                <a:sym typeface="Lato"/>
              </a:rPr>
              <a:t> </a:t>
            </a:r>
          </a:p>
        </p:txBody>
      </p:sp>
      <p:sp>
        <p:nvSpPr>
          <p:cNvPr id="2" name="TextBox 1">
            <a:extLst>
              <a:ext uri="{FF2B5EF4-FFF2-40B4-BE49-F238E27FC236}">
                <a16:creationId xmlns:a16="http://schemas.microsoft.com/office/drawing/2014/main" id="{AD005A0E-400B-C5A9-EF26-4DEF6416FDDA}"/>
              </a:ext>
            </a:extLst>
          </p:cNvPr>
          <p:cNvSpPr txBox="1"/>
          <p:nvPr/>
        </p:nvSpPr>
        <p:spPr>
          <a:xfrm>
            <a:off x="769709" y="950375"/>
            <a:ext cx="10752619" cy="5678478"/>
          </a:xfrm>
          <a:prstGeom prst="rect">
            <a:avLst/>
          </a:prstGeom>
          <a:noFill/>
        </p:spPr>
        <p:txBody>
          <a:bodyPr wrap="square" lIns="91440" tIns="45720" rIns="91440" bIns="45720" rtlCol="0" anchor="t">
            <a:spAutoFit/>
          </a:bodyPr>
          <a:lstStyle/>
          <a:p>
            <a:r>
              <a:rPr lang="en-US" sz="1100" b="1">
                <a:latin typeface="Helvetica Neue"/>
                <a:ea typeface="Helvetica Neue" panose="02000503000000020004" pitchFamily="2" charset="0"/>
                <a:cs typeface="Helvetica Neue" panose="02000503000000020004" pitchFamily="2" charset="0"/>
              </a:rPr>
              <a:t>Role Pivots &amp; Risks</a:t>
            </a:r>
          </a:p>
          <a:p>
            <a:endParaRPr lang="en-US" sz="1100" b="1">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100">
                <a:latin typeface="Helvetica Neue"/>
                <a:ea typeface="Helvetica Neue" panose="02000503000000020004" pitchFamily="2" charset="0"/>
                <a:cs typeface="Helvetica Neue" panose="02000503000000020004" pitchFamily="2" charset="0"/>
              </a:rPr>
              <a:t>The role is central to transforming the company’s digital backbone from fragmented, legacy systems into integrated, business-driven solutions that enable growth, scalability, and efficiency. Success depends on the ability to turn technology into a visible enabler of commercial strategy — linking digital priorities directly to business outcomes.</a:t>
            </a:r>
          </a:p>
          <a:p>
            <a:pPr marL="171450" indent="-171450">
              <a:buFont typeface="Arial" panose="020B0604020202020204" pitchFamily="34" charset="0"/>
              <a:buChar char="•"/>
            </a:pPr>
            <a:endParaRPr lang="en-US" sz="110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100">
                <a:latin typeface="Helvetica Neue"/>
                <a:ea typeface="Helvetica Neue" panose="02000503000000020004" pitchFamily="2" charset="0"/>
                <a:cs typeface="Helvetica Neue" panose="02000503000000020004" pitchFamily="2" charset="0"/>
              </a:rPr>
              <a:t>The biggest risk lies in ongoing misalignment across the senior leadership team — when platforms and investment priorities are not fully shared, the technology agenda risks loss of pace. Clear alignment and sponsorship from the top are critical to sustain momentum and deliver enterprise-wide value.</a:t>
            </a:r>
          </a:p>
          <a:p>
            <a:pPr marL="171450" indent="-171450">
              <a:buFont typeface="Arial" panose="020B0604020202020204" pitchFamily="34" charset="0"/>
              <a:buChar char="•"/>
            </a:pPr>
            <a:endParaRPr lang="en-US" sz="110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100">
                <a:latin typeface="Helvetica Neue"/>
                <a:ea typeface="Helvetica Neue" panose="02000503000000020004" pitchFamily="2" charset="0"/>
                <a:cs typeface="Helvetica Neue" panose="02000503000000020004" pitchFamily="2" charset="0"/>
              </a:rPr>
              <a:t>To be most effective, the role must bridge technical insight and business relevance — translating complex solutions into clear, actionable priorities that peers and business leaders understand, support, and adopt. Without active engagement and consistent communication with the CEO and peers, technology decisions risk being seen as functional rather than transformational.</a:t>
            </a:r>
          </a:p>
          <a:p>
            <a:pPr marL="171450" indent="-171450">
              <a:buFont typeface="Arial" panose="020B0604020202020204" pitchFamily="34" charset="0"/>
              <a:buChar char="•"/>
            </a:pPr>
            <a:endParaRPr lang="en-US" sz="110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100">
                <a:latin typeface="Helvetica Neue"/>
                <a:ea typeface="Helvetica Neue" panose="02000503000000020004" pitchFamily="2" charset="0"/>
                <a:cs typeface="Helvetica Neue" panose="02000503000000020004" pitchFamily="2" charset="0"/>
              </a:rPr>
              <a:t>Finally, the role operates within a culture where informal influence and relationship capital matter as much as technical capability. Navigating these dynamics deliberately — cultivating trust, clarity, and shared accountability — is essential to ensure that strong technical solutions gain the sponsorship and follow-through needed for lasting impact.</a:t>
            </a:r>
          </a:p>
          <a:p>
            <a:endParaRPr lang="en-US" sz="1100" b="1">
              <a:latin typeface="Helvetica Neue" panose="02000503000000020004" pitchFamily="2" charset="0"/>
              <a:ea typeface="Helvetica Neue" panose="02000503000000020004" pitchFamily="2" charset="0"/>
              <a:cs typeface="Helvetica Neue" panose="02000503000000020004" pitchFamily="2" charset="0"/>
            </a:endParaRPr>
          </a:p>
          <a:p>
            <a:r>
              <a:rPr lang="en-US" sz="1100" b="1">
                <a:latin typeface="Helvetica Neue"/>
                <a:ea typeface="Helvetica Neue" panose="02000503000000020004" pitchFamily="2" charset="0"/>
                <a:cs typeface="Helvetica Neue" panose="02000503000000020004" pitchFamily="2" charset="0"/>
              </a:rPr>
              <a:t>Is the Talent Equipped for Success?</a:t>
            </a:r>
          </a:p>
          <a:p>
            <a:pPr marL="171450" indent="-171450">
              <a:buFont typeface="Arial" panose="020B0604020202020204" pitchFamily="34" charset="0"/>
              <a:buChar char="•"/>
            </a:pPr>
            <a:endParaRPr lang="en-US" sz="1100">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100">
                <a:latin typeface="Helvetica Neue"/>
                <a:ea typeface="Helvetica Neue" panose="02000503000000020004" pitchFamily="2" charset="0"/>
                <a:cs typeface="Helvetica Neue" panose="02000503000000020004" pitchFamily="2" charset="0"/>
              </a:rPr>
              <a:t>Chris brings deep industry and technical expertise, offering sector-relevant insights and a pragmatic, thoughtful leadership style. He is valued for his operational steadiness and for driving progress in data, analytics, and platform capabilities, with a strong orientation toward building for the future.</a:t>
            </a:r>
          </a:p>
          <a:p>
            <a:pPr marL="171450" indent="-171450">
              <a:buFont typeface="Arial" panose="020B0604020202020204" pitchFamily="34" charset="0"/>
              <a:buChar char="•"/>
            </a:pPr>
            <a:endParaRPr lang="en-US" sz="1100">
              <a:latin typeface="Helvetica Neue"/>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100">
                <a:latin typeface="Helvetica Neue"/>
                <a:ea typeface="Helvetica Neue" panose="02000503000000020004" pitchFamily="2" charset="0"/>
                <a:cs typeface="Helvetica Neue" panose="02000503000000020004" pitchFamily="2" charset="0"/>
              </a:rPr>
              <a:t>To maximize his impact, he will benefit from strengthening relationships upward with the CEO and laterally across the C-suite. Translating technology priorities into business outcomes—and adapting his communication to local norms—will help increase influence with non-technical leaders.</a:t>
            </a:r>
          </a:p>
          <a:p>
            <a:pPr marL="171450" indent="-171450">
              <a:buFont typeface="Arial" panose="020B0604020202020204" pitchFamily="34" charset="0"/>
              <a:buChar char="•"/>
            </a:pPr>
            <a:endParaRPr lang="en-US" sz="1100">
              <a:latin typeface="Helvetica Neue"/>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100">
                <a:latin typeface="Helvetica Neue"/>
                <a:ea typeface="Helvetica Neue" panose="02000503000000020004" pitchFamily="2" charset="0"/>
                <a:cs typeface="Helvetica Neue" panose="02000503000000020004" pitchFamily="2" charset="0"/>
              </a:rPr>
              <a:t>Given ADSS’s relationship-driven culture, his highly rational communication style can sometimes be misread. Flexing his approach, investing in relational influence, and pursuing early consensus will support stronger alignment and buy-in.</a:t>
            </a:r>
          </a:p>
          <a:p>
            <a:pPr marL="171450" indent="-171450">
              <a:buFont typeface="Arial" panose="020B0604020202020204" pitchFamily="34" charset="0"/>
              <a:buChar char="•"/>
            </a:pPr>
            <a:endParaRPr lang="en-US" sz="1100">
              <a:latin typeface="Helvetica Neue"/>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100">
                <a:latin typeface="Helvetica Neue"/>
                <a:ea typeface="Helvetica Neue" panose="02000503000000020004" pitchFamily="2" charset="0"/>
                <a:cs typeface="Helvetica Neue" panose="02000503000000020004" pitchFamily="2" charset="0"/>
              </a:rPr>
              <a:t>He should stay anchored in his strengths—purpose-driven leadership, calm resilience, and commitment to meaningful solutions—while remaining visible, accessible, and engaged across the organization, particularly when alignment or trust is uncertain.</a:t>
            </a:r>
          </a:p>
          <a:p>
            <a:pPr marL="171450" indent="-171450">
              <a:buFont typeface="Arial" panose="020B0604020202020204" pitchFamily="34" charset="0"/>
              <a:buChar char="•"/>
            </a:pPr>
            <a:endParaRPr lang="en-US" sz="1100">
              <a:latin typeface="Helvetica Neue"/>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100">
                <a:latin typeface="Helvetica Neue"/>
                <a:ea typeface="Helvetica Neue" panose="02000503000000020004" pitchFamily="2" charset="0"/>
                <a:cs typeface="Helvetica Neue" panose="02000503000000020004" pitchFamily="2" charset="0"/>
              </a:rPr>
              <a:t>Under stress, Chris may become more cautious or withdrawn, which can slow decision-making. Maintaining open dialogue and visible engagement during these moments will reinforce confidence within his team and among peers.</a:t>
            </a:r>
          </a:p>
        </p:txBody>
      </p:sp>
    </p:spTree>
    <p:extLst>
      <p:ext uri="{BB962C8B-B14F-4D97-AF65-F5344CB8AC3E}">
        <p14:creationId xmlns:p14="http://schemas.microsoft.com/office/powerpoint/2010/main" val="1246942280"/>
      </p:ext>
    </p:extLst>
  </p:cSld>
  <p:clrMapOvr>
    <a:masterClrMapping/>
  </p:clrMapOvr>
  <p:extLst>
    <p:ext uri="{6950BFC3-D8DA-4A85-94F7-54DA5524770B}">
      <p188:commentRel xmlns:p188="http://schemas.microsoft.com/office/powerpoint/2018/8/main" r:id="rId3"/>
    </p:ext>
  </p:extLst>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8764F7E1-D48A-9C6F-F22A-427D5B114751}"/>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9437E95D-FE7D-0BF0-835C-30F52FB0211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56</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447342F0-8A41-2E5D-5C1C-F58C07CC3D5F}"/>
              </a:ext>
            </a:extLst>
          </p:cNvPr>
          <p:cNvSpPr txBox="1">
            <a:spLocks noChangeArrowheads="1"/>
          </p:cNvSpPr>
          <p:nvPr/>
        </p:nvSpPr>
        <p:spPr bwMode="auto">
          <a:xfrm>
            <a:off x="550863" y="374650"/>
            <a:ext cx="9022628"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HOGAN | Chief Information Officer | CHRISTOFFER ROSENKILDE</a:t>
            </a: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p:txBody>
      </p:sp>
      <p:grpSp>
        <p:nvGrpSpPr>
          <p:cNvPr id="4" name="Group 3">
            <a:extLst>
              <a:ext uri="{FF2B5EF4-FFF2-40B4-BE49-F238E27FC236}">
                <a16:creationId xmlns:a16="http://schemas.microsoft.com/office/drawing/2014/main" id="{C07414AD-18C1-6886-6BE0-BAE69AD74E5B}"/>
              </a:ext>
            </a:extLst>
          </p:cNvPr>
          <p:cNvGrpSpPr/>
          <p:nvPr/>
        </p:nvGrpSpPr>
        <p:grpSpPr>
          <a:xfrm>
            <a:off x="758455" y="837828"/>
            <a:ext cx="6226053" cy="655403"/>
            <a:chOff x="529855" y="131505"/>
            <a:chExt cx="6226053" cy="655403"/>
          </a:xfrm>
        </p:grpSpPr>
        <p:sp>
          <p:nvSpPr>
            <p:cNvPr id="6" name="TextBox 5">
              <a:extLst>
                <a:ext uri="{FF2B5EF4-FFF2-40B4-BE49-F238E27FC236}">
                  <a16:creationId xmlns:a16="http://schemas.microsoft.com/office/drawing/2014/main" id="{0EB52BC5-7172-9C8B-F0B9-4E201F4D717E}"/>
                </a:ext>
              </a:extLst>
            </p:cNvPr>
            <p:cNvSpPr txBox="1"/>
            <p:nvPr/>
          </p:nvSpPr>
          <p:spPr>
            <a:xfrm>
              <a:off x="529855" y="131505"/>
              <a:ext cx="680414" cy="253916"/>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lumMod val="50000"/>
                      <a:lumOff val="50000"/>
                    </a:srgbClr>
                  </a:solidFill>
                  <a:effectLst/>
                  <a:uLnTx/>
                  <a:uFillTx/>
                  <a:latin typeface="Lato Light" panose="020F0502020204030203" pitchFamily="34" charset="0"/>
                  <a:ea typeface="Lato Light" panose="020F0502020204030203" pitchFamily="34" charset="0"/>
                  <a:cs typeface="Lato Light" panose="020F0502020204030203" pitchFamily="34" charset="0"/>
                  <a:sym typeface="Arial" panose="020B0604020202020204" pitchFamily="34" charset="0"/>
                </a:rPr>
                <a:t>ROLE</a:t>
              </a:r>
            </a:p>
          </p:txBody>
        </p:sp>
        <p:sp>
          <p:nvSpPr>
            <p:cNvPr id="7" name="TextBox 6">
              <a:extLst>
                <a:ext uri="{FF2B5EF4-FFF2-40B4-BE49-F238E27FC236}">
                  <a16:creationId xmlns:a16="http://schemas.microsoft.com/office/drawing/2014/main" id="{06BCDBAD-D937-0836-5240-BCF698EB576B}"/>
                </a:ext>
              </a:extLst>
            </p:cNvPr>
            <p:cNvSpPr txBox="1"/>
            <p:nvPr/>
          </p:nvSpPr>
          <p:spPr>
            <a:xfrm>
              <a:off x="529855" y="356566"/>
              <a:ext cx="3201164" cy="430342"/>
            </a:xfrm>
            <a:prstGeom prst="rect">
              <a:avLst/>
            </a:prstGeom>
            <a:noFill/>
          </p:spPr>
          <p:txBody>
            <a:bodyPr wrap="square" lIns="91440" tIns="45720" rIns="9144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rial" panose="020B0604020202020204" pitchFamily="34" charset="0"/>
                  <a:ea typeface="Lato Light" panose="020F0502020204030203" pitchFamily="34" charset="0"/>
                  <a:cs typeface="Arial" panose="020B0604020202020204" pitchFamily="34" charset="0"/>
                  <a:sym typeface="Arial" panose="020B0604020202020204" pitchFamily="34" charset="0"/>
                </a:rPr>
                <a:t>Chief Information Officer </a:t>
              </a:r>
            </a:p>
          </p:txBody>
        </p:sp>
        <p:sp>
          <p:nvSpPr>
            <p:cNvPr id="12" name="TextBox 11">
              <a:extLst>
                <a:ext uri="{FF2B5EF4-FFF2-40B4-BE49-F238E27FC236}">
                  <a16:creationId xmlns:a16="http://schemas.microsoft.com/office/drawing/2014/main" id="{D8C9D588-404E-DBC4-15EF-4AD1F0939D4F}"/>
                </a:ext>
              </a:extLst>
            </p:cNvPr>
            <p:cNvSpPr txBox="1"/>
            <p:nvPr/>
          </p:nvSpPr>
          <p:spPr>
            <a:xfrm>
              <a:off x="5962084" y="131505"/>
              <a:ext cx="748798" cy="253916"/>
            </a:xfrm>
            <a:prstGeom prst="rect">
              <a:avLst/>
            </a:prstGeom>
            <a:noFill/>
          </p:spPr>
          <p:txBody>
            <a:bodyPr wrap="square"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lumMod val="50000"/>
                      <a:lumOff val="50000"/>
                    </a:srgbClr>
                  </a:solidFill>
                  <a:effectLst/>
                  <a:uLnTx/>
                  <a:uFillTx/>
                  <a:latin typeface="Lato Light" panose="020F0502020204030203" pitchFamily="34" charset="0"/>
                  <a:ea typeface="Lato Light" panose="020F0502020204030203" pitchFamily="34" charset="0"/>
                  <a:cs typeface="Lato Light" panose="020F0502020204030203" pitchFamily="34" charset="0"/>
                  <a:sym typeface="Arial" panose="020B0604020202020204" pitchFamily="34" charset="0"/>
                </a:rPr>
                <a:t>TALENT</a:t>
              </a:r>
            </a:p>
          </p:txBody>
        </p:sp>
        <p:sp>
          <p:nvSpPr>
            <p:cNvPr id="13" name="TextBox 12">
              <a:extLst>
                <a:ext uri="{FF2B5EF4-FFF2-40B4-BE49-F238E27FC236}">
                  <a16:creationId xmlns:a16="http://schemas.microsoft.com/office/drawing/2014/main" id="{1530D92E-1E73-CE9A-359B-5F3ABD1362EA}"/>
                </a:ext>
              </a:extLst>
            </p:cNvPr>
            <p:cNvSpPr txBox="1"/>
            <p:nvPr/>
          </p:nvSpPr>
          <p:spPr>
            <a:xfrm>
              <a:off x="3665327" y="296859"/>
              <a:ext cx="3090581" cy="490041"/>
            </a:xfrm>
            <a:prstGeom prst="rect">
              <a:avLst/>
            </a:prstGeom>
            <a:noFill/>
          </p:spPr>
          <p:txBody>
            <a:bodyPr wrap="square" lIns="91440" tIns="45720" rIns="91440" bIns="4572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Arial" panose="020B0604020202020204" pitchFamily="34" charset="0"/>
                  <a:ea typeface="Lato Light" panose="020F0502020204030203" pitchFamily="34" charset="0"/>
                  <a:cs typeface="Arial" panose="020B0604020202020204" pitchFamily="34" charset="0"/>
                  <a:sym typeface="Arial" panose="020B0604020202020204" pitchFamily="34" charset="0"/>
                </a:rPr>
                <a:t>CHRISTOFFER ROSENKILDE</a:t>
              </a:r>
            </a:p>
          </p:txBody>
        </p:sp>
      </p:grpSp>
      <p:pic>
        <p:nvPicPr>
          <p:cNvPr id="3" name="Picture 2" descr="A chart with colorful bars&#10;&#10;AI-generated content may be incorrect.">
            <a:extLst>
              <a:ext uri="{FF2B5EF4-FFF2-40B4-BE49-F238E27FC236}">
                <a16:creationId xmlns:a16="http://schemas.microsoft.com/office/drawing/2014/main" id="{EE65500D-8A61-363E-5E0E-185B3B4FAD7B}"/>
              </a:ext>
            </a:extLst>
          </p:cNvPr>
          <p:cNvPicPr>
            <a:picLocks noChangeAspect="1"/>
          </p:cNvPicPr>
          <p:nvPr/>
        </p:nvPicPr>
        <p:blipFill>
          <a:blip r:embed="rId3"/>
          <a:stretch>
            <a:fillRect/>
          </a:stretch>
        </p:blipFill>
        <p:spPr>
          <a:xfrm>
            <a:off x="7827817" y="809625"/>
            <a:ext cx="4140571" cy="5277198"/>
          </a:xfrm>
          <a:prstGeom prst="rect">
            <a:avLst/>
          </a:prstGeom>
        </p:spPr>
      </p:pic>
      <p:sp>
        <p:nvSpPr>
          <p:cNvPr id="2" name="TextBox 1">
            <a:extLst>
              <a:ext uri="{FF2B5EF4-FFF2-40B4-BE49-F238E27FC236}">
                <a16:creationId xmlns:a16="http://schemas.microsoft.com/office/drawing/2014/main" id="{C357A76B-8C16-7A2D-BABE-F5382C46C9D2}"/>
              </a:ext>
            </a:extLst>
          </p:cNvPr>
          <p:cNvSpPr txBox="1"/>
          <p:nvPr/>
        </p:nvSpPr>
        <p:spPr>
          <a:xfrm>
            <a:off x="580059" y="1540568"/>
            <a:ext cx="6388103" cy="4531841"/>
          </a:xfrm>
          <a:prstGeom prst="rect">
            <a:avLst/>
          </a:prstGeom>
          <a:noFill/>
        </p:spPr>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0000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Role · Talent Match</a:t>
            </a:r>
            <a:br>
              <a:rPr kumimoji="0" lang="en-US" sz="1100" b="1" i="0" u="none" strike="noStrike" kern="1200" cap="none" spc="0" normalizeH="0" baseline="0" noProof="0">
                <a:ln>
                  <a:noFill/>
                </a:ln>
                <a:solidFill>
                  <a:prstClr val="black"/>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br>
            <a:endParaRPr kumimoji="0" lang="en-US" sz="1100" b="1"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panose="020B0604020202020204" pitchFamily="34" charset="0"/>
                <a:ea typeface="Lato Light" panose="020F0502020204030203" pitchFamily="34" charset="0"/>
                <a:cs typeface="Lato Light" panose="020F0502020204030203" pitchFamily="34" charset="0"/>
                <a:sym typeface="Arial" panose="020B0604020202020204" pitchFamily="34" charset="0"/>
              </a:rPr>
              <a:t>Christoffer is probably far-sighted in outlook and may be ahead of the curve with regards to technology, data and digital leadership (Learning. Approach, Inquisitive, Science). This all augurs well for him building a future-focused strategy to allow for integration, automation and product diversification.</a:t>
            </a: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Christoffer may be known as a generous and supportive leader (Altruism) who should therefore be motivated to build, upskill and retain a high-performing technology and data team. This should help also with addressing resourcing gaps and take account of future scaling.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C0000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Potential Derailers </a:t>
            </a:r>
            <a:br>
              <a:rPr kumimoji="0" lang="en-US" sz="1100" b="1" i="0" u="none" strike="noStrike" kern="1200" cap="none" spc="0" normalizeH="0" baseline="0" noProof="0">
                <a:ln>
                  <a:noFill/>
                </a:ln>
                <a:solidFill>
                  <a:prstClr val="black"/>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br>
            <a:endParaRPr kumimoji="0" lang="en-US" sz="1100" b="1" i="0" u="none" strike="noStrike" kern="1200" cap="none" spc="0" normalizeH="0" baseline="0" noProof="0">
              <a:ln>
                <a:noFill/>
              </a:ln>
              <a:solidFill>
                <a:srgbClr val="C0000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a:p>
            <a:pPr marL="171450" marR="0" lvl="0"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rPr>
              <a:t>An area of development for Christoffer may be around his confidence at asserting himself (low Power, low Colorful), which could inhibit his relational influence and cultural adaptation. Building trust (Skeptical) and adapting communications (low Mischievous) might also be underdeveloped skills.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404040"/>
              </a:solidFill>
              <a:effectLst/>
              <a:uLnTx/>
              <a:uFillTx/>
              <a:latin typeface="Arial"/>
              <a:ea typeface="Lato Light" panose="020F0502020204030203" pitchFamily="34" charset="0"/>
              <a:cs typeface="Lato Light" panose="020F0502020204030203" pitchFamily="34" charset="0"/>
              <a:sym typeface="Arial" panose="020B0604020202020204" pitchFamily="34" charset="0"/>
            </a:endParaRPr>
          </a:p>
        </p:txBody>
      </p:sp>
    </p:spTree>
    <p:extLst>
      <p:ext uri="{BB962C8B-B14F-4D97-AF65-F5344CB8AC3E}">
        <p14:creationId xmlns:p14="http://schemas.microsoft.com/office/powerpoint/2010/main" val="41740797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3B17FE28-3C9C-1875-ECBB-CC4399BB828D}"/>
            </a:ext>
          </a:extLst>
        </p:cNvPr>
        <p:cNvGrpSpPr/>
        <p:nvPr/>
      </p:nvGrpSpPr>
      <p:grpSpPr>
        <a:xfrm>
          <a:off x="0" y="0"/>
          <a:ext cx="0" cy="0"/>
          <a:chOff x="0" y="0"/>
          <a:chExt cx="0" cy="0"/>
        </a:xfrm>
      </p:grpSpPr>
      <p:sp>
        <p:nvSpPr>
          <p:cNvPr id="22530" name="Slide Number Placeholder 2">
            <a:extLst>
              <a:ext uri="{FF2B5EF4-FFF2-40B4-BE49-F238E27FC236}">
                <a16:creationId xmlns:a16="http://schemas.microsoft.com/office/drawing/2014/main" id="{E923057C-48F4-9B70-2E0D-90164C44F9E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fld id="{D28266B7-270A-6845-B788-12DAD66A92AE}" type="slidenum">
              <a:rPr kumimoji="0" lang="en-US" altLang="en-US" sz="1800" b="0" i="0" u="none" strike="noStrike" kern="1200" cap="none" spc="0" normalizeH="0" baseline="0" noProof="0" smtClean="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rPr>
              <a:pPr marL="0" marR="0" lvl="0" indent="0" algn="ctr"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tabLst/>
                <a:defRPr/>
              </a:pPr>
              <a:t>57</a:t>
            </a:fld>
            <a:endParaRPr kumimoji="0" lang="en-US" altLang="en-US" sz="1800" b="0" i="0" u="none" strike="noStrike" kern="1200" cap="none" spc="0" normalizeH="0" baseline="0" noProof="0">
              <a:ln>
                <a:noFill/>
              </a:ln>
              <a:solidFill>
                <a:srgbClr val="FFFFFF"/>
              </a:solidFill>
              <a:effectLst/>
              <a:uLnTx/>
              <a:uFillTx/>
              <a:latin typeface="Helvetica Neue Roman" panose="02000503000000020004" pitchFamily="2" charset="0"/>
              <a:ea typeface="+mn-ea"/>
              <a:cs typeface="Arial" panose="020B0604020202020204" pitchFamily="34" charset="0"/>
              <a:sym typeface="Helvetica Neue" panose="02000503000000020004" pitchFamily="2" charset="0"/>
            </a:endParaRPr>
          </a:p>
        </p:txBody>
      </p:sp>
      <p:sp>
        <p:nvSpPr>
          <p:cNvPr id="22535" name="Text Placeholder 1">
            <a:extLst>
              <a:ext uri="{FF2B5EF4-FFF2-40B4-BE49-F238E27FC236}">
                <a16:creationId xmlns:a16="http://schemas.microsoft.com/office/drawing/2014/main" id="{14277A80-D21C-D5C7-5C19-40298B8FB8B1}"/>
              </a:ext>
            </a:extLst>
          </p:cNvPr>
          <p:cNvSpPr txBox="1">
            <a:spLocks noChangeArrowheads="1"/>
          </p:cNvSpPr>
          <p:nvPr/>
        </p:nvSpPr>
        <p:spPr bwMode="auto">
          <a:xfrm>
            <a:off x="550862" y="498764"/>
            <a:ext cx="9659937" cy="21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914400" indent="-38100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371600" indent="-355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8288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286000" indent="-3429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7432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32004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6576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4114800" indent="-3429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r>
              <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rPr>
              <a:t>Enabling Success Plan | Chief Information Officer | CHRISTOFFER ROSENKILDE</a:t>
            </a: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206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a:p>
            <a:pPr marL="0" marR="0" lvl="0" indent="0" algn="l" defTabSz="914400" rtl="0" eaLnBrk="0" fontAlgn="base" latinLnBrk="0" hangingPunct="0">
              <a:lnSpc>
                <a:spcPct val="90000"/>
              </a:lnSpc>
              <a:spcBef>
                <a:spcPct val="0"/>
              </a:spcBef>
              <a:spcAft>
                <a:spcPct val="0"/>
              </a:spcAft>
              <a:buClr>
                <a:srgbClr val="000000"/>
              </a:buClr>
              <a:buSzPts val="2400"/>
              <a:buFontTx/>
              <a:buNone/>
              <a:tabLst/>
              <a:defRPr/>
            </a:pPr>
            <a:endParaRPr kumimoji="0" lang="en-US" altLang="en-US" sz="2000" b="0" i="0" u="none" strike="noStrike" kern="1200" cap="none" spc="0" normalizeH="0" baseline="0" noProof="0">
              <a:ln>
                <a:noFill/>
              </a:ln>
              <a:solidFill>
                <a:srgbClr val="000000"/>
              </a:solidFill>
              <a:effectLst/>
              <a:uLnTx/>
              <a:uFillTx/>
              <a:latin typeface="Helvetica Neue" panose="02000503000000020004" pitchFamily="2" charset="0"/>
              <a:ea typeface="+mn-ea"/>
              <a:cs typeface="Arial" panose="020B0604020202020204" pitchFamily="34" charset="0"/>
              <a:sym typeface="Helvetica Neue Light" panose="02000403000000020004" pitchFamily="2" charset="0"/>
            </a:endParaRPr>
          </a:p>
        </p:txBody>
      </p:sp>
      <p:sp>
        <p:nvSpPr>
          <p:cNvPr id="4" name="Google Shape;57;p3">
            <a:extLst>
              <a:ext uri="{FF2B5EF4-FFF2-40B4-BE49-F238E27FC236}">
                <a16:creationId xmlns:a16="http://schemas.microsoft.com/office/drawing/2014/main" id="{53606A3E-E44B-C973-DEDF-64232C6E6CB8}"/>
              </a:ext>
            </a:extLst>
          </p:cNvPr>
          <p:cNvSpPr/>
          <p:nvPr/>
        </p:nvSpPr>
        <p:spPr>
          <a:xfrm>
            <a:off x="462166" y="1097720"/>
            <a:ext cx="3418461" cy="4877778"/>
          </a:xfrm>
          <a:prstGeom prst="roundRect">
            <a:avLst>
              <a:gd name="adj" fmla="val 3135"/>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0" normalizeH="0" baseline="0" noProof="0">
              <a:ln>
                <a:noFill/>
              </a:ln>
              <a:solidFill>
                <a:srgbClr val="000000"/>
              </a:solidFill>
              <a:effectLst/>
              <a:uLnTx/>
              <a:uFillTx/>
              <a:latin typeface="Lato" panose="020F0502020204030203" pitchFamily="34" charset="77"/>
              <a:ea typeface="Lato"/>
              <a:cs typeface="Lato"/>
              <a:sym typeface="Lato"/>
            </a:endParaRPr>
          </a:p>
        </p:txBody>
      </p:sp>
      <p:sp>
        <p:nvSpPr>
          <p:cNvPr id="6" name="Google Shape;57;p3">
            <a:extLst>
              <a:ext uri="{FF2B5EF4-FFF2-40B4-BE49-F238E27FC236}">
                <a16:creationId xmlns:a16="http://schemas.microsoft.com/office/drawing/2014/main" id="{AD22DDE0-5CB4-4E53-A9E6-334327193B5D}"/>
              </a:ext>
            </a:extLst>
          </p:cNvPr>
          <p:cNvSpPr/>
          <p:nvPr/>
        </p:nvSpPr>
        <p:spPr>
          <a:xfrm>
            <a:off x="4055946" y="1097720"/>
            <a:ext cx="7811186" cy="4877778"/>
          </a:xfrm>
          <a:prstGeom prst="roundRect">
            <a:avLst>
              <a:gd name="adj" fmla="val 2256"/>
            </a:avLst>
          </a:prstGeom>
          <a:solidFill>
            <a:schemeClr val="bg1"/>
          </a:solidFill>
          <a:ln w="9525" cap="flat" cmpd="sng">
            <a:solidFill>
              <a:srgbClr val="BA0C2F"/>
            </a:solidFill>
            <a:prstDash val="solid"/>
            <a:miter lim="400000"/>
            <a:headEnd type="none" w="sm" len="sm"/>
            <a:tailEnd type="none" w="sm" len="sm"/>
          </a:ln>
        </p:spPr>
        <p:txBody>
          <a:bodyPr spcFirstLastPara="1" wrap="square" lIns="22850" tIns="22850" rIns="22850" bIns="22850" anchor="t" anchorCtr="0">
            <a:noAutofit/>
          </a:bodyPr>
          <a:lstStyle/>
          <a:p>
            <a:endParaRPr lang="en-US" sz="1200" b="1">
              <a:latin typeface="Helvetica Neue" panose="02000503000000020004" pitchFamily="2" charset="0"/>
              <a:ea typeface="Helvetica Neue" panose="02000503000000020004" pitchFamily="2" charset="0"/>
              <a:cs typeface="Helvetica Neue" panose="02000503000000020004" pitchFamily="2" charset="0"/>
            </a:endParaRPr>
          </a:p>
          <a:p>
            <a:endParaRPr lang="en-US" sz="1200" b="1">
              <a:latin typeface="Helvetica Neue" panose="02000503000000020004" pitchFamily="2" charset="0"/>
              <a:ea typeface="Helvetica Neue" panose="02000503000000020004" pitchFamily="2" charset="0"/>
              <a:cs typeface="Helvetica Neue" panose="02000503000000020004" pitchFamily="2" charset="0"/>
            </a:endParaRPr>
          </a:p>
          <a:p>
            <a:pPr marL="228600" indent="-228600">
              <a:buFontTx/>
              <a:buAutoNum type="arabicPeriod"/>
            </a:pPr>
            <a:r>
              <a:rPr lang="en-US" sz="1100" b="1">
                <a:solidFill>
                  <a:prstClr val="black"/>
                </a:solidFill>
                <a:latin typeface="Helvetica Neue" panose="02000503000000020004" pitchFamily="2" charset="0"/>
                <a:ea typeface="Helvetica Neue" panose="02000503000000020004" pitchFamily="2" charset="0"/>
                <a:cs typeface="Helvetica Neue" panose="02000503000000020004" pitchFamily="2" charset="0"/>
              </a:rPr>
              <a:t>Clarify the Digital Strategy: </a:t>
            </a:r>
            <a:r>
              <a:rPr lang="en-US" sz="110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Provide visibility on progress, decisions, and business impact to build clarity and trust that technology is enabling today’s results while shaping tomorrow’s growth.</a:t>
            </a:r>
            <a:endParaRPr lang="en-US" sz="1100" b="1">
              <a:solidFill>
                <a:prstClr val="black"/>
              </a:solidFill>
              <a:latin typeface="Helvetica Neue" panose="02000503000000020004" pitchFamily="2" charset="0"/>
              <a:ea typeface="Helvetica Neue" panose="02000503000000020004" pitchFamily="2" charset="0"/>
              <a:cs typeface="Helvetica Neue" panose="02000503000000020004" pitchFamily="2" charset="0"/>
            </a:endParaRPr>
          </a:p>
          <a:p>
            <a:pPr marL="228600" indent="-228600">
              <a:buAutoNum type="arabicPeriod"/>
            </a:pPr>
            <a:endParaRPr lang="en-US" sz="1100" b="1">
              <a:latin typeface="Helvetica Neue" panose="02000503000000020004" pitchFamily="2" charset="0"/>
              <a:ea typeface="Helvetica Neue" panose="02000503000000020004" pitchFamily="2" charset="0"/>
              <a:cs typeface="Helvetica Neue" panose="02000503000000020004" pitchFamily="2" charset="0"/>
            </a:endParaRPr>
          </a:p>
          <a:p>
            <a:pPr marL="228600" indent="-228600">
              <a:buFont typeface="+mj-lt"/>
              <a:buAutoNum type="arabicPeriod"/>
            </a:pPr>
            <a:r>
              <a:rPr lang="en-US" sz="1100" b="1">
                <a:latin typeface="Helvetica Neue" panose="02000503000000020004" pitchFamily="2" charset="0"/>
                <a:ea typeface="Helvetica Neue" panose="02000503000000020004" pitchFamily="2" charset="0"/>
                <a:cs typeface="Helvetica Neue" panose="02000503000000020004" pitchFamily="2" charset="0"/>
              </a:rPr>
              <a:t>Build your relations with the CEO and your peers</a:t>
            </a:r>
          </a:p>
          <a:p>
            <a:pPr marL="171450" indent="-171450">
              <a:buFont typeface="Arial" panose="020B0604020202020204" pitchFamily="34" charset="0"/>
              <a:buChar char="•"/>
            </a:pPr>
            <a:r>
              <a:rPr lang="en-US" sz="1100">
                <a:latin typeface="Helvetica Neue" panose="02000503000000020004" pitchFamily="2" charset="0"/>
                <a:ea typeface="Helvetica Neue" panose="02000503000000020004" pitchFamily="2" charset="0"/>
                <a:cs typeface="Helvetica Neue" panose="02000503000000020004" pitchFamily="2" charset="0"/>
              </a:rPr>
              <a:t>Engage the CEO with a focused, outcome-driven digital strategy conversation — clearly separating immediate fixes from medium- and long-term transformation priorities. Provide visibility on progress, decisions, and business impact to build clarity, confidence, and trust that technology is enabling today’s results while shaping tomorrow’s growth.</a:t>
            </a:r>
          </a:p>
          <a:p>
            <a:pPr marL="171450" indent="-171450">
              <a:buFont typeface="Arial" panose="020B0604020202020204" pitchFamily="34" charset="0"/>
              <a:buChar char="•"/>
            </a:pPr>
            <a:r>
              <a:rPr lang="en-US" sz="1100">
                <a:latin typeface="Helvetica Neue" panose="02000503000000020004" pitchFamily="2" charset="0"/>
                <a:ea typeface="Helvetica Neue" panose="02000503000000020004" pitchFamily="2" charset="0"/>
                <a:cs typeface="Helvetica Neue" panose="02000503000000020004" pitchFamily="2" charset="0"/>
              </a:rPr>
              <a:t>Use regular one-on-one touchpoints with the CEO and peers to align on priorities and strengthen advocacy for key initiatives.</a:t>
            </a:r>
            <a:endParaRPr lang="en-US" sz="1100" b="1">
              <a:latin typeface="Helvetica Neue" panose="02000503000000020004" pitchFamily="2" charset="0"/>
              <a:ea typeface="Helvetica Neue" panose="02000503000000020004" pitchFamily="2" charset="0"/>
              <a:cs typeface="Helvetica Neue" panose="02000503000000020004" pitchFamily="2" charset="0"/>
            </a:endParaRPr>
          </a:p>
          <a:p>
            <a:endParaRPr lang="en-US" sz="1100" b="1">
              <a:latin typeface="Helvetica Neue" panose="02000503000000020004" pitchFamily="2" charset="0"/>
              <a:ea typeface="Helvetica Neue" panose="02000503000000020004" pitchFamily="2" charset="0"/>
              <a:cs typeface="Helvetica Neue" panose="02000503000000020004" pitchFamily="2" charset="0"/>
            </a:endParaRPr>
          </a:p>
          <a:p>
            <a:r>
              <a:rPr lang="en-US" sz="1100" b="1">
                <a:latin typeface="Helvetica Neue" panose="02000503000000020004" pitchFamily="2" charset="0"/>
                <a:ea typeface="Helvetica Neue" panose="02000503000000020004" pitchFamily="2" charset="0"/>
                <a:cs typeface="Helvetica Neue" panose="02000503000000020004" pitchFamily="2" charset="0"/>
              </a:rPr>
              <a:t>3. Close Talent and Skills Gaps in the Technology &amp; Data Teams</a:t>
            </a:r>
            <a:endParaRPr lang="en-US" sz="1100">
              <a:latin typeface="Helvetica Neue" panose="02000503000000020004" pitchFamily="2" charset="0"/>
              <a:ea typeface="Helvetica Neue" panose="02000503000000020004" pitchFamily="2" charset="0"/>
              <a:cs typeface="Helvetica Neue" panose="02000503000000020004" pitchFamily="2" charset="0"/>
            </a:endParaRPr>
          </a:p>
          <a:p>
            <a:endParaRPr lang="en-US" sz="1100" b="1">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100">
                <a:latin typeface="Helvetica Neue" panose="02000503000000020004" pitchFamily="2" charset="0"/>
                <a:ea typeface="Helvetica Neue" panose="02000503000000020004" pitchFamily="2" charset="0"/>
                <a:cs typeface="Helvetica Neue" panose="02000503000000020004" pitchFamily="2" charset="0"/>
              </a:rPr>
              <a:t>Conduct a thorough skills audit within the technology and data functions to identify critical gaps— and prioritize recruitment, upskilling, and targeted external hires.</a:t>
            </a:r>
          </a:p>
          <a:p>
            <a:endParaRPr lang="en-US" sz="1100" b="1">
              <a:latin typeface="Helvetica Neue" panose="02000503000000020004" pitchFamily="2" charset="0"/>
              <a:ea typeface="Helvetica Neue" panose="02000503000000020004" pitchFamily="2" charset="0"/>
              <a:cs typeface="Helvetica Neue" panose="02000503000000020004" pitchFamily="2" charset="0"/>
            </a:endParaRPr>
          </a:p>
          <a:p>
            <a:r>
              <a:rPr lang="en-US" sz="1100" b="1">
                <a:latin typeface="Helvetica Neue" panose="02000503000000020004" pitchFamily="2" charset="0"/>
                <a:ea typeface="Helvetica Neue" panose="02000503000000020004" pitchFamily="2" charset="0"/>
                <a:cs typeface="Helvetica Neue" panose="02000503000000020004" pitchFamily="2" charset="0"/>
              </a:rPr>
              <a:t>4. Deepen Cultural Integration and Leadership Presence</a:t>
            </a:r>
          </a:p>
          <a:p>
            <a:endParaRPr lang="en-US" sz="1100" b="1">
              <a:latin typeface="Helvetica Neue" panose="02000503000000020004" pitchFamily="2" charset="0"/>
              <a:ea typeface="Helvetica Neue" panose="02000503000000020004" pitchFamily="2" charset="0"/>
              <a:cs typeface="Helvetica Neue" panose="02000503000000020004" pitchFamily="2" charset="0"/>
            </a:endParaRPr>
          </a:p>
          <a:p>
            <a:pPr marL="171450" indent="-171450">
              <a:buFont typeface="Arial" panose="020B0604020202020204" pitchFamily="34" charset="0"/>
              <a:buChar char="•"/>
            </a:pPr>
            <a:r>
              <a:rPr lang="en-US" sz="1100">
                <a:latin typeface="Helvetica Neue" panose="02000503000000020004" pitchFamily="2" charset="0"/>
                <a:ea typeface="Helvetica Neue" panose="02000503000000020004" pitchFamily="2" charset="0"/>
                <a:cs typeface="Helvetica Neue" panose="02000503000000020004" pitchFamily="2" charset="0"/>
              </a:rPr>
              <a:t>Increase awareness of local cultural dynamics and informal influence patterns to enhance effectiveness within the organization.</a:t>
            </a:r>
          </a:p>
          <a:p>
            <a:pPr marL="171450" indent="-171450">
              <a:buFont typeface="Arial" panose="020B0604020202020204" pitchFamily="34" charset="0"/>
              <a:buChar char="•"/>
            </a:pPr>
            <a:r>
              <a:rPr lang="en-US" sz="1100">
                <a:latin typeface="Helvetica Neue" panose="02000503000000020004" pitchFamily="2" charset="0"/>
                <a:ea typeface="Helvetica Neue" panose="02000503000000020004" pitchFamily="2" charset="0"/>
                <a:cs typeface="Helvetica Neue" panose="02000503000000020004" pitchFamily="2" charset="0"/>
              </a:rPr>
              <a:t>Engage an external mentor or executive coach to refine communication tone, relational adaptability, and informal influencing skills.</a:t>
            </a:r>
          </a:p>
          <a:p>
            <a:pPr marL="171450" indent="-171450">
              <a:buFont typeface="Arial" panose="020B0604020202020204" pitchFamily="34" charset="0"/>
              <a:buChar char="•"/>
            </a:pPr>
            <a:r>
              <a:rPr lang="en-US" sz="1100">
                <a:latin typeface="Helvetica Neue" panose="02000503000000020004" pitchFamily="2" charset="0"/>
                <a:ea typeface="Helvetica Neue" panose="02000503000000020004" pitchFamily="2" charset="0"/>
                <a:cs typeface="Helvetica Neue" panose="02000503000000020004" pitchFamily="2" charset="0"/>
              </a:rPr>
              <a:t>Be intentional about showing warmth, accessibility, and curiosity — balancing analytical strength with relational empathy to build stronger sponsorship and followership.</a:t>
            </a:r>
          </a:p>
        </p:txBody>
      </p:sp>
      <p:sp>
        <p:nvSpPr>
          <p:cNvPr id="7" name="Google Shape;61;p3">
            <a:extLst>
              <a:ext uri="{FF2B5EF4-FFF2-40B4-BE49-F238E27FC236}">
                <a16:creationId xmlns:a16="http://schemas.microsoft.com/office/drawing/2014/main" id="{82D45758-E3F5-9F1A-8825-E5B8DD05B3FA}"/>
              </a:ext>
            </a:extLst>
          </p:cNvPr>
          <p:cNvSpPr txBox="1"/>
          <p:nvPr/>
        </p:nvSpPr>
        <p:spPr>
          <a:xfrm>
            <a:off x="637485" y="1257419"/>
            <a:ext cx="2877611" cy="2662247"/>
          </a:xfrm>
          <a:prstGeom prst="rect">
            <a:avLst/>
          </a:prstGeom>
          <a:noFill/>
          <a:ln>
            <a:noFill/>
          </a:ln>
        </p:spPr>
        <p:txBody>
          <a:bodyPr spcFirstLastPara="1" wrap="square" lIns="22850" tIns="22850" rIns="22850" bIns="22850" anchor="t" anchorCtr="0">
            <a:spAutoFit/>
          </a:bodyPr>
          <a:lstStyle/>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r>
              <a:rPr kumimoji="0" lang="en-US" sz="1600" b="1" i="0" u="none" strike="noStrike" kern="0" cap="none" spc="0" normalizeH="0" baseline="0" noProof="0">
                <a:ln>
                  <a:noFill/>
                </a:ln>
                <a:solidFill>
                  <a:prstClr val="black"/>
                </a:solidFill>
                <a:effectLst/>
                <a:uLnTx/>
                <a:uFillTx/>
                <a:latin typeface="Helvetica Neue"/>
                <a:ea typeface="Helvetica Neue" panose="02000503000000020004" pitchFamily="2" charset="0"/>
                <a:cs typeface="Helvetica Neue" panose="02000503000000020004" pitchFamily="2" charset="0"/>
                <a:sym typeface="Lato"/>
              </a:rPr>
              <a:t>What are We </a:t>
            </a:r>
            <a:r>
              <a:rPr kumimoji="0" lang="en-US" sz="1600" b="1" i="0" u="none" strike="noStrike" kern="0" cap="none" spc="0" normalizeH="0" baseline="0" noProof="0">
                <a:ln>
                  <a:noFill/>
                </a:ln>
                <a:solidFill>
                  <a:srgbClr val="C00000"/>
                </a:solidFill>
                <a:effectLst/>
                <a:uLnTx/>
                <a:uFillTx/>
                <a:latin typeface="Helvetica Neue"/>
                <a:ea typeface="Helvetica Neue" panose="02000503000000020004" pitchFamily="2" charset="0"/>
                <a:cs typeface="Helvetica Neue" panose="02000503000000020004" pitchFamily="2" charset="0"/>
                <a:sym typeface="Lato"/>
              </a:rPr>
              <a:t>Solving For?</a:t>
            </a: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kumimoji="0" lang="en-US" sz="1600" b="1" i="0" u="none" strike="noStrike" kern="0" cap="none" spc="0"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kumimoji="0" lang="en-US" sz="1600" b="1" i="0" u="none" strike="noStrike" kern="0" cap="none" spc="0" normalizeH="0" baseline="0" noProof="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a:p>
            <a:endParaRPr lang="en-US" sz="1200">
              <a:latin typeface="Helvetica Neue"/>
              <a:ea typeface="Helvetica Neue" panose="02000503000000020004" pitchFamily="2" charset="0"/>
              <a:cs typeface="Helvetica Neue" panose="02000503000000020004" pitchFamily="2" charset="0"/>
            </a:endParaRPr>
          </a:p>
          <a:p>
            <a:r>
              <a:rPr lang="en-US" sz="1200">
                <a:latin typeface="Helvetica Neue"/>
                <a:ea typeface="Helvetica Neue" panose="02000503000000020004" pitchFamily="2" charset="0"/>
                <a:cs typeface="Helvetica Neue" panose="02000503000000020004" pitchFamily="2" charset="0"/>
              </a:rPr>
              <a:t>1. Clarify the Digital Strategy </a:t>
            </a:r>
          </a:p>
          <a:p>
            <a:endParaRPr lang="en-US" sz="1200">
              <a:latin typeface="Helvetica Neue"/>
              <a:ea typeface="Helvetica Neue" panose="02000503000000020004" pitchFamily="2" charset="0"/>
              <a:cs typeface="Helvetica Neue" panose="02000503000000020004" pitchFamily="2" charset="0"/>
            </a:endParaRPr>
          </a:p>
          <a:p>
            <a:r>
              <a:rPr lang="en-US" sz="1200">
                <a:latin typeface="Helvetica Neue"/>
                <a:ea typeface="Helvetica Neue" panose="02000503000000020004" pitchFamily="2" charset="0"/>
                <a:cs typeface="Helvetica Neue" panose="02000503000000020004" pitchFamily="2" charset="0"/>
              </a:rPr>
              <a:t>2. Build relations with the CEO and peers</a:t>
            </a: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kumimoji="0" lang="en-US" sz="1200"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a:p>
            <a:r>
              <a:rPr lang="en-US" sz="1200">
                <a:latin typeface="Helvetica Neue"/>
                <a:ea typeface="Helvetica Neue" panose="02000503000000020004" pitchFamily="2" charset="0"/>
                <a:cs typeface="Helvetica Neue" panose="02000503000000020004" pitchFamily="2" charset="0"/>
              </a:rPr>
              <a:t>3. Close Talent and Skills Gaps in the Technology &amp; Data Teams</a:t>
            </a:r>
            <a:endParaRPr kumimoji="0" lang="en-US" sz="1200" i="0" u="none" strike="noStrike" kern="0" cap="none" spc="0" normalizeH="0" baseline="0" noProof="0">
              <a:ln>
                <a:noFill/>
              </a:ln>
              <a:solidFill>
                <a:prstClr val="black"/>
              </a:solidFill>
              <a:effectLst/>
              <a:uLnTx/>
              <a:uFillTx/>
              <a:latin typeface="Helvetica Neue"/>
              <a:ea typeface="Helvetica Neue" panose="02000503000000020004" pitchFamily="2" charset="0"/>
              <a:cs typeface="Helvetica Neue" panose="02000503000000020004" pitchFamily="2" charset="0"/>
              <a:sym typeface="Lato"/>
            </a:endParaRPr>
          </a:p>
          <a:p>
            <a:pPr marL="0" marR="0" lvl="0" indent="0" algn="l" defTabSz="457200" rtl="0" eaLnBrk="1" fontAlgn="auto" latinLnBrk="0" hangingPunct="1">
              <a:lnSpc>
                <a:spcPct val="100000"/>
              </a:lnSpc>
              <a:spcBef>
                <a:spcPts val="0"/>
              </a:spcBef>
              <a:spcAft>
                <a:spcPts val="0"/>
              </a:spcAft>
              <a:buClr>
                <a:srgbClr val="BA0C2F"/>
              </a:buClr>
              <a:buSzPts val="2400"/>
              <a:buFontTx/>
              <a:buNone/>
              <a:tabLst/>
              <a:defRPr/>
            </a:pPr>
            <a:endParaRPr kumimoji="0" lang="en-US" sz="1200" i="0" u="none" strike="noStrike" kern="0" cap="none" spc="0" normalizeH="0" baseline="0" noProof="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Lato"/>
            </a:endParaRPr>
          </a:p>
          <a:p>
            <a:r>
              <a:rPr lang="en-US" sz="1200">
                <a:latin typeface="Helvetica Neue"/>
                <a:ea typeface="Helvetica Neue" panose="02000503000000020004" pitchFamily="2" charset="0"/>
                <a:cs typeface="Helvetica Neue" panose="02000503000000020004" pitchFamily="2" charset="0"/>
              </a:rPr>
              <a:t>4. Deepen Cultural Integration and Leadership Presence</a:t>
            </a:r>
          </a:p>
        </p:txBody>
      </p:sp>
      <p:sp>
        <p:nvSpPr>
          <p:cNvPr id="8" name="TextBox 7">
            <a:extLst>
              <a:ext uri="{FF2B5EF4-FFF2-40B4-BE49-F238E27FC236}">
                <a16:creationId xmlns:a16="http://schemas.microsoft.com/office/drawing/2014/main" id="{59C5FEDC-DEE6-5FC3-2DC0-F25FA564907D}"/>
              </a:ext>
            </a:extLst>
          </p:cNvPr>
          <p:cNvSpPr txBox="1"/>
          <p:nvPr/>
        </p:nvSpPr>
        <p:spPr>
          <a:xfrm>
            <a:off x="6438405" y="1097720"/>
            <a:ext cx="2834640"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
                <a:srgbClr val="BA0C2F"/>
              </a:buClr>
              <a:buSzPts val="3600"/>
              <a:buFontTx/>
              <a:buNone/>
              <a:tabLst/>
              <a:defRPr/>
            </a:pPr>
            <a:r>
              <a:rPr kumimoji="0" lang="en-US" sz="1800" b="1" i="0" u="none" strike="noStrike" kern="0" cap="none" spc="0" normalizeH="0" baseline="0" noProof="0">
                <a:ln>
                  <a:noFill/>
                </a:ln>
                <a:solidFill>
                  <a:srgbClr val="000000"/>
                </a:solidFill>
                <a:effectLst/>
                <a:uLnTx/>
                <a:uFillTx/>
                <a:latin typeface="Arial" panose="020B0604020202020204" pitchFamily="34" charset="0"/>
                <a:ea typeface="Lato"/>
                <a:cs typeface="Arial" panose="020B0604020202020204" pitchFamily="34" charset="0"/>
                <a:sym typeface="Lato"/>
              </a:rPr>
              <a:t>Success Enabling </a:t>
            </a:r>
            <a:r>
              <a:rPr kumimoji="0" lang="en-US" sz="1800" b="1" i="0" u="none" strike="noStrike" kern="0" cap="none" spc="0" normalizeH="0" baseline="0" noProof="0">
                <a:ln>
                  <a:noFill/>
                </a:ln>
                <a:solidFill>
                  <a:srgbClr val="BA0C2F"/>
                </a:solidFill>
                <a:effectLst/>
                <a:uLnTx/>
                <a:uFillTx/>
                <a:latin typeface="Arial" panose="020B0604020202020204" pitchFamily="34" charset="0"/>
                <a:ea typeface="Lato"/>
                <a:cs typeface="Arial" panose="020B0604020202020204" pitchFamily="34" charset="0"/>
                <a:sym typeface="Lato"/>
              </a:rPr>
              <a:t>Plan</a:t>
            </a:r>
            <a:endParaRPr kumimoji="0" lang="en-US" sz="1800" b="1" i="0" u="none" strike="noStrike" kern="0" cap="none" spc="0" normalizeH="0" baseline="0" noProof="0">
              <a:ln>
                <a:noFill/>
              </a:ln>
              <a:solidFill>
                <a:prstClr val="black"/>
              </a:solidFill>
              <a:effectLst/>
              <a:uLnTx/>
              <a:uFillTx/>
              <a:latin typeface="Arial" panose="020B0604020202020204" pitchFamily="34" charset="0"/>
              <a:ea typeface="Lato"/>
              <a:cs typeface="Arial" panose="020B0604020202020204" pitchFamily="34" charset="0"/>
              <a:sym typeface="Lato"/>
            </a:endParaRPr>
          </a:p>
        </p:txBody>
      </p:sp>
    </p:spTree>
    <p:extLst>
      <p:ext uri="{BB962C8B-B14F-4D97-AF65-F5344CB8AC3E}">
        <p14:creationId xmlns:p14="http://schemas.microsoft.com/office/powerpoint/2010/main" val="8978285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4FEE8-A839-29B5-C6F4-DD1ACF87F280}"/>
            </a:ext>
          </a:extLst>
        </p:cNvPr>
        <p:cNvGrpSpPr/>
        <p:nvPr/>
      </p:nvGrpSpPr>
      <p:grpSpPr>
        <a:xfrm>
          <a:off x="0" y="0"/>
          <a:ext cx="0" cy="0"/>
          <a:chOff x="0" y="0"/>
          <a:chExt cx="0" cy="0"/>
        </a:xfrm>
      </p:grpSpPr>
      <p:sp>
        <p:nvSpPr>
          <p:cNvPr id="30721" name="Text Placeholder 1">
            <a:extLst>
              <a:ext uri="{FF2B5EF4-FFF2-40B4-BE49-F238E27FC236}">
                <a16:creationId xmlns:a16="http://schemas.microsoft.com/office/drawing/2014/main" id="{E9BA41E1-0BAA-38D4-DF7F-9139C73CB06B}"/>
              </a:ext>
            </a:extLst>
          </p:cNvPr>
          <p:cNvSpPr>
            <a:spLocks noGrp="1" noChangeArrowheads="1"/>
          </p:cNvSpPr>
          <p:nvPr>
            <p:ph type="body" idx="1"/>
          </p:nvPr>
        </p:nvSpPr>
        <p:spPr bwMode="auto">
          <a:xfrm>
            <a:off x="180089" y="3429000"/>
            <a:ext cx="4841875" cy="1420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compatLnSpc="1">
            <a:prstTxWarp prst="textNoShape">
              <a:avLst/>
            </a:prstTxWarp>
          </a:bodyPr>
          <a:lstStyle/>
          <a:p>
            <a:pPr>
              <a:spcBef>
                <a:spcPct val="0"/>
              </a:spcBef>
              <a:spcAft>
                <a:spcPct val="0"/>
              </a:spcAft>
              <a:buClr>
                <a:srgbClr val="000000"/>
              </a:buClr>
              <a:buFont typeface="Arial" panose="020B0604020202020204" pitchFamily="34" charset="0"/>
              <a:buNone/>
            </a:pPr>
            <a:r>
              <a:rPr lang="en-US" altLang="en-US" sz="4800" b="1">
                <a:solidFill>
                  <a:srgbClr val="112D59"/>
                </a:solidFill>
                <a:latin typeface="Helvetica Neue" panose="02000503000000020004" pitchFamily="2" charset="0"/>
                <a:cs typeface="Arial" panose="020B0604020202020204" pitchFamily="34" charset="0"/>
                <a:sym typeface="Helvetica Neue" panose="02000503000000020004" pitchFamily="2" charset="0"/>
              </a:rPr>
              <a:t>THANK YOU</a:t>
            </a:r>
          </a:p>
        </p:txBody>
      </p:sp>
      <p:pic>
        <p:nvPicPr>
          <p:cNvPr id="3" name="Picture 2">
            <a:extLst>
              <a:ext uri="{FF2B5EF4-FFF2-40B4-BE49-F238E27FC236}">
                <a16:creationId xmlns:a16="http://schemas.microsoft.com/office/drawing/2014/main" id="{09962EE2-C4FF-5005-6199-2EC4F00C907E}"/>
              </a:ext>
            </a:extLst>
          </p:cNvPr>
          <p:cNvPicPr>
            <a:picLocks noChangeAspect="1"/>
          </p:cNvPicPr>
          <p:nvPr/>
        </p:nvPicPr>
        <p:blipFill>
          <a:blip r:embed="rId2"/>
          <a:stretch>
            <a:fillRect/>
          </a:stretch>
        </p:blipFill>
        <p:spPr>
          <a:xfrm>
            <a:off x="180089" y="2358304"/>
            <a:ext cx="1874000" cy="850796"/>
          </a:xfrm>
          <a:prstGeom prst="rect">
            <a:avLst/>
          </a:prstGeom>
        </p:spPr>
      </p:pic>
    </p:spTree>
    <p:extLst>
      <p:ext uri="{BB962C8B-B14F-4D97-AF65-F5344CB8AC3E}">
        <p14:creationId xmlns:p14="http://schemas.microsoft.com/office/powerpoint/2010/main" val="17069548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ustom Design">
  <a:themeElements>
    <a:clrScheme name="CEOworks Colors">
      <a:dk1>
        <a:srgbClr val="000000"/>
      </a:dk1>
      <a:lt1>
        <a:srgbClr val="FFFFFF"/>
      </a:lt1>
      <a:dk2>
        <a:srgbClr val="E9EAE9"/>
      </a:dk2>
      <a:lt2>
        <a:srgbClr val="919291"/>
      </a:lt2>
      <a:accent1>
        <a:srgbClr val="BA0B2F"/>
      </a:accent1>
      <a:accent2>
        <a:srgbClr val="FEAA12"/>
      </a:accent2>
      <a:accent3>
        <a:srgbClr val="D0D2D0"/>
      </a:accent3>
      <a:accent4>
        <a:srgbClr val="8CC53F"/>
      </a:accent4>
      <a:accent5>
        <a:srgbClr val="00B6C2"/>
      </a:accent5>
      <a:accent6>
        <a:srgbClr val="FCB913"/>
      </a:accent6>
      <a:hlink>
        <a:srgbClr val="BA0B2F"/>
      </a:hlink>
      <a:folHlink>
        <a:srgbClr val="00B6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3_Custom Design">
  <a:themeElements>
    <a:clrScheme name="CEOworks Colors">
      <a:dk1>
        <a:srgbClr val="000000"/>
      </a:dk1>
      <a:lt1>
        <a:srgbClr val="FFFFFF"/>
      </a:lt1>
      <a:dk2>
        <a:srgbClr val="E9EAE9"/>
      </a:dk2>
      <a:lt2>
        <a:srgbClr val="919291"/>
      </a:lt2>
      <a:accent1>
        <a:srgbClr val="BA0B2F"/>
      </a:accent1>
      <a:accent2>
        <a:srgbClr val="FEAA12"/>
      </a:accent2>
      <a:accent3>
        <a:srgbClr val="D0D2D0"/>
      </a:accent3>
      <a:accent4>
        <a:srgbClr val="8CC53F"/>
      </a:accent4>
      <a:accent5>
        <a:srgbClr val="00B6C2"/>
      </a:accent5>
      <a:accent6>
        <a:srgbClr val="FCB913"/>
      </a:accent6>
      <a:hlink>
        <a:srgbClr val="BA0B2F"/>
      </a:hlink>
      <a:folHlink>
        <a:srgbClr val="00B6C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8" id="{BC32EC9A-7A75-D846-AD05-D74FEE59EF71}" vid="{EDA865E4-5ADB-8546-9DC8-67CCCF72458C}"/>
    </a:ext>
  </a:extLst>
</a:theme>
</file>

<file path=ppt/theme/theme3.xml><?xml version="1.0" encoding="utf-8"?>
<a:theme xmlns:a="http://schemas.openxmlformats.org/drawingml/2006/main" name="2_Custom Design">
  <a:themeElements>
    <a:clrScheme name="CEOworks Colors">
      <a:dk1>
        <a:srgbClr val="000000"/>
      </a:dk1>
      <a:lt1>
        <a:srgbClr val="FFFFFF"/>
      </a:lt1>
      <a:dk2>
        <a:srgbClr val="E9EAE9"/>
      </a:dk2>
      <a:lt2>
        <a:srgbClr val="919291"/>
      </a:lt2>
      <a:accent1>
        <a:srgbClr val="BA0B2F"/>
      </a:accent1>
      <a:accent2>
        <a:srgbClr val="FEAA12"/>
      </a:accent2>
      <a:accent3>
        <a:srgbClr val="D0D2D0"/>
      </a:accent3>
      <a:accent4>
        <a:srgbClr val="8CC53F"/>
      </a:accent4>
      <a:accent5>
        <a:srgbClr val="00B6C2"/>
      </a:accent5>
      <a:accent6>
        <a:srgbClr val="FCB913"/>
      </a:accent6>
      <a:hlink>
        <a:srgbClr val="BA0B2F"/>
      </a:hlink>
      <a:folHlink>
        <a:srgbClr val="00B6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8aa3896-a966-4ba9-825f-32a687ea5083" xsi:nil="true"/>
    <lcf76f155ced4ddcb4097134ff3c332f xmlns="2fcd16aa-ef5a-4633-986d-4ec0408bbcca">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F977117CE46874F819AA605A149CE74" ma:contentTypeVersion="12" ma:contentTypeDescription="Create a new document." ma:contentTypeScope="" ma:versionID="eb48335fb1c35e8e65233217f4158084">
  <xsd:schema xmlns:xsd="http://www.w3.org/2001/XMLSchema" xmlns:xs="http://www.w3.org/2001/XMLSchema" xmlns:p="http://schemas.microsoft.com/office/2006/metadata/properties" xmlns:ns2="2fcd16aa-ef5a-4633-986d-4ec0408bbcca" xmlns:ns3="c8aa3896-a966-4ba9-825f-32a687ea5083" targetNamespace="http://schemas.microsoft.com/office/2006/metadata/properties" ma:root="true" ma:fieldsID="22a060534decb91009f3f1837c82fd94" ns2:_="" ns3:_="">
    <xsd:import namespace="2fcd16aa-ef5a-4633-986d-4ec0408bbcca"/>
    <xsd:import namespace="c8aa3896-a966-4ba9-825f-32a687ea508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cd16aa-ef5a-4633-986d-4ec0408bbc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e777b1b-314e-4559-8ee3-bc85f5a6b9bc"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8aa3896-a966-4ba9-825f-32a687ea5083"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745a7880-f305-4a2f-b3f2-79726c78c176}" ma:internalName="TaxCatchAll" ma:showField="CatchAllData" ma:web="c8aa3896-a966-4ba9-825f-32a687ea508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4AEF3A6-8B02-4E17-8842-B97287E2F622}">
  <ds:schemaRefs>
    <ds:schemaRef ds:uri="http://schemas.microsoft.com/office/2006/documentManagement/types"/>
    <ds:schemaRef ds:uri="http://purl.org/dc/elements/1.1/"/>
    <ds:schemaRef ds:uri="http://schemas.microsoft.com/office/2006/metadata/properties"/>
    <ds:schemaRef ds:uri="http://purl.org/dc/dcmitype/"/>
    <ds:schemaRef ds:uri="c8aa3896-a966-4ba9-825f-32a687ea5083"/>
    <ds:schemaRef ds:uri="http://purl.org/dc/terms/"/>
    <ds:schemaRef ds:uri="http://schemas.microsoft.com/office/infopath/2007/PartnerControls"/>
    <ds:schemaRef ds:uri="2fcd16aa-ef5a-4633-986d-4ec0408bbcca"/>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7E60D7A-D9DE-4498-BD1C-2E12CC7A6D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cd16aa-ef5a-4633-986d-4ec0408bbcca"/>
    <ds:schemaRef ds:uri="c8aa3896-a966-4ba9-825f-32a687ea508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9B7E1A1-9F99-470E-8678-158237ED71E9}">
  <ds:schemaRefs>
    <ds:schemaRef ds:uri="http://schemas.microsoft.com/sharepoint/v3/contenttype/forms"/>
  </ds:schemaRefs>
</ds:datastoreItem>
</file>

<file path=docMetadata/LabelInfo.xml><?xml version="1.0" encoding="utf-8"?>
<clbl:labelList xmlns:clbl="http://schemas.microsoft.com/office/2020/mipLabelMetadata">
  <clbl:label id="{62ef6379-7877-4537-943a-77cd28322adc}" enabled="0" method="" siteId="{62ef6379-7877-4537-943a-77cd28322adc}" removed="1"/>
</clbl:labelList>
</file>

<file path=docProps/app.xml><?xml version="1.0" encoding="utf-8"?>
<Properties xmlns="http://schemas.openxmlformats.org/officeDocument/2006/extended-properties" xmlns:vt="http://schemas.openxmlformats.org/officeDocument/2006/docPropsVTypes">
  <TotalTime>0</TotalTime>
  <Words>12418</Words>
  <Application>Microsoft Macintosh PowerPoint</Application>
  <PresentationFormat>Widescreen</PresentationFormat>
  <Paragraphs>1211</Paragraphs>
  <Slides>58</Slides>
  <Notes>46</Notes>
  <HiddenSlides>0</HiddenSlides>
  <MMClips>0</MMClips>
  <ScaleCrop>false</ScaleCrop>
  <HeadingPairs>
    <vt:vector size="8" baseType="variant">
      <vt:variant>
        <vt:lpstr>Fonts Used</vt:lpstr>
      </vt:variant>
      <vt:variant>
        <vt:i4>9</vt:i4>
      </vt:variant>
      <vt:variant>
        <vt:lpstr>Theme</vt:lpstr>
      </vt:variant>
      <vt:variant>
        <vt:i4>3</vt:i4>
      </vt:variant>
      <vt:variant>
        <vt:lpstr>Embedded OLE Servers</vt:lpstr>
      </vt:variant>
      <vt:variant>
        <vt:i4>1</vt:i4>
      </vt:variant>
      <vt:variant>
        <vt:lpstr>Slide Titles</vt:lpstr>
      </vt:variant>
      <vt:variant>
        <vt:i4>58</vt:i4>
      </vt:variant>
    </vt:vector>
  </HeadingPairs>
  <TitlesOfParts>
    <vt:vector size="71" baseType="lpstr">
      <vt:lpstr>Arial,Sans-Serif</vt:lpstr>
      <vt:lpstr>Lato</vt:lpstr>
      <vt:lpstr>Arial</vt:lpstr>
      <vt:lpstr>Helvetica Neue</vt:lpstr>
      <vt:lpstr>Calibri</vt:lpstr>
      <vt:lpstr>Lato Light</vt:lpstr>
      <vt:lpstr>Aptos</vt:lpstr>
      <vt:lpstr>Helvetica Neue Light</vt:lpstr>
      <vt:lpstr>Helvetica Neue Roman</vt:lpstr>
      <vt:lpstr>1_Custom Design</vt:lpstr>
      <vt:lpstr>13_Custom Design</vt:lpstr>
      <vt:lpstr>2_Custom Design</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Patricia Borges</dc:creator>
  <cp:lastModifiedBy>Zoe Ervolino</cp:lastModifiedBy>
  <cp:revision>3</cp:revision>
  <dcterms:created xsi:type="dcterms:W3CDTF">2025-08-04T13:16:57Z</dcterms:created>
  <dcterms:modified xsi:type="dcterms:W3CDTF">2026-03-18T19:34:14Z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0x0101000F977117CE46874F819AA605A149CE74</vt:lpwstr>
  </property>
  <property fmtid="{D5CDD505-2E9C-101B-9397-08002B2CF9AE}" pid="3" name="MediaServiceImageTags">
    <vt:lpwstr/>
  </property>
</Properties>
</file>